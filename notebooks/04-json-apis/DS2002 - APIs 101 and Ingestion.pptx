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62" r:id="rId2"/>
    <p:sldId id="293" r:id="rId3"/>
    <p:sldId id="294" r:id="rId4"/>
    <p:sldId id="295" r:id="rId5"/>
    <p:sldId id="296" r:id="rId6"/>
    <p:sldId id="297" r:id="rId7"/>
    <p:sldId id="298" r:id="rId8"/>
    <p:sldId id="299" r:id="rId9"/>
    <p:sldId id="300" r:id="rId10"/>
    <p:sldId id="301" r:id="rId11"/>
    <p:sldId id="302" r:id="rId12"/>
    <p:sldId id="303" r:id="rId13"/>
    <p:sldId id="304" r:id="rId14"/>
    <p:sldId id="305" r:id="rId15"/>
    <p:sldId id="306" r:id="rId16"/>
    <p:sldId id="307" r:id="rId17"/>
    <p:sldId id="308" r:id="rId18"/>
    <p:sldId id="309" r:id="rId19"/>
    <p:sldId id="310" r:id="rId20"/>
    <p:sldId id="311" r:id="rId21"/>
    <p:sldId id="312" r:id="rId22"/>
    <p:sldId id="313" r:id="rId23"/>
    <p:sldId id="314" r:id="rId24"/>
    <p:sldId id="315" r:id="rId25"/>
    <p:sldId id="316" r:id="rId26"/>
    <p:sldId id="317" r:id="rId27"/>
    <p:sldId id="290"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4323E"/>
    <a:srgbClr val="F67132"/>
    <a:srgbClr val="3CDBEC"/>
    <a:srgbClr val="06C4DE"/>
    <a:srgbClr val="10AAD4"/>
    <a:srgbClr val="0BA5B5"/>
    <a:srgbClr val="0E8FB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43"/>
    <p:restoredTop sz="94559"/>
  </p:normalViewPr>
  <p:slideViewPr>
    <p:cSldViewPr snapToGrid="0">
      <p:cViewPr varScale="1">
        <p:scale>
          <a:sx n="119" d="100"/>
          <a:sy n="119" d="100"/>
        </p:scale>
        <p:origin x="49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9E8250-836C-4596-ADD4-8CE84A9F3658}" type="datetimeFigureOut">
              <a:rPr lang="en-US" smtClean="0"/>
              <a:t>10/6/26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41AB1C-B1CF-4633-A916-1077CDDCE2AE}" type="slidenum">
              <a:rPr lang="en-US" smtClean="0"/>
              <a:t>‹#›</a:t>
            </a:fld>
            <a:endParaRPr lang="en-US"/>
          </a:p>
        </p:txBody>
      </p:sp>
    </p:spTree>
    <p:extLst>
      <p:ext uri="{BB962C8B-B14F-4D97-AF65-F5344CB8AC3E}">
        <p14:creationId xmlns:p14="http://schemas.microsoft.com/office/powerpoint/2010/main" val="14545786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Studio, 45 minutes. Students should have the notebook open: 2026-10-07 — APIs 101 and Ingestion with Retries — Studio.ipynb. Part 1 is concepts with short runnable cells; Part 2 is five builds against Open-Meteo, the API the midterm runs on.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Part 1 covers what an API is and the ways calls go wrong before you write any ingestion code. Part 2 is five builds on Open-Meteo. Build 4 (caching) is the one to drop if time is short. Checkpoint is participation, due Thursday 11:59pm ET in Canvas.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Every dataset so far sat still. Today we fetch data that is generated when we ask.</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CSV of Chipotle orders is the same file today as last week — the export stopped being true the moment it was written. Most data worth having does not sit still: yesterday's weather, the current price of a euro, the earthquake an hour ago, a repository forty people are committing to. An API is how a program asks another program for data and gets a structured answer back. The useful word is 'interface': the part of a system you are allowed to touch — like a microwave's buttons.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weather.gov is built for a person with eyes: fonts, a map, nav bar, an advert for the app. api.weather.gov returns JSON: just the values, labeled. Scraping the HTML breaks the next time a designer moves a div. The API door is slightly more work to knock on, then the answer arrives in a shape you can use. This is why the JSON work came first: an API is a delivery mechanism; JSON is almost always what it delivers.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Run cell 4. You named a URL, attached parameters, and a server in Europe sent back today's rates as JSON. r.json() is the same json.loads from Monday, wrapped up for you. The three details are not decoration: params= builds and escapes the query string; timeout= because there is NO default timeout — a server that never answers hangs the notebook; status_code before the body, every single time.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Current: the answer is generated when you ask. Only what you need: the archive holds every hour since 1940 for the planet; you want three days in Charlottesville. Reach: nobody here will instrument the seismic network. No copy to maintain: weather_2026.csv quietly goes stale. The cost people skip: you are a guest on someone else's computer. Slow, down, rate-limited, reshaped, paywalled, shut off — each is a Tuesday, not a catastrophe, but code must expect it.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Open-Meteo is the one that matters — the midterm runs on it. The others show that the shape of the work does not change from one API to the next.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Run cells 9 and 11. Three 200s, then one useful fact from each — where they stop looking alike. USGS returns GeoJSON: records under features, count is len(). GitHub returns one flat object. Wikipedia: text under extract. The calling part is the same every time; the reading part is the JSON work you've done for two weeks. The peek helper also sends a User-Agent: default python-requests/2.x gets refused by some providers — Wikipedia answers 403 with a link to its robot policy. It is not a key; it is saying who is at the door.</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 open API like Open-Meteo skips all four questions by limiting everyone the same way. Keys travel in the query string (?api_key=abc123) or, in most modern APIs, a header (Authorization: Bearer abc123), which keeps it out of the URL and therefore out of server logs and browser history. The docs tell you which.</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OpenWeather called without a key and GitHub with a fake token both return 401, and the body says plainly what is wrong. That's the good case. 403 means the server knows who you are and you still may not have this. A valid key out of quota usually returns 403 or 429, not 401. 401 and 403 are not worth retrying: no amount of waiting makes a missing key appear.</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one costs people an afternoon. When Census decides you needed a key it doesn't return 401 — it returns 200 OK and an HTML page. r.json() then fails with JSONDecodeError at line 1 column 1. That doesn't mean malformed JSON; it means what arrived was never JSON — it starts with &lt;html&gt;, and &lt; cannot start a JSON document. The habit: when r.json() fails, don't stare at the traceback. Print r.text[:200] and look. Nine times out of ten it's an HTML error page, a login redirect, or a rate-limit notice.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Run cell 21. Polite providers tell you where you stand in response headers before you hit the cap. GitHub: sixty requests an hour without a key, five thousand with one — the practical reason most people eventually get one. Two rules: ask once and keep the answer (Build 4). Never put a request inside a tight loop without a pause — 500 requests as fast as Python can fire is indistinguishable from an attack, and you will be blocked.</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key pasted into a notebook cell gets committed. Deleting it later doesn't help — it stays in commit history. In Colab, use the key icon in the left sidebar to store a secret, then userdata.get. Locally, set an environment variable and read os.environ. The secret lives outside the file, the notebook is safe to commit, and a teammate runs the same code with their own key. Nothing today needs a key; the midterm might.</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Together these are the contract: the provider promises to answer, in a documented shape, as long as you stay inside the limits. It's a real contract and one they can rewrite — which is why the last thing you build today is code that notices when something has changed.</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rest of the studio is Open-Meteo. Five builds: see the URL, read failures, retry the right ones, cache, reshape.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You send a base URL plus query parameters; the server sends back a status code and a body. The last column of the table is the whole design of the retry logic: retry the server's problems, never retry your own mistakes.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Print the URL once so the mapping between your dict and the actual URL stops being abstract. The archive endpoint only holds the past, and the last day or two is still settling — asking for today or tomorrow is an error, not an empty answer. Computing the window back from date.today() means the notebook still runs in November. Then send it: timeout, status code, and print the top-level keys instead of assuming. Open-Meteo returns parallel lists — one of timestamps, one per variable — which drop straight into a DataFrame.</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Run cell 33. This is not contrived: people reach for the forecast and type the archive URL. Read the status, then read the body — most people never look at it. 400, and the body names the parameter and the accepted range. Retrying would be pointless: it will be just as out of range in thirty seconds.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most damaging pattern in data engineering, and it looks responsible. An empty frame from a failed call and an empty frame from a dry day are indistinguishable downstream: your join drops rows, your chart shows no rain, you present a conclusion built on a network error. fetch_json raises with the URL, status and first 200 chars of the body — at 2am in a pipeline those are the difference between a fix and an afternoon. pass gives None and a TypeError three cells later; RuntimeError('request failed') says nothing; raise_for_status() is better but throws away the body, which on this API names the bad parameter. [:200] because a failing endpoint sometimes returns a megabyte of HTML.</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500 or timeout means try again in a moment; a 400 means you'll still be wrong in a moment. Back off: wait, then double. Instant retries look like an attack. Three details: return fn() sits inside the try, so success leaves immediately — no flag. The last attempt re-raises; otherwise the function falls off the loop and returns None, the empty-DataFrame trap in a different hat. Sleep between attempts, not after the last one. Testing against flaky() is deliberate — a real server won't fail on command.</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 a working network this prints only the success line. RETRY_STATUSES = {429, 500, 502, 503, 504}. except requests.RequestException catches the no-response cases — DNS failure, refused connection, timeout expiring — which never reach a status code, so status-only checks miss them. After all attempts fail the function raises, not returns None: a caller with an exception knows; a caller with None finds out later somewhere less convenient. The try around the call at the bottom of cell 42 just keeps the notebook running offline — it sets data = None AND says so on screen.</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Re-running a cell shouldn't re-hit somebody's server. A cache makes the notebook faster, results stable while you work, and keeps you off the rate limit. cache_key is the only interesting line: a dict is mutable, so unhashable, so tuple(sorted(params.items())). sorted is load-bearing — same params in a different order would make a different key. This cache dies with the kernel, which is right for a studio. For the midterm write the response to a .json file and check if it exists — survives restarts and makes results reproducible.</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days in, three rows out — check that before you trust any reshape. Named aggregation picks the column and names the result in one go. The aggregation choice is the real decision: rain accumulates so it sums; temperature is a reading at a moment so you take the max. Get it backwards and the code runs and the numbers are wrong — the worst combination. groupby(hourly['time'].dt.date) groups on calendar date; grouping on time itself gives 72 groups of one row and no error.</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Which single hour had the most rain? idxmax returns the index label of the largest value; .loc turns that label into the whole row. max() alone gives the millimetres and throws away the timestamp — usually the part you were after. The daily roll-up can't answer this: the hour has been summed away. Citing: every API project must say where the data came from. Six weeks from now you'll need to know archive vs forecast endpoint and which coordinates.</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Recap before the checkpoint. These are the habits the builds were designed to install.</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Fill in the last notebook cell yourself — groups are fine for the work, but submit individually. Paste the printed output or a screenshot into this week's Studio Checkpoint in Canvas by Thursday 11:59pm ET. One submission per person, not per group.</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F6713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3240F9-EE47-45E2-8D69-BAF4AF6983A3}"/>
              </a:ext>
            </a:extLst>
          </p:cNvPr>
          <p:cNvSpPr>
            <a:spLocks noGrp="1"/>
          </p:cNvSpPr>
          <p:nvPr>
            <p:ph type="ctrTitle"/>
          </p:nvPr>
        </p:nvSpPr>
        <p:spPr>
          <a:xfrm>
            <a:off x="613457" y="1122363"/>
            <a:ext cx="10949651" cy="2387600"/>
          </a:xfrm>
        </p:spPr>
        <p:txBody>
          <a:bodyPr anchor="b"/>
          <a:lstStyle>
            <a:lvl1pPr algn="ctr">
              <a:defRPr sz="6000">
                <a:solidFill>
                  <a:srgbClr val="24323E"/>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a:extLst>
              <a:ext uri="{FF2B5EF4-FFF2-40B4-BE49-F238E27FC236}">
                <a16:creationId xmlns:a16="http://schemas.microsoft.com/office/drawing/2014/main" id="{4B1D7E23-A2CC-4BCA-9340-2D6BBC6A756A}"/>
              </a:ext>
            </a:extLst>
          </p:cNvPr>
          <p:cNvSpPr>
            <a:spLocks noGrp="1"/>
          </p:cNvSpPr>
          <p:nvPr>
            <p:ph type="subTitle" idx="1"/>
          </p:nvPr>
        </p:nvSpPr>
        <p:spPr>
          <a:xfrm>
            <a:off x="613457" y="3602038"/>
            <a:ext cx="10949651" cy="1655762"/>
          </a:xfrm>
        </p:spPr>
        <p:txBody>
          <a:bodyPr/>
          <a:lstStyle>
            <a:lvl1pPr marL="0" indent="0" algn="ctr">
              <a:buNone/>
              <a:defRPr sz="24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AB521367-D5A3-4D5E-9576-BA2DD8787969}"/>
              </a:ext>
            </a:extLst>
          </p:cNvPr>
          <p:cNvSpPr>
            <a:spLocks noGrp="1"/>
          </p:cNvSpPr>
          <p:nvPr>
            <p:ph type="dt" sz="half" idx="10"/>
          </p:nvPr>
        </p:nvSpPr>
        <p:spPr/>
        <p:txBody>
          <a:bodyPr/>
          <a:lstStyle/>
          <a:p>
            <a:fld id="{507A6976-490E-4B03-A9C3-CCC3E2FE72FE}" type="datetimeFigureOut">
              <a:rPr lang="en-US" smtClean="0"/>
              <a:t>10/6/26</a:t>
            </a:fld>
            <a:endParaRPr lang="en-US"/>
          </a:p>
        </p:txBody>
      </p:sp>
      <p:sp>
        <p:nvSpPr>
          <p:cNvPr id="8" name="Rectangle 7">
            <a:extLst>
              <a:ext uri="{FF2B5EF4-FFF2-40B4-BE49-F238E27FC236}">
                <a16:creationId xmlns:a16="http://schemas.microsoft.com/office/drawing/2014/main" id="{4C8F91D3-C175-4E31-94F8-8954545A1943}"/>
              </a:ext>
            </a:extLst>
          </p:cNvPr>
          <p:cNvSpPr/>
          <p:nvPr userDrawn="1"/>
        </p:nvSpPr>
        <p:spPr>
          <a:xfrm>
            <a:off x="0" y="6223183"/>
            <a:ext cx="12192000" cy="634817"/>
          </a:xfrm>
          <a:prstGeom prst="rect">
            <a:avLst/>
          </a:prstGeom>
          <a:solidFill>
            <a:srgbClr val="24323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a:extLst>
              <a:ext uri="{FF2B5EF4-FFF2-40B4-BE49-F238E27FC236}">
                <a16:creationId xmlns:a16="http://schemas.microsoft.com/office/drawing/2014/main" id="{FA02294C-7E6C-45B8-8A66-9C558CA7B9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869651-5CF9-4A71-BA2D-52C300D681FD}"/>
              </a:ext>
            </a:extLst>
          </p:cNvPr>
          <p:cNvSpPr>
            <a:spLocks noGrp="1"/>
          </p:cNvSpPr>
          <p:nvPr>
            <p:ph type="sldNum" sz="quarter" idx="12"/>
          </p:nvPr>
        </p:nvSpPr>
        <p:spPr/>
        <p:txBody>
          <a:bodyPr/>
          <a:lstStyle/>
          <a:p>
            <a:fld id="{D5D0E0BB-C5BC-4E94-AD2F-C01416FBA9AF}" type="slidenum">
              <a:rPr lang="en-US" smtClean="0"/>
              <a:t>‹#›</a:t>
            </a:fld>
            <a:endParaRPr lang="en-US"/>
          </a:p>
        </p:txBody>
      </p:sp>
      <p:pic>
        <p:nvPicPr>
          <p:cNvPr id="12" name="Picture 2" descr="UVa Logo">
            <a:extLst>
              <a:ext uri="{FF2B5EF4-FFF2-40B4-BE49-F238E27FC236}">
                <a16:creationId xmlns:a16="http://schemas.microsoft.com/office/drawing/2014/main" id="{A23163B0-F7B8-4DE9-B718-0172B1E18BE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18010" y="6356350"/>
            <a:ext cx="3238500" cy="371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170302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rgbClr val="F6713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3240F9-EE47-45E2-8D69-BAF4AF6983A3}"/>
              </a:ext>
            </a:extLst>
          </p:cNvPr>
          <p:cNvSpPr>
            <a:spLocks noGrp="1"/>
          </p:cNvSpPr>
          <p:nvPr>
            <p:ph type="ctrTitle"/>
          </p:nvPr>
        </p:nvSpPr>
        <p:spPr>
          <a:xfrm>
            <a:off x="613457" y="1122363"/>
            <a:ext cx="10949651" cy="2387600"/>
          </a:xfrm>
        </p:spPr>
        <p:txBody>
          <a:bodyPr anchor="b"/>
          <a:lstStyle>
            <a:lvl1pPr algn="ctr">
              <a:defRPr sz="6000">
                <a:solidFill>
                  <a:srgbClr val="24323E"/>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a:extLst>
              <a:ext uri="{FF2B5EF4-FFF2-40B4-BE49-F238E27FC236}">
                <a16:creationId xmlns:a16="http://schemas.microsoft.com/office/drawing/2014/main" id="{4B1D7E23-A2CC-4BCA-9340-2D6BBC6A756A}"/>
              </a:ext>
            </a:extLst>
          </p:cNvPr>
          <p:cNvSpPr>
            <a:spLocks noGrp="1"/>
          </p:cNvSpPr>
          <p:nvPr>
            <p:ph type="subTitle" idx="1"/>
          </p:nvPr>
        </p:nvSpPr>
        <p:spPr>
          <a:xfrm>
            <a:off x="613457" y="3602038"/>
            <a:ext cx="10949651" cy="1655762"/>
          </a:xfrm>
        </p:spPr>
        <p:txBody>
          <a:bodyPr/>
          <a:lstStyle>
            <a:lvl1pPr marL="0" indent="0" algn="ctr">
              <a:buNone/>
              <a:defRPr sz="24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AB521367-D5A3-4D5E-9576-BA2DD8787969}"/>
              </a:ext>
            </a:extLst>
          </p:cNvPr>
          <p:cNvSpPr>
            <a:spLocks noGrp="1"/>
          </p:cNvSpPr>
          <p:nvPr>
            <p:ph type="dt" sz="half" idx="10"/>
          </p:nvPr>
        </p:nvSpPr>
        <p:spPr/>
        <p:txBody>
          <a:bodyPr/>
          <a:lstStyle/>
          <a:p>
            <a:fld id="{507A6976-490E-4B03-A9C3-CCC3E2FE72FE}" type="datetimeFigureOut">
              <a:rPr lang="en-US" smtClean="0"/>
              <a:t>10/6/26</a:t>
            </a:fld>
            <a:endParaRPr lang="en-US"/>
          </a:p>
        </p:txBody>
      </p:sp>
      <p:sp>
        <p:nvSpPr>
          <p:cNvPr id="8" name="Rectangle 7">
            <a:extLst>
              <a:ext uri="{FF2B5EF4-FFF2-40B4-BE49-F238E27FC236}">
                <a16:creationId xmlns:a16="http://schemas.microsoft.com/office/drawing/2014/main" id="{4C8F91D3-C175-4E31-94F8-8954545A1943}"/>
              </a:ext>
            </a:extLst>
          </p:cNvPr>
          <p:cNvSpPr/>
          <p:nvPr userDrawn="1"/>
        </p:nvSpPr>
        <p:spPr>
          <a:xfrm>
            <a:off x="0" y="6223183"/>
            <a:ext cx="12192000" cy="634817"/>
          </a:xfrm>
          <a:prstGeom prst="rect">
            <a:avLst/>
          </a:prstGeom>
          <a:solidFill>
            <a:srgbClr val="24323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descr="UVa Logo">
            <a:extLst>
              <a:ext uri="{FF2B5EF4-FFF2-40B4-BE49-F238E27FC236}">
                <a16:creationId xmlns:a16="http://schemas.microsoft.com/office/drawing/2014/main" id="{A23163B0-F7B8-4DE9-B718-0172B1E18BE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374463" y="6356350"/>
            <a:ext cx="3238500" cy="371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7016438"/>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8A6A8-583C-4B61-8542-D7C3862AEDAC}"/>
              </a:ext>
            </a:extLst>
          </p:cNvPr>
          <p:cNvSpPr>
            <a:spLocks noGrp="1"/>
          </p:cNvSpPr>
          <p:nvPr>
            <p:ph type="title"/>
          </p:nvPr>
        </p:nvSpPr>
        <p:spPr>
          <a:xfrm>
            <a:off x="425802" y="365126"/>
            <a:ext cx="10269206" cy="568264"/>
          </a:xfrm>
        </p:spPr>
        <p:txBody>
          <a:bodyPr/>
          <a:lstStyle>
            <a:lvl1pPr>
              <a:defRPr>
                <a:solidFill>
                  <a:srgbClr val="24323E"/>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Content Placeholder 2">
            <a:extLst>
              <a:ext uri="{FF2B5EF4-FFF2-40B4-BE49-F238E27FC236}">
                <a16:creationId xmlns:a16="http://schemas.microsoft.com/office/drawing/2014/main" id="{BCA15F41-01A7-4EFA-A30D-6156DE46DB72}"/>
              </a:ext>
            </a:extLst>
          </p:cNvPr>
          <p:cNvSpPr>
            <a:spLocks noGrp="1"/>
          </p:cNvSpPr>
          <p:nvPr>
            <p:ph idx="1"/>
          </p:nvPr>
        </p:nvSpPr>
        <p:spPr>
          <a:xfrm>
            <a:off x="425802" y="1551008"/>
            <a:ext cx="11178526" cy="4625955"/>
          </a:xfrm>
        </p:spPr>
        <p:txBody>
          <a:bodyPr/>
          <a:lstStyle>
            <a:lvl1pPr marL="228600" indent="-228600">
              <a:buClr>
                <a:srgbClr val="24323E"/>
              </a:buClr>
              <a:buFont typeface="Wingdings" panose="05000000000000000000" pitchFamily="2" charset="2"/>
              <a:buChar char="§"/>
              <a:defRPr>
                <a:solidFill>
                  <a:srgbClr val="24323E"/>
                </a:solidFill>
                <a:latin typeface="Times New Roman" panose="02020603050405020304" pitchFamily="18" charset="0"/>
                <a:cs typeface="Times New Roman" panose="02020603050405020304" pitchFamily="18" charset="0"/>
              </a:defRPr>
            </a:lvl1pPr>
            <a:lvl2pPr marL="685800" indent="-228600">
              <a:buClr>
                <a:srgbClr val="F67132"/>
              </a:buClr>
              <a:buFont typeface="Wingdings" panose="05000000000000000000" pitchFamily="2" charset="2"/>
              <a:buChar char="§"/>
              <a:defRPr>
                <a:solidFill>
                  <a:srgbClr val="24323E"/>
                </a:solidFill>
                <a:latin typeface="Times New Roman" panose="02020603050405020304" pitchFamily="18" charset="0"/>
                <a:cs typeface="Times New Roman" panose="02020603050405020304" pitchFamily="18" charset="0"/>
              </a:defRPr>
            </a:lvl2pPr>
            <a:lvl3pPr marL="1143000" indent="-228600">
              <a:buClr>
                <a:srgbClr val="24323E"/>
              </a:buClr>
              <a:buFont typeface="Wingdings" panose="05000000000000000000" pitchFamily="2" charset="2"/>
              <a:buChar char="§"/>
              <a:defRPr>
                <a:solidFill>
                  <a:srgbClr val="24323E"/>
                </a:solidFill>
                <a:latin typeface="Times New Roman" panose="02020603050405020304" pitchFamily="18" charset="0"/>
                <a:cs typeface="Times New Roman" panose="02020603050405020304" pitchFamily="18" charset="0"/>
              </a:defRPr>
            </a:lvl3pPr>
            <a:lvl4pPr marL="1600200" indent="-228600">
              <a:buClr>
                <a:srgbClr val="F67132"/>
              </a:buClr>
              <a:buFont typeface="Wingdings" panose="05000000000000000000" pitchFamily="2" charset="2"/>
              <a:buChar char="§"/>
              <a:defRPr>
                <a:solidFill>
                  <a:srgbClr val="24323E"/>
                </a:solidFill>
                <a:latin typeface="Times New Roman" panose="02020603050405020304" pitchFamily="18" charset="0"/>
                <a:cs typeface="Times New Roman" panose="02020603050405020304" pitchFamily="18" charset="0"/>
              </a:defRPr>
            </a:lvl4pPr>
            <a:lvl5pPr marL="2057400" indent="-228600">
              <a:buClr>
                <a:srgbClr val="24323E"/>
              </a:buClr>
              <a:buFont typeface="Wingdings" panose="05000000000000000000" pitchFamily="2" charset="2"/>
              <a:buChar char="§"/>
              <a:defRPr>
                <a:solidFill>
                  <a:srgbClr val="24323E"/>
                </a:solidFill>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DE138A0-9F3C-4D4E-A5BB-5DB1CA18D5A6}"/>
              </a:ext>
            </a:extLst>
          </p:cNvPr>
          <p:cNvSpPr>
            <a:spLocks noGrp="1"/>
          </p:cNvSpPr>
          <p:nvPr>
            <p:ph type="dt" sz="half" idx="10"/>
          </p:nvPr>
        </p:nvSpPr>
        <p:spPr/>
        <p:txBody>
          <a:bodyPr/>
          <a:lstStyle/>
          <a:p>
            <a:fld id="{507A6976-490E-4B03-A9C3-CCC3E2FE72FE}" type="datetimeFigureOut">
              <a:rPr lang="en-US" smtClean="0"/>
              <a:t>10/6/26</a:t>
            </a:fld>
            <a:endParaRPr lang="en-US"/>
          </a:p>
        </p:txBody>
      </p:sp>
      <p:sp>
        <p:nvSpPr>
          <p:cNvPr id="5" name="Footer Placeholder 4">
            <a:extLst>
              <a:ext uri="{FF2B5EF4-FFF2-40B4-BE49-F238E27FC236}">
                <a16:creationId xmlns:a16="http://schemas.microsoft.com/office/drawing/2014/main" id="{92CBD177-DEE3-487E-963D-9D8E870EE434}"/>
              </a:ext>
            </a:extLst>
          </p:cNvPr>
          <p:cNvSpPr>
            <a:spLocks noGrp="1"/>
          </p:cNvSpPr>
          <p:nvPr>
            <p:ph type="ftr" sz="quarter" idx="11"/>
          </p:nvPr>
        </p:nvSpPr>
        <p:spPr/>
        <p:txBody>
          <a:bodyPr/>
          <a:lstStyle/>
          <a:p>
            <a:endParaRPr lang="en-US"/>
          </a:p>
        </p:txBody>
      </p:sp>
      <p:sp>
        <p:nvSpPr>
          <p:cNvPr id="8" name="Rectangle 7">
            <a:extLst>
              <a:ext uri="{FF2B5EF4-FFF2-40B4-BE49-F238E27FC236}">
                <a16:creationId xmlns:a16="http://schemas.microsoft.com/office/drawing/2014/main" id="{D05E8E3F-21E7-4D82-AF2E-88E4CEF77843}"/>
              </a:ext>
            </a:extLst>
          </p:cNvPr>
          <p:cNvSpPr/>
          <p:nvPr userDrawn="1"/>
        </p:nvSpPr>
        <p:spPr>
          <a:xfrm>
            <a:off x="0" y="6155751"/>
            <a:ext cx="12192000" cy="251579"/>
          </a:xfrm>
          <a:prstGeom prst="rect">
            <a:avLst/>
          </a:prstGeom>
          <a:solidFill>
            <a:srgbClr val="F671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AAC36415-0399-430F-A5BD-465C7170F859}"/>
              </a:ext>
            </a:extLst>
          </p:cNvPr>
          <p:cNvSpPr>
            <a:spLocks noGrp="1"/>
          </p:cNvSpPr>
          <p:nvPr>
            <p:ph type="sldNum" sz="quarter" idx="12"/>
          </p:nvPr>
        </p:nvSpPr>
        <p:spPr/>
        <p:txBody>
          <a:bodyPr/>
          <a:lstStyle/>
          <a:p>
            <a:fld id="{D5D0E0BB-C5BC-4E94-AD2F-C01416FBA9AF}" type="slidenum">
              <a:rPr lang="en-US" smtClean="0"/>
              <a:t>‹#›</a:t>
            </a:fld>
            <a:endParaRPr lang="en-US"/>
          </a:p>
        </p:txBody>
      </p:sp>
      <p:sp>
        <p:nvSpPr>
          <p:cNvPr id="7" name="Rectangle 6">
            <a:extLst>
              <a:ext uri="{FF2B5EF4-FFF2-40B4-BE49-F238E27FC236}">
                <a16:creationId xmlns:a16="http://schemas.microsoft.com/office/drawing/2014/main" id="{A04CB88B-2595-4D36-8F78-87400EF726A3}"/>
              </a:ext>
            </a:extLst>
          </p:cNvPr>
          <p:cNvSpPr/>
          <p:nvPr userDrawn="1"/>
        </p:nvSpPr>
        <p:spPr>
          <a:xfrm>
            <a:off x="0" y="6223183"/>
            <a:ext cx="12192000" cy="634817"/>
          </a:xfrm>
          <a:prstGeom prst="rect">
            <a:avLst/>
          </a:prstGeom>
          <a:solidFill>
            <a:srgbClr val="24323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UVa Logo">
            <a:extLst>
              <a:ext uri="{FF2B5EF4-FFF2-40B4-BE49-F238E27FC236}">
                <a16:creationId xmlns:a16="http://schemas.microsoft.com/office/drawing/2014/main" id="{7383D1B5-09AA-4FBD-A664-826B10E135D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18010" y="6356350"/>
            <a:ext cx="3238500" cy="371475"/>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descr="Logo&#10;&#10;Description automatically generated">
            <a:extLst>
              <a:ext uri="{FF2B5EF4-FFF2-40B4-BE49-F238E27FC236}">
                <a16:creationId xmlns:a16="http://schemas.microsoft.com/office/drawing/2014/main" id="{2C156C22-D0CC-437F-A096-09BB5180410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632729" y="6356350"/>
            <a:ext cx="3113396" cy="397339"/>
          </a:xfrm>
          <a:prstGeom prst="rect">
            <a:avLst/>
          </a:prstGeom>
        </p:spPr>
      </p:pic>
      <p:sp>
        <p:nvSpPr>
          <p:cNvPr id="19" name="Text Placeholder 1">
            <a:extLst>
              <a:ext uri="{FF2B5EF4-FFF2-40B4-BE49-F238E27FC236}">
                <a16:creationId xmlns:a16="http://schemas.microsoft.com/office/drawing/2014/main" id="{9E59CDD5-C42A-49A7-B529-8E24FDD70315}"/>
              </a:ext>
            </a:extLst>
          </p:cNvPr>
          <p:cNvSpPr>
            <a:spLocks noGrp="1"/>
          </p:cNvSpPr>
          <p:nvPr>
            <p:ph type="body" sz="quarter" idx="13"/>
          </p:nvPr>
        </p:nvSpPr>
        <p:spPr>
          <a:xfrm>
            <a:off x="426424" y="939739"/>
            <a:ext cx="10268584" cy="369332"/>
          </a:xfrm>
        </p:spPr>
        <p:txBody>
          <a:bodyPr/>
          <a:lstStyle>
            <a:lvl1pPr marL="0" indent="0">
              <a:buFontTx/>
              <a:buNone/>
              <a:defRPr>
                <a:solidFill>
                  <a:srgbClr val="24323E"/>
                </a:solidFill>
                <a:latin typeface="Times New Roman" panose="02020603050405020304" pitchFamily="18" charset="0"/>
                <a:cs typeface="Times New Roman" panose="02020603050405020304" pitchFamily="18" charset="0"/>
              </a:defRPr>
            </a:lvl1pPr>
          </a:lstStyle>
          <a:p>
            <a:r>
              <a:rPr lang="en-AU" sz="2400" dirty="0"/>
              <a:t>Full DevOps Capability for Machine Learning Development &amp; Operationalization</a:t>
            </a:r>
          </a:p>
        </p:txBody>
      </p:sp>
      <p:grpSp>
        <p:nvGrpSpPr>
          <p:cNvPr id="20" name="Group 19">
            <a:extLst>
              <a:ext uri="{FF2B5EF4-FFF2-40B4-BE49-F238E27FC236}">
                <a16:creationId xmlns:a16="http://schemas.microsoft.com/office/drawing/2014/main" id="{54E34AA6-A662-4F8A-95EB-9709DED25BD2}"/>
              </a:ext>
            </a:extLst>
          </p:cNvPr>
          <p:cNvGrpSpPr/>
          <p:nvPr userDrawn="1"/>
        </p:nvGrpSpPr>
        <p:grpSpPr>
          <a:xfrm>
            <a:off x="11181572" y="161927"/>
            <a:ext cx="804724" cy="771464"/>
            <a:chOff x="10695008" y="365126"/>
            <a:chExt cx="909320" cy="871737"/>
          </a:xfrm>
        </p:grpSpPr>
        <p:sp>
          <p:nvSpPr>
            <p:cNvPr id="18" name="Oval 17">
              <a:extLst>
                <a:ext uri="{FF2B5EF4-FFF2-40B4-BE49-F238E27FC236}">
                  <a16:creationId xmlns:a16="http://schemas.microsoft.com/office/drawing/2014/main" id="{90CA6DF7-67F2-4590-8C5E-D082420E6F59}"/>
                </a:ext>
              </a:extLst>
            </p:cNvPr>
            <p:cNvSpPr/>
            <p:nvPr userDrawn="1"/>
          </p:nvSpPr>
          <p:spPr>
            <a:xfrm>
              <a:off x="10695008" y="365126"/>
              <a:ext cx="909320" cy="871737"/>
            </a:xfrm>
            <a:prstGeom prst="ellipse">
              <a:avLst/>
            </a:prstGeom>
            <a:solidFill>
              <a:srgbClr val="24323E"/>
            </a:solidFill>
            <a:ln w="38100">
              <a:solidFill>
                <a:srgbClr val="F6713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34" name="Picture 10" descr="Intramural-Recreational Sports at UVA">
              <a:extLst>
                <a:ext uri="{FF2B5EF4-FFF2-40B4-BE49-F238E27FC236}">
                  <a16:creationId xmlns:a16="http://schemas.microsoft.com/office/drawing/2014/main" id="{9727E960-6D1E-42F4-B65C-475ECB9B1B47}"/>
                </a:ext>
              </a:extLst>
            </p:cNvPr>
            <p:cNvPicPr>
              <a:picLocks noChangeAspect="1" noChangeArrowheads="1"/>
            </p:cNvPicPr>
            <p:nvPr userDrawn="1"/>
          </p:nvPicPr>
          <p:blipFill rotWithShape="1">
            <a:blip r:embed="rId4">
              <a:extLst>
                <a:ext uri="{28A0092B-C50C-407E-A947-70E740481C1C}">
                  <a14:useLocalDpi xmlns:a14="http://schemas.microsoft.com/office/drawing/2010/main" val="0"/>
                </a:ext>
              </a:extLst>
            </a:blip>
            <a:srcRect r="62081" b="-3750"/>
            <a:stretch/>
          </p:blipFill>
          <p:spPr bwMode="auto">
            <a:xfrm>
              <a:off x="10780106" y="514551"/>
              <a:ext cx="812647" cy="642335"/>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8224017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E9843-407A-43C4-8943-ECDF4278F11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51746FA-46B8-40D1-87A2-85412956CFC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BB9FEF9-D3D1-4020-A429-5BE1AE937B6A}"/>
              </a:ext>
            </a:extLst>
          </p:cNvPr>
          <p:cNvSpPr>
            <a:spLocks noGrp="1"/>
          </p:cNvSpPr>
          <p:nvPr>
            <p:ph type="dt" sz="half" idx="10"/>
          </p:nvPr>
        </p:nvSpPr>
        <p:spPr/>
        <p:txBody>
          <a:bodyPr/>
          <a:lstStyle/>
          <a:p>
            <a:fld id="{507A6976-490E-4B03-A9C3-CCC3E2FE72FE}" type="datetimeFigureOut">
              <a:rPr lang="en-US" smtClean="0"/>
              <a:t>10/6/26</a:t>
            </a:fld>
            <a:endParaRPr lang="en-US"/>
          </a:p>
        </p:txBody>
      </p:sp>
      <p:sp>
        <p:nvSpPr>
          <p:cNvPr id="5" name="Footer Placeholder 4">
            <a:extLst>
              <a:ext uri="{FF2B5EF4-FFF2-40B4-BE49-F238E27FC236}">
                <a16:creationId xmlns:a16="http://schemas.microsoft.com/office/drawing/2014/main" id="{FE8D5D15-1BF4-49C1-8A7A-416D917E59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98E9D6-4AB0-4D21-812F-CF16AF25C91E}"/>
              </a:ext>
            </a:extLst>
          </p:cNvPr>
          <p:cNvSpPr>
            <a:spLocks noGrp="1"/>
          </p:cNvSpPr>
          <p:nvPr>
            <p:ph type="sldNum" sz="quarter" idx="12"/>
          </p:nvPr>
        </p:nvSpPr>
        <p:spPr/>
        <p:txBody>
          <a:bodyPr/>
          <a:lstStyle/>
          <a:p>
            <a:fld id="{D5D0E0BB-C5BC-4E94-AD2F-C01416FBA9AF}" type="slidenum">
              <a:rPr lang="en-US" smtClean="0"/>
              <a:t>‹#›</a:t>
            </a:fld>
            <a:endParaRPr lang="en-US"/>
          </a:p>
        </p:txBody>
      </p:sp>
      <p:sp>
        <p:nvSpPr>
          <p:cNvPr id="7" name="Date Placeholder 3">
            <a:extLst>
              <a:ext uri="{FF2B5EF4-FFF2-40B4-BE49-F238E27FC236}">
                <a16:creationId xmlns:a16="http://schemas.microsoft.com/office/drawing/2014/main" id="{39EC3E30-8BF2-4EDC-A69F-038FADBE04F4}"/>
              </a:ext>
            </a:extLst>
          </p:cNvPr>
          <p:cNvSpPr txBox="1">
            <a:spLocks/>
          </p:cNvSpPr>
          <p:nvPr userDrawn="1"/>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07A6976-490E-4B03-A9C3-CCC3E2FE72FE}" type="datetimeFigureOut">
              <a:rPr lang="en-US" smtClean="0"/>
              <a:pPr/>
              <a:t>10/6/26</a:t>
            </a:fld>
            <a:endParaRPr lang="en-US"/>
          </a:p>
        </p:txBody>
      </p:sp>
      <p:sp>
        <p:nvSpPr>
          <p:cNvPr id="8" name="Rectangle 7">
            <a:extLst>
              <a:ext uri="{FF2B5EF4-FFF2-40B4-BE49-F238E27FC236}">
                <a16:creationId xmlns:a16="http://schemas.microsoft.com/office/drawing/2014/main" id="{829C2C60-7F8D-41AB-904C-3EC1F25F1425}"/>
              </a:ext>
            </a:extLst>
          </p:cNvPr>
          <p:cNvSpPr/>
          <p:nvPr userDrawn="1"/>
        </p:nvSpPr>
        <p:spPr>
          <a:xfrm>
            <a:off x="0" y="6155751"/>
            <a:ext cx="12192000" cy="251579"/>
          </a:xfrm>
          <a:prstGeom prst="rect">
            <a:avLst/>
          </a:prstGeom>
          <a:solidFill>
            <a:srgbClr val="F671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lide Number Placeholder 5">
            <a:extLst>
              <a:ext uri="{FF2B5EF4-FFF2-40B4-BE49-F238E27FC236}">
                <a16:creationId xmlns:a16="http://schemas.microsoft.com/office/drawing/2014/main" id="{605D592E-7C96-4AEC-BC7C-8597269C8522}"/>
              </a:ext>
            </a:extLst>
          </p:cNvPr>
          <p:cNvSpPr txBox="1">
            <a:spLocks/>
          </p:cNvSpPr>
          <p:nvPr userDrawn="1"/>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5D0E0BB-C5BC-4E94-AD2F-C01416FBA9AF}" type="slidenum">
              <a:rPr lang="en-US" smtClean="0"/>
              <a:pPr/>
              <a:t>‹#›</a:t>
            </a:fld>
            <a:endParaRPr lang="en-US"/>
          </a:p>
        </p:txBody>
      </p:sp>
      <p:sp>
        <p:nvSpPr>
          <p:cNvPr id="10" name="Rectangle 9">
            <a:extLst>
              <a:ext uri="{FF2B5EF4-FFF2-40B4-BE49-F238E27FC236}">
                <a16:creationId xmlns:a16="http://schemas.microsoft.com/office/drawing/2014/main" id="{695CC881-5C33-44B1-805F-2F580197382A}"/>
              </a:ext>
            </a:extLst>
          </p:cNvPr>
          <p:cNvSpPr/>
          <p:nvPr userDrawn="1"/>
        </p:nvSpPr>
        <p:spPr>
          <a:xfrm>
            <a:off x="0" y="6223183"/>
            <a:ext cx="12192000" cy="634817"/>
          </a:xfrm>
          <a:prstGeom prst="rect">
            <a:avLst/>
          </a:prstGeom>
          <a:solidFill>
            <a:srgbClr val="24323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2" descr="UVa Logo">
            <a:extLst>
              <a:ext uri="{FF2B5EF4-FFF2-40B4-BE49-F238E27FC236}">
                <a16:creationId xmlns:a16="http://schemas.microsoft.com/office/drawing/2014/main" id="{AAC63779-D1BE-45EE-8A12-E7BE16E59C10}"/>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18010" y="6356350"/>
            <a:ext cx="3238500" cy="371475"/>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descr="Logo&#10;&#10;Description automatically generated">
            <a:extLst>
              <a:ext uri="{FF2B5EF4-FFF2-40B4-BE49-F238E27FC236}">
                <a16:creationId xmlns:a16="http://schemas.microsoft.com/office/drawing/2014/main" id="{FBBEE2EF-2CAA-462A-85C8-C1F1CC8EDEA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632729" y="6356350"/>
            <a:ext cx="3113396" cy="397339"/>
          </a:xfrm>
          <a:prstGeom prst="rect">
            <a:avLst/>
          </a:prstGeom>
        </p:spPr>
      </p:pic>
      <p:grpSp>
        <p:nvGrpSpPr>
          <p:cNvPr id="13" name="Group 12">
            <a:extLst>
              <a:ext uri="{FF2B5EF4-FFF2-40B4-BE49-F238E27FC236}">
                <a16:creationId xmlns:a16="http://schemas.microsoft.com/office/drawing/2014/main" id="{F7224774-E8AF-4FE2-BC64-59AF7DAA1001}"/>
              </a:ext>
            </a:extLst>
          </p:cNvPr>
          <p:cNvGrpSpPr/>
          <p:nvPr userDrawn="1"/>
        </p:nvGrpSpPr>
        <p:grpSpPr>
          <a:xfrm>
            <a:off x="11076976" y="377318"/>
            <a:ext cx="909320" cy="871737"/>
            <a:chOff x="10695008" y="365126"/>
            <a:chExt cx="909320" cy="871737"/>
          </a:xfrm>
        </p:grpSpPr>
        <p:sp>
          <p:nvSpPr>
            <p:cNvPr id="14" name="Oval 13">
              <a:extLst>
                <a:ext uri="{FF2B5EF4-FFF2-40B4-BE49-F238E27FC236}">
                  <a16:creationId xmlns:a16="http://schemas.microsoft.com/office/drawing/2014/main" id="{5049CD17-31D1-4801-9664-ED1B9C685CDC}"/>
                </a:ext>
              </a:extLst>
            </p:cNvPr>
            <p:cNvSpPr/>
            <p:nvPr userDrawn="1"/>
          </p:nvSpPr>
          <p:spPr>
            <a:xfrm>
              <a:off x="10695008" y="365126"/>
              <a:ext cx="909320" cy="871737"/>
            </a:xfrm>
            <a:prstGeom prst="ellipse">
              <a:avLst/>
            </a:prstGeom>
            <a:solidFill>
              <a:srgbClr val="24323E"/>
            </a:solidFill>
            <a:ln w="38100">
              <a:solidFill>
                <a:srgbClr val="F6713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0" descr="Intramural-Recreational Sports at UVA">
              <a:extLst>
                <a:ext uri="{FF2B5EF4-FFF2-40B4-BE49-F238E27FC236}">
                  <a16:creationId xmlns:a16="http://schemas.microsoft.com/office/drawing/2014/main" id="{16158328-4B45-4D93-9F97-C86EAD4C9093}"/>
                </a:ext>
              </a:extLst>
            </p:cNvPr>
            <p:cNvPicPr>
              <a:picLocks noChangeAspect="1" noChangeArrowheads="1"/>
            </p:cNvPicPr>
            <p:nvPr userDrawn="1"/>
          </p:nvPicPr>
          <p:blipFill rotWithShape="1">
            <a:blip r:embed="rId4">
              <a:extLst>
                <a:ext uri="{28A0092B-C50C-407E-A947-70E740481C1C}">
                  <a14:useLocalDpi xmlns:a14="http://schemas.microsoft.com/office/drawing/2010/main" val="0"/>
                </a:ext>
              </a:extLst>
            </a:blip>
            <a:srcRect r="62081" b="-3750"/>
            <a:stretch/>
          </p:blipFill>
          <p:spPr bwMode="auto">
            <a:xfrm>
              <a:off x="10780106" y="514551"/>
              <a:ext cx="812647" cy="642335"/>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310464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2792C1B-E274-4C74-8A5D-D8845646259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D5BE9BE-0665-4DCE-A748-AE68B5E0A3D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F1F7F03-C309-43EB-9987-F81D6D20C085}"/>
              </a:ext>
            </a:extLst>
          </p:cNvPr>
          <p:cNvSpPr>
            <a:spLocks noGrp="1"/>
          </p:cNvSpPr>
          <p:nvPr>
            <p:ph type="dt" sz="half" idx="10"/>
          </p:nvPr>
        </p:nvSpPr>
        <p:spPr/>
        <p:txBody>
          <a:bodyPr/>
          <a:lstStyle/>
          <a:p>
            <a:fld id="{507A6976-490E-4B03-A9C3-CCC3E2FE72FE}" type="datetimeFigureOut">
              <a:rPr lang="en-US" smtClean="0"/>
              <a:t>10/6/26</a:t>
            </a:fld>
            <a:endParaRPr lang="en-US"/>
          </a:p>
        </p:txBody>
      </p:sp>
      <p:sp>
        <p:nvSpPr>
          <p:cNvPr id="6" name="Footer Placeholder 5">
            <a:extLst>
              <a:ext uri="{FF2B5EF4-FFF2-40B4-BE49-F238E27FC236}">
                <a16:creationId xmlns:a16="http://schemas.microsoft.com/office/drawing/2014/main" id="{788CB655-6BAB-4C80-9E6D-7AB4B6F3CC4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0512FCB-42C4-443A-B165-E55BFEB58486}"/>
              </a:ext>
            </a:extLst>
          </p:cNvPr>
          <p:cNvSpPr>
            <a:spLocks noGrp="1"/>
          </p:cNvSpPr>
          <p:nvPr>
            <p:ph type="sldNum" sz="quarter" idx="12"/>
          </p:nvPr>
        </p:nvSpPr>
        <p:spPr/>
        <p:txBody>
          <a:bodyPr/>
          <a:lstStyle/>
          <a:p>
            <a:fld id="{D5D0E0BB-C5BC-4E94-AD2F-C01416FBA9AF}" type="slidenum">
              <a:rPr lang="en-US" smtClean="0"/>
              <a:t>‹#›</a:t>
            </a:fld>
            <a:endParaRPr lang="en-US"/>
          </a:p>
        </p:txBody>
      </p:sp>
      <p:sp>
        <p:nvSpPr>
          <p:cNvPr id="8" name="Date Placeholder 3">
            <a:extLst>
              <a:ext uri="{FF2B5EF4-FFF2-40B4-BE49-F238E27FC236}">
                <a16:creationId xmlns:a16="http://schemas.microsoft.com/office/drawing/2014/main" id="{85064EE2-38C1-45C1-B913-7210E0504085}"/>
              </a:ext>
            </a:extLst>
          </p:cNvPr>
          <p:cNvSpPr txBox="1">
            <a:spLocks/>
          </p:cNvSpPr>
          <p:nvPr userDrawn="1"/>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07A6976-490E-4B03-A9C3-CCC3E2FE72FE}" type="datetimeFigureOut">
              <a:rPr lang="en-US" smtClean="0"/>
              <a:pPr/>
              <a:t>10/6/26</a:t>
            </a:fld>
            <a:endParaRPr lang="en-US"/>
          </a:p>
        </p:txBody>
      </p:sp>
      <p:sp>
        <p:nvSpPr>
          <p:cNvPr id="9" name="Rectangle 8">
            <a:extLst>
              <a:ext uri="{FF2B5EF4-FFF2-40B4-BE49-F238E27FC236}">
                <a16:creationId xmlns:a16="http://schemas.microsoft.com/office/drawing/2014/main" id="{4B69941A-AE8B-48D6-BC41-092F90C7EDFF}"/>
              </a:ext>
            </a:extLst>
          </p:cNvPr>
          <p:cNvSpPr/>
          <p:nvPr userDrawn="1"/>
        </p:nvSpPr>
        <p:spPr>
          <a:xfrm>
            <a:off x="0" y="6155751"/>
            <a:ext cx="12192000" cy="251579"/>
          </a:xfrm>
          <a:prstGeom prst="rect">
            <a:avLst/>
          </a:prstGeom>
          <a:solidFill>
            <a:srgbClr val="F671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lide Number Placeholder 5">
            <a:extLst>
              <a:ext uri="{FF2B5EF4-FFF2-40B4-BE49-F238E27FC236}">
                <a16:creationId xmlns:a16="http://schemas.microsoft.com/office/drawing/2014/main" id="{5EDBD34F-3EA6-4631-95FB-C7ABE8356313}"/>
              </a:ext>
            </a:extLst>
          </p:cNvPr>
          <p:cNvSpPr txBox="1">
            <a:spLocks/>
          </p:cNvSpPr>
          <p:nvPr userDrawn="1"/>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5D0E0BB-C5BC-4E94-AD2F-C01416FBA9AF}" type="slidenum">
              <a:rPr lang="en-US" smtClean="0"/>
              <a:pPr/>
              <a:t>‹#›</a:t>
            </a:fld>
            <a:endParaRPr lang="en-US"/>
          </a:p>
        </p:txBody>
      </p:sp>
      <p:sp>
        <p:nvSpPr>
          <p:cNvPr id="11" name="Rectangle 10">
            <a:extLst>
              <a:ext uri="{FF2B5EF4-FFF2-40B4-BE49-F238E27FC236}">
                <a16:creationId xmlns:a16="http://schemas.microsoft.com/office/drawing/2014/main" id="{BCB19452-6632-4D41-9309-9BCB6C3758AF}"/>
              </a:ext>
            </a:extLst>
          </p:cNvPr>
          <p:cNvSpPr/>
          <p:nvPr userDrawn="1"/>
        </p:nvSpPr>
        <p:spPr>
          <a:xfrm>
            <a:off x="0" y="6223183"/>
            <a:ext cx="12192000" cy="634817"/>
          </a:xfrm>
          <a:prstGeom prst="rect">
            <a:avLst/>
          </a:prstGeom>
          <a:solidFill>
            <a:srgbClr val="24323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descr="UVa Logo">
            <a:extLst>
              <a:ext uri="{FF2B5EF4-FFF2-40B4-BE49-F238E27FC236}">
                <a16:creationId xmlns:a16="http://schemas.microsoft.com/office/drawing/2014/main" id="{F3CCDF47-85C8-4F1F-89A9-9CB9AEBCACB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18010" y="6356350"/>
            <a:ext cx="3238500" cy="371475"/>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descr="Logo&#10;&#10;Description automatically generated">
            <a:extLst>
              <a:ext uri="{FF2B5EF4-FFF2-40B4-BE49-F238E27FC236}">
                <a16:creationId xmlns:a16="http://schemas.microsoft.com/office/drawing/2014/main" id="{FFBEC18F-B51F-4C73-B0FD-68BE0551D31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632729" y="6356350"/>
            <a:ext cx="3113396" cy="397339"/>
          </a:xfrm>
          <a:prstGeom prst="rect">
            <a:avLst/>
          </a:prstGeom>
        </p:spPr>
      </p:pic>
      <p:sp>
        <p:nvSpPr>
          <p:cNvPr id="17" name="Title 1">
            <a:extLst>
              <a:ext uri="{FF2B5EF4-FFF2-40B4-BE49-F238E27FC236}">
                <a16:creationId xmlns:a16="http://schemas.microsoft.com/office/drawing/2014/main" id="{B56D442A-5B6F-4AE6-AB1B-9E146EB7024E}"/>
              </a:ext>
            </a:extLst>
          </p:cNvPr>
          <p:cNvSpPr>
            <a:spLocks noGrp="1"/>
          </p:cNvSpPr>
          <p:nvPr>
            <p:ph type="title"/>
          </p:nvPr>
        </p:nvSpPr>
        <p:spPr>
          <a:xfrm>
            <a:off x="425802" y="365126"/>
            <a:ext cx="10269206" cy="568264"/>
          </a:xfrm>
        </p:spPr>
        <p:txBody>
          <a:bodyPr/>
          <a:lstStyle>
            <a:lvl1pPr>
              <a:defRPr>
                <a:solidFill>
                  <a:srgbClr val="24323E"/>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grpSp>
        <p:nvGrpSpPr>
          <p:cNvPr id="18" name="Group 17">
            <a:extLst>
              <a:ext uri="{FF2B5EF4-FFF2-40B4-BE49-F238E27FC236}">
                <a16:creationId xmlns:a16="http://schemas.microsoft.com/office/drawing/2014/main" id="{DD912D32-B30C-45BB-9DEB-75F66B355982}"/>
              </a:ext>
            </a:extLst>
          </p:cNvPr>
          <p:cNvGrpSpPr/>
          <p:nvPr userDrawn="1"/>
        </p:nvGrpSpPr>
        <p:grpSpPr>
          <a:xfrm>
            <a:off x="11181572" y="161927"/>
            <a:ext cx="804724" cy="771464"/>
            <a:chOff x="10695008" y="365126"/>
            <a:chExt cx="909320" cy="871737"/>
          </a:xfrm>
        </p:grpSpPr>
        <p:sp>
          <p:nvSpPr>
            <p:cNvPr id="19" name="Oval 18">
              <a:extLst>
                <a:ext uri="{FF2B5EF4-FFF2-40B4-BE49-F238E27FC236}">
                  <a16:creationId xmlns:a16="http://schemas.microsoft.com/office/drawing/2014/main" id="{750E0DDE-09DC-4068-BB45-BA6E627017FD}"/>
                </a:ext>
              </a:extLst>
            </p:cNvPr>
            <p:cNvSpPr/>
            <p:nvPr userDrawn="1"/>
          </p:nvSpPr>
          <p:spPr>
            <a:xfrm>
              <a:off x="10695008" y="365126"/>
              <a:ext cx="909320" cy="871737"/>
            </a:xfrm>
            <a:prstGeom prst="ellipse">
              <a:avLst/>
            </a:prstGeom>
            <a:solidFill>
              <a:srgbClr val="24323E"/>
            </a:solidFill>
            <a:ln w="38100">
              <a:solidFill>
                <a:srgbClr val="F6713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0" descr="Intramural-Recreational Sports at UVA">
              <a:extLst>
                <a:ext uri="{FF2B5EF4-FFF2-40B4-BE49-F238E27FC236}">
                  <a16:creationId xmlns:a16="http://schemas.microsoft.com/office/drawing/2014/main" id="{39C4A101-513A-4196-9307-02F65C1C8175}"/>
                </a:ext>
              </a:extLst>
            </p:cNvPr>
            <p:cNvPicPr>
              <a:picLocks noChangeAspect="1" noChangeArrowheads="1"/>
            </p:cNvPicPr>
            <p:nvPr userDrawn="1"/>
          </p:nvPicPr>
          <p:blipFill rotWithShape="1">
            <a:blip r:embed="rId4">
              <a:extLst>
                <a:ext uri="{28A0092B-C50C-407E-A947-70E740481C1C}">
                  <a14:useLocalDpi xmlns:a14="http://schemas.microsoft.com/office/drawing/2010/main" val="0"/>
                </a:ext>
              </a:extLst>
            </a:blip>
            <a:srcRect r="62081" b="-3750"/>
            <a:stretch/>
          </p:blipFill>
          <p:spPr bwMode="auto">
            <a:xfrm>
              <a:off x="10780106" y="514551"/>
              <a:ext cx="812647" cy="642335"/>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0168042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8C0147A-A342-4D7A-A25A-B9630121447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7B0977B-26B0-4D55-9C6F-9BDB92C12BD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514942-0798-489E-9803-EB3E3213408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04096F4-02D1-411E-B6DD-51BA3FAF650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5BFD05A-651E-4DDA-9264-6927716D281F}"/>
              </a:ext>
            </a:extLst>
          </p:cNvPr>
          <p:cNvSpPr>
            <a:spLocks noGrp="1"/>
          </p:cNvSpPr>
          <p:nvPr>
            <p:ph type="dt" sz="half" idx="10"/>
          </p:nvPr>
        </p:nvSpPr>
        <p:spPr/>
        <p:txBody>
          <a:bodyPr/>
          <a:lstStyle/>
          <a:p>
            <a:fld id="{507A6976-490E-4B03-A9C3-CCC3E2FE72FE}" type="datetimeFigureOut">
              <a:rPr lang="en-US" smtClean="0"/>
              <a:t>10/6/26</a:t>
            </a:fld>
            <a:endParaRPr lang="en-US"/>
          </a:p>
        </p:txBody>
      </p:sp>
      <p:sp>
        <p:nvSpPr>
          <p:cNvPr id="8" name="Footer Placeholder 7">
            <a:extLst>
              <a:ext uri="{FF2B5EF4-FFF2-40B4-BE49-F238E27FC236}">
                <a16:creationId xmlns:a16="http://schemas.microsoft.com/office/drawing/2014/main" id="{4464FEC5-13F6-45CA-B72A-E436454517A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A964271-A320-48D6-9C89-EBBAC019F2AC}"/>
              </a:ext>
            </a:extLst>
          </p:cNvPr>
          <p:cNvSpPr>
            <a:spLocks noGrp="1"/>
          </p:cNvSpPr>
          <p:nvPr>
            <p:ph type="sldNum" sz="quarter" idx="12"/>
          </p:nvPr>
        </p:nvSpPr>
        <p:spPr/>
        <p:txBody>
          <a:bodyPr/>
          <a:lstStyle/>
          <a:p>
            <a:fld id="{D5D0E0BB-C5BC-4E94-AD2F-C01416FBA9AF}" type="slidenum">
              <a:rPr lang="en-US" smtClean="0"/>
              <a:t>‹#›</a:t>
            </a:fld>
            <a:endParaRPr lang="en-US"/>
          </a:p>
        </p:txBody>
      </p:sp>
      <p:sp>
        <p:nvSpPr>
          <p:cNvPr id="10" name="Date Placeholder 3">
            <a:extLst>
              <a:ext uri="{FF2B5EF4-FFF2-40B4-BE49-F238E27FC236}">
                <a16:creationId xmlns:a16="http://schemas.microsoft.com/office/drawing/2014/main" id="{31A71450-5691-476E-AA79-B29C74D17114}"/>
              </a:ext>
            </a:extLst>
          </p:cNvPr>
          <p:cNvSpPr txBox="1">
            <a:spLocks/>
          </p:cNvSpPr>
          <p:nvPr userDrawn="1"/>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07A6976-490E-4B03-A9C3-CCC3E2FE72FE}" type="datetimeFigureOut">
              <a:rPr lang="en-US" smtClean="0"/>
              <a:pPr/>
              <a:t>10/6/26</a:t>
            </a:fld>
            <a:endParaRPr lang="en-US"/>
          </a:p>
        </p:txBody>
      </p:sp>
      <p:sp>
        <p:nvSpPr>
          <p:cNvPr id="11" name="Rectangle 10">
            <a:extLst>
              <a:ext uri="{FF2B5EF4-FFF2-40B4-BE49-F238E27FC236}">
                <a16:creationId xmlns:a16="http://schemas.microsoft.com/office/drawing/2014/main" id="{06295C27-5AA0-4C19-8FB4-77E5A2F860EB}"/>
              </a:ext>
            </a:extLst>
          </p:cNvPr>
          <p:cNvSpPr/>
          <p:nvPr userDrawn="1"/>
        </p:nvSpPr>
        <p:spPr>
          <a:xfrm>
            <a:off x="0" y="6155751"/>
            <a:ext cx="12192000" cy="251579"/>
          </a:xfrm>
          <a:prstGeom prst="rect">
            <a:avLst/>
          </a:prstGeom>
          <a:solidFill>
            <a:srgbClr val="F671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Slide Number Placeholder 5">
            <a:extLst>
              <a:ext uri="{FF2B5EF4-FFF2-40B4-BE49-F238E27FC236}">
                <a16:creationId xmlns:a16="http://schemas.microsoft.com/office/drawing/2014/main" id="{A9DDD66B-75FE-469E-9AC1-596F40ADCE9D}"/>
              </a:ext>
            </a:extLst>
          </p:cNvPr>
          <p:cNvSpPr txBox="1">
            <a:spLocks/>
          </p:cNvSpPr>
          <p:nvPr userDrawn="1"/>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5D0E0BB-C5BC-4E94-AD2F-C01416FBA9AF}" type="slidenum">
              <a:rPr lang="en-US" smtClean="0"/>
              <a:pPr/>
              <a:t>‹#›</a:t>
            </a:fld>
            <a:endParaRPr lang="en-US"/>
          </a:p>
        </p:txBody>
      </p:sp>
      <p:sp>
        <p:nvSpPr>
          <p:cNvPr id="13" name="Rectangle 12">
            <a:extLst>
              <a:ext uri="{FF2B5EF4-FFF2-40B4-BE49-F238E27FC236}">
                <a16:creationId xmlns:a16="http://schemas.microsoft.com/office/drawing/2014/main" id="{D8FA27D3-9F6B-4ED3-BB0C-CA5F61ED2350}"/>
              </a:ext>
            </a:extLst>
          </p:cNvPr>
          <p:cNvSpPr/>
          <p:nvPr userDrawn="1"/>
        </p:nvSpPr>
        <p:spPr>
          <a:xfrm>
            <a:off x="0" y="6223183"/>
            <a:ext cx="12192000" cy="634817"/>
          </a:xfrm>
          <a:prstGeom prst="rect">
            <a:avLst/>
          </a:prstGeom>
          <a:solidFill>
            <a:srgbClr val="24323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2" descr="UVa Logo">
            <a:extLst>
              <a:ext uri="{FF2B5EF4-FFF2-40B4-BE49-F238E27FC236}">
                <a16:creationId xmlns:a16="http://schemas.microsoft.com/office/drawing/2014/main" id="{99DCEE4B-8D92-4E84-A7E7-421BF82A0ADC}"/>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18010" y="6356350"/>
            <a:ext cx="3238500" cy="371475"/>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descr="Logo&#10;&#10;Description automatically generated">
            <a:extLst>
              <a:ext uri="{FF2B5EF4-FFF2-40B4-BE49-F238E27FC236}">
                <a16:creationId xmlns:a16="http://schemas.microsoft.com/office/drawing/2014/main" id="{B9096913-499E-4198-ABB4-C4769D6FD06C}"/>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632729" y="6356350"/>
            <a:ext cx="3113396" cy="397339"/>
          </a:xfrm>
          <a:prstGeom prst="rect">
            <a:avLst/>
          </a:prstGeom>
        </p:spPr>
      </p:pic>
      <p:sp>
        <p:nvSpPr>
          <p:cNvPr id="19" name="Title 1">
            <a:extLst>
              <a:ext uri="{FF2B5EF4-FFF2-40B4-BE49-F238E27FC236}">
                <a16:creationId xmlns:a16="http://schemas.microsoft.com/office/drawing/2014/main" id="{389D66B7-190D-45DE-8402-B0D014A7D9B9}"/>
              </a:ext>
            </a:extLst>
          </p:cNvPr>
          <p:cNvSpPr>
            <a:spLocks noGrp="1"/>
          </p:cNvSpPr>
          <p:nvPr>
            <p:ph type="title"/>
          </p:nvPr>
        </p:nvSpPr>
        <p:spPr>
          <a:xfrm>
            <a:off x="425802" y="365126"/>
            <a:ext cx="10269206" cy="568264"/>
          </a:xfrm>
        </p:spPr>
        <p:txBody>
          <a:bodyPr/>
          <a:lstStyle>
            <a:lvl1pPr>
              <a:defRPr>
                <a:solidFill>
                  <a:srgbClr val="24323E"/>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grpSp>
        <p:nvGrpSpPr>
          <p:cNvPr id="20" name="Group 19">
            <a:extLst>
              <a:ext uri="{FF2B5EF4-FFF2-40B4-BE49-F238E27FC236}">
                <a16:creationId xmlns:a16="http://schemas.microsoft.com/office/drawing/2014/main" id="{EE8AF6D6-3E54-4245-A773-23EDB9F0C850}"/>
              </a:ext>
            </a:extLst>
          </p:cNvPr>
          <p:cNvGrpSpPr/>
          <p:nvPr userDrawn="1"/>
        </p:nvGrpSpPr>
        <p:grpSpPr>
          <a:xfrm>
            <a:off x="11181572" y="161927"/>
            <a:ext cx="804724" cy="771464"/>
            <a:chOff x="10695008" y="365126"/>
            <a:chExt cx="909320" cy="871737"/>
          </a:xfrm>
        </p:grpSpPr>
        <p:sp>
          <p:nvSpPr>
            <p:cNvPr id="21" name="Oval 20">
              <a:extLst>
                <a:ext uri="{FF2B5EF4-FFF2-40B4-BE49-F238E27FC236}">
                  <a16:creationId xmlns:a16="http://schemas.microsoft.com/office/drawing/2014/main" id="{EBD50D10-3A04-4F7E-BCDC-6A340234FE10}"/>
                </a:ext>
              </a:extLst>
            </p:cNvPr>
            <p:cNvSpPr/>
            <p:nvPr userDrawn="1"/>
          </p:nvSpPr>
          <p:spPr>
            <a:xfrm>
              <a:off x="10695008" y="365126"/>
              <a:ext cx="909320" cy="871737"/>
            </a:xfrm>
            <a:prstGeom prst="ellipse">
              <a:avLst/>
            </a:prstGeom>
            <a:solidFill>
              <a:srgbClr val="24323E"/>
            </a:solidFill>
            <a:ln w="38100">
              <a:solidFill>
                <a:srgbClr val="F6713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10" descr="Intramural-Recreational Sports at UVA">
              <a:extLst>
                <a:ext uri="{FF2B5EF4-FFF2-40B4-BE49-F238E27FC236}">
                  <a16:creationId xmlns:a16="http://schemas.microsoft.com/office/drawing/2014/main" id="{A8D573F2-4BD6-4A1B-A4DF-31DC0D4F175F}"/>
                </a:ext>
              </a:extLst>
            </p:cNvPr>
            <p:cNvPicPr>
              <a:picLocks noChangeAspect="1" noChangeArrowheads="1"/>
            </p:cNvPicPr>
            <p:nvPr userDrawn="1"/>
          </p:nvPicPr>
          <p:blipFill rotWithShape="1">
            <a:blip r:embed="rId4">
              <a:extLst>
                <a:ext uri="{28A0092B-C50C-407E-A947-70E740481C1C}">
                  <a14:useLocalDpi xmlns:a14="http://schemas.microsoft.com/office/drawing/2010/main" val="0"/>
                </a:ext>
              </a:extLst>
            </a:blip>
            <a:srcRect r="62081" b="-3750"/>
            <a:stretch/>
          </p:blipFill>
          <p:spPr bwMode="auto">
            <a:xfrm>
              <a:off x="10780106" y="514551"/>
              <a:ext cx="812647" cy="642335"/>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0042247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9D0C2993-1DD0-4AF3-9263-0787DA4AD704}"/>
              </a:ext>
            </a:extLst>
          </p:cNvPr>
          <p:cNvSpPr>
            <a:spLocks noGrp="1"/>
          </p:cNvSpPr>
          <p:nvPr>
            <p:ph type="dt" sz="half" idx="10"/>
          </p:nvPr>
        </p:nvSpPr>
        <p:spPr/>
        <p:txBody>
          <a:bodyPr/>
          <a:lstStyle/>
          <a:p>
            <a:fld id="{507A6976-490E-4B03-A9C3-CCC3E2FE72FE}" type="datetimeFigureOut">
              <a:rPr lang="en-US" smtClean="0"/>
              <a:t>10/6/26</a:t>
            </a:fld>
            <a:endParaRPr lang="en-US"/>
          </a:p>
        </p:txBody>
      </p:sp>
      <p:sp>
        <p:nvSpPr>
          <p:cNvPr id="4" name="Footer Placeholder 3">
            <a:extLst>
              <a:ext uri="{FF2B5EF4-FFF2-40B4-BE49-F238E27FC236}">
                <a16:creationId xmlns:a16="http://schemas.microsoft.com/office/drawing/2014/main" id="{BD4E353D-8B96-4301-A5EA-AD77E2EBA3B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6BB16D0-E6B6-4A0B-AA3C-82E249A56AA3}"/>
              </a:ext>
            </a:extLst>
          </p:cNvPr>
          <p:cNvSpPr>
            <a:spLocks noGrp="1"/>
          </p:cNvSpPr>
          <p:nvPr>
            <p:ph type="sldNum" sz="quarter" idx="12"/>
          </p:nvPr>
        </p:nvSpPr>
        <p:spPr/>
        <p:txBody>
          <a:bodyPr/>
          <a:lstStyle/>
          <a:p>
            <a:fld id="{D5D0E0BB-C5BC-4E94-AD2F-C01416FBA9AF}" type="slidenum">
              <a:rPr lang="en-US" smtClean="0"/>
              <a:t>‹#›</a:t>
            </a:fld>
            <a:endParaRPr lang="en-US"/>
          </a:p>
        </p:txBody>
      </p:sp>
      <p:sp>
        <p:nvSpPr>
          <p:cNvPr id="6" name="Date Placeholder 3">
            <a:extLst>
              <a:ext uri="{FF2B5EF4-FFF2-40B4-BE49-F238E27FC236}">
                <a16:creationId xmlns:a16="http://schemas.microsoft.com/office/drawing/2014/main" id="{582A38BB-2887-4FD9-86AB-3CB9E7DBEC04}"/>
              </a:ext>
            </a:extLst>
          </p:cNvPr>
          <p:cNvSpPr txBox="1">
            <a:spLocks/>
          </p:cNvSpPr>
          <p:nvPr userDrawn="1"/>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07A6976-490E-4B03-A9C3-CCC3E2FE72FE}" type="datetimeFigureOut">
              <a:rPr lang="en-US" smtClean="0"/>
              <a:pPr/>
              <a:t>10/6/26</a:t>
            </a:fld>
            <a:endParaRPr lang="en-US"/>
          </a:p>
        </p:txBody>
      </p:sp>
      <p:sp>
        <p:nvSpPr>
          <p:cNvPr id="7" name="Rectangle 6">
            <a:extLst>
              <a:ext uri="{FF2B5EF4-FFF2-40B4-BE49-F238E27FC236}">
                <a16:creationId xmlns:a16="http://schemas.microsoft.com/office/drawing/2014/main" id="{B3CCC56E-2CD0-475A-BB93-F15521069102}"/>
              </a:ext>
            </a:extLst>
          </p:cNvPr>
          <p:cNvSpPr/>
          <p:nvPr userDrawn="1"/>
        </p:nvSpPr>
        <p:spPr>
          <a:xfrm>
            <a:off x="0" y="6155751"/>
            <a:ext cx="12192000" cy="251579"/>
          </a:xfrm>
          <a:prstGeom prst="rect">
            <a:avLst/>
          </a:prstGeom>
          <a:solidFill>
            <a:srgbClr val="F671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5">
            <a:extLst>
              <a:ext uri="{FF2B5EF4-FFF2-40B4-BE49-F238E27FC236}">
                <a16:creationId xmlns:a16="http://schemas.microsoft.com/office/drawing/2014/main" id="{DDC88B74-23A8-45A2-9583-9D8AECF9E8B2}"/>
              </a:ext>
            </a:extLst>
          </p:cNvPr>
          <p:cNvSpPr txBox="1">
            <a:spLocks/>
          </p:cNvSpPr>
          <p:nvPr userDrawn="1"/>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5D0E0BB-C5BC-4E94-AD2F-C01416FBA9AF}" type="slidenum">
              <a:rPr lang="en-US" smtClean="0"/>
              <a:pPr/>
              <a:t>‹#›</a:t>
            </a:fld>
            <a:endParaRPr lang="en-US"/>
          </a:p>
        </p:txBody>
      </p:sp>
      <p:sp>
        <p:nvSpPr>
          <p:cNvPr id="9" name="Rectangle 8">
            <a:extLst>
              <a:ext uri="{FF2B5EF4-FFF2-40B4-BE49-F238E27FC236}">
                <a16:creationId xmlns:a16="http://schemas.microsoft.com/office/drawing/2014/main" id="{2EC26BE1-B69C-47D5-989E-551682669618}"/>
              </a:ext>
            </a:extLst>
          </p:cNvPr>
          <p:cNvSpPr/>
          <p:nvPr userDrawn="1"/>
        </p:nvSpPr>
        <p:spPr>
          <a:xfrm>
            <a:off x="0" y="6223183"/>
            <a:ext cx="12192000" cy="634817"/>
          </a:xfrm>
          <a:prstGeom prst="rect">
            <a:avLst/>
          </a:prstGeom>
          <a:solidFill>
            <a:srgbClr val="24323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2" descr="UVa Logo">
            <a:extLst>
              <a:ext uri="{FF2B5EF4-FFF2-40B4-BE49-F238E27FC236}">
                <a16:creationId xmlns:a16="http://schemas.microsoft.com/office/drawing/2014/main" id="{0F5B2C2E-921F-43EA-BED7-A02634BCBE9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18010" y="6356350"/>
            <a:ext cx="3238500" cy="371475"/>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Logo&#10;&#10;Description automatically generated">
            <a:extLst>
              <a:ext uri="{FF2B5EF4-FFF2-40B4-BE49-F238E27FC236}">
                <a16:creationId xmlns:a16="http://schemas.microsoft.com/office/drawing/2014/main" id="{00286D67-5CD1-4A81-9050-65B293D5CA9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632729" y="6356350"/>
            <a:ext cx="3113396" cy="397339"/>
          </a:xfrm>
          <a:prstGeom prst="rect">
            <a:avLst/>
          </a:prstGeom>
        </p:spPr>
      </p:pic>
      <p:sp>
        <p:nvSpPr>
          <p:cNvPr id="15" name="Title 1">
            <a:extLst>
              <a:ext uri="{FF2B5EF4-FFF2-40B4-BE49-F238E27FC236}">
                <a16:creationId xmlns:a16="http://schemas.microsoft.com/office/drawing/2014/main" id="{4202D947-59FE-4D6C-AB1F-C647D513DC8A}"/>
              </a:ext>
            </a:extLst>
          </p:cNvPr>
          <p:cNvSpPr>
            <a:spLocks noGrp="1"/>
          </p:cNvSpPr>
          <p:nvPr>
            <p:ph type="title"/>
          </p:nvPr>
        </p:nvSpPr>
        <p:spPr>
          <a:xfrm>
            <a:off x="425802" y="365126"/>
            <a:ext cx="10269206" cy="568264"/>
          </a:xfrm>
        </p:spPr>
        <p:txBody>
          <a:bodyPr/>
          <a:lstStyle>
            <a:lvl1pPr>
              <a:defRPr>
                <a:solidFill>
                  <a:srgbClr val="24323E"/>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grpSp>
        <p:nvGrpSpPr>
          <p:cNvPr id="16" name="Group 15">
            <a:extLst>
              <a:ext uri="{FF2B5EF4-FFF2-40B4-BE49-F238E27FC236}">
                <a16:creationId xmlns:a16="http://schemas.microsoft.com/office/drawing/2014/main" id="{C9EC6946-9F18-4356-805D-C4ACF39E6A0D}"/>
              </a:ext>
            </a:extLst>
          </p:cNvPr>
          <p:cNvGrpSpPr/>
          <p:nvPr userDrawn="1"/>
        </p:nvGrpSpPr>
        <p:grpSpPr>
          <a:xfrm>
            <a:off x="11181572" y="161927"/>
            <a:ext cx="804724" cy="771464"/>
            <a:chOff x="10695008" y="365126"/>
            <a:chExt cx="909320" cy="871737"/>
          </a:xfrm>
        </p:grpSpPr>
        <p:sp>
          <p:nvSpPr>
            <p:cNvPr id="17" name="Oval 16">
              <a:extLst>
                <a:ext uri="{FF2B5EF4-FFF2-40B4-BE49-F238E27FC236}">
                  <a16:creationId xmlns:a16="http://schemas.microsoft.com/office/drawing/2014/main" id="{8D81744C-3842-48A6-86F7-416904F7029B}"/>
                </a:ext>
              </a:extLst>
            </p:cNvPr>
            <p:cNvSpPr/>
            <p:nvPr userDrawn="1"/>
          </p:nvSpPr>
          <p:spPr>
            <a:xfrm>
              <a:off x="10695008" y="365126"/>
              <a:ext cx="909320" cy="871737"/>
            </a:xfrm>
            <a:prstGeom prst="ellipse">
              <a:avLst/>
            </a:prstGeom>
            <a:solidFill>
              <a:srgbClr val="24323E"/>
            </a:solidFill>
            <a:ln w="38100">
              <a:solidFill>
                <a:srgbClr val="F6713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0" descr="Intramural-Recreational Sports at UVA">
              <a:extLst>
                <a:ext uri="{FF2B5EF4-FFF2-40B4-BE49-F238E27FC236}">
                  <a16:creationId xmlns:a16="http://schemas.microsoft.com/office/drawing/2014/main" id="{338E3DF5-EB3A-4572-87AC-68F4C524E695}"/>
                </a:ext>
              </a:extLst>
            </p:cNvPr>
            <p:cNvPicPr>
              <a:picLocks noChangeAspect="1" noChangeArrowheads="1"/>
            </p:cNvPicPr>
            <p:nvPr userDrawn="1"/>
          </p:nvPicPr>
          <p:blipFill rotWithShape="1">
            <a:blip r:embed="rId4">
              <a:extLst>
                <a:ext uri="{28A0092B-C50C-407E-A947-70E740481C1C}">
                  <a14:useLocalDpi xmlns:a14="http://schemas.microsoft.com/office/drawing/2010/main" val="0"/>
                </a:ext>
              </a:extLst>
            </a:blip>
            <a:srcRect r="62081" b="-3750"/>
            <a:stretch/>
          </p:blipFill>
          <p:spPr bwMode="auto">
            <a:xfrm>
              <a:off x="10780106" y="514551"/>
              <a:ext cx="812647" cy="642335"/>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8490349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67132"/>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32D5B1-A08B-4A37-8F6C-E327E3141B59}"/>
              </a:ext>
            </a:extLst>
          </p:cNvPr>
          <p:cNvSpPr>
            <a:spLocks noGrp="1"/>
          </p:cNvSpPr>
          <p:nvPr>
            <p:ph type="dt" sz="half" idx="10"/>
          </p:nvPr>
        </p:nvSpPr>
        <p:spPr/>
        <p:txBody>
          <a:bodyPr/>
          <a:lstStyle/>
          <a:p>
            <a:fld id="{507A6976-490E-4B03-A9C3-CCC3E2FE72FE}" type="datetimeFigureOut">
              <a:rPr lang="en-US" smtClean="0"/>
              <a:t>10/6/26</a:t>
            </a:fld>
            <a:endParaRPr lang="en-US"/>
          </a:p>
        </p:txBody>
      </p:sp>
      <p:sp>
        <p:nvSpPr>
          <p:cNvPr id="3" name="Footer Placeholder 2">
            <a:extLst>
              <a:ext uri="{FF2B5EF4-FFF2-40B4-BE49-F238E27FC236}">
                <a16:creationId xmlns:a16="http://schemas.microsoft.com/office/drawing/2014/main" id="{0AD56057-B8CA-4D3A-AA8F-CB1B714B6C2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6284B37-92F5-49A4-8F8F-5D88C2D4635B}"/>
              </a:ext>
            </a:extLst>
          </p:cNvPr>
          <p:cNvSpPr>
            <a:spLocks noGrp="1"/>
          </p:cNvSpPr>
          <p:nvPr>
            <p:ph type="sldNum" sz="quarter" idx="12"/>
          </p:nvPr>
        </p:nvSpPr>
        <p:spPr/>
        <p:txBody>
          <a:bodyPr/>
          <a:lstStyle/>
          <a:p>
            <a:fld id="{D5D0E0BB-C5BC-4E94-AD2F-C01416FBA9AF}" type="slidenum">
              <a:rPr lang="en-US" smtClean="0"/>
              <a:t>‹#›</a:t>
            </a:fld>
            <a:endParaRPr lang="en-US"/>
          </a:p>
        </p:txBody>
      </p:sp>
    </p:spTree>
    <p:extLst>
      <p:ext uri="{BB962C8B-B14F-4D97-AF65-F5344CB8AC3E}">
        <p14:creationId xmlns:p14="http://schemas.microsoft.com/office/powerpoint/2010/main" val="32571316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1_Blank">
    <p:bg>
      <p:bgPr>
        <a:solidFill>
          <a:srgbClr val="24323E"/>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32D5B1-A08B-4A37-8F6C-E327E3141B59}"/>
              </a:ext>
            </a:extLst>
          </p:cNvPr>
          <p:cNvSpPr>
            <a:spLocks noGrp="1"/>
          </p:cNvSpPr>
          <p:nvPr>
            <p:ph type="dt" sz="half" idx="10"/>
          </p:nvPr>
        </p:nvSpPr>
        <p:spPr/>
        <p:txBody>
          <a:bodyPr/>
          <a:lstStyle/>
          <a:p>
            <a:fld id="{507A6976-490E-4B03-A9C3-CCC3E2FE72FE}" type="datetimeFigureOut">
              <a:rPr lang="en-US" smtClean="0"/>
              <a:t>10/6/26</a:t>
            </a:fld>
            <a:endParaRPr lang="en-US"/>
          </a:p>
        </p:txBody>
      </p:sp>
      <p:sp>
        <p:nvSpPr>
          <p:cNvPr id="3" name="Footer Placeholder 2">
            <a:extLst>
              <a:ext uri="{FF2B5EF4-FFF2-40B4-BE49-F238E27FC236}">
                <a16:creationId xmlns:a16="http://schemas.microsoft.com/office/drawing/2014/main" id="{0AD56057-B8CA-4D3A-AA8F-CB1B714B6C2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6284B37-92F5-49A4-8F8F-5D88C2D4635B}"/>
              </a:ext>
            </a:extLst>
          </p:cNvPr>
          <p:cNvSpPr>
            <a:spLocks noGrp="1"/>
          </p:cNvSpPr>
          <p:nvPr>
            <p:ph type="sldNum" sz="quarter" idx="12"/>
          </p:nvPr>
        </p:nvSpPr>
        <p:spPr/>
        <p:txBody>
          <a:bodyPr/>
          <a:lstStyle/>
          <a:p>
            <a:fld id="{D5D0E0BB-C5BC-4E94-AD2F-C01416FBA9AF}" type="slidenum">
              <a:rPr lang="en-US" smtClean="0"/>
              <a:t>‹#›</a:t>
            </a:fld>
            <a:endParaRPr lang="en-US"/>
          </a:p>
        </p:txBody>
      </p:sp>
      <p:pic>
        <p:nvPicPr>
          <p:cNvPr id="6" name="Picture 2" descr="UVa Logo">
            <a:extLst>
              <a:ext uri="{FF2B5EF4-FFF2-40B4-BE49-F238E27FC236}">
                <a16:creationId xmlns:a16="http://schemas.microsoft.com/office/drawing/2014/main" id="{8246A8F7-B067-4413-BF69-6547B25A2445}"/>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76750" y="6359832"/>
            <a:ext cx="3238500" cy="371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35146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E34D5-7482-4CE6-B180-90A803F6A5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FBBA1A1-080F-4E12-90B8-C54E2FD3F44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9268D64-3E2B-4344-980C-2BB500AA67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1E65543-5D41-4C04-B6CE-015F8B3CFFFC}"/>
              </a:ext>
            </a:extLst>
          </p:cNvPr>
          <p:cNvSpPr>
            <a:spLocks noGrp="1"/>
          </p:cNvSpPr>
          <p:nvPr>
            <p:ph type="dt" sz="half" idx="10"/>
          </p:nvPr>
        </p:nvSpPr>
        <p:spPr/>
        <p:txBody>
          <a:bodyPr/>
          <a:lstStyle/>
          <a:p>
            <a:fld id="{507A6976-490E-4B03-A9C3-CCC3E2FE72FE}" type="datetimeFigureOut">
              <a:rPr lang="en-US" smtClean="0"/>
              <a:t>10/6/26</a:t>
            </a:fld>
            <a:endParaRPr lang="en-US"/>
          </a:p>
        </p:txBody>
      </p:sp>
      <p:sp>
        <p:nvSpPr>
          <p:cNvPr id="6" name="Footer Placeholder 5">
            <a:extLst>
              <a:ext uri="{FF2B5EF4-FFF2-40B4-BE49-F238E27FC236}">
                <a16:creationId xmlns:a16="http://schemas.microsoft.com/office/drawing/2014/main" id="{AE8D89D3-53D3-48C8-947B-BEAE68AF66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EB3461-3888-4647-B8BB-A0AFFE899668}"/>
              </a:ext>
            </a:extLst>
          </p:cNvPr>
          <p:cNvSpPr>
            <a:spLocks noGrp="1"/>
          </p:cNvSpPr>
          <p:nvPr>
            <p:ph type="sldNum" sz="quarter" idx="12"/>
          </p:nvPr>
        </p:nvSpPr>
        <p:spPr/>
        <p:txBody>
          <a:bodyPr/>
          <a:lstStyle/>
          <a:p>
            <a:fld id="{D5D0E0BB-C5BC-4E94-AD2F-C01416FBA9AF}" type="slidenum">
              <a:rPr lang="en-US" smtClean="0"/>
              <a:t>‹#›</a:t>
            </a:fld>
            <a:endParaRPr lang="en-US"/>
          </a:p>
        </p:txBody>
      </p:sp>
      <p:sp>
        <p:nvSpPr>
          <p:cNvPr id="8" name="Date Placeholder 3">
            <a:extLst>
              <a:ext uri="{FF2B5EF4-FFF2-40B4-BE49-F238E27FC236}">
                <a16:creationId xmlns:a16="http://schemas.microsoft.com/office/drawing/2014/main" id="{F48070AC-BA60-4FDB-9F03-76DEAE870C96}"/>
              </a:ext>
            </a:extLst>
          </p:cNvPr>
          <p:cNvSpPr txBox="1">
            <a:spLocks/>
          </p:cNvSpPr>
          <p:nvPr userDrawn="1"/>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07A6976-490E-4B03-A9C3-CCC3E2FE72FE}" type="datetimeFigureOut">
              <a:rPr lang="en-US" smtClean="0"/>
              <a:pPr/>
              <a:t>10/6/26</a:t>
            </a:fld>
            <a:endParaRPr lang="en-US"/>
          </a:p>
        </p:txBody>
      </p:sp>
      <p:sp>
        <p:nvSpPr>
          <p:cNvPr id="9" name="Rectangle 8">
            <a:extLst>
              <a:ext uri="{FF2B5EF4-FFF2-40B4-BE49-F238E27FC236}">
                <a16:creationId xmlns:a16="http://schemas.microsoft.com/office/drawing/2014/main" id="{3FADB978-C6DA-42F6-A6D6-0443AD2721F1}"/>
              </a:ext>
            </a:extLst>
          </p:cNvPr>
          <p:cNvSpPr/>
          <p:nvPr userDrawn="1"/>
        </p:nvSpPr>
        <p:spPr>
          <a:xfrm>
            <a:off x="0" y="6155751"/>
            <a:ext cx="12192000" cy="251579"/>
          </a:xfrm>
          <a:prstGeom prst="rect">
            <a:avLst/>
          </a:prstGeom>
          <a:solidFill>
            <a:srgbClr val="F671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lide Number Placeholder 5">
            <a:extLst>
              <a:ext uri="{FF2B5EF4-FFF2-40B4-BE49-F238E27FC236}">
                <a16:creationId xmlns:a16="http://schemas.microsoft.com/office/drawing/2014/main" id="{991605CD-36F4-4F07-8ECA-7E6CCB60F7A9}"/>
              </a:ext>
            </a:extLst>
          </p:cNvPr>
          <p:cNvSpPr txBox="1">
            <a:spLocks/>
          </p:cNvSpPr>
          <p:nvPr userDrawn="1"/>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5D0E0BB-C5BC-4E94-AD2F-C01416FBA9AF}" type="slidenum">
              <a:rPr lang="en-US" smtClean="0"/>
              <a:pPr/>
              <a:t>‹#›</a:t>
            </a:fld>
            <a:endParaRPr lang="en-US"/>
          </a:p>
        </p:txBody>
      </p:sp>
      <p:sp>
        <p:nvSpPr>
          <p:cNvPr id="11" name="Rectangle 10">
            <a:extLst>
              <a:ext uri="{FF2B5EF4-FFF2-40B4-BE49-F238E27FC236}">
                <a16:creationId xmlns:a16="http://schemas.microsoft.com/office/drawing/2014/main" id="{720E5A2E-745E-465E-84B4-A24161467CBB}"/>
              </a:ext>
            </a:extLst>
          </p:cNvPr>
          <p:cNvSpPr/>
          <p:nvPr userDrawn="1"/>
        </p:nvSpPr>
        <p:spPr>
          <a:xfrm>
            <a:off x="0" y="6223183"/>
            <a:ext cx="12192000" cy="634817"/>
          </a:xfrm>
          <a:prstGeom prst="rect">
            <a:avLst/>
          </a:prstGeom>
          <a:solidFill>
            <a:srgbClr val="24323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descr="UVa Logo">
            <a:extLst>
              <a:ext uri="{FF2B5EF4-FFF2-40B4-BE49-F238E27FC236}">
                <a16:creationId xmlns:a16="http://schemas.microsoft.com/office/drawing/2014/main" id="{A2A4A736-1723-46E2-867C-4D5C49D3EBE9}"/>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18010" y="6356350"/>
            <a:ext cx="3238500" cy="371475"/>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descr="Logo&#10;&#10;Description automatically generated">
            <a:extLst>
              <a:ext uri="{FF2B5EF4-FFF2-40B4-BE49-F238E27FC236}">
                <a16:creationId xmlns:a16="http://schemas.microsoft.com/office/drawing/2014/main" id="{AF07627B-E2CC-42FC-9DC6-9064027E7FA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632729" y="6356350"/>
            <a:ext cx="3113396" cy="397339"/>
          </a:xfrm>
          <a:prstGeom prst="rect">
            <a:avLst/>
          </a:prstGeom>
        </p:spPr>
      </p:pic>
      <p:grpSp>
        <p:nvGrpSpPr>
          <p:cNvPr id="17" name="Group 16">
            <a:extLst>
              <a:ext uri="{FF2B5EF4-FFF2-40B4-BE49-F238E27FC236}">
                <a16:creationId xmlns:a16="http://schemas.microsoft.com/office/drawing/2014/main" id="{6F0BEEF6-28D2-4744-811F-09B68879D3A6}"/>
              </a:ext>
            </a:extLst>
          </p:cNvPr>
          <p:cNvGrpSpPr/>
          <p:nvPr userDrawn="1"/>
        </p:nvGrpSpPr>
        <p:grpSpPr>
          <a:xfrm>
            <a:off x="11181572" y="161927"/>
            <a:ext cx="804724" cy="771464"/>
            <a:chOff x="10695008" y="365126"/>
            <a:chExt cx="909320" cy="871737"/>
          </a:xfrm>
        </p:grpSpPr>
        <p:sp>
          <p:nvSpPr>
            <p:cNvPr id="18" name="Oval 17">
              <a:extLst>
                <a:ext uri="{FF2B5EF4-FFF2-40B4-BE49-F238E27FC236}">
                  <a16:creationId xmlns:a16="http://schemas.microsoft.com/office/drawing/2014/main" id="{55921EC9-1E1A-47EA-B2C4-250D909B9C57}"/>
                </a:ext>
              </a:extLst>
            </p:cNvPr>
            <p:cNvSpPr/>
            <p:nvPr userDrawn="1"/>
          </p:nvSpPr>
          <p:spPr>
            <a:xfrm>
              <a:off x="10695008" y="365126"/>
              <a:ext cx="909320" cy="871737"/>
            </a:xfrm>
            <a:prstGeom prst="ellipse">
              <a:avLst/>
            </a:prstGeom>
            <a:solidFill>
              <a:srgbClr val="24323E"/>
            </a:solidFill>
            <a:ln w="38100">
              <a:solidFill>
                <a:srgbClr val="F6713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0" descr="Intramural-Recreational Sports at UVA">
              <a:extLst>
                <a:ext uri="{FF2B5EF4-FFF2-40B4-BE49-F238E27FC236}">
                  <a16:creationId xmlns:a16="http://schemas.microsoft.com/office/drawing/2014/main" id="{F261F83E-B23D-4BE4-B835-A0B01477F55C}"/>
                </a:ext>
              </a:extLst>
            </p:cNvPr>
            <p:cNvPicPr>
              <a:picLocks noChangeAspect="1" noChangeArrowheads="1"/>
            </p:cNvPicPr>
            <p:nvPr userDrawn="1"/>
          </p:nvPicPr>
          <p:blipFill rotWithShape="1">
            <a:blip r:embed="rId4">
              <a:extLst>
                <a:ext uri="{28A0092B-C50C-407E-A947-70E740481C1C}">
                  <a14:useLocalDpi xmlns:a14="http://schemas.microsoft.com/office/drawing/2010/main" val="0"/>
                </a:ext>
              </a:extLst>
            </a:blip>
            <a:srcRect r="62081" b="-3750"/>
            <a:stretch/>
          </p:blipFill>
          <p:spPr bwMode="auto">
            <a:xfrm>
              <a:off x="10780106" y="514551"/>
              <a:ext cx="812647" cy="642335"/>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9952192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7CC13-2ADF-4673-BDF4-8000115F26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2EB7044-A1A9-49F4-ABF4-B746FB0DE5A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8FB8E2D-BD3A-493F-9A5F-D77FBBAD2A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264559-B16D-4AA6-A577-5BB955F44E92}"/>
              </a:ext>
            </a:extLst>
          </p:cNvPr>
          <p:cNvSpPr>
            <a:spLocks noGrp="1"/>
          </p:cNvSpPr>
          <p:nvPr>
            <p:ph type="dt" sz="half" idx="10"/>
          </p:nvPr>
        </p:nvSpPr>
        <p:spPr/>
        <p:txBody>
          <a:bodyPr/>
          <a:lstStyle/>
          <a:p>
            <a:fld id="{507A6976-490E-4B03-A9C3-CCC3E2FE72FE}" type="datetimeFigureOut">
              <a:rPr lang="en-US" smtClean="0"/>
              <a:t>10/6/26</a:t>
            </a:fld>
            <a:endParaRPr lang="en-US"/>
          </a:p>
        </p:txBody>
      </p:sp>
      <p:sp>
        <p:nvSpPr>
          <p:cNvPr id="6" name="Footer Placeholder 5">
            <a:extLst>
              <a:ext uri="{FF2B5EF4-FFF2-40B4-BE49-F238E27FC236}">
                <a16:creationId xmlns:a16="http://schemas.microsoft.com/office/drawing/2014/main" id="{A61D6D9D-AD31-4D01-8133-54A7360B51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A56075-A4E2-46C7-9C2F-8FCA4EBA4CD9}"/>
              </a:ext>
            </a:extLst>
          </p:cNvPr>
          <p:cNvSpPr>
            <a:spLocks noGrp="1"/>
          </p:cNvSpPr>
          <p:nvPr>
            <p:ph type="sldNum" sz="quarter" idx="12"/>
          </p:nvPr>
        </p:nvSpPr>
        <p:spPr/>
        <p:txBody>
          <a:bodyPr/>
          <a:lstStyle/>
          <a:p>
            <a:fld id="{D5D0E0BB-C5BC-4E94-AD2F-C01416FBA9AF}" type="slidenum">
              <a:rPr lang="en-US" smtClean="0"/>
              <a:t>‹#›</a:t>
            </a:fld>
            <a:endParaRPr lang="en-US"/>
          </a:p>
        </p:txBody>
      </p:sp>
      <p:sp>
        <p:nvSpPr>
          <p:cNvPr id="8" name="Date Placeholder 3">
            <a:extLst>
              <a:ext uri="{FF2B5EF4-FFF2-40B4-BE49-F238E27FC236}">
                <a16:creationId xmlns:a16="http://schemas.microsoft.com/office/drawing/2014/main" id="{F566203F-284C-4271-9538-EF4E7C575832}"/>
              </a:ext>
            </a:extLst>
          </p:cNvPr>
          <p:cNvSpPr txBox="1">
            <a:spLocks/>
          </p:cNvSpPr>
          <p:nvPr userDrawn="1"/>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07A6976-490E-4B03-A9C3-CCC3E2FE72FE}" type="datetimeFigureOut">
              <a:rPr lang="en-US" smtClean="0"/>
              <a:pPr/>
              <a:t>10/6/26</a:t>
            </a:fld>
            <a:endParaRPr lang="en-US"/>
          </a:p>
        </p:txBody>
      </p:sp>
      <p:sp>
        <p:nvSpPr>
          <p:cNvPr id="9" name="Rectangle 8">
            <a:extLst>
              <a:ext uri="{FF2B5EF4-FFF2-40B4-BE49-F238E27FC236}">
                <a16:creationId xmlns:a16="http://schemas.microsoft.com/office/drawing/2014/main" id="{D2C6E445-DF60-499A-8C48-BCC0D30D7283}"/>
              </a:ext>
            </a:extLst>
          </p:cNvPr>
          <p:cNvSpPr/>
          <p:nvPr userDrawn="1"/>
        </p:nvSpPr>
        <p:spPr>
          <a:xfrm>
            <a:off x="0" y="6155751"/>
            <a:ext cx="12192000" cy="251579"/>
          </a:xfrm>
          <a:prstGeom prst="rect">
            <a:avLst/>
          </a:prstGeom>
          <a:solidFill>
            <a:srgbClr val="F671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lide Number Placeholder 5">
            <a:extLst>
              <a:ext uri="{FF2B5EF4-FFF2-40B4-BE49-F238E27FC236}">
                <a16:creationId xmlns:a16="http://schemas.microsoft.com/office/drawing/2014/main" id="{D0A4B937-E142-446F-90F9-C68999624990}"/>
              </a:ext>
            </a:extLst>
          </p:cNvPr>
          <p:cNvSpPr txBox="1">
            <a:spLocks/>
          </p:cNvSpPr>
          <p:nvPr userDrawn="1"/>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5D0E0BB-C5BC-4E94-AD2F-C01416FBA9AF}" type="slidenum">
              <a:rPr lang="en-US" smtClean="0"/>
              <a:pPr/>
              <a:t>‹#›</a:t>
            </a:fld>
            <a:endParaRPr lang="en-US"/>
          </a:p>
        </p:txBody>
      </p:sp>
      <p:sp>
        <p:nvSpPr>
          <p:cNvPr id="11" name="Rectangle 10">
            <a:extLst>
              <a:ext uri="{FF2B5EF4-FFF2-40B4-BE49-F238E27FC236}">
                <a16:creationId xmlns:a16="http://schemas.microsoft.com/office/drawing/2014/main" id="{9AB07112-7DF7-4628-B876-6B30C4146CDB}"/>
              </a:ext>
            </a:extLst>
          </p:cNvPr>
          <p:cNvSpPr/>
          <p:nvPr userDrawn="1"/>
        </p:nvSpPr>
        <p:spPr>
          <a:xfrm>
            <a:off x="0" y="6223183"/>
            <a:ext cx="12192000" cy="634817"/>
          </a:xfrm>
          <a:prstGeom prst="rect">
            <a:avLst/>
          </a:prstGeom>
          <a:solidFill>
            <a:srgbClr val="24323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descr="UVa Logo">
            <a:extLst>
              <a:ext uri="{FF2B5EF4-FFF2-40B4-BE49-F238E27FC236}">
                <a16:creationId xmlns:a16="http://schemas.microsoft.com/office/drawing/2014/main" id="{F9D3E468-524F-4872-A9F0-E70AE37AE3B5}"/>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18010" y="6356350"/>
            <a:ext cx="3238500" cy="371475"/>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descr="Logo&#10;&#10;Description automatically generated">
            <a:extLst>
              <a:ext uri="{FF2B5EF4-FFF2-40B4-BE49-F238E27FC236}">
                <a16:creationId xmlns:a16="http://schemas.microsoft.com/office/drawing/2014/main" id="{C1EBD9FF-52A9-4D8A-8187-DD8C641BAA4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632729" y="6356350"/>
            <a:ext cx="3113396" cy="397339"/>
          </a:xfrm>
          <a:prstGeom prst="rect">
            <a:avLst/>
          </a:prstGeom>
        </p:spPr>
      </p:pic>
      <p:grpSp>
        <p:nvGrpSpPr>
          <p:cNvPr id="17" name="Group 16">
            <a:extLst>
              <a:ext uri="{FF2B5EF4-FFF2-40B4-BE49-F238E27FC236}">
                <a16:creationId xmlns:a16="http://schemas.microsoft.com/office/drawing/2014/main" id="{9D15851C-358C-4375-97E7-DD0BBC10DF8B}"/>
              </a:ext>
            </a:extLst>
          </p:cNvPr>
          <p:cNvGrpSpPr/>
          <p:nvPr userDrawn="1"/>
        </p:nvGrpSpPr>
        <p:grpSpPr>
          <a:xfrm>
            <a:off x="11181572" y="161927"/>
            <a:ext cx="804724" cy="771464"/>
            <a:chOff x="10695008" y="365126"/>
            <a:chExt cx="909320" cy="871737"/>
          </a:xfrm>
        </p:grpSpPr>
        <p:sp>
          <p:nvSpPr>
            <p:cNvPr id="18" name="Oval 17">
              <a:extLst>
                <a:ext uri="{FF2B5EF4-FFF2-40B4-BE49-F238E27FC236}">
                  <a16:creationId xmlns:a16="http://schemas.microsoft.com/office/drawing/2014/main" id="{BF7808A0-C14F-4BEA-9CDD-C49E164D8404}"/>
                </a:ext>
              </a:extLst>
            </p:cNvPr>
            <p:cNvSpPr/>
            <p:nvPr userDrawn="1"/>
          </p:nvSpPr>
          <p:spPr>
            <a:xfrm>
              <a:off x="10695008" y="365126"/>
              <a:ext cx="909320" cy="871737"/>
            </a:xfrm>
            <a:prstGeom prst="ellipse">
              <a:avLst/>
            </a:prstGeom>
            <a:solidFill>
              <a:srgbClr val="24323E"/>
            </a:solidFill>
            <a:ln w="38100">
              <a:solidFill>
                <a:srgbClr val="F6713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0" descr="Intramural-Recreational Sports at UVA">
              <a:extLst>
                <a:ext uri="{FF2B5EF4-FFF2-40B4-BE49-F238E27FC236}">
                  <a16:creationId xmlns:a16="http://schemas.microsoft.com/office/drawing/2014/main" id="{07CBDDCD-E460-4389-9B7E-58DFF7A597A9}"/>
                </a:ext>
              </a:extLst>
            </p:cNvPr>
            <p:cNvPicPr>
              <a:picLocks noChangeAspect="1" noChangeArrowheads="1"/>
            </p:cNvPicPr>
            <p:nvPr userDrawn="1"/>
          </p:nvPicPr>
          <p:blipFill rotWithShape="1">
            <a:blip r:embed="rId4">
              <a:extLst>
                <a:ext uri="{28A0092B-C50C-407E-A947-70E740481C1C}">
                  <a14:useLocalDpi xmlns:a14="http://schemas.microsoft.com/office/drawing/2010/main" val="0"/>
                </a:ext>
              </a:extLst>
            </a:blip>
            <a:srcRect r="62081" b="-3750"/>
            <a:stretch/>
          </p:blipFill>
          <p:spPr bwMode="auto">
            <a:xfrm>
              <a:off x="10780106" y="514551"/>
              <a:ext cx="812647" cy="642335"/>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3058082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a:extLst>
              <a:ext uri="{FF2B5EF4-FFF2-40B4-BE49-F238E27FC236}">
                <a16:creationId xmlns:a16="http://schemas.microsoft.com/office/drawing/2014/main" id="{1721FC45-7050-4DC1-BBB5-4EF6A827EE2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11BF11-EDE7-4544-9157-83B81AC72A8D}"/>
              </a:ext>
            </a:extLst>
          </p:cNvPr>
          <p:cNvSpPr>
            <a:spLocks noGrp="1"/>
          </p:cNvSpPr>
          <p:nvPr>
            <p:ph type="dt" sz="half" idx="10"/>
          </p:nvPr>
        </p:nvSpPr>
        <p:spPr/>
        <p:txBody>
          <a:bodyPr/>
          <a:lstStyle/>
          <a:p>
            <a:fld id="{507A6976-490E-4B03-A9C3-CCC3E2FE72FE}" type="datetimeFigureOut">
              <a:rPr lang="en-US" smtClean="0"/>
              <a:t>10/6/26</a:t>
            </a:fld>
            <a:endParaRPr lang="en-US"/>
          </a:p>
        </p:txBody>
      </p:sp>
      <p:sp>
        <p:nvSpPr>
          <p:cNvPr id="5" name="Footer Placeholder 4">
            <a:extLst>
              <a:ext uri="{FF2B5EF4-FFF2-40B4-BE49-F238E27FC236}">
                <a16:creationId xmlns:a16="http://schemas.microsoft.com/office/drawing/2014/main" id="{BEE28599-E346-4E40-8555-70F984232A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8859DD-ADCA-48ED-8863-E30F2BA32E13}"/>
              </a:ext>
            </a:extLst>
          </p:cNvPr>
          <p:cNvSpPr>
            <a:spLocks noGrp="1"/>
          </p:cNvSpPr>
          <p:nvPr>
            <p:ph type="sldNum" sz="quarter" idx="12"/>
          </p:nvPr>
        </p:nvSpPr>
        <p:spPr/>
        <p:txBody>
          <a:bodyPr/>
          <a:lstStyle/>
          <a:p>
            <a:fld id="{D5D0E0BB-C5BC-4E94-AD2F-C01416FBA9AF}" type="slidenum">
              <a:rPr lang="en-US" smtClean="0"/>
              <a:t>‹#›</a:t>
            </a:fld>
            <a:endParaRPr lang="en-US"/>
          </a:p>
        </p:txBody>
      </p:sp>
      <p:sp>
        <p:nvSpPr>
          <p:cNvPr id="7" name="Date Placeholder 3">
            <a:extLst>
              <a:ext uri="{FF2B5EF4-FFF2-40B4-BE49-F238E27FC236}">
                <a16:creationId xmlns:a16="http://schemas.microsoft.com/office/drawing/2014/main" id="{564507A5-37BD-44C3-875F-309B2EEC2670}"/>
              </a:ext>
            </a:extLst>
          </p:cNvPr>
          <p:cNvSpPr txBox="1">
            <a:spLocks/>
          </p:cNvSpPr>
          <p:nvPr userDrawn="1"/>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07A6976-490E-4B03-A9C3-CCC3E2FE72FE}" type="datetimeFigureOut">
              <a:rPr lang="en-US" smtClean="0"/>
              <a:pPr/>
              <a:t>10/6/26</a:t>
            </a:fld>
            <a:endParaRPr lang="en-US"/>
          </a:p>
        </p:txBody>
      </p:sp>
      <p:sp>
        <p:nvSpPr>
          <p:cNvPr id="8" name="Rectangle 7">
            <a:extLst>
              <a:ext uri="{FF2B5EF4-FFF2-40B4-BE49-F238E27FC236}">
                <a16:creationId xmlns:a16="http://schemas.microsoft.com/office/drawing/2014/main" id="{BCCC970A-4E11-464D-9E73-91BF7B16BE35}"/>
              </a:ext>
            </a:extLst>
          </p:cNvPr>
          <p:cNvSpPr/>
          <p:nvPr userDrawn="1"/>
        </p:nvSpPr>
        <p:spPr>
          <a:xfrm>
            <a:off x="0" y="6155751"/>
            <a:ext cx="12192000" cy="251579"/>
          </a:xfrm>
          <a:prstGeom prst="rect">
            <a:avLst/>
          </a:prstGeom>
          <a:solidFill>
            <a:srgbClr val="F671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lide Number Placeholder 5">
            <a:extLst>
              <a:ext uri="{FF2B5EF4-FFF2-40B4-BE49-F238E27FC236}">
                <a16:creationId xmlns:a16="http://schemas.microsoft.com/office/drawing/2014/main" id="{C4133C02-13AA-4E0D-8684-3BEF3A909A92}"/>
              </a:ext>
            </a:extLst>
          </p:cNvPr>
          <p:cNvSpPr txBox="1">
            <a:spLocks/>
          </p:cNvSpPr>
          <p:nvPr userDrawn="1"/>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5D0E0BB-C5BC-4E94-AD2F-C01416FBA9AF}" type="slidenum">
              <a:rPr lang="en-US" smtClean="0"/>
              <a:pPr/>
              <a:t>‹#›</a:t>
            </a:fld>
            <a:endParaRPr lang="en-US"/>
          </a:p>
        </p:txBody>
      </p:sp>
      <p:sp>
        <p:nvSpPr>
          <p:cNvPr id="10" name="Rectangle 9">
            <a:extLst>
              <a:ext uri="{FF2B5EF4-FFF2-40B4-BE49-F238E27FC236}">
                <a16:creationId xmlns:a16="http://schemas.microsoft.com/office/drawing/2014/main" id="{287F7D4B-8021-4E40-881B-58CF4A21C57E}"/>
              </a:ext>
            </a:extLst>
          </p:cNvPr>
          <p:cNvSpPr/>
          <p:nvPr userDrawn="1"/>
        </p:nvSpPr>
        <p:spPr>
          <a:xfrm>
            <a:off x="0" y="6223183"/>
            <a:ext cx="12192000" cy="634817"/>
          </a:xfrm>
          <a:prstGeom prst="rect">
            <a:avLst/>
          </a:prstGeom>
          <a:solidFill>
            <a:srgbClr val="24323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2" descr="UVa Logo">
            <a:extLst>
              <a:ext uri="{FF2B5EF4-FFF2-40B4-BE49-F238E27FC236}">
                <a16:creationId xmlns:a16="http://schemas.microsoft.com/office/drawing/2014/main" id="{0EAF8BB7-1A38-4B60-A7CB-D46B130F73BA}"/>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18010" y="6356350"/>
            <a:ext cx="3238500" cy="371475"/>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descr="Logo&#10;&#10;Description automatically generated">
            <a:extLst>
              <a:ext uri="{FF2B5EF4-FFF2-40B4-BE49-F238E27FC236}">
                <a16:creationId xmlns:a16="http://schemas.microsoft.com/office/drawing/2014/main" id="{B5ED2904-8B34-4C6C-9E26-DD7F11ED197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632729" y="6356350"/>
            <a:ext cx="3113396" cy="397339"/>
          </a:xfrm>
          <a:prstGeom prst="rect">
            <a:avLst/>
          </a:prstGeom>
        </p:spPr>
      </p:pic>
      <p:sp>
        <p:nvSpPr>
          <p:cNvPr id="16" name="Title 1">
            <a:extLst>
              <a:ext uri="{FF2B5EF4-FFF2-40B4-BE49-F238E27FC236}">
                <a16:creationId xmlns:a16="http://schemas.microsoft.com/office/drawing/2014/main" id="{B6EEE38B-5D63-4BA2-8F88-3C264D3CF821}"/>
              </a:ext>
            </a:extLst>
          </p:cNvPr>
          <p:cNvSpPr>
            <a:spLocks noGrp="1"/>
          </p:cNvSpPr>
          <p:nvPr>
            <p:ph type="title"/>
          </p:nvPr>
        </p:nvSpPr>
        <p:spPr>
          <a:xfrm>
            <a:off x="425802" y="365126"/>
            <a:ext cx="10269206" cy="568264"/>
          </a:xfrm>
        </p:spPr>
        <p:txBody>
          <a:bodyPr/>
          <a:lstStyle>
            <a:lvl1pPr>
              <a:defRPr>
                <a:solidFill>
                  <a:srgbClr val="24323E"/>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grpSp>
        <p:nvGrpSpPr>
          <p:cNvPr id="17" name="Group 16">
            <a:extLst>
              <a:ext uri="{FF2B5EF4-FFF2-40B4-BE49-F238E27FC236}">
                <a16:creationId xmlns:a16="http://schemas.microsoft.com/office/drawing/2014/main" id="{4FD0E68E-3B6F-4AEF-AD73-4E1DA2834E65}"/>
              </a:ext>
            </a:extLst>
          </p:cNvPr>
          <p:cNvGrpSpPr/>
          <p:nvPr userDrawn="1"/>
        </p:nvGrpSpPr>
        <p:grpSpPr>
          <a:xfrm>
            <a:off x="11181572" y="161927"/>
            <a:ext cx="804724" cy="771464"/>
            <a:chOff x="10695008" y="365126"/>
            <a:chExt cx="909320" cy="871737"/>
          </a:xfrm>
        </p:grpSpPr>
        <p:sp>
          <p:nvSpPr>
            <p:cNvPr id="18" name="Oval 17">
              <a:extLst>
                <a:ext uri="{FF2B5EF4-FFF2-40B4-BE49-F238E27FC236}">
                  <a16:creationId xmlns:a16="http://schemas.microsoft.com/office/drawing/2014/main" id="{C01846D5-932A-410E-B1BA-F40084784FEF}"/>
                </a:ext>
              </a:extLst>
            </p:cNvPr>
            <p:cNvSpPr/>
            <p:nvPr userDrawn="1"/>
          </p:nvSpPr>
          <p:spPr>
            <a:xfrm>
              <a:off x="10695008" y="365126"/>
              <a:ext cx="909320" cy="871737"/>
            </a:xfrm>
            <a:prstGeom prst="ellipse">
              <a:avLst/>
            </a:prstGeom>
            <a:solidFill>
              <a:srgbClr val="24323E"/>
            </a:solidFill>
            <a:ln w="38100">
              <a:solidFill>
                <a:srgbClr val="F6713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0" descr="Intramural-Recreational Sports at UVA">
              <a:extLst>
                <a:ext uri="{FF2B5EF4-FFF2-40B4-BE49-F238E27FC236}">
                  <a16:creationId xmlns:a16="http://schemas.microsoft.com/office/drawing/2014/main" id="{02AF5EFB-347D-44DF-9C51-82027BA80DF9}"/>
                </a:ext>
              </a:extLst>
            </p:cNvPr>
            <p:cNvPicPr>
              <a:picLocks noChangeAspect="1" noChangeArrowheads="1"/>
            </p:cNvPicPr>
            <p:nvPr userDrawn="1"/>
          </p:nvPicPr>
          <p:blipFill rotWithShape="1">
            <a:blip r:embed="rId4">
              <a:extLst>
                <a:ext uri="{28A0092B-C50C-407E-A947-70E740481C1C}">
                  <a14:useLocalDpi xmlns:a14="http://schemas.microsoft.com/office/drawing/2010/main" val="0"/>
                </a:ext>
              </a:extLst>
            </a:blip>
            <a:srcRect r="62081" b="-3750"/>
            <a:stretch/>
          </p:blipFill>
          <p:spPr bwMode="auto">
            <a:xfrm>
              <a:off x="10780106" y="514551"/>
              <a:ext cx="812647" cy="642335"/>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2154940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2AF565A-D641-4F97-97FA-76BE4D7E130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B0B5D24-6263-4A80-9414-895E66223A9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8037AF-BAE3-4BB1-8CF8-7341FC0C9052}"/>
              </a:ext>
            </a:extLst>
          </p:cNvPr>
          <p:cNvSpPr>
            <a:spLocks noGrp="1"/>
          </p:cNvSpPr>
          <p:nvPr>
            <p:ph type="dt" sz="half" idx="10"/>
          </p:nvPr>
        </p:nvSpPr>
        <p:spPr/>
        <p:txBody>
          <a:bodyPr/>
          <a:lstStyle/>
          <a:p>
            <a:fld id="{507A6976-490E-4B03-A9C3-CCC3E2FE72FE}" type="datetimeFigureOut">
              <a:rPr lang="en-US" smtClean="0"/>
              <a:t>10/6/26</a:t>
            </a:fld>
            <a:endParaRPr lang="en-US"/>
          </a:p>
        </p:txBody>
      </p:sp>
      <p:sp>
        <p:nvSpPr>
          <p:cNvPr id="5" name="Footer Placeholder 4">
            <a:extLst>
              <a:ext uri="{FF2B5EF4-FFF2-40B4-BE49-F238E27FC236}">
                <a16:creationId xmlns:a16="http://schemas.microsoft.com/office/drawing/2014/main" id="{5B91810C-95F7-4441-BA87-CFB309551B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BD234A-AFB0-4695-A486-2A270860A0A1}"/>
              </a:ext>
            </a:extLst>
          </p:cNvPr>
          <p:cNvSpPr>
            <a:spLocks noGrp="1"/>
          </p:cNvSpPr>
          <p:nvPr>
            <p:ph type="sldNum" sz="quarter" idx="12"/>
          </p:nvPr>
        </p:nvSpPr>
        <p:spPr/>
        <p:txBody>
          <a:bodyPr/>
          <a:lstStyle/>
          <a:p>
            <a:fld id="{D5D0E0BB-C5BC-4E94-AD2F-C01416FBA9AF}" type="slidenum">
              <a:rPr lang="en-US" smtClean="0"/>
              <a:t>‹#›</a:t>
            </a:fld>
            <a:endParaRPr lang="en-US"/>
          </a:p>
        </p:txBody>
      </p:sp>
      <p:sp>
        <p:nvSpPr>
          <p:cNvPr id="7" name="Date Placeholder 3">
            <a:extLst>
              <a:ext uri="{FF2B5EF4-FFF2-40B4-BE49-F238E27FC236}">
                <a16:creationId xmlns:a16="http://schemas.microsoft.com/office/drawing/2014/main" id="{B4D0ED06-B62E-43BF-B07A-F5AFB8B16F55}"/>
              </a:ext>
            </a:extLst>
          </p:cNvPr>
          <p:cNvSpPr txBox="1">
            <a:spLocks/>
          </p:cNvSpPr>
          <p:nvPr userDrawn="1"/>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07A6976-490E-4B03-A9C3-CCC3E2FE72FE}" type="datetimeFigureOut">
              <a:rPr lang="en-US" smtClean="0"/>
              <a:pPr/>
              <a:t>10/6/26</a:t>
            </a:fld>
            <a:endParaRPr lang="en-US"/>
          </a:p>
        </p:txBody>
      </p:sp>
      <p:sp>
        <p:nvSpPr>
          <p:cNvPr id="8" name="Rectangle 7">
            <a:extLst>
              <a:ext uri="{FF2B5EF4-FFF2-40B4-BE49-F238E27FC236}">
                <a16:creationId xmlns:a16="http://schemas.microsoft.com/office/drawing/2014/main" id="{9458E507-D487-4955-82CE-74626DB61F3F}"/>
              </a:ext>
            </a:extLst>
          </p:cNvPr>
          <p:cNvSpPr/>
          <p:nvPr userDrawn="1"/>
        </p:nvSpPr>
        <p:spPr>
          <a:xfrm>
            <a:off x="0" y="6155751"/>
            <a:ext cx="12192000" cy="251579"/>
          </a:xfrm>
          <a:prstGeom prst="rect">
            <a:avLst/>
          </a:prstGeom>
          <a:solidFill>
            <a:srgbClr val="F671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lide Number Placeholder 5">
            <a:extLst>
              <a:ext uri="{FF2B5EF4-FFF2-40B4-BE49-F238E27FC236}">
                <a16:creationId xmlns:a16="http://schemas.microsoft.com/office/drawing/2014/main" id="{B1C0A531-7B30-4A21-A81B-6C9DEA3E7AA1}"/>
              </a:ext>
            </a:extLst>
          </p:cNvPr>
          <p:cNvSpPr txBox="1">
            <a:spLocks/>
          </p:cNvSpPr>
          <p:nvPr userDrawn="1"/>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5D0E0BB-C5BC-4E94-AD2F-C01416FBA9AF}" type="slidenum">
              <a:rPr lang="en-US" smtClean="0"/>
              <a:pPr/>
              <a:t>‹#›</a:t>
            </a:fld>
            <a:endParaRPr lang="en-US"/>
          </a:p>
        </p:txBody>
      </p:sp>
      <p:sp>
        <p:nvSpPr>
          <p:cNvPr id="10" name="Rectangle 9">
            <a:extLst>
              <a:ext uri="{FF2B5EF4-FFF2-40B4-BE49-F238E27FC236}">
                <a16:creationId xmlns:a16="http://schemas.microsoft.com/office/drawing/2014/main" id="{C21323BC-D1EA-42FF-9D19-CE416E1EFC7B}"/>
              </a:ext>
            </a:extLst>
          </p:cNvPr>
          <p:cNvSpPr/>
          <p:nvPr userDrawn="1"/>
        </p:nvSpPr>
        <p:spPr>
          <a:xfrm>
            <a:off x="0" y="6223183"/>
            <a:ext cx="12192000" cy="634817"/>
          </a:xfrm>
          <a:prstGeom prst="rect">
            <a:avLst/>
          </a:prstGeom>
          <a:solidFill>
            <a:srgbClr val="24323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2" descr="UVa Logo">
            <a:extLst>
              <a:ext uri="{FF2B5EF4-FFF2-40B4-BE49-F238E27FC236}">
                <a16:creationId xmlns:a16="http://schemas.microsoft.com/office/drawing/2014/main" id="{B2A5C6FA-9FA1-4020-80AD-577F0766DDF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18010" y="6356350"/>
            <a:ext cx="3238500" cy="371475"/>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descr="Logo&#10;&#10;Description automatically generated">
            <a:extLst>
              <a:ext uri="{FF2B5EF4-FFF2-40B4-BE49-F238E27FC236}">
                <a16:creationId xmlns:a16="http://schemas.microsoft.com/office/drawing/2014/main" id="{20CAA742-BB40-492D-8EAF-C59A91D6F40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632729" y="6356350"/>
            <a:ext cx="3113396" cy="397339"/>
          </a:xfrm>
          <a:prstGeom prst="rect">
            <a:avLst/>
          </a:prstGeom>
        </p:spPr>
      </p:pic>
      <p:grpSp>
        <p:nvGrpSpPr>
          <p:cNvPr id="13" name="Group 12">
            <a:extLst>
              <a:ext uri="{FF2B5EF4-FFF2-40B4-BE49-F238E27FC236}">
                <a16:creationId xmlns:a16="http://schemas.microsoft.com/office/drawing/2014/main" id="{23B70360-EC03-402E-9270-BC67621080EE}"/>
              </a:ext>
            </a:extLst>
          </p:cNvPr>
          <p:cNvGrpSpPr/>
          <p:nvPr userDrawn="1"/>
        </p:nvGrpSpPr>
        <p:grpSpPr>
          <a:xfrm>
            <a:off x="250480" y="365126"/>
            <a:ext cx="909320" cy="871737"/>
            <a:chOff x="10695008" y="365126"/>
            <a:chExt cx="909320" cy="871737"/>
          </a:xfrm>
        </p:grpSpPr>
        <p:sp>
          <p:nvSpPr>
            <p:cNvPr id="14" name="Oval 13">
              <a:extLst>
                <a:ext uri="{FF2B5EF4-FFF2-40B4-BE49-F238E27FC236}">
                  <a16:creationId xmlns:a16="http://schemas.microsoft.com/office/drawing/2014/main" id="{3A178CFE-39AA-4BAF-8E4C-064D7855B869}"/>
                </a:ext>
              </a:extLst>
            </p:cNvPr>
            <p:cNvSpPr/>
            <p:nvPr userDrawn="1"/>
          </p:nvSpPr>
          <p:spPr>
            <a:xfrm>
              <a:off x="10695008" y="365126"/>
              <a:ext cx="909320" cy="871737"/>
            </a:xfrm>
            <a:prstGeom prst="ellipse">
              <a:avLst/>
            </a:prstGeom>
            <a:solidFill>
              <a:srgbClr val="24323E"/>
            </a:solidFill>
            <a:ln w="38100">
              <a:solidFill>
                <a:srgbClr val="F6713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0" descr="Intramural-Recreational Sports at UVA">
              <a:extLst>
                <a:ext uri="{FF2B5EF4-FFF2-40B4-BE49-F238E27FC236}">
                  <a16:creationId xmlns:a16="http://schemas.microsoft.com/office/drawing/2014/main" id="{BD74F26C-C5AE-47DC-8FAD-6EF7EE0F11EF}"/>
                </a:ext>
              </a:extLst>
            </p:cNvPr>
            <p:cNvPicPr>
              <a:picLocks noChangeAspect="1" noChangeArrowheads="1"/>
            </p:cNvPicPr>
            <p:nvPr userDrawn="1"/>
          </p:nvPicPr>
          <p:blipFill rotWithShape="1">
            <a:blip r:embed="rId4">
              <a:extLst>
                <a:ext uri="{28A0092B-C50C-407E-A947-70E740481C1C}">
                  <a14:useLocalDpi xmlns:a14="http://schemas.microsoft.com/office/drawing/2010/main" val="0"/>
                </a:ext>
              </a:extLst>
            </a:blip>
            <a:srcRect r="62081" b="-3750"/>
            <a:stretch/>
          </p:blipFill>
          <p:spPr bwMode="auto">
            <a:xfrm>
              <a:off x="10780106" y="514551"/>
              <a:ext cx="812647" cy="642335"/>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0823745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321925-1424-4D8F-AF7E-1B3B1953393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A533325-5FE6-4AB3-A20A-EC02DC2C8C3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23AB5E8-1ACB-4ABB-8B65-AC862C347F9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07A6976-490E-4B03-A9C3-CCC3E2FE72FE}" type="datetimeFigureOut">
              <a:rPr lang="en-US" smtClean="0"/>
              <a:t>10/6/26</a:t>
            </a:fld>
            <a:endParaRPr lang="en-US"/>
          </a:p>
        </p:txBody>
      </p:sp>
      <p:sp>
        <p:nvSpPr>
          <p:cNvPr id="5" name="Footer Placeholder 4">
            <a:extLst>
              <a:ext uri="{FF2B5EF4-FFF2-40B4-BE49-F238E27FC236}">
                <a16:creationId xmlns:a16="http://schemas.microsoft.com/office/drawing/2014/main" id="{6826ABD5-7A3E-41B2-B4E2-887CD76836C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43BBF44-0E73-4652-846C-273B849FE4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D0E0BB-C5BC-4E94-AD2F-C01416FBA9AF}" type="slidenum">
              <a:rPr lang="en-US" smtClean="0"/>
              <a:t>‹#›</a:t>
            </a:fld>
            <a:endParaRPr lang="en-US"/>
          </a:p>
        </p:txBody>
      </p:sp>
    </p:spTree>
    <p:extLst>
      <p:ext uri="{BB962C8B-B14F-4D97-AF65-F5344CB8AC3E}">
        <p14:creationId xmlns:p14="http://schemas.microsoft.com/office/powerpoint/2010/main" val="3933454767"/>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0" r:id="rId3"/>
    <p:sldLayoutId id="2147483651" r:id="rId4"/>
    <p:sldLayoutId id="2147483652" r:id="rId5"/>
    <p:sldLayoutId id="2147483653" r:id="rId6"/>
    <p:sldLayoutId id="2147483654" r:id="rId7"/>
    <p:sldLayoutId id="2147483655" r:id="rId8"/>
    <p:sldLayoutId id="2147483661" r:id="rId9"/>
    <p:sldLayoutId id="2147483656" r:id="rId10"/>
    <p:sldLayoutId id="2147483657" r:id="rId11"/>
    <p:sldLayoutId id="2147483658" r:id="rId12"/>
    <p:sldLayoutId id="2147483659"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6713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07915C-4793-4D8A-854D-31F5DC15B95B}"/>
              </a:ext>
            </a:extLst>
          </p:cNvPr>
          <p:cNvSpPr>
            <a:spLocks noGrp="1"/>
          </p:cNvSpPr>
          <p:nvPr>
            <p:ph type="ctrTitle"/>
          </p:nvPr>
        </p:nvSpPr>
        <p:spPr>
          <a:xfrm>
            <a:off x="7464614" y="1783959"/>
            <a:ext cx="4232086" cy="2889114"/>
          </a:xfrm>
        </p:spPr>
        <p:txBody>
          <a:bodyPr anchor="b">
            <a:normAutofit/>
          </a:bodyPr>
          <a:lstStyle/>
          <a:p>
            <a:pPr algn="l"/>
            <a:r>
              <a:rPr lang="en-US" sz="4400" dirty="0"/>
              <a:t>APIs 101 </a:t>
            </a:r>
            <a:r>
              <a:rPr lang="en-US" sz="4400"/>
              <a:t>&amp; Ingestion</a:t>
            </a:r>
            <a:endParaRPr lang="en-US" sz="4400" dirty="0"/>
          </a:p>
        </p:txBody>
      </p:sp>
      <p:sp>
        <p:nvSpPr>
          <p:cNvPr id="3" name="Subtitle 2">
            <a:extLst>
              <a:ext uri="{FF2B5EF4-FFF2-40B4-BE49-F238E27FC236}">
                <a16:creationId xmlns:a16="http://schemas.microsoft.com/office/drawing/2014/main" id="{BCDC19E3-847F-4896-92C1-562A61A4DF91}"/>
              </a:ext>
            </a:extLst>
          </p:cNvPr>
          <p:cNvSpPr>
            <a:spLocks noGrp="1"/>
          </p:cNvSpPr>
          <p:nvPr>
            <p:ph type="subTitle" idx="1"/>
          </p:nvPr>
        </p:nvSpPr>
        <p:spPr>
          <a:xfrm>
            <a:off x="7464612" y="4750893"/>
            <a:ext cx="4303835" cy="426749"/>
          </a:xfrm>
        </p:spPr>
        <p:txBody>
          <a:bodyPr anchor="t">
            <a:normAutofit/>
          </a:bodyPr>
          <a:lstStyle/>
          <a:p>
            <a:pPr algn="l"/>
            <a:r>
              <a:rPr lang="en-US" sz="2000" dirty="0"/>
              <a:t>DS-2002 Studio · October 7, 2026</a:t>
            </a:r>
          </a:p>
        </p:txBody>
      </p:sp>
      <p:sp>
        <p:nvSpPr>
          <p:cNvPr id="10" name="Freeform: Shape 9">
            <a:extLst>
              <a:ext uri="{FF2B5EF4-FFF2-40B4-BE49-F238E27FC236}">
                <a16:creationId xmlns:a16="http://schemas.microsoft.com/office/drawing/2014/main" id="{E49CC64F-7275-4E33-961B-0C5CDC4398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1" y="0"/>
            <a:ext cx="7188051" cy="6858000"/>
          </a:xfrm>
          <a:custGeom>
            <a:avLst/>
            <a:gdLst>
              <a:gd name="connsiteX0" fmla="*/ 7188051 w 7188051"/>
              <a:gd name="connsiteY0" fmla="*/ 6858000 h 6858000"/>
              <a:gd name="connsiteX1" fmla="*/ 108694 w 7188051"/>
              <a:gd name="connsiteY1" fmla="*/ 6858000 h 6858000"/>
              <a:gd name="connsiteX2" fmla="*/ 79127 w 7188051"/>
              <a:gd name="connsiteY2" fmla="*/ 6681235 h 6858000"/>
              <a:gd name="connsiteX3" fmla="*/ 0 w 7188051"/>
              <a:gd name="connsiteY3" fmla="*/ 5565888 h 6858000"/>
              <a:gd name="connsiteX4" fmla="*/ 2190696 w 7188051"/>
              <a:gd name="connsiteY4" fmla="*/ 145339 h 6858000"/>
              <a:gd name="connsiteX5" fmla="*/ 2339431 w 7188051"/>
              <a:gd name="connsiteY5" fmla="*/ 0 h 6858000"/>
              <a:gd name="connsiteX6" fmla="*/ 7188051 w 7188051"/>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88051" h="6858000">
                <a:moveTo>
                  <a:pt x="7188051" y="6858000"/>
                </a:moveTo>
                <a:lnTo>
                  <a:pt x="108694" y="6858000"/>
                </a:lnTo>
                <a:lnTo>
                  <a:pt x="79127" y="6681235"/>
                </a:lnTo>
                <a:cubicBezTo>
                  <a:pt x="26981" y="6316967"/>
                  <a:pt x="0" y="5944579"/>
                  <a:pt x="0" y="5565888"/>
                </a:cubicBezTo>
                <a:cubicBezTo>
                  <a:pt x="0" y="3459953"/>
                  <a:pt x="834428" y="1548908"/>
                  <a:pt x="2190696" y="145339"/>
                </a:cubicBezTo>
                <a:lnTo>
                  <a:pt x="2339431" y="0"/>
                </a:lnTo>
                <a:lnTo>
                  <a:pt x="7188051" y="0"/>
                </a:ln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2" descr="Virginia Cavaliers Official Athletic Site">
            <a:extLst>
              <a:ext uri="{FF2B5EF4-FFF2-40B4-BE49-F238E27FC236}">
                <a16:creationId xmlns:a16="http://schemas.microsoft.com/office/drawing/2014/main" id="{8BA30F88-915F-4765-AFB9-A6FC977708D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064" r="8619" b="1"/>
          <a:stretch/>
        </p:blipFill>
        <p:spPr bwMode="auto">
          <a:xfrm>
            <a:off x="1" y="10"/>
            <a:ext cx="7028495" cy="6857990"/>
          </a:xfrm>
          <a:custGeom>
            <a:avLst/>
            <a:gdLst/>
            <a:ahLst/>
            <a:cxnLst/>
            <a:rect l="l" t="t" r="r" b="b"/>
            <a:pathLst>
              <a:path w="7028495" h="6858000">
                <a:moveTo>
                  <a:pt x="0" y="0"/>
                </a:moveTo>
                <a:lnTo>
                  <a:pt x="6915668" y="0"/>
                </a:lnTo>
                <a:lnTo>
                  <a:pt x="6952411" y="219663"/>
                </a:lnTo>
                <a:cubicBezTo>
                  <a:pt x="7002551" y="569921"/>
                  <a:pt x="7028495" y="927986"/>
                  <a:pt x="7028495" y="1292112"/>
                </a:cubicBezTo>
                <a:cubicBezTo>
                  <a:pt x="7028495" y="3343346"/>
                  <a:pt x="6205186" y="5202289"/>
                  <a:pt x="4870994" y="6556512"/>
                </a:cubicBezTo>
                <a:lnTo>
                  <a:pt x="4556185"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9" name="Subtitle 2">
            <a:extLst>
              <a:ext uri="{FF2B5EF4-FFF2-40B4-BE49-F238E27FC236}">
                <a16:creationId xmlns:a16="http://schemas.microsoft.com/office/drawing/2014/main" id="{A48EACD5-346E-4647-A516-131E85C7CD40}"/>
              </a:ext>
            </a:extLst>
          </p:cNvPr>
          <p:cNvSpPr txBox="1">
            <a:spLocks/>
          </p:cNvSpPr>
          <p:nvPr/>
        </p:nvSpPr>
        <p:spPr>
          <a:xfrm>
            <a:off x="7224714" y="5473308"/>
            <a:ext cx="4543734" cy="426749"/>
          </a:xfrm>
          <a:prstGeom prst="rect">
            <a:avLst/>
          </a:prstGeom>
        </p:spPr>
        <p:txBody>
          <a:bodyPr vert="horz" lIns="91440" tIns="45720" rIns="91440" bIns="45720" rtlCol="0" anchor="t">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sz="2000" dirty="0"/>
              <a:t>Jason Williamson · Fall 26</a:t>
            </a:r>
          </a:p>
        </p:txBody>
      </p:sp>
    </p:spTree>
    <p:extLst>
      <p:ext uri="{BB962C8B-B14F-4D97-AF65-F5344CB8AC3E}">
        <p14:creationId xmlns:p14="http://schemas.microsoft.com/office/powerpoint/2010/main" val="284344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0"/>
                                  </p:stCondLst>
                                  <p:iterate type="lt">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400"/>
                                        <p:tgtEl>
                                          <p:spTgt spid="3">
                                            <p:txEl>
                                              <p:pRg st="0" end="0"/>
                                            </p:txEl>
                                          </p:spTgt>
                                        </p:tgtEl>
                                      </p:cBhvr>
                                    </p:animEffect>
                                  </p:childTnLst>
                                </p:cTn>
                              </p:par>
                              <p:par>
                                <p:cTn id="8" presetID="10" presetClass="entr" presetSubtype="0" fill="hold" grpId="0" nodeType="withEffect">
                                  <p:stCondLst>
                                    <p:cond delay="1000"/>
                                  </p:stCondLst>
                                  <p:iterate type="lt">
                                    <p:tmPct val="10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400"/>
                                        <p:tgtEl>
                                          <p:spTgt spid="2"/>
                                        </p:tgtEl>
                                      </p:cBhvr>
                                    </p:animEffect>
                                  </p:childTnLst>
                                </p:cTn>
                              </p:par>
                              <p:par>
                                <p:cTn id="11" presetID="10" presetClass="entr" presetSubtype="0" fill="hold" grpId="0" nodeType="withEffect">
                                  <p:stCondLst>
                                    <p:cond delay="2000"/>
                                  </p:stCondLst>
                                  <p:iterate type="lt">
                                    <p:tmPct val="10000"/>
                                  </p:iterate>
                                  <p:childTnLst>
                                    <p:set>
                                      <p:cBhvr>
                                        <p:cTn id="12" dur="1" fill="hold">
                                          <p:stCondLst>
                                            <p:cond delay="0"/>
                                          </p:stCondLst>
                                        </p:cTn>
                                        <p:tgtEl>
                                          <p:spTgt spid="9">
                                            <p:txEl>
                                              <p:pRg st="0" end="0"/>
                                            </p:txEl>
                                          </p:spTgt>
                                        </p:tgtEl>
                                        <p:attrNameLst>
                                          <p:attrName>style.visibility</p:attrName>
                                        </p:attrNameLst>
                                      </p:cBhvr>
                                      <p:to>
                                        <p:strVal val="visible"/>
                                      </p:to>
                                    </p:set>
                                    <p:animEffect transition="in" filter="fade">
                                      <p:cBhvr>
                                        <p:cTn id="13" dur="4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9"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0" i="0">
                <a:solidFill>
                  <a:srgbClr val="1A1A1A"/>
                </a:solidFill>
                <a:latin typeface="Times New Roman"/>
              </a:rPr>
              <a:t>Today’s Studio: </a:t>
            </a:r>
            <a:r>
              <a:rPr sz="3200" b="0" i="0">
                <a:solidFill>
                  <a:srgbClr val="F67132"/>
                </a:solidFill>
                <a:latin typeface="Times New Roman"/>
              </a:rPr>
              <a:t>The Plan</a:t>
            </a:r>
          </a:p>
        </p:txBody>
      </p:sp>
      <p:sp>
        <p:nvSpPr>
          <p:cNvPr id="4" name="Text Placeholder 3"/>
          <p:cNvSpPr>
            <a:spLocks noGrp="1"/>
          </p:cNvSpPr>
          <p:nvPr>
            <p:ph type="body" sz="quarter" idx="13"/>
          </p:nvPr>
        </p:nvSpPr>
        <p:spPr/>
        <p:txBody>
          <a:bodyPr/>
          <a:lstStyle/>
          <a:p>
            <a:r>
              <a:rPr sz="1600" b="0" i="0">
                <a:solidFill>
                  <a:srgbClr val="1A1A1A"/>
                </a:solidFill>
                <a:latin typeface="Times New Roman"/>
              </a:rPr>
              <a:t>45 minutes · notebook open · run every cell as we go</a:t>
            </a:r>
          </a:p>
        </p:txBody>
      </p:sp>
      <p:sp>
        <p:nvSpPr>
          <p:cNvPr id="5" name="Rectangle 4"/>
          <p:cNvSpPr/>
          <p:nvPr/>
        </p:nvSpPr>
        <p:spPr>
          <a:xfrm>
            <a:off x="548640" y="1600200"/>
            <a:ext cx="3474720" cy="4389120"/>
          </a:xfrm>
          <a:prstGeom prst="rect">
            <a:avLst/>
          </a:prstGeom>
          <a:solidFill>
            <a:srgbClr val="FBE5D6"/>
          </a:solidFill>
          <a:ln w="12700">
            <a:solidFill>
              <a:srgbClr val="24323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777240" y="1783080"/>
            <a:ext cx="640080" cy="640080"/>
          </a:xfrm>
          <a:prstGeom prst="ellipse">
            <a:avLst/>
          </a:prstGeom>
          <a:solidFill>
            <a:srgbClr val="F6713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2400" b="1" i="0">
                <a:solidFill>
                  <a:srgbClr val="FFFFFF"/>
                </a:solidFill>
                <a:latin typeface="Times New Roman"/>
              </a:rPr>
              <a:t>1</a:t>
            </a:r>
          </a:p>
        </p:txBody>
      </p:sp>
      <p:sp>
        <p:nvSpPr>
          <p:cNvPr id="7" name="TextBox 6"/>
          <p:cNvSpPr txBox="1"/>
          <p:nvPr/>
        </p:nvSpPr>
        <p:spPr>
          <a:xfrm>
            <a:off x="1554480" y="1783080"/>
            <a:ext cx="2377440" cy="292608"/>
          </a:xfrm>
          <a:prstGeom prst="rect">
            <a:avLst/>
          </a:prstGeom>
          <a:noFill/>
        </p:spPr>
        <p:txBody>
          <a:bodyPr wrap="square" lIns="45720" rIns="45720" anchor="t">
            <a:spAutoFit/>
          </a:bodyPr>
          <a:lstStyle/>
          <a:p>
            <a:pPr algn="l"/>
            <a:r>
              <a:rPr sz="1400" b="1" i="0">
                <a:solidFill>
                  <a:srgbClr val="F67132"/>
                </a:solidFill>
                <a:latin typeface="Times New Roman"/>
              </a:rPr>
              <a:t>Part 1</a:t>
            </a:r>
          </a:p>
        </p:txBody>
      </p:sp>
      <p:sp>
        <p:nvSpPr>
          <p:cNvPr id="8" name="TextBox 7"/>
          <p:cNvSpPr txBox="1"/>
          <p:nvPr/>
        </p:nvSpPr>
        <p:spPr>
          <a:xfrm>
            <a:off x="1554480" y="2057400"/>
            <a:ext cx="2377440" cy="411480"/>
          </a:xfrm>
          <a:prstGeom prst="rect">
            <a:avLst/>
          </a:prstGeom>
          <a:noFill/>
        </p:spPr>
        <p:txBody>
          <a:bodyPr wrap="square" lIns="45720" rIns="45720" anchor="t">
            <a:spAutoFit/>
          </a:bodyPr>
          <a:lstStyle/>
          <a:p>
            <a:pPr algn="l"/>
            <a:r>
              <a:rPr sz="2000" b="1" i="0">
                <a:solidFill>
                  <a:srgbClr val="24323E"/>
                </a:solidFill>
                <a:latin typeface="Times New Roman"/>
              </a:rPr>
              <a:t>What an API Is</a:t>
            </a:r>
          </a:p>
        </p:txBody>
      </p:sp>
      <p:sp>
        <p:nvSpPr>
          <p:cNvPr id="9" name="TextBox 8"/>
          <p:cNvSpPr txBox="1"/>
          <p:nvPr/>
        </p:nvSpPr>
        <p:spPr>
          <a:xfrm>
            <a:off x="822959" y="2788920"/>
            <a:ext cx="3017520" cy="3108960"/>
          </a:xfrm>
          <a:prstGeom prst="rect">
            <a:avLst/>
          </a:prstGeom>
          <a:noFill/>
        </p:spPr>
        <p:txBody>
          <a:bodyPr wrap="square" lIns="45720" rIns="45720" anchor="t">
            <a:spAutoFit/>
          </a:bodyPr>
          <a:lstStyle/>
          <a:p>
            <a:pPr marL="201168" indent="-201168" algn="l">
              <a:buClr>
                <a:srgbClr val="F67132"/>
              </a:buClr>
              <a:buFont typeface="Arial"/>
              <a:buChar char="•"/>
            </a:pPr>
            <a:r>
              <a:rPr sz="1800" b="0" i="0">
                <a:solidFill>
                  <a:srgbClr val="1A1A1A"/>
                </a:solidFill>
                <a:latin typeface="Times New Roman"/>
              </a:rPr>
              <a:t>Files vs. live data</a:t>
            </a:r>
          </a:p>
          <a:p>
            <a:pPr marL="201168" indent="-201168" algn="l">
              <a:spcBef>
                <a:spcPts val="1200"/>
              </a:spcBef>
              <a:buClr>
                <a:srgbClr val="F67132"/>
              </a:buClr>
              <a:buFont typeface="Arial"/>
              <a:buChar char="•"/>
            </a:pPr>
            <a:r>
              <a:rPr sz="1800" b="0" i="0">
                <a:solidFill>
                  <a:srgbClr val="1A1A1A"/>
                </a:solidFill>
                <a:latin typeface="Times New Roman"/>
              </a:rPr>
              <a:t>Your first request</a:t>
            </a:r>
          </a:p>
          <a:p>
            <a:pPr marL="201168" indent="-201168" algn="l">
              <a:spcBef>
                <a:spcPts val="1200"/>
              </a:spcBef>
              <a:buClr>
                <a:srgbClr val="F67132"/>
              </a:buClr>
              <a:buFont typeface="Arial"/>
              <a:buChar char="•"/>
            </a:pPr>
            <a:r>
              <a:rPr sz="1800" b="0" i="0">
                <a:solidFill>
                  <a:srgbClr val="1A1A1A"/>
                </a:solidFill>
                <a:latin typeface="Times New Roman"/>
              </a:rPr>
              <a:t>Keys, 401 / 403</a:t>
            </a:r>
          </a:p>
          <a:p>
            <a:pPr marL="201168" indent="-201168" algn="l">
              <a:spcBef>
                <a:spcPts val="1200"/>
              </a:spcBef>
              <a:buClr>
                <a:srgbClr val="F67132"/>
              </a:buClr>
              <a:buFont typeface="Arial"/>
              <a:buChar char="•"/>
            </a:pPr>
            <a:r>
              <a:rPr sz="1800" b="0" i="0">
                <a:solidFill>
                  <a:srgbClr val="1A1A1A"/>
                </a:solidFill>
                <a:latin typeface="Times New Roman"/>
              </a:rPr>
              <a:t>200 ≠ data</a:t>
            </a:r>
          </a:p>
          <a:p>
            <a:pPr marL="201168" indent="-201168" algn="l">
              <a:spcBef>
                <a:spcPts val="1200"/>
              </a:spcBef>
              <a:buClr>
                <a:srgbClr val="F67132"/>
              </a:buClr>
              <a:buFont typeface="Arial"/>
              <a:buChar char="•"/>
            </a:pPr>
            <a:r>
              <a:rPr sz="1800" b="0" i="0">
                <a:solidFill>
                  <a:srgbClr val="1A1A1A"/>
                </a:solidFill>
                <a:latin typeface="Times New Roman"/>
              </a:rPr>
              <a:t>Rate limits &amp; secrets</a:t>
            </a:r>
          </a:p>
        </p:txBody>
      </p:sp>
      <p:sp>
        <p:nvSpPr>
          <p:cNvPr id="10" name="Rectangle 9"/>
          <p:cNvSpPr/>
          <p:nvPr/>
        </p:nvSpPr>
        <p:spPr>
          <a:xfrm>
            <a:off x="4297679" y="1600200"/>
            <a:ext cx="3474720" cy="4389120"/>
          </a:xfrm>
          <a:prstGeom prst="rect">
            <a:avLst/>
          </a:prstGeom>
          <a:solidFill>
            <a:srgbClr val="FBE5D6"/>
          </a:solidFill>
          <a:ln w="12700">
            <a:solidFill>
              <a:srgbClr val="24323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4526279" y="1783080"/>
            <a:ext cx="640080" cy="640080"/>
          </a:xfrm>
          <a:prstGeom prst="ellipse">
            <a:avLst/>
          </a:prstGeom>
          <a:solidFill>
            <a:srgbClr val="F6713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2400" b="1" i="0">
                <a:solidFill>
                  <a:srgbClr val="FFFFFF"/>
                </a:solidFill>
                <a:latin typeface="Times New Roman"/>
              </a:rPr>
              <a:t>2</a:t>
            </a:r>
          </a:p>
        </p:txBody>
      </p:sp>
      <p:sp>
        <p:nvSpPr>
          <p:cNvPr id="12" name="TextBox 11"/>
          <p:cNvSpPr txBox="1"/>
          <p:nvPr/>
        </p:nvSpPr>
        <p:spPr>
          <a:xfrm>
            <a:off x="5303519" y="1783080"/>
            <a:ext cx="2377440" cy="292608"/>
          </a:xfrm>
          <a:prstGeom prst="rect">
            <a:avLst/>
          </a:prstGeom>
          <a:noFill/>
        </p:spPr>
        <p:txBody>
          <a:bodyPr wrap="square" lIns="45720" rIns="45720" anchor="t">
            <a:spAutoFit/>
          </a:bodyPr>
          <a:lstStyle/>
          <a:p>
            <a:pPr algn="l"/>
            <a:r>
              <a:rPr sz="1400" b="1" i="0">
                <a:solidFill>
                  <a:srgbClr val="F67132"/>
                </a:solidFill>
                <a:latin typeface="Times New Roman"/>
              </a:rPr>
              <a:t>Part 2</a:t>
            </a:r>
          </a:p>
        </p:txBody>
      </p:sp>
      <p:sp>
        <p:nvSpPr>
          <p:cNvPr id="13" name="TextBox 12"/>
          <p:cNvSpPr txBox="1"/>
          <p:nvPr/>
        </p:nvSpPr>
        <p:spPr>
          <a:xfrm>
            <a:off x="5303519" y="2057400"/>
            <a:ext cx="2377440" cy="411480"/>
          </a:xfrm>
          <a:prstGeom prst="rect">
            <a:avLst/>
          </a:prstGeom>
          <a:noFill/>
        </p:spPr>
        <p:txBody>
          <a:bodyPr wrap="square" lIns="45720" rIns="45720" anchor="t">
            <a:spAutoFit/>
          </a:bodyPr>
          <a:lstStyle/>
          <a:p>
            <a:pPr algn="l"/>
            <a:r>
              <a:rPr sz="2000" b="1" i="0">
                <a:solidFill>
                  <a:srgbClr val="24323E"/>
                </a:solidFill>
                <a:latin typeface="Times New Roman"/>
              </a:rPr>
              <a:t>Builds 1–5 on Open-Meteo</a:t>
            </a:r>
          </a:p>
        </p:txBody>
      </p:sp>
      <p:sp>
        <p:nvSpPr>
          <p:cNvPr id="14" name="TextBox 13"/>
          <p:cNvSpPr txBox="1"/>
          <p:nvPr/>
        </p:nvSpPr>
        <p:spPr>
          <a:xfrm>
            <a:off x="4571999" y="2788920"/>
            <a:ext cx="3017520" cy="3108960"/>
          </a:xfrm>
          <a:prstGeom prst="rect">
            <a:avLst/>
          </a:prstGeom>
          <a:noFill/>
        </p:spPr>
        <p:txBody>
          <a:bodyPr wrap="square" lIns="45720" rIns="45720" anchor="t">
            <a:spAutoFit/>
          </a:bodyPr>
          <a:lstStyle/>
          <a:p>
            <a:pPr marL="201168" indent="-201168" algn="l">
              <a:buClr>
                <a:srgbClr val="F67132"/>
              </a:buClr>
              <a:buFont typeface="Arial"/>
              <a:buChar char="•"/>
            </a:pPr>
            <a:r>
              <a:rPr sz="1800" b="0" i="0">
                <a:solidFill>
                  <a:srgbClr val="1A1A1A"/>
                </a:solidFill>
                <a:latin typeface="Times New Roman"/>
              </a:rPr>
              <a:t>1 · See the URL</a:t>
            </a:r>
          </a:p>
          <a:p>
            <a:pPr marL="201168" indent="-201168" algn="l">
              <a:spcBef>
                <a:spcPts val="1200"/>
              </a:spcBef>
              <a:buClr>
                <a:srgbClr val="F67132"/>
              </a:buClr>
              <a:buFont typeface="Arial"/>
              <a:buChar char="•"/>
            </a:pPr>
            <a:r>
              <a:rPr sz="1800" b="0" i="0">
                <a:solidFill>
                  <a:srgbClr val="1A1A1A"/>
                </a:solidFill>
                <a:latin typeface="Times New Roman"/>
              </a:rPr>
              <a:t>2 · What failure looks like</a:t>
            </a:r>
          </a:p>
          <a:p>
            <a:pPr marL="201168" indent="-201168" algn="l">
              <a:spcBef>
                <a:spcPts val="1200"/>
              </a:spcBef>
              <a:buClr>
                <a:srgbClr val="F67132"/>
              </a:buClr>
              <a:buFont typeface="Arial"/>
              <a:buChar char="•"/>
            </a:pPr>
            <a:r>
              <a:rPr sz="1800" b="0" i="0">
                <a:solidFill>
                  <a:srgbClr val="1A1A1A"/>
                </a:solidFill>
                <a:latin typeface="Times New Roman"/>
              </a:rPr>
              <a:t>3 · Retries with backoff</a:t>
            </a:r>
          </a:p>
          <a:p>
            <a:pPr marL="201168" indent="-201168" algn="l">
              <a:spcBef>
                <a:spcPts val="1200"/>
              </a:spcBef>
              <a:buClr>
                <a:srgbClr val="F67132"/>
              </a:buClr>
              <a:buFont typeface="Arial"/>
              <a:buChar char="•"/>
            </a:pPr>
            <a:r>
              <a:rPr sz="1800" b="0" i="0">
                <a:solidFill>
                  <a:srgbClr val="1A1A1A"/>
                </a:solidFill>
                <a:latin typeface="Times New Roman"/>
              </a:rPr>
              <a:t>4 · Cache (optional)</a:t>
            </a:r>
          </a:p>
          <a:p>
            <a:pPr marL="201168" indent="-201168" algn="l">
              <a:spcBef>
                <a:spcPts val="1200"/>
              </a:spcBef>
              <a:buClr>
                <a:srgbClr val="F67132"/>
              </a:buClr>
              <a:buFont typeface="Arial"/>
              <a:buChar char="•"/>
            </a:pPr>
            <a:r>
              <a:rPr sz="1800" b="0" i="0">
                <a:solidFill>
                  <a:srgbClr val="1A1A1A"/>
                </a:solidFill>
                <a:latin typeface="Times New Roman"/>
              </a:rPr>
              <a:t>5 · Hourly → daily</a:t>
            </a:r>
          </a:p>
        </p:txBody>
      </p:sp>
      <p:sp>
        <p:nvSpPr>
          <p:cNvPr id="15" name="Rectangle 14"/>
          <p:cNvSpPr/>
          <p:nvPr/>
        </p:nvSpPr>
        <p:spPr>
          <a:xfrm>
            <a:off x="8046719" y="1600200"/>
            <a:ext cx="3474720" cy="4389120"/>
          </a:xfrm>
          <a:prstGeom prst="rect">
            <a:avLst/>
          </a:prstGeom>
          <a:solidFill>
            <a:srgbClr val="FBE5D6"/>
          </a:solidFill>
          <a:ln w="12700">
            <a:solidFill>
              <a:srgbClr val="24323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Oval 15"/>
          <p:cNvSpPr/>
          <p:nvPr/>
        </p:nvSpPr>
        <p:spPr>
          <a:xfrm>
            <a:off x="8275319" y="1783080"/>
            <a:ext cx="640080" cy="640080"/>
          </a:xfrm>
          <a:prstGeom prst="ellipse">
            <a:avLst/>
          </a:prstGeom>
          <a:solidFill>
            <a:srgbClr val="F6713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2400" b="1" i="0">
                <a:solidFill>
                  <a:srgbClr val="FFFFFF"/>
                </a:solidFill>
                <a:latin typeface="Times New Roman"/>
              </a:rPr>
              <a:t>3</a:t>
            </a:r>
          </a:p>
        </p:txBody>
      </p:sp>
      <p:sp>
        <p:nvSpPr>
          <p:cNvPr id="17" name="TextBox 16"/>
          <p:cNvSpPr txBox="1"/>
          <p:nvPr/>
        </p:nvSpPr>
        <p:spPr>
          <a:xfrm>
            <a:off x="9052559" y="1783080"/>
            <a:ext cx="2377440" cy="292608"/>
          </a:xfrm>
          <a:prstGeom prst="rect">
            <a:avLst/>
          </a:prstGeom>
          <a:noFill/>
        </p:spPr>
        <p:txBody>
          <a:bodyPr wrap="square" lIns="45720" rIns="45720" anchor="t">
            <a:spAutoFit/>
          </a:bodyPr>
          <a:lstStyle/>
          <a:p>
            <a:pPr algn="l"/>
            <a:r>
              <a:rPr sz="1400" b="1" i="0">
                <a:solidFill>
                  <a:srgbClr val="F67132"/>
                </a:solidFill>
                <a:latin typeface="Times New Roman"/>
              </a:rPr>
              <a:t>Wrap</a:t>
            </a:r>
          </a:p>
        </p:txBody>
      </p:sp>
      <p:sp>
        <p:nvSpPr>
          <p:cNvPr id="18" name="TextBox 17"/>
          <p:cNvSpPr txBox="1"/>
          <p:nvPr/>
        </p:nvSpPr>
        <p:spPr>
          <a:xfrm>
            <a:off x="9052559" y="2057400"/>
            <a:ext cx="2377440" cy="411480"/>
          </a:xfrm>
          <a:prstGeom prst="rect">
            <a:avLst/>
          </a:prstGeom>
          <a:noFill/>
        </p:spPr>
        <p:txBody>
          <a:bodyPr wrap="square" lIns="45720" rIns="45720" anchor="t">
            <a:spAutoFit/>
          </a:bodyPr>
          <a:lstStyle/>
          <a:p>
            <a:pPr algn="l"/>
            <a:r>
              <a:rPr sz="2000" b="1" i="0">
                <a:solidFill>
                  <a:srgbClr val="24323E"/>
                </a:solidFill>
                <a:latin typeface="Times New Roman"/>
              </a:rPr>
              <a:t>Checkpoint</a:t>
            </a:r>
          </a:p>
        </p:txBody>
      </p:sp>
      <p:sp>
        <p:nvSpPr>
          <p:cNvPr id="19" name="TextBox 18"/>
          <p:cNvSpPr txBox="1"/>
          <p:nvPr/>
        </p:nvSpPr>
        <p:spPr>
          <a:xfrm>
            <a:off x="8321040" y="2788920"/>
            <a:ext cx="3017520" cy="1661993"/>
          </a:xfrm>
          <a:prstGeom prst="rect">
            <a:avLst/>
          </a:prstGeom>
          <a:noFill/>
        </p:spPr>
        <p:txBody>
          <a:bodyPr wrap="square" lIns="45720" rIns="45720" anchor="t">
            <a:spAutoFit/>
          </a:bodyPr>
          <a:lstStyle/>
          <a:p>
            <a:pPr marL="201168" indent="-201168" algn="l">
              <a:buClr>
                <a:srgbClr val="F67132"/>
              </a:buClr>
              <a:buFont typeface="Arial"/>
              <a:buChar char="•"/>
            </a:pPr>
            <a:r>
              <a:rPr sz="1800" b="0" i="0" dirty="0">
                <a:solidFill>
                  <a:srgbClr val="1A1A1A"/>
                </a:solidFill>
                <a:latin typeface="Times New Roman"/>
              </a:rPr>
              <a:t>Daily rows</a:t>
            </a:r>
          </a:p>
          <a:p>
            <a:pPr marL="201168" indent="-201168" algn="l">
              <a:spcBef>
                <a:spcPts val="1200"/>
              </a:spcBef>
              <a:buClr>
                <a:srgbClr val="F67132"/>
              </a:buClr>
              <a:buFont typeface="Arial"/>
              <a:buChar char="•"/>
            </a:pPr>
            <a:r>
              <a:rPr sz="1800" b="0" i="0" dirty="0">
                <a:solidFill>
                  <a:srgbClr val="1A1A1A"/>
                </a:solidFill>
                <a:latin typeface="Times New Roman"/>
              </a:rPr>
              <a:t>Wettest day</a:t>
            </a:r>
          </a:p>
          <a:p>
            <a:pPr marL="201168" indent="-201168" algn="l">
              <a:spcBef>
                <a:spcPts val="1200"/>
              </a:spcBef>
              <a:buClr>
                <a:srgbClr val="F67132"/>
              </a:buClr>
              <a:buFont typeface="Arial"/>
              <a:buChar char="•"/>
            </a:pPr>
            <a:r>
              <a:rPr sz="1800" b="0" i="0" dirty="0">
                <a:solidFill>
                  <a:srgbClr val="1A1A1A"/>
                </a:solidFill>
                <a:latin typeface="Times New Roman"/>
              </a:rPr>
              <a:t>Bad-request status</a:t>
            </a:r>
          </a:p>
          <a:p>
            <a:pPr marL="201168" indent="-201168" algn="l">
              <a:spcBef>
                <a:spcPts val="1200"/>
              </a:spcBef>
              <a:buClr>
                <a:srgbClr val="F67132"/>
              </a:buClr>
              <a:buFont typeface="Arial"/>
              <a:buChar char="•"/>
            </a:pPr>
            <a:r>
              <a:rPr sz="1800" b="0" i="0" dirty="0">
                <a:solidFill>
                  <a:srgbClr val="1A1A1A"/>
                </a:solidFill>
                <a:latin typeface="Times New Roman"/>
              </a:rPr>
              <a:t>A code you would not retry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48A386-5535-4367-B6A5-83232255ADBE}"/>
              </a:ext>
            </a:extLst>
          </p:cNvPr>
          <p:cNvSpPr txBox="1">
            <a:spLocks/>
          </p:cNvSpPr>
          <p:nvPr/>
        </p:nvSpPr>
        <p:spPr>
          <a:xfrm>
            <a:off x="613457" y="2595717"/>
            <a:ext cx="10949651" cy="17206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6000" dirty="0">
                <a:solidFill>
                  <a:srgbClr val="F67132"/>
                </a:solidFill>
                <a:latin typeface="Times New Roman" panose="02020603050405020304" pitchFamily="18" charset="0"/>
                <a:cs typeface="Times New Roman" panose="02020603050405020304" pitchFamily="18" charset="0"/>
              </a:rPr>
              <a:t>Part 1 — What an API Is</a:t>
            </a:r>
          </a:p>
        </p:txBody>
      </p:sp>
      <p:sp>
        <p:nvSpPr>
          <p:cNvPr id="3" name="Subtitle 2">
            <a:extLst>
              <a:ext uri="{FF2B5EF4-FFF2-40B4-BE49-F238E27FC236}">
                <a16:creationId xmlns:a16="http://schemas.microsoft.com/office/drawing/2014/main" id="{C7CB5BE4-CFAE-4A84-946E-788A1BA2BF1C}"/>
              </a:ext>
            </a:extLst>
          </p:cNvPr>
          <p:cNvSpPr txBox="1">
            <a:spLocks/>
          </p:cNvSpPr>
          <p:nvPr/>
        </p:nvSpPr>
        <p:spPr>
          <a:xfrm>
            <a:off x="613457" y="3598600"/>
            <a:ext cx="10949651" cy="90211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solidFill>
                  <a:schemeClr val="bg1"/>
                </a:solidFill>
                <a:latin typeface="Times New Roman" panose="02020603050405020304" pitchFamily="18" charset="0"/>
                <a:cs typeface="Times New Roman" panose="02020603050405020304" pitchFamily="18" charset="0"/>
              </a:rPr>
              <a:t>Data that does not sit still, and how a program asks for it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0" i="0">
                <a:solidFill>
                  <a:srgbClr val="1A1A1A"/>
                </a:solidFill>
                <a:latin typeface="Times New Roman"/>
              </a:rPr>
              <a:t>Why APIs: </a:t>
            </a:r>
            <a:r>
              <a:rPr sz="3200" b="0" i="0">
                <a:solidFill>
                  <a:srgbClr val="F67132"/>
                </a:solidFill>
                <a:latin typeface="Times New Roman"/>
              </a:rPr>
              <a:t>Data That Won’t Sit Still</a:t>
            </a:r>
          </a:p>
        </p:txBody>
      </p:sp>
      <p:sp>
        <p:nvSpPr>
          <p:cNvPr id="3" name="Rectangle 2"/>
          <p:cNvSpPr/>
          <p:nvPr/>
        </p:nvSpPr>
        <p:spPr>
          <a:xfrm>
            <a:off x="548640" y="1463040"/>
            <a:ext cx="5394960" cy="3017520"/>
          </a:xfrm>
          <a:prstGeom prst="rect">
            <a:avLst/>
          </a:prstGeom>
          <a:solidFill>
            <a:srgbClr val="FDF2EA"/>
          </a:solidFill>
          <a:ln w="12700">
            <a:solidFill>
              <a:srgbClr val="24323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777240" y="1600200"/>
            <a:ext cx="4937760" cy="411480"/>
          </a:xfrm>
          <a:prstGeom prst="rect">
            <a:avLst/>
          </a:prstGeom>
          <a:noFill/>
        </p:spPr>
        <p:txBody>
          <a:bodyPr wrap="square" lIns="45720" rIns="45720" anchor="t">
            <a:spAutoFit/>
          </a:bodyPr>
          <a:lstStyle/>
          <a:p>
            <a:pPr algn="l"/>
            <a:r>
              <a:rPr sz="2200" b="1" i="0">
                <a:solidFill>
                  <a:srgbClr val="24323E"/>
                </a:solidFill>
                <a:latin typeface="Times New Roman"/>
              </a:rPr>
              <a:t>A file is a photograph</a:t>
            </a:r>
          </a:p>
        </p:txBody>
      </p:sp>
      <p:sp>
        <p:nvSpPr>
          <p:cNvPr id="5" name="TextBox 4"/>
          <p:cNvSpPr txBox="1"/>
          <p:nvPr/>
        </p:nvSpPr>
        <p:spPr>
          <a:xfrm>
            <a:off x="777240" y="2103120"/>
            <a:ext cx="4937760" cy="2286000"/>
          </a:xfrm>
          <a:prstGeom prst="rect">
            <a:avLst/>
          </a:prstGeom>
          <a:noFill/>
        </p:spPr>
        <p:txBody>
          <a:bodyPr wrap="square" lIns="45720" rIns="45720" anchor="t">
            <a:spAutoFit/>
          </a:bodyPr>
          <a:lstStyle/>
          <a:p>
            <a:pPr marL="201168" indent="-201168" algn="l">
              <a:buClr>
                <a:srgbClr val="F67132"/>
              </a:buClr>
              <a:buFont typeface="Arial"/>
              <a:buChar char="•"/>
            </a:pPr>
            <a:r>
              <a:rPr sz="1600" b="0" i="0">
                <a:solidFill>
                  <a:srgbClr val="1A1A1A"/>
                </a:solidFill>
                <a:latin typeface="Times New Roman"/>
              </a:rPr>
              <a:t>chipotle_orders.csv is identical today and last week</a:t>
            </a:r>
          </a:p>
          <a:p>
            <a:pPr marL="201168" indent="-201168" algn="l">
              <a:spcBef>
                <a:spcPts val="800"/>
              </a:spcBef>
              <a:buClr>
                <a:srgbClr val="F67132"/>
              </a:buClr>
              <a:buFont typeface="Arial"/>
              <a:buChar char="•"/>
            </a:pPr>
            <a:r>
              <a:rPr sz="1600" b="0" i="0">
                <a:solidFill>
                  <a:srgbClr val="1A1A1A"/>
                </a:solidFill>
                <a:latin typeface="Times New Roman"/>
              </a:rPr>
              <a:t>Someone exported it once</a:t>
            </a:r>
          </a:p>
          <a:p>
            <a:pPr marL="201168" indent="-201168" algn="l">
              <a:spcBef>
                <a:spcPts val="800"/>
              </a:spcBef>
              <a:buClr>
                <a:srgbClr val="F67132"/>
              </a:buClr>
              <a:buFont typeface="Arial"/>
              <a:buChar char="•"/>
            </a:pPr>
            <a:r>
              <a:rPr sz="1600" b="0" i="0">
                <a:solidFill>
                  <a:srgbClr val="1A1A1A"/>
                </a:solidFill>
                <a:latin typeface="Times New Roman"/>
              </a:rPr>
              <a:t>It stopped being true the moment it was written</a:t>
            </a:r>
          </a:p>
        </p:txBody>
      </p:sp>
      <p:sp>
        <p:nvSpPr>
          <p:cNvPr id="6" name="Rectangle 5"/>
          <p:cNvSpPr/>
          <p:nvPr/>
        </p:nvSpPr>
        <p:spPr>
          <a:xfrm>
            <a:off x="6263640" y="1463040"/>
            <a:ext cx="5394960" cy="3017520"/>
          </a:xfrm>
          <a:prstGeom prst="rect">
            <a:avLst/>
          </a:prstGeom>
          <a:solidFill>
            <a:srgbClr val="FBE5D6"/>
          </a:solidFill>
          <a:ln w="12700">
            <a:solidFill>
              <a:srgbClr val="24323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6492240" y="1600200"/>
            <a:ext cx="4937760" cy="411480"/>
          </a:xfrm>
          <a:prstGeom prst="rect">
            <a:avLst/>
          </a:prstGeom>
          <a:noFill/>
        </p:spPr>
        <p:txBody>
          <a:bodyPr wrap="square" lIns="45720" rIns="45720" anchor="t">
            <a:spAutoFit/>
          </a:bodyPr>
          <a:lstStyle/>
          <a:p>
            <a:pPr algn="l"/>
            <a:r>
              <a:rPr sz="2200" b="1" i="0">
                <a:solidFill>
                  <a:srgbClr val="F67132"/>
                </a:solidFill>
                <a:latin typeface="Times New Roman"/>
              </a:rPr>
              <a:t>Most data worth having moves</a:t>
            </a:r>
          </a:p>
        </p:txBody>
      </p:sp>
      <p:sp>
        <p:nvSpPr>
          <p:cNvPr id="8" name="TextBox 7"/>
          <p:cNvSpPr txBox="1"/>
          <p:nvPr/>
        </p:nvSpPr>
        <p:spPr>
          <a:xfrm>
            <a:off x="6492240" y="2103120"/>
            <a:ext cx="4937760" cy="2286000"/>
          </a:xfrm>
          <a:prstGeom prst="rect">
            <a:avLst/>
          </a:prstGeom>
          <a:noFill/>
        </p:spPr>
        <p:txBody>
          <a:bodyPr wrap="square" lIns="45720" rIns="45720" anchor="t">
            <a:spAutoFit/>
          </a:bodyPr>
          <a:lstStyle/>
          <a:p>
            <a:pPr marL="201168" indent="-201168" algn="l">
              <a:buClr>
                <a:srgbClr val="F67132"/>
              </a:buClr>
              <a:buFont typeface="Arial"/>
              <a:buChar char="•"/>
            </a:pPr>
            <a:r>
              <a:rPr sz="1600" b="0" i="0">
                <a:solidFill>
                  <a:srgbClr val="1A1A1A"/>
                </a:solidFill>
                <a:latin typeface="Times New Roman"/>
              </a:rPr>
              <a:t>Yesterday’s weather</a:t>
            </a:r>
          </a:p>
          <a:p>
            <a:pPr marL="201168" indent="-201168" algn="l">
              <a:spcBef>
                <a:spcPts val="800"/>
              </a:spcBef>
              <a:buClr>
                <a:srgbClr val="F67132"/>
              </a:buClr>
              <a:buFont typeface="Arial"/>
              <a:buChar char="•"/>
            </a:pPr>
            <a:r>
              <a:rPr sz="1600" b="0" i="0">
                <a:solidFill>
                  <a:srgbClr val="1A1A1A"/>
                </a:solidFill>
                <a:latin typeface="Times New Roman"/>
              </a:rPr>
              <a:t>The current price of a euro</a:t>
            </a:r>
          </a:p>
          <a:p>
            <a:pPr marL="201168" indent="-201168" algn="l">
              <a:spcBef>
                <a:spcPts val="800"/>
              </a:spcBef>
              <a:buClr>
                <a:srgbClr val="F67132"/>
              </a:buClr>
              <a:buFont typeface="Arial"/>
              <a:buChar char="•"/>
            </a:pPr>
            <a:r>
              <a:rPr sz="1600" b="0" i="0">
                <a:solidFill>
                  <a:srgbClr val="1A1A1A"/>
                </a:solidFill>
                <a:latin typeface="Times New Roman"/>
              </a:rPr>
              <a:t>The earthquake that happened an hour ago</a:t>
            </a:r>
          </a:p>
          <a:p>
            <a:pPr marL="201168" indent="-201168" algn="l">
              <a:spcBef>
                <a:spcPts val="800"/>
              </a:spcBef>
              <a:buClr>
                <a:srgbClr val="F67132"/>
              </a:buClr>
              <a:buFont typeface="Arial"/>
              <a:buChar char="•"/>
            </a:pPr>
            <a:r>
              <a:rPr sz="1600" b="0" i="0">
                <a:solidFill>
                  <a:srgbClr val="1A1A1A"/>
                </a:solidFill>
                <a:latin typeface="Times New Roman"/>
              </a:rPr>
              <a:t>A repo forty people are committing to</a:t>
            </a:r>
          </a:p>
        </p:txBody>
      </p:sp>
      <p:sp>
        <p:nvSpPr>
          <p:cNvPr id="9" name="Rectangle 8"/>
          <p:cNvSpPr/>
          <p:nvPr/>
        </p:nvSpPr>
        <p:spPr>
          <a:xfrm>
            <a:off x="548640" y="4754880"/>
            <a:ext cx="11109960" cy="1234440"/>
          </a:xfrm>
          <a:prstGeom prst="rect">
            <a:avLst/>
          </a:prstGeom>
          <a:solidFill>
            <a:srgbClr val="24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822960" y="4846320"/>
            <a:ext cx="10607040" cy="1051560"/>
          </a:xfrm>
          <a:prstGeom prst="rect">
            <a:avLst/>
          </a:prstGeom>
          <a:noFill/>
        </p:spPr>
        <p:txBody>
          <a:bodyPr wrap="square" lIns="45720" rIns="45720" anchor="ctr">
            <a:spAutoFit/>
          </a:bodyPr>
          <a:lstStyle/>
          <a:p>
            <a:pPr algn="l"/>
            <a:r>
              <a:rPr sz="1700" b="1" i="0">
                <a:solidFill>
                  <a:srgbClr val="F67132"/>
                </a:solidFill>
                <a:latin typeface="Times New Roman"/>
              </a:rPr>
              <a:t>API — Application Programming Interface: </a:t>
            </a:r>
            <a:r>
              <a:rPr sz="1700" b="0" i="0">
                <a:solidFill>
                  <a:srgbClr val="FFFFFF"/>
                </a:solidFill>
                <a:latin typeface="Times New Roman"/>
              </a:rPr>
              <a:t>how a program asks another program for data and gets a structured answer back.</a:t>
            </a:r>
          </a:p>
          <a:p>
            <a:pPr algn="l">
              <a:spcBef>
                <a:spcPts val="600"/>
              </a:spcBef>
            </a:pPr>
            <a:r>
              <a:rPr sz="1700" b="1" i="0">
                <a:solidFill>
                  <a:srgbClr val="FFFFFF"/>
                </a:solidFill>
                <a:latin typeface="Times New Roman"/>
              </a:rPr>
              <a:t>Interface</a:t>
            </a:r>
            <a:r>
              <a:rPr sz="1700" b="0" i="0">
                <a:solidFill>
                  <a:srgbClr val="FFFFFF"/>
                </a:solidFill>
                <a:latin typeface="Times New Roman"/>
              </a:rPr>
              <a:t> = the part you are allowed to touch. A microwave’s buttons: you don’t open the case.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0" i="0">
                <a:solidFill>
                  <a:srgbClr val="1A1A1A"/>
                </a:solidFill>
                <a:latin typeface="Times New Roman"/>
              </a:rPr>
              <a:t>The Same Data, </a:t>
            </a:r>
            <a:r>
              <a:rPr sz="3200" b="0" i="0">
                <a:solidFill>
                  <a:srgbClr val="F67132"/>
                </a:solidFill>
                <a:latin typeface="Times New Roman"/>
              </a:rPr>
              <a:t>Two Different Doors</a:t>
            </a:r>
          </a:p>
        </p:txBody>
      </p:sp>
      <p:sp>
        <p:nvSpPr>
          <p:cNvPr id="3" name="Rectangle 2"/>
          <p:cNvSpPr/>
          <p:nvPr/>
        </p:nvSpPr>
        <p:spPr>
          <a:xfrm>
            <a:off x="548640" y="1463040"/>
            <a:ext cx="5394960" cy="3246120"/>
          </a:xfrm>
          <a:prstGeom prst="rect">
            <a:avLst/>
          </a:prstGeom>
          <a:solidFill>
            <a:srgbClr val="FFFFFF"/>
          </a:solidFill>
          <a:ln w="12700">
            <a:solidFill>
              <a:srgbClr val="24323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ectangle 3"/>
          <p:cNvSpPr/>
          <p:nvPr/>
        </p:nvSpPr>
        <p:spPr>
          <a:xfrm>
            <a:off x="548640" y="1463040"/>
            <a:ext cx="5394960" cy="411480"/>
          </a:xfrm>
          <a:prstGeom prst="rect">
            <a:avLst/>
          </a:prstGeom>
          <a:solidFill>
            <a:srgbClr val="24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31520" y="1481328"/>
            <a:ext cx="5029200" cy="365760"/>
          </a:xfrm>
          <a:prstGeom prst="rect">
            <a:avLst/>
          </a:prstGeom>
          <a:noFill/>
        </p:spPr>
        <p:txBody>
          <a:bodyPr wrap="square" lIns="45720" rIns="45720" anchor="ctr">
            <a:spAutoFit/>
          </a:bodyPr>
          <a:lstStyle/>
          <a:p>
            <a:pPr algn="l"/>
            <a:r>
              <a:rPr sz="1400" b="0" i="0">
                <a:solidFill>
                  <a:srgbClr val="FFFFFF"/>
                </a:solidFill>
                <a:latin typeface="Courier New"/>
              </a:rPr>
              <a:t>weather.gov</a:t>
            </a:r>
          </a:p>
        </p:txBody>
      </p:sp>
      <p:sp>
        <p:nvSpPr>
          <p:cNvPr id="6" name="Rectangle 5"/>
          <p:cNvSpPr/>
          <p:nvPr/>
        </p:nvSpPr>
        <p:spPr>
          <a:xfrm>
            <a:off x="777240" y="2011680"/>
            <a:ext cx="914400" cy="256032"/>
          </a:xfrm>
          <a:prstGeom prst="rect">
            <a:avLst/>
          </a:prstGeom>
          <a:solidFill>
            <a:srgbClr val="FBE5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1828800" y="2011680"/>
            <a:ext cx="914400" cy="256032"/>
          </a:xfrm>
          <a:prstGeom prst="rect">
            <a:avLst/>
          </a:prstGeom>
          <a:solidFill>
            <a:srgbClr val="FBE5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ectangle 7"/>
          <p:cNvSpPr/>
          <p:nvPr/>
        </p:nvSpPr>
        <p:spPr>
          <a:xfrm>
            <a:off x="2880360" y="2011680"/>
            <a:ext cx="914400" cy="256032"/>
          </a:xfrm>
          <a:prstGeom prst="rect">
            <a:avLst/>
          </a:prstGeom>
          <a:solidFill>
            <a:srgbClr val="FBE5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3931920" y="2011680"/>
            <a:ext cx="914400" cy="256032"/>
          </a:xfrm>
          <a:prstGeom prst="rect">
            <a:avLst/>
          </a:prstGeom>
          <a:solidFill>
            <a:srgbClr val="FBE5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777240" y="2423160"/>
            <a:ext cx="3108960" cy="2103120"/>
          </a:xfrm>
          <a:prstGeom prst="rect">
            <a:avLst/>
          </a:prstGeom>
          <a:solidFill>
            <a:srgbClr val="D9E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ectangle 10"/>
          <p:cNvSpPr/>
          <p:nvPr/>
        </p:nvSpPr>
        <p:spPr>
          <a:xfrm>
            <a:off x="777240" y="2423160"/>
            <a:ext cx="3108960" cy="2103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400" b="0" i="0">
                <a:solidFill>
                  <a:srgbClr val="555F6A"/>
                </a:solidFill>
                <a:latin typeface="Times New Roman"/>
              </a:rPr>
              <a:t>[ map ]</a:t>
            </a:r>
          </a:p>
        </p:txBody>
      </p:sp>
      <p:sp>
        <p:nvSpPr>
          <p:cNvPr id="12" name="Rectangle 11"/>
          <p:cNvSpPr/>
          <p:nvPr/>
        </p:nvSpPr>
        <p:spPr>
          <a:xfrm>
            <a:off x="4069080" y="2423160"/>
            <a:ext cx="1645920" cy="2103120"/>
          </a:xfrm>
          <a:prstGeom prst="rect">
            <a:avLst/>
          </a:prstGeom>
          <a:solidFill>
            <a:srgbClr val="F6713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400" b="1" i="0">
                <a:solidFill>
                  <a:srgbClr val="FFFFFF"/>
                </a:solidFill>
                <a:latin typeface="Times New Roman"/>
              </a:rPr>
              <a:t>Get the app!</a:t>
            </a:r>
          </a:p>
        </p:txBody>
      </p:sp>
      <p:sp>
        <p:nvSpPr>
          <p:cNvPr id="13" name="TextBox 12"/>
          <p:cNvSpPr txBox="1"/>
          <p:nvPr/>
        </p:nvSpPr>
        <p:spPr>
          <a:xfrm>
            <a:off x="548640" y="4800600"/>
            <a:ext cx="5394960" cy="365760"/>
          </a:xfrm>
          <a:prstGeom prst="rect">
            <a:avLst/>
          </a:prstGeom>
          <a:noFill/>
        </p:spPr>
        <p:txBody>
          <a:bodyPr wrap="square" lIns="45720" rIns="45720" anchor="t">
            <a:spAutoFit/>
          </a:bodyPr>
          <a:lstStyle/>
          <a:p>
            <a:pPr algn="ctr"/>
            <a:r>
              <a:rPr sz="1600" b="1" i="0">
                <a:solidFill>
                  <a:srgbClr val="24323E"/>
                </a:solidFill>
                <a:latin typeface="Times New Roman"/>
              </a:rPr>
              <a:t>Built for a person with eyes — miserable for code</a:t>
            </a:r>
          </a:p>
        </p:txBody>
      </p:sp>
      <p:sp>
        <p:nvSpPr>
          <p:cNvPr id="14" name="Rectangle 13"/>
          <p:cNvSpPr/>
          <p:nvPr/>
        </p:nvSpPr>
        <p:spPr>
          <a:xfrm>
            <a:off x="6263640" y="1463040"/>
            <a:ext cx="5394960" cy="3246120"/>
          </a:xfrm>
          <a:prstGeom prst="rect">
            <a:avLst/>
          </a:prstGeom>
          <a:solidFill>
            <a:srgbClr val="24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400800" y="1554480"/>
            <a:ext cx="5120640" cy="3063239"/>
          </a:xfrm>
          <a:prstGeom prst="rect">
            <a:avLst/>
          </a:prstGeom>
          <a:noFill/>
        </p:spPr>
        <p:txBody>
          <a:bodyPr wrap="square" lIns="0" tIns="0" rIns="0" bIns="0">
            <a:spAutoFit/>
          </a:bodyPr>
          <a:lstStyle/>
          <a:p>
            <a:pPr algn="l"/>
            <a:r>
              <a:rPr sz="1400" b="0" i="0">
                <a:solidFill>
                  <a:srgbClr val="9AA8B5"/>
                </a:solidFill>
                <a:latin typeface="Courier New"/>
              </a:rPr>
              <a:t># api.weather.gov</a:t>
            </a:r>
          </a:p>
          <a:p>
            <a:pPr algn="l"/>
            <a:r>
              <a:rPr sz="1400" b="0" i="0">
                <a:solidFill>
                  <a:srgbClr val="E8ECF0"/>
                </a:solidFill>
                <a:latin typeface="Courier New"/>
              </a:rPr>
              <a:t>{</a:t>
            </a:r>
          </a:p>
          <a:p>
            <a:pPr algn="l"/>
            <a:r>
              <a:rPr sz="1400" b="0" i="0">
                <a:solidFill>
                  <a:srgbClr val="E8ECF0"/>
                </a:solidFill>
                <a:latin typeface="Courier New"/>
              </a:rPr>
              <a:t>  "properties": {</a:t>
            </a:r>
          </a:p>
          <a:p>
            <a:pPr algn="l"/>
            <a:r>
              <a:rPr sz="1400" b="0" i="0">
                <a:solidFill>
                  <a:srgbClr val="E8ECF0"/>
                </a:solidFill>
                <a:latin typeface="Courier New"/>
              </a:rPr>
              <a:t>    "temperature": {</a:t>
            </a:r>
          </a:p>
          <a:p>
            <a:pPr algn="l"/>
            <a:r>
              <a:rPr sz="1400" b="0" i="0">
                <a:solidFill>
                  <a:srgbClr val="E8ECF0"/>
                </a:solidFill>
                <a:latin typeface="Courier New"/>
              </a:rPr>
              <a:t>      "unitCode": "wmoUnit:degC",</a:t>
            </a:r>
          </a:p>
          <a:p>
            <a:pPr algn="l"/>
            <a:r>
              <a:rPr sz="1400" b="0" i="0">
                <a:solidFill>
                  <a:srgbClr val="E8ECF0"/>
                </a:solidFill>
                <a:latin typeface="Courier New"/>
              </a:rPr>
              <a:t>      "value": 14.4</a:t>
            </a:r>
          </a:p>
          <a:p>
            <a:pPr algn="l"/>
            <a:r>
              <a:rPr sz="1400" b="0" i="0">
                <a:solidFill>
                  <a:srgbClr val="E8ECF0"/>
                </a:solidFill>
                <a:latin typeface="Courier New"/>
              </a:rPr>
              <a:t>    },</a:t>
            </a:r>
          </a:p>
          <a:p>
            <a:pPr algn="l"/>
            <a:r>
              <a:rPr sz="1400" b="0" i="0">
                <a:solidFill>
                  <a:srgbClr val="E8ECF0"/>
                </a:solidFill>
                <a:latin typeface="Courier New"/>
              </a:rPr>
              <a:t>    "textDescription": "Clear"</a:t>
            </a:r>
          </a:p>
          <a:p>
            <a:pPr algn="l"/>
            <a:r>
              <a:rPr sz="1400" b="0" i="0">
                <a:solidFill>
                  <a:srgbClr val="E8ECF0"/>
                </a:solidFill>
                <a:latin typeface="Courier New"/>
              </a:rPr>
              <a:t>  }</a:t>
            </a:r>
          </a:p>
          <a:p>
            <a:pPr algn="l"/>
            <a:r>
              <a:rPr sz="1400" b="0" i="0">
                <a:solidFill>
                  <a:srgbClr val="E8ECF0"/>
                </a:solidFill>
                <a:latin typeface="Courier New"/>
              </a:rPr>
              <a:t>}</a:t>
            </a:r>
          </a:p>
        </p:txBody>
      </p:sp>
      <p:sp>
        <p:nvSpPr>
          <p:cNvPr id="16" name="TextBox 15"/>
          <p:cNvSpPr txBox="1"/>
          <p:nvPr/>
        </p:nvSpPr>
        <p:spPr>
          <a:xfrm>
            <a:off x="6263640" y="4800600"/>
            <a:ext cx="5394960" cy="365760"/>
          </a:xfrm>
          <a:prstGeom prst="rect">
            <a:avLst/>
          </a:prstGeom>
          <a:noFill/>
        </p:spPr>
        <p:txBody>
          <a:bodyPr wrap="square" lIns="45720" rIns="45720" anchor="t">
            <a:spAutoFit/>
          </a:bodyPr>
          <a:lstStyle/>
          <a:p>
            <a:pPr algn="ctr"/>
            <a:r>
              <a:rPr sz="1600" b="1" i="0">
                <a:solidFill>
                  <a:srgbClr val="24323E"/>
                </a:solidFill>
                <a:latin typeface="Times New Roman"/>
              </a:rPr>
              <a:t>Built for a program — values, labeled</a:t>
            </a:r>
          </a:p>
        </p:txBody>
      </p:sp>
      <p:sp>
        <p:nvSpPr>
          <p:cNvPr id="17" name="Rectangle 16"/>
          <p:cNvSpPr/>
          <p:nvPr/>
        </p:nvSpPr>
        <p:spPr>
          <a:xfrm>
            <a:off x="548640" y="5303520"/>
            <a:ext cx="11109960" cy="685800"/>
          </a:xfrm>
          <a:prstGeom prst="rect">
            <a:avLst/>
          </a:prstGeom>
          <a:solidFill>
            <a:srgbClr val="FBE5D6"/>
          </a:solidFill>
          <a:ln w="12700">
            <a:solidFill>
              <a:srgbClr val="24323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731520" y="5330952"/>
            <a:ext cx="10744200" cy="640080"/>
          </a:xfrm>
          <a:prstGeom prst="rect">
            <a:avLst/>
          </a:prstGeom>
          <a:noFill/>
        </p:spPr>
        <p:txBody>
          <a:bodyPr wrap="square" lIns="45720" rIns="45720" anchor="ctr">
            <a:spAutoFit/>
          </a:bodyPr>
          <a:lstStyle/>
          <a:p>
            <a:pPr algn="ctr"/>
            <a:r>
              <a:rPr sz="2000" b="1" i="0">
                <a:solidFill>
                  <a:srgbClr val="24323E"/>
                </a:solidFill>
                <a:latin typeface="Times New Roman"/>
              </a:rPr>
              <a:t>An API is a delivery mechanism; </a:t>
            </a:r>
            <a:r>
              <a:rPr sz="2000" b="1" i="0">
                <a:solidFill>
                  <a:srgbClr val="F67132"/>
                </a:solidFill>
                <a:latin typeface="Times New Roman"/>
              </a:rPr>
              <a:t>JSON is almost always what it delivers.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0" i="0">
                <a:solidFill>
                  <a:srgbClr val="1A1A1A"/>
                </a:solidFill>
                <a:latin typeface="Times New Roman"/>
              </a:rPr>
              <a:t>Your First Request, </a:t>
            </a:r>
            <a:r>
              <a:rPr sz="3200" b="0" i="0">
                <a:solidFill>
                  <a:srgbClr val="F67132"/>
                </a:solidFill>
                <a:latin typeface="Times New Roman"/>
              </a:rPr>
              <a:t>in Three Lines</a:t>
            </a:r>
          </a:p>
        </p:txBody>
      </p:sp>
      <p:sp>
        <p:nvSpPr>
          <p:cNvPr id="4" name="Text Placeholder 3"/>
          <p:cNvSpPr>
            <a:spLocks noGrp="1"/>
          </p:cNvSpPr>
          <p:nvPr>
            <p:ph type="body" sz="quarter" idx="13"/>
          </p:nvPr>
        </p:nvSpPr>
        <p:spPr/>
        <p:txBody>
          <a:bodyPr/>
          <a:lstStyle/>
          <a:p>
            <a:r>
              <a:rPr sz="1600" b="0" i="0">
                <a:solidFill>
                  <a:srgbClr val="1A1A1A"/>
                </a:solidFill>
                <a:latin typeface="Times New Roman"/>
              </a:rPr>
              <a:t>Frankfurter · ECB exchange rates · no signup, no key</a:t>
            </a:r>
          </a:p>
        </p:txBody>
      </p:sp>
      <p:sp>
        <p:nvSpPr>
          <p:cNvPr id="5" name="Rectangle 4"/>
          <p:cNvSpPr/>
          <p:nvPr/>
        </p:nvSpPr>
        <p:spPr>
          <a:xfrm>
            <a:off x="548640" y="1508760"/>
            <a:ext cx="6035040" cy="2743200"/>
          </a:xfrm>
          <a:prstGeom prst="rect">
            <a:avLst/>
          </a:prstGeom>
          <a:solidFill>
            <a:srgbClr val="24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685800" y="1600200"/>
            <a:ext cx="5760720" cy="2560320"/>
          </a:xfrm>
          <a:prstGeom prst="rect">
            <a:avLst/>
          </a:prstGeom>
          <a:noFill/>
        </p:spPr>
        <p:txBody>
          <a:bodyPr wrap="square" lIns="0" tIns="0" rIns="0" bIns="0">
            <a:spAutoFit/>
          </a:bodyPr>
          <a:lstStyle/>
          <a:p>
            <a:pPr algn="l"/>
            <a:r>
              <a:rPr sz="1200" b="0" i="0">
                <a:solidFill>
                  <a:srgbClr val="E8ECF0"/>
                </a:solidFill>
                <a:latin typeface="Courier New"/>
              </a:rPr>
              <a:t>import requests</a:t>
            </a:r>
          </a:p>
          <a:p>
            <a:pPr algn="l"/>
            <a:r>
              <a:rPr sz="1200" b="0" i="0">
                <a:solidFill>
                  <a:srgbClr val="E8ECF0"/>
                </a:solidFill>
                <a:latin typeface="Courier New"/>
              </a:rPr>
              <a:t> </a:t>
            </a:r>
          </a:p>
          <a:p>
            <a:pPr algn="l"/>
            <a:r>
              <a:rPr sz="1200" b="0" i="0">
                <a:solidFill>
                  <a:srgbClr val="E8ECF0"/>
                </a:solidFill>
                <a:latin typeface="Courier New"/>
              </a:rPr>
              <a:t>r = requests.get('https://api.frankfurter.app/latest',</a:t>
            </a:r>
          </a:p>
          <a:p>
            <a:pPr algn="l"/>
            <a:r>
              <a:rPr sz="1200" b="0" i="0">
                <a:solidFill>
                  <a:srgbClr val="E8ECF0"/>
                </a:solidFill>
                <a:latin typeface="Courier New"/>
              </a:rPr>
              <a:t>                 params={'from': 'USD', 'to': 'EUR,GBP,JPY'},</a:t>
            </a:r>
          </a:p>
          <a:p>
            <a:pPr algn="l"/>
            <a:r>
              <a:rPr sz="1200" b="0" i="0">
                <a:solidFill>
                  <a:srgbClr val="E8ECF0"/>
                </a:solidFill>
                <a:latin typeface="Courier New"/>
              </a:rPr>
              <a:t>                 timeout=10)</a:t>
            </a:r>
          </a:p>
          <a:p>
            <a:pPr algn="l"/>
            <a:r>
              <a:rPr sz="1200" b="0" i="0">
                <a:solidFill>
                  <a:srgbClr val="E8ECF0"/>
                </a:solidFill>
                <a:latin typeface="Courier New"/>
              </a:rPr>
              <a:t> </a:t>
            </a:r>
          </a:p>
          <a:p>
            <a:pPr algn="l"/>
            <a:r>
              <a:rPr sz="1200" b="0" i="0">
                <a:solidFill>
                  <a:srgbClr val="E8ECF0"/>
                </a:solidFill>
                <a:latin typeface="Courier New"/>
              </a:rPr>
              <a:t>print('status:', r.status_code)</a:t>
            </a:r>
          </a:p>
          <a:p>
            <a:pPr algn="l"/>
            <a:r>
              <a:rPr sz="1200" b="0" i="0">
                <a:solidFill>
                  <a:srgbClr val="E8ECF0"/>
                </a:solidFill>
                <a:latin typeface="Courier New"/>
              </a:rPr>
              <a:t>print(r.json())</a:t>
            </a:r>
          </a:p>
        </p:txBody>
      </p:sp>
      <p:sp>
        <p:nvSpPr>
          <p:cNvPr id="7" name="TextBox 6"/>
          <p:cNvSpPr txBox="1"/>
          <p:nvPr/>
        </p:nvSpPr>
        <p:spPr>
          <a:xfrm>
            <a:off x="548640" y="4389120"/>
            <a:ext cx="6035040" cy="1554480"/>
          </a:xfrm>
          <a:prstGeom prst="rect">
            <a:avLst/>
          </a:prstGeom>
          <a:noFill/>
        </p:spPr>
        <p:txBody>
          <a:bodyPr wrap="square" lIns="45720" rIns="45720" anchor="t">
            <a:spAutoFit/>
          </a:bodyPr>
          <a:lstStyle/>
          <a:p>
            <a:pPr algn="l"/>
            <a:r>
              <a:rPr sz="1600" b="0" i="0">
                <a:solidFill>
                  <a:srgbClr val="1A1A1A"/>
                </a:solidFill>
                <a:latin typeface="Times New Roman"/>
              </a:rPr>
              <a:t>You named a URL, attached parameters, and got today’s rates back as JSON.</a:t>
            </a:r>
          </a:p>
          <a:p>
            <a:pPr algn="l">
              <a:spcBef>
                <a:spcPts val="800"/>
              </a:spcBef>
            </a:pPr>
            <a:r>
              <a:rPr sz="1600" b="1" i="0">
                <a:solidFill>
                  <a:srgbClr val="1A1A1A"/>
                </a:solidFill>
                <a:latin typeface="Courier New"/>
              </a:rPr>
              <a:t>r.json()</a:t>
            </a:r>
            <a:r>
              <a:rPr sz="1600" b="0" i="0">
                <a:solidFill>
                  <a:srgbClr val="1A1A1A"/>
                </a:solidFill>
                <a:latin typeface="Times New Roman"/>
              </a:rPr>
              <a:t> is Monday’s </a:t>
            </a:r>
            <a:r>
              <a:rPr sz="1600" b="0" i="0">
                <a:solidFill>
                  <a:srgbClr val="1A1A1A"/>
                </a:solidFill>
                <a:latin typeface="Courier New"/>
              </a:rPr>
              <a:t>json.loads</a:t>
            </a:r>
            <a:r>
              <a:rPr sz="1600" b="0" i="0">
                <a:solidFill>
                  <a:srgbClr val="1A1A1A"/>
                </a:solidFill>
                <a:latin typeface="Times New Roman"/>
              </a:rPr>
              <a:t>, wrapped up for you.</a:t>
            </a:r>
          </a:p>
        </p:txBody>
      </p:sp>
      <p:sp>
        <p:nvSpPr>
          <p:cNvPr id="8" name="Rectangle 7"/>
          <p:cNvSpPr/>
          <p:nvPr/>
        </p:nvSpPr>
        <p:spPr>
          <a:xfrm>
            <a:off x="6903720" y="1508760"/>
            <a:ext cx="4754880" cy="1298448"/>
          </a:xfrm>
          <a:prstGeom prst="rect">
            <a:avLst/>
          </a:prstGeom>
          <a:solidFill>
            <a:srgbClr val="FBE5D6"/>
          </a:solidFill>
          <a:ln w="12700">
            <a:solidFill>
              <a:srgbClr val="24323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7086600" y="1837943"/>
            <a:ext cx="640080" cy="640080"/>
          </a:xfrm>
          <a:prstGeom prst="ellipse">
            <a:avLst/>
          </a:prstGeom>
          <a:solidFill>
            <a:srgbClr val="F6713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2000" b="1" i="0">
                <a:solidFill>
                  <a:srgbClr val="FFFFFF"/>
                </a:solidFill>
                <a:latin typeface="Times New Roman"/>
              </a:rPr>
              <a:t>1</a:t>
            </a:r>
          </a:p>
        </p:txBody>
      </p:sp>
      <p:sp>
        <p:nvSpPr>
          <p:cNvPr id="10" name="TextBox 9"/>
          <p:cNvSpPr txBox="1"/>
          <p:nvPr/>
        </p:nvSpPr>
        <p:spPr>
          <a:xfrm>
            <a:off x="7863840" y="1618488"/>
            <a:ext cx="3657600" cy="365760"/>
          </a:xfrm>
          <a:prstGeom prst="rect">
            <a:avLst/>
          </a:prstGeom>
          <a:noFill/>
        </p:spPr>
        <p:txBody>
          <a:bodyPr wrap="square" lIns="45720" rIns="45720" anchor="t">
            <a:spAutoFit/>
          </a:bodyPr>
          <a:lstStyle/>
          <a:p>
            <a:pPr algn="l"/>
            <a:r>
              <a:rPr sz="1700" b="1" i="0">
                <a:solidFill>
                  <a:srgbClr val="24323E"/>
                </a:solidFill>
                <a:latin typeface="Courier New"/>
              </a:rPr>
              <a:t>params=</a:t>
            </a:r>
          </a:p>
        </p:txBody>
      </p:sp>
      <p:sp>
        <p:nvSpPr>
          <p:cNvPr id="11" name="TextBox 10"/>
          <p:cNvSpPr txBox="1"/>
          <p:nvPr/>
        </p:nvSpPr>
        <p:spPr>
          <a:xfrm>
            <a:off x="7863840" y="1984248"/>
            <a:ext cx="3657600" cy="777240"/>
          </a:xfrm>
          <a:prstGeom prst="rect">
            <a:avLst/>
          </a:prstGeom>
          <a:noFill/>
        </p:spPr>
        <p:txBody>
          <a:bodyPr wrap="square" lIns="45720" rIns="45720" anchor="t">
            <a:spAutoFit/>
          </a:bodyPr>
          <a:lstStyle/>
          <a:p>
            <a:pPr algn="l"/>
            <a:r>
              <a:rPr sz="1400" b="0" i="0">
                <a:solidFill>
                  <a:srgbClr val="1A1A1A"/>
                </a:solidFill>
                <a:latin typeface="Times New Roman"/>
              </a:rPr>
              <a:t>Hand requests a dict; it builds and escapes the query string for you.</a:t>
            </a:r>
          </a:p>
        </p:txBody>
      </p:sp>
      <p:sp>
        <p:nvSpPr>
          <p:cNvPr id="12" name="Rectangle 11"/>
          <p:cNvSpPr/>
          <p:nvPr/>
        </p:nvSpPr>
        <p:spPr>
          <a:xfrm>
            <a:off x="6903720" y="2990088"/>
            <a:ext cx="4754880" cy="1298448"/>
          </a:xfrm>
          <a:prstGeom prst="rect">
            <a:avLst/>
          </a:prstGeom>
          <a:solidFill>
            <a:srgbClr val="FBE5D6"/>
          </a:solidFill>
          <a:ln w="12700">
            <a:solidFill>
              <a:srgbClr val="24323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Oval 12"/>
          <p:cNvSpPr/>
          <p:nvPr/>
        </p:nvSpPr>
        <p:spPr>
          <a:xfrm>
            <a:off x="7086600" y="3319272"/>
            <a:ext cx="640080" cy="640080"/>
          </a:xfrm>
          <a:prstGeom prst="ellipse">
            <a:avLst/>
          </a:prstGeom>
          <a:solidFill>
            <a:srgbClr val="F6713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2000" b="1" i="0">
                <a:solidFill>
                  <a:srgbClr val="FFFFFF"/>
                </a:solidFill>
                <a:latin typeface="Times New Roman"/>
              </a:rPr>
              <a:t>2</a:t>
            </a:r>
          </a:p>
        </p:txBody>
      </p:sp>
      <p:sp>
        <p:nvSpPr>
          <p:cNvPr id="14" name="TextBox 13"/>
          <p:cNvSpPr txBox="1"/>
          <p:nvPr/>
        </p:nvSpPr>
        <p:spPr>
          <a:xfrm>
            <a:off x="7863840" y="3099816"/>
            <a:ext cx="3657600" cy="365760"/>
          </a:xfrm>
          <a:prstGeom prst="rect">
            <a:avLst/>
          </a:prstGeom>
          <a:noFill/>
        </p:spPr>
        <p:txBody>
          <a:bodyPr wrap="square" lIns="45720" rIns="45720" anchor="t">
            <a:spAutoFit/>
          </a:bodyPr>
          <a:lstStyle/>
          <a:p>
            <a:pPr algn="l"/>
            <a:r>
              <a:rPr sz="1700" b="1" i="0">
                <a:solidFill>
                  <a:srgbClr val="24323E"/>
                </a:solidFill>
                <a:latin typeface="Courier New"/>
              </a:rPr>
              <a:t>timeout=10</a:t>
            </a:r>
          </a:p>
        </p:txBody>
      </p:sp>
      <p:sp>
        <p:nvSpPr>
          <p:cNvPr id="15" name="TextBox 14"/>
          <p:cNvSpPr txBox="1"/>
          <p:nvPr/>
        </p:nvSpPr>
        <p:spPr>
          <a:xfrm>
            <a:off x="7863840" y="3465576"/>
            <a:ext cx="3657600" cy="777240"/>
          </a:xfrm>
          <a:prstGeom prst="rect">
            <a:avLst/>
          </a:prstGeom>
          <a:noFill/>
        </p:spPr>
        <p:txBody>
          <a:bodyPr wrap="square" lIns="45720" rIns="45720" anchor="t">
            <a:spAutoFit/>
          </a:bodyPr>
          <a:lstStyle/>
          <a:p>
            <a:pPr algn="l"/>
            <a:r>
              <a:rPr sz="1400" b="0" i="0">
                <a:solidFill>
                  <a:srgbClr val="1A1A1A"/>
                </a:solidFill>
                <a:latin typeface="Times New Roman"/>
              </a:rPr>
              <a:t>There is no default. Without it, a silent server hangs your notebook.</a:t>
            </a:r>
          </a:p>
        </p:txBody>
      </p:sp>
      <p:sp>
        <p:nvSpPr>
          <p:cNvPr id="16" name="Rectangle 15"/>
          <p:cNvSpPr/>
          <p:nvPr/>
        </p:nvSpPr>
        <p:spPr>
          <a:xfrm>
            <a:off x="6903720" y="4471416"/>
            <a:ext cx="4754880" cy="1298448"/>
          </a:xfrm>
          <a:prstGeom prst="rect">
            <a:avLst/>
          </a:prstGeom>
          <a:solidFill>
            <a:srgbClr val="FBE5D6"/>
          </a:solidFill>
          <a:ln w="12700">
            <a:solidFill>
              <a:srgbClr val="24323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Oval 16"/>
          <p:cNvSpPr/>
          <p:nvPr/>
        </p:nvSpPr>
        <p:spPr>
          <a:xfrm>
            <a:off x="7086600" y="4800600"/>
            <a:ext cx="640080" cy="640080"/>
          </a:xfrm>
          <a:prstGeom prst="ellipse">
            <a:avLst/>
          </a:prstGeom>
          <a:solidFill>
            <a:srgbClr val="F6713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2000" b="1" i="0">
                <a:solidFill>
                  <a:srgbClr val="FFFFFF"/>
                </a:solidFill>
                <a:latin typeface="Times New Roman"/>
              </a:rPr>
              <a:t>3</a:t>
            </a:r>
          </a:p>
        </p:txBody>
      </p:sp>
      <p:sp>
        <p:nvSpPr>
          <p:cNvPr id="18" name="TextBox 17"/>
          <p:cNvSpPr txBox="1"/>
          <p:nvPr/>
        </p:nvSpPr>
        <p:spPr>
          <a:xfrm>
            <a:off x="7863840" y="4581144"/>
            <a:ext cx="3657600" cy="365760"/>
          </a:xfrm>
          <a:prstGeom prst="rect">
            <a:avLst/>
          </a:prstGeom>
          <a:noFill/>
        </p:spPr>
        <p:txBody>
          <a:bodyPr wrap="square" lIns="45720" rIns="45720" anchor="t">
            <a:spAutoFit/>
          </a:bodyPr>
          <a:lstStyle/>
          <a:p>
            <a:pPr algn="l"/>
            <a:r>
              <a:rPr sz="1700" b="1" i="0">
                <a:solidFill>
                  <a:srgbClr val="24323E"/>
                </a:solidFill>
                <a:latin typeface="Courier New"/>
              </a:rPr>
              <a:t>r.status_code</a:t>
            </a:r>
          </a:p>
        </p:txBody>
      </p:sp>
      <p:sp>
        <p:nvSpPr>
          <p:cNvPr id="19" name="TextBox 18"/>
          <p:cNvSpPr txBox="1"/>
          <p:nvPr/>
        </p:nvSpPr>
        <p:spPr>
          <a:xfrm>
            <a:off x="7863840" y="4946904"/>
            <a:ext cx="3657600" cy="777240"/>
          </a:xfrm>
          <a:prstGeom prst="rect">
            <a:avLst/>
          </a:prstGeom>
          <a:noFill/>
        </p:spPr>
        <p:txBody>
          <a:bodyPr wrap="square" lIns="45720" rIns="45720" anchor="t">
            <a:spAutoFit/>
          </a:bodyPr>
          <a:lstStyle/>
          <a:p>
            <a:pPr algn="l"/>
            <a:r>
              <a:rPr sz="1400" b="0" i="0">
                <a:solidFill>
                  <a:srgbClr val="1A1A1A"/>
                </a:solidFill>
                <a:latin typeface="Times New Roman"/>
              </a:rPr>
              <a:t>The server’s report on whether it did what you asked. Look first.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0" i="0">
                <a:solidFill>
                  <a:srgbClr val="1A1A1A"/>
                </a:solidFill>
                <a:latin typeface="Times New Roman"/>
              </a:rPr>
              <a:t>Why Reach for an API </a:t>
            </a:r>
            <a:r>
              <a:rPr sz="3200" b="0" i="0">
                <a:solidFill>
                  <a:srgbClr val="F67132"/>
                </a:solidFill>
                <a:latin typeface="Times New Roman"/>
              </a:rPr>
              <a:t>Instead of a File</a:t>
            </a:r>
          </a:p>
        </p:txBody>
      </p:sp>
      <p:sp>
        <p:nvSpPr>
          <p:cNvPr id="3" name="Rectangle 2"/>
          <p:cNvSpPr/>
          <p:nvPr/>
        </p:nvSpPr>
        <p:spPr>
          <a:xfrm>
            <a:off x="548640" y="1463040"/>
            <a:ext cx="5440680" cy="1417320"/>
          </a:xfrm>
          <a:prstGeom prst="rect">
            <a:avLst/>
          </a:prstGeom>
          <a:solidFill>
            <a:srgbClr val="FBE5D6"/>
          </a:solidFill>
          <a:ln w="12700">
            <a:solidFill>
              <a:srgbClr val="24323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Oval 3"/>
          <p:cNvSpPr/>
          <p:nvPr/>
        </p:nvSpPr>
        <p:spPr>
          <a:xfrm>
            <a:off x="731520" y="1847088"/>
            <a:ext cx="640080" cy="640080"/>
          </a:xfrm>
          <a:prstGeom prst="ellipse">
            <a:avLst/>
          </a:prstGeom>
          <a:solidFill>
            <a:srgbClr val="24323E"/>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2000" b="1" i="0">
                <a:solidFill>
                  <a:srgbClr val="FFFFFF"/>
                </a:solidFill>
                <a:latin typeface="Times New Roman"/>
              </a:rPr>
              <a:t>✓</a:t>
            </a:r>
          </a:p>
        </p:txBody>
      </p:sp>
      <p:sp>
        <p:nvSpPr>
          <p:cNvPr id="5" name="TextBox 4"/>
          <p:cNvSpPr txBox="1"/>
          <p:nvPr/>
        </p:nvSpPr>
        <p:spPr>
          <a:xfrm>
            <a:off x="1554480" y="1600200"/>
            <a:ext cx="4297680" cy="384048"/>
          </a:xfrm>
          <a:prstGeom prst="rect">
            <a:avLst/>
          </a:prstGeom>
          <a:noFill/>
        </p:spPr>
        <p:txBody>
          <a:bodyPr wrap="square" lIns="45720" rIns="45720" anchor="t">
            <a:spAutoFit/>
          </a:bodyPr>
          <a:lstStyle/>
          <a:p>
            <a:pPr algn="l"/>
            <a:r>
              <a:rPr sz="1800" b="1" i="0">
                <a:solidFill>
                  <a:srgbClr val="24323E"/>
                </a:solidFill>
                <a:latin typeface="Times New Roman"/>
              </a:rPr>
              <a:t>It is current</a:t>
            </a:r>
          </a:p>
        </p:txBody>
      </p:sp>
      <p:sp>
        <p:nvSpPr>
          <p:cNvPr id="6" name="TextBox 5"/>
          <p:cNvSpPr txBox="1"/>
          <p:nvPr/>
        </p:nvSpPr>
        <p:spPr>
          <a:xfrm>
            <a:off x="1554480" y="2011680"/>
            <a:ext cx="4297680" cy="822960"/>
          </a:xfrm>
          <a:prstGeom prst="rect">
            <a:avLst/>
          </a:prstGeom>
          <a:noFill/>
        </p:spPr>
        <p:txBody>
          <a:bodyPr wrap="square" lIns="45720" rIns="45720" anchor="t">
            <a:spAutoFit/>
          </a:bodyPr>
          <a:lstStyle/>
          <a:p>
            <a:pPr algn="l"/>
            <a:r>
              <a:rPr sz="1400" b="0" i="0">
                <a:solidFill>
                  <a:srgbClr val="1A1A1A"/>
                </a:solidFill>
                <a:latin typeface="Times New Roman"/>
              </a:rPr>
              <a:t>Generated when you ask. A file is a photograph of a moment that has passed.</a:t>
            </a:r>
          </a:p>
        </p:txBody>
      </p:sp>
      <p:sp>
        <p:nvSpPr>
          <p:cNvPr id="7" name="Rectangle 6"/>
          <p:cNvSpPr/>
          <p:nvPr/>
        </p:nvSpPr>
        <p:spPr>
          <a:xfrm>
            <a:off x="6217920" y="1463040"/>
            <a:ext cx="5440680" cy="1417320"/>
          </a:xfrm>
          <a:prstGeom prst="rect">
            <a:avLst/>
          </a:prstGeom>
          <a:solidFill>
            <a:srgbClr val="FBE5D6"/>
          </a:solidFill>
          <a:ln w="12700">
            <a:solidFill>
              <a:srgbClr val="24323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6400800" y="1847088"/>
            <a:ext cx="640080" cy="640080"/>
          </a:xfrm>
          <a:prstGeom prst="ellipse">
            <a:avLst/>
          </a:prstGeom>
          <a:solidFill>
            <a:srgbClr val="24323E"/>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2000" b="1" i="0">
                <a:solidFill>
                  <a:srgbClr val="FFFFFF"/>
                </a:solidFill>
                <a:latin typeface="Times New Roman"/>
              </a:rPr>
              <a:t>✓</a:t>
            </a:r>
          </a:p>
        </p:txBody>
      </p:sp>
      <p:sp>
        <p:nvSpPr>
          <p:cNvPr id="9" name="TextBox 8"/>
          <p:cNvSpPr txBox="1"/>
          <p:nvPr/>
        </p:nvSpPr>
        <p:spPr>
          <a:xfrm>
            <a:off x="7223760" y="1600200"/>
            <a:ext cx="4297680" cy="384048"/>
          </a:xfrm>
          <a:prstGeom prst="rect">
            <a:avLst/>
          </a:prstGeom>
          <a:noFill/>
        </p:spPr>
        <p:txBody>
          <a:bodyPr wrap="square" lIns="45720" rIns="45720" anchor="t">
            <a:spAutoFit/>
          </a:bodyPr>
          <a:lstStyle/>
          <a:p>
            <a:pPr algn="l"/>
            <a:r>
              <a:rPr sz="1800" b="1" i="0">
                <a:solidFill>
                  <a:srgbClr val="24323E"/>
                </a:solidFill>
                <a:latin typeface="Times New Roman"/>
              </a:rPr>
              <a:t>You ask for only what you need</a:t>
            </a:r>
          </a:p>
        </p:txBody>
      </p:sp>
      <p:sp>
        <p:nvSpPr>
          <p:cNvPr id="10" name="TextBox 9"/>
          <p:cNvSpPr txBox="1"/>
          <p:nvPr/>
        </p:nvSpPr>
        <p:spPr>
          <a:xfrm>
            <a:off x="7223760" y="2011680"/>
            <a:ext cx="4297680" cy="822960"/>
          </a:xfrm>
          <a:prstGeom prst="rect">
            <a:avLst/>
          </a:prstGeom>
          <a:noFill/>
        </p:spPr>
        <p:txBody>
          <a:bodyPr wrap="square" lIns="45720" rIns="45720" anchor="t">
            <a:spAutoFit/>
          </a:bodyPr>
          <a:lstStyle/>
          <a:p>
            <a:pPr algn="l"/>
            <a:r>
              <a:rPr sz="1400" b="0" i="0">
                <a:solidFill>
                  <a:srgbClr val="1A1A1A"/>
                </a:solidFill>
                <a:latin typeface="Times New Roman"/>
              </a:rPr>
              <a:t>Every hour since 1940 exists — you request three days in Charlottesville.</a:t>
            </a:r>
          </a:p>
        </p:txBody>
      </p:sp>
      <p:sp>
        <p:nvSpPr>
          <p:cNvPr id="11" name="Rectangle 10"/>
          <p:cNvSpPr/>
          <p:nvPr/>
        </p:nvSpPr>
        <p:spPr>
          <a:xfrm>
            <a:off x="548640" y="3063240"/>
            <a:ext cx="5440680" cy="1417320"/>
          </a:xfrm>
          <a:prstGeom prst="rect">
            <a:avLst/>
          </a:prstGeom>
          <a:solidFill>
            <a:srgbClr val="FBE5D6"/>
          </a:solidFill>
          <a:ln w="12700">
            <a:solidFill>
              <a:srgbClr val="24323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Oval 11"/>
          <p:cNvSpPr/>
          <p:nvPr/>
        </p:nvSpPr>
        <p:spPr>
          <a:xfrm>
            <a:off x="731520" y="3447288"/>
            <a:ext cx="640080" cy="640080"/>
          </a:xfrm>
          <a:prstGeom prst="ellipse">
            <a:avLst/>
          </a:prstGeom>
          <a:solidFill>
            <a:srgbClr val="24323E"/>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2000" b="1" i="0">
                <a:solidFill>
                  <a:srgbClr val="FFFFFF"/>
                </a:solidFill>
                <a:latin typeface="Times New Roman"/>
              </a:rPr>
              <a:t>✓</a:t>
            </a:r>
          </a:p>
        </p:txBody>
      </p:sp>
      <p:sp>
        <p:nvSpPr>
          <p:cNvPr id="13" name="TextBox 12"/>
          <p:cNvSpPr txBox="1"/>
          <p:nvPr/>
        </p:nvSpPr>
        <p:spPr>
          <a:xfrm>
            <a:off x="1554480" y="3200400"/>
            <a:ext cx="4297680" cy="384048"/>
          </a:xfrm>
          <a:prstGeom prst="rect">
            <a:avLst/>
          </a:prstGeom>
          <a:noFill/>
        </p:spPr>
        <p:txBody>
          <a:bodyPr wrap="square" lIns="45720" rIns="45720" anchor="t">
            <a:spAutoFit/>
          </a:bodyPr>
          <a:lstStyle/>
          <a:p>
            <a:pPr algn="l"/>
            <a:r>
              <a:rPr sz="1800" b="1" i="0">
                <a:solidFill>
                  <a:srgbClr val="24323E"/>
                </a:solidFill>
                <a:latin typeface="Times New Roman"/>
              </a:rPr>
              <a:t>It reaches data you could never gather</a:t>
            </a:r>
          </a:p>
        </p:txBody>
      </p:sp>
      <p:sp>
        <p:nvSpPr>
          <p:cNvPr id="14" name="TextBox 13"/>
          <p:cNvSpPr txBox="1"/>
          <p:nvPr/>
        </p:nvSpPr>
        <p:spPr>
          <a:xfrm>
            <a:off x="1554480" y="3611880"/>
            <a:ext cx="4297680" cy="822960"/>
          </a:xfrm>
          <a:prstGeom prst="rect">
            <a:avLst/>
          </a:prstGeom>
          <a:noFill/>
        </p:spPr>
        <p:txBody>
          <a:bodyPr wrap="square" lIns="45720" rIns="45720" anchor="t">
            <a:spAutoFit/>
          </a:bodyPr>
          <a:lstStyle/>
          <a:p>
            <a:pPr algn="l"/>
            <a:r>
              <a:rPr sz="1400" b="0" i="0">
                <a:solidFill>
                  <a:srgbClr val="1A1A1A"/>
                </a:solidFill>
                <a:latin typeface="Times New Roman"/>
              </a:rPr>
              <a:t>Seismic networks, every ECB exchange rate. Someone already did it.</a:t>
            </a:r>
          </a:p>
        </p:txBody>
      </p:sp>
      <p:sp>
        <p:nvSpPr>
          <p:cNvPr id="15" name="Rectangle 14"/>
          <p:cNvSpPr/>
          <p:nvPr/>
        </p:nvSpPr>
        <p:spPr>
          <a:xfrm>
            <a:off x="6217920" y="3063240"/>
            <a:ext cx="5440680" cy="1417320"/>
          </a:xfrm>
          <a:prstGeom prst="rect">
            <a:avLst/>
          </a:prstGeom>
          <a:solidFill>
            <a:srgbClr val="FBE5D6"/>
          </a:solidFill>
          <a:ln w="12700">
            <a:solidFill>
              <a:srgbClr val="24323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Oval 15"/>
          <p:cNvSpPr/>
          <p:nvPr/>
        </p:nvSpPr>
        <p:spPr>
          <a:xfrm>
            <a:off x="6400800" y="3447288"/>
            <a:ext cx="640080" cy="640080"/>
          </a:xfrm>
          <a:prstGeom prst="ellipse">
            <a:avLst/>
          </a:prstGeom>
          <a:solidFill>
            <a:srgbClr val="24323E"/>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2000" b="1" i="0">
                <a:solidFill>
                  <a:srgbClr val="FFFFFF"/>
                </a:solidFill>
                <a:latin typeface="Times New Roman"/>
              </a:rPr>
              <a:t>✓</a:t>
            </a:r>
          </a:p>
        </p:txBody>
      </p:sp>
      <p:sp>
        <p:nvSpPr>
          <p:cNvPr id="17" name="TextBox 16"/>
          <p:cNvSpPr txBox="1"/>
          <p:nvPr/>
        </p:nvSpPr>
        <p:spPr>
          <a:xfrm>
            <a:off x="7223760" y="3200400"/>
            <a:ext cx="4297680" cy="384048"/>
          </a:xfrm>
          <a:prstGeom prst="rect">
            <a:avLst/>
          </a:prstGeom>
          <a:noFill/>
        </p:spPr>
        <p:txBody>
          <a:bodyPr wrap="square" lIns="45720" rIns="45720" anchor="t">
            <a:spAutoFit/>
          </a:bodyPr>
          <a:lstStyle/>
          <a:p>
            <a:pPr algn="l"/>
            <a:r>
              <a:rPr sz="1800" b="1" i="0">
                <a:solidFill>
                  <a:srgbClr val="24323E"/>
                </a:solidFill>
                <a:latin typeface="Times New Roman"/>
              </a:rPr>
              <a:t>There is no copy to maintain</a:t>
            </a:r>
          </a:p>
        </p:txBody>
      </p:sp>
      <p:sp>
        <p:nvSpPr>
          <p:cNvPr id="18" name="TextBox 17"/>
          <p:cNvSpPr txBox="1"/>
          <p:nvPr/>
        </p:nvSpPr>
        <p:spPr>
          <a:xfrm>
            <a:off x="7223760" y="3611880"/>
            <a:ext cx="4297680" cy="822960"/>
          </a:xfrm>
          <a:prstGeom prst="rect">
            <a:avLst/>
          </a:prstGeom>
          <a:noFill/>
        </p:spPr>
        <p:txBody>
          <a:bodyPr wrap="square" lIns="45720" rIns="45720" anchor="t">
            <a:spAutoFit/>
          </a:bodyPr>
          <a:lstStyle/>
          <a:p>
            <a:pPr algn="l"/>
            <a:r>
              <a:rPr sz="1400" b="0" i="0">
                <a:solidFill>
                  <a:srgbClr val="1A1A1A"/>
                </a:solidFill>
                <a:latin typeface="Times New Roman"/>
              </a:rPr>
              <a:t>weather_2026.csv starts going stale — and drifts from your teammate’s.</a:t>
            </a:r>
          </a:p>
        </p:txBody>
      </p:sp>
      <p:sp>
        <p:nvSpPr>
          <p:cNvPr id="19" name="Rectangle 18"/>
          <p:cNvSpPr/>
          <p:nvPr/>
        </p:nvSpPr>
        <p:spPr>
          <a:xfrm>
            <a:off x="548640" y="4754880"/>
            <a:ext cx="11109960" cy="1234440"/>
          </a:xfrm>
          <a:prstGeom prst="rect">
            <a:avLst/>
          </a:prstGeom>
          <a:solidFill>
            <a:srgbClr val="24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822960" y="4800600"/>
            <a:ext cx="10607040" cy="1143000"/>
          </a:xfrm>
          <a:prstGeom prst="rect">
            <a:avLst/>
          </a:prstGeom>
          <a:noFill/>
        </p:spPr>
        <p:txBody>
          <a:bodyPr wrap="square" lIns="45720" rIns="45720" anchor="ctr">
            <a:spAutoFit/>
          </a:bodyPr>
          <a:lstStyle/>
          <a:p>
            <a:pPr algn="l"/>
            <a:r>
              <a:rPr sz="1600" b="1" i="0">
                <a:solidFill>
                  <a:srgbClr val="F67132"/>
                </a:solidFill>
                <a:latin typeface="Times New Roman"/>
              </a:rPr>
              <a:t>The cost: </a:t>
            </a:r>
            <a:r>
              <a:rPr sz="1600" b="1" i="0">
                <a:solidFill>
                  <a:srgbClr val="FFFFFF"/>
                </a:solidFill>
                <a:latin typeface="Times New Roman"/>
              </a:rPr>
              <a:t>you are a guest on someone else’s computer.</a:t>
            </a:r>
          </a:p>
          <a:p>
            <a:pPr algn="l">
              <a:spcBef>
                <a:spcPts val="400"/>
              </a:spcBef>
            </a:pPr>
            <a:r>
              <a:rPr sz="1600" b="0" i="0">
                <a:solidFill>
                  <a:srgbClr val="FFFFFF"/>
                </a:solidFill>
                <a:latin typeface="Times New Roman"/>
              </a:rPr>
              <a:t>It can be slow, be down, rate-limit you, change its response shape, start charging, or shut off. Each is a Tuesday, not a catastrophe — your code has to expect it.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0" i="0">
                <a:solidFill>
                  <a:srgbClr val="1A1A1A"/>
                </a:solidFill>
                <a:latin typeface="Times New Roman"/>
              </a:rPr>
              <a:t>Open APIs </a:t>
            </a:r>
            <a:r>
              <a:rPr sz="3200" b="0" i="0">
                <a:solidFill>
                  <a:srgbClr val="F67132"/>
                </a:solidFill>
                <a:latin typeface="Times New Roman"/>
              </a:rPr>
              <a:t>You Can Call Right Now</a:t>
            </a:r>
          </a:p>
        </p:txBody>
      </p:sp>
      <p:sp>
        <p:nvSpPr>
          <p:cNvPr id="4" name="Text Placeholder 3"/>
          <p:cNvSpPr>
            <a:spLocks noGrp="1"/>
          </p:cNvSpPr>
          <p:nvPr>
            <p:ph type="body" sz="quarter" idx="13"/>
          </p:nvPr>
        </p:nvSpPr>
        <p:spPr/>
        <p:txBody>
          <a:bodyPr/>
          <a:lstStyle/>
          <a:p>
            <a:r>
              <a:rPr sz="1600" b="0" i="0">
                <a:solidFill>
                  <a:srgbClr val="1A1A1A"/>
                </a:solidFill>
                <a:latin typeface="Times New Roman"/>
              </a:rPr>
              <a:t>No signup · no key · tested the night before class</a:t>
            </a:r>
          </a:p>
        </p:txBody>
      </p:sp>
      <p:graphicFrame>
        <p:nvGraphicFramePr>
          <p:cNvPr id="5" name="Table 4"/>
          <p:cNvGraphicFramePr>
            <a:graphicFrameLocks noGrp="1"/>
          </p:cNvGraphicFramePr>
          <p:nvPr/>
        </p:nvGraphicFramePr>
        <p:xfrm>
          <a:off x="548640" y="1508760"/>
          <a:ext cx="11109960" cy="3291840"/>
        </p:xfrm>
        <a:graphic>
          <a:graphicData uri="http://schemas.openxmlformats.org/drawingml/2006/table">
            <a:tbl>
              <a:tblPr firstRow="1" bandRow="1">
                <a:tableStyleId>{5940675A-B579-460E-94D1-54222C63F5DA}</a:tableStyleId>
              </a:tblPr>
              <a:tblGrid>
                <a:gridCol w="237744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gridCol w="4251960">
                  <a:extLst>
                    <a:ext uri="{9D8B030D-6E8A-4147-A177-3AD203B41FA5}">
                      <a16:colId xmlns:a16="http://schemas.microsoft.com/office/drawing/2014/main" val="20002"/>
                    </a:ext>
                  </a:extLst>
                </a:gridCol>
              </a:tblGrid>
              <a:tr h="548640">
                <a:tc>
                  <a:txBody>
                    <a:bodyPr/>
                    <a:lstStyle/>
                    <a:p>
                      <a:r>
                        <a:rPr sz="1600" b="1" i="0">
                          <a:solidFill>
                            <a:srgbClr val="FFFFFF"/>
                          </a:solidFill>
                          <a:latin typeface="Times New Roman"/>
                        </a:rPr>
                        <a:t>API</a:t>
                      </a:r>
                    </a:p>
                  </a:txBody>
                  <a:tcPr marT="27432" marB="27432" anchor="ctr">
                    <a:solidFill>
                      <a:srgbClr val="24323E"/>
                    </a:solidFill>
                  </a:tcPr>
                </a:tc>
                <a:tc>
                  <a:txBody>
                    <a:bodyPr/>
                    <a:lstStyle/>
                    <a:p>
                      <a:r>
                        <a:rPr sz="1600" b="1" i="0">
                          <a:solidFill>
                            <a:srgbClr val="FFFFFF"/>
                          </a:solidFill>
                          <a:latin typeface="Times New Roman"/>
                        </a:rPr>
                        <a:t>What it gives you</a:t>
                      </a:r>
                    </a:p>
                  </a:txBody>
                  <a:tcPr marT="27432" marB="27432" anchor="ctr">
                    <a:solidFill>
                      <a:srgbClr val="24323E"/>
                    </a:solidFill>
                  </a:tcPr>
                </a:tc>
                <a:tc>
                  <a:txBody>
                    <a:bodyPr/>
                    <a:lstStyle/>
                    <a:p>
                      <a:r>
                        <a:rPr sz="1600" b="1" i="0">
                          <a:solidFill>
                            <a:srgbClr val="FFFFFF"/>
                          </a:solidFill>
                          <a:latin typeface="Times New Roman"/>
                        </a:rPr>
                        <a:t>Typical use</a:t>
                      </a:r>
                    </a:p>
                  </a:txBody>
                  <a:tcPr marT="27432" marB="27432" anchor="ctr">
                    <a:solidFill>
                      <a:srgbClr val="24323E"/>
                    </a:solidFill>
                  </a:tcPr>
                </a:tc>
                <a:extLst>
                  <a:ext uri="{0D108BD9-81ED-4DB2-BD59-A6C34878D82A}">
                    <a16:rowId xmlns:a16="http://schemas.microsoft.com/office/drawing/2014/main" val="10000"/>
                  </a:ext>
                </a:extLst>
              </a:tr>
              <a:tr h="548640">
                <a:tc>
                  <a:txBody>
                    <a:bodyPr/>
                    <a:lstStyle/>
                    <a:p>
                      <a:r>
                        <a:rPr sz="1600" b="1" i="0">
                          <a:solidFill>
                            <a:srgbClr val="FFFFFF"/>
                          </a:solidFill>
                          <a:latin typeface="Times New Roman"/>
                        </a:rPr>
                        <a:t>Open-Meteo</a:t>
                      </a:r>
                    </a:p>
                  </a:txBody>
                  <a:tcPr marT="27432" marB="27432" anchor="ctr">
                    <a:solidFill>
                      <a:srgbClr val="F67132"/>
                    </a:solidFill>
                  </a:tcPr>
                </a:tc>
                <a:tc>
                  <a:txBody>
                    <a:bodyPr/>
                    <a:lstStyle/>
                    <a:p>
                      <a:r>
                        <a:rPr sz="1600" b="1" i="0">
                          <a:solidFill>
                            <a:srgbClr val="FFFFFF"/>
                          </a:solidFill>
                          <a:latin typeface="Times New Roman"/>
                        </a:rPr>
                        <a:t>Hourly and daily weather, 1940 to now</a:t>
                      </a:r>
                    </a:p>
                  </a:txBody>
                  <a:tcPr marT="27432" marB="27432" anchor="ctr">
                    <a:solidFill>
                      <a:srgbClr val="F67132"/>
                    </a:solidFill>
                  </a:tcPr>
                </a:tc>
                <a:tc>
                  <a:txBody>
                    <a:bodyPr/>
                    <a:lstStyle/>
                    <a:p>
                      <a:r>
                        <a:rPr sz="1600" b="1" i="0">
                          <a:solidFill>
                            <a:srgbClr val="FFFFFF"/>
                          </a:solidFill>
                          <a:latin typeface="Times New Roman"/>
                        </a:rPr>
                        <a:t>The midterm · attendance against rain</a:t>
                      </a:r>
                    </a:p>
                  </a:txBody>
                  <a:tcPr marT="27432" marB="27432" anchor="ctr">
                    <a:solidFill>
                      <a:srgbClr val="F67132"/>
                    </a:solidFill>
                  </a:tcPr>
                </a:tc>
                <a:extLst>
                  <a:ext uri="{0D108BD9-81ED-4DB2-BD59-A6C34878D82A}">
                    <a16:rowId xmlns:a16="http://schemas.microsoft.com/office/drawing/2014/main" val="10001"/>
                  </a:ext>
                </a:extLst>
              </a:tr>
              <a:tr h="548640">
                <a:tc>
                  <a:txBody>
                    <a:bodyPr/>
                    <a:lstStyle/>
                    <a:p>
                      <a:r>
                        <a:rPr sz="1600" b="1" i="0">
                          <a:solidFill>
                            <a:srgbClr val="1A1A1A"/>
                          </a:solidFill>
                          <a:latin typeface="Times New Roman"/>
                        </a:rPr>
                        <a:t>USGS Earthquakes</a:t>
                      </a:r>
                    </a:p>
                  </a:txBody>
                  <a:tcPr marT="27432" marB="27432" anchor="ctr">
                    <a:solidFill>
                      <a:srgbClr val="FDF2EA"/>
                    </a:solidFill>
                  </a:tcPr>
                </a:tc>
                <a:tc>
                  <a:txBody>
                    <a:bodyPr/>
                    <a:lstStyle/>
                    <a:p>
                      <a:r>
                        <a:rPr sz="1600" b="0" i="0">
                          <a:solidFill>
                            <a:srgbClr val="1A1A1A"/>
                          </a:solidFill>
                          <a:latin typeface="Times New Roman"/>
                        </a:rPr>
                        <a:t>Every recorded quake, as GeoJSON</a:t>
                      </a:r>
                    </a:p>
                  </a:txBody>
                  <a:tcPr marT="27432" marB="27432" anchor="ctr">
                    <a:solidFill>
                      <a:srgbClr val="FDF2EA"/>
                    </a:solidFill>
                  </a:tcPr>
                </a:tc>
                <a:tc>
                  <a:txBody>
                    <a:bodyPr/>
                    <a:lstStyle/>
                    <a:p>
                      <a:r>
                        <a:rPr sz="1600" b="0" i="0">
                          <a:solidFill>
                            <a:srgbClr val="1A1A1A"/>
                          </a:solidFill>
                          <a:latin typeface="Times New Roman"/>
                        </a:rPr>
                        <a:t>Mapping, time series of events</a:t>
                      </a:r>
                    </a:p>
                  </a:txBody>
                  <a:tcPr marT="27432" marB="27432" anchor="ctr">
                    <a:solidFill>
                      <a:srgbClr val="FDF2EA"/>
                    </a:solidFill>
                  </a:tcPr>
                </a:tc>
                <a:extLst>
                  <a:ext uri="{0D108BD9-81ED-4DB2-BD59-A6C34878D82A}">
                    <a16:rowId xmlns:a16="http://schemas.microsoft.com/office/drawing/2014/main" val="10002"/>
                  </a:ext>
                </a:extLst>
              </a:tr>
              <a:tr h="548640">
                <a:tc>
                  <a:txBody>
                    <a:bodyPr/>
                    <a:lstStyle/>
                    <a:p>
                      <a:r>
                        <a:rPr sz="1600" b="1" i="0">
                          <a:solidFill>
                            <a:srgbClr val="1A1A1A"/>
                          </a:solidFill>
                          <a:latin typeface="Times New Roman"/>
                        </a:rPr>
                        <a:t>Frankfurter</a:t>
                      </a:r>
                    </a:p>
                  </a:txBody>
                  <a:tcPr marT="27432" marB="27432" anchor="ctr">
                    <a:solidFill>
                      <a:srgbClr val="FBE5D6"/>
                    </a:solidFill>
                  </a:tcPr>
                </a:tc>
                <a:tc>
                  <a:txBody>
                    <a:bodyPr/>
                    <a:lstStyle/>
                    <a:p>
                      <a:r>
                        <a:rPr sz="1600" b="0" i="0">
                          <a:solidFill>
                            <a:srgbClr val="1A1A1A"/>
                          </a:solidFill>
                          <a:latin typeface="Times New Roman"/>
                        </a:rPr>
                        <a:t>Daily exchange rates from the ECB</a:t>
                      </a:r>
                    </a:p>
                  </a:txBody>
                  <a:tcPr marT="27432" marB="27432" anchor="ctr">
                    <a:solidFill>
                      <a:srgbClr val="FBE5D6"/>
                    </a:solidFill>
                  </a:tcPr>
                </a:tc>
                <a:tc>
                  <a:txBody>
                    <a:bodyPr/>
                    <a:lstStyle/>
                    <a:p>
                      <a:r>
                        <a:rPr sz="1600" b="0" i="0">
                          <a:solidFill>
                            <a:srgbClr val="1A1A1A"/>
                          </a:solidFill>
                          <a:latin typeface="Times New Roman"/>
                        </a:rPr>
                        <a:t>Converting prices to one currency</a:t>
                      </a:r>
                    </a:p>
                  </a:txBody>
                  <a:tcPr marT="27432" marB="27432" anchor="ctr">
                    <a:solidFill>
                      <a:srgbClr val="FBE5D6"/>
                    </a:solidFill>
                  </a:tcPr>
                </a:tc>
                <a:extLst>
                  <a:ext uri="{0D108BD9-81ED-4DB2-BD59-A6C34878D82A}">
                    <a16:rowId xmlns:a16="http://schemas.microsoft.com/office/drawing/2014/main" val="10003"/>
                  </a:ext>
                </a:extLst>
              </a:tr>
              <a:tr h="548640">
                <a:tc>
                  <a:txBody>
                    <a:bodyPr/>
                    <a:lstStyle/>
                    <a:p>
                      <a:r>
                        <a:rPr sz="1600" b="1" i="0">
                          <a:solidFill>
                            <a:srgbClr val="1A1A1A"/>
                          </a:solidFill>
                          <a:latin typeface="Times New Roman"/>
                        </a:rPr>
                        <a:t>GitHub REST</a:t>
                      </a:r>
                    </a:p>
                  </a:txBody>
                  <a:tcPr marT="27432" marB="27432" anchor="ctr">
                    <a:solidFill>
                      <a:srgbClr val="FDF2EA"/>
                    </a:solidFill>
                  </a:tcPr>
                </a:tc>
                <a:tc>
                  <a:txBody>
                    <a:bodyPr/>
                    <a:lstStyle/>
                    <a:p>
                      <a:r>
                        <a:rPr sz="1600" b="0" i="0">
                          <a:solidFill>
                            <a:srgbClr val="1A1A1A"/>
                          </a:solidFill>
                          <a:latin typeface="Times New Roman"/>
                        </a:rPr>
                        <a:t>Repositories, issues, commits</a:t>
                      </a:r>
                    </a:p>
                  </a:txBody>
                  <a:tcPr marT="27432" marB="27432" anchor="ctr">
                    <a:solidFill>
                      <a:srgbClr val="FDF2EA"/>
                    </a:solidFill>
                  </a:tcPr>
                </a:tc>
                <a:tc>
                  <a:txBody>
                    <a:bodyPr/>
                    <a:lstStyle/>
                    <a:p>
                      <a:r>
                        <a:rPr sz="1600" b="0" i="0">
                          <a:solidFill>
                            <a:srgbClr val="1A1A1A"/>
                          </a:solidFill>
                          <a:latin typeface="Times New Roman"/>
                        </a:rPr>
                        <a:t>Measuring project activity</a:t>
                      </a:r>
                    </a:p>
                  </a:txBody>
                  <a:tcPr marT="27432" marB="27432" anchor="ctr">
                    <a:solidFill>
                      <a:srgbClr val="FDF2EA"/>
                    </a:solidFill>
                  </a:tcPr>
                </a:tc>
                <a:extLst>
                  <a:ext uri="{0D108BD9-81ED-4DB2-BD59-A6C34878D82A}">
                    <a16:rowId xmlns:a16="http://schemas.microsoft.com/office/drawing/2014/main" val="10004"/>
                  </a:ext>
                </a:extLst>
              </a:tr>
              <a:tr h="548640">
                <a:tc>
                  <a:txBody>
                    <a:bodyPr/>
                    <a:lstStyle/>
                    <a:p>
                      <a:r>
                        <a:rPr sz="1600" b="1" i="0">
                          <a:solidFill>
                            <a:srgbClr val="1A1A1A"/>
                          </a:solidFill>
                          <a:latin typeface="Times New Roman"/>
                        </a:rPr>
                        <a:t>Wikipedia REST</a:t>
                      </a:r>
                    </a:p>
                  </a:txBody>
                  <a:tcPr marT="27432" marB="27432" anchor="ctr">
                    <a:solidFill>
                      <a:srgbClr val="FBE5D6"/>
                    </a:solidFill>
                  </a:tcPr>
                </a:tc>
                <a:tc>
                  <a:txBody>
                    <a:bodyPr/>
                    <a:lstStyle/>
                    <a:p>
                      <a:r>
                        <a:rPr sz="1600" b="0" i="0">
                          <a:solidFill>
                            <a:srgbClr val="1A1A1A"/>
                          </a:solidFill>
                          <a:latin typeface="Times New Roman"/>
                        </a:rPr>
                        <a:t>Article summaries and metadata</a:t>
                      </a:r>
                    </a:p>
                  </a:txBody>
                  <a:tcPr marT="27432" marB="27432" anchor="ctr">
                    <a:solidFill>
                      <a:srgbClr val="FBE5D6"/>
                    </a:solidFill>
                  </a:tcPr>
                </a:tc>
                <a:tc>
                  <a:txBody>
                    <a:bodyPr/>
                    <a:lstStyle/>
                    <a:p>
                      <a:r>
                        <a:rPr sz="1600" b="0" i="0">
                          <a:solidFill>
                            <a:srgbClr val="1A1A1A"/>
                          </a:solidFill>
                          <a:latin typeface="Times New Roman"/>
                        </a:rPr>
                        <a:t>Enriching a list of names or places</a:t>
                      </a:r>
                    </a:p>
                  </a:txBody>
                  <a:tcPr marT="27432" marB="27432" anchor="ctr">
                    <a:solidFill>
                      <a:srgbClr val="FBE5D6"/>
                    </a:solidFill>
                  </a:tcPr>
                </a:tc>
                <a:extLst>
                  <a:ext uri="{0D108BD9-81ED-4DB2-BD59-A6C34878D82A}">
                    <a16:rowId xmlns:a16="http://schemas.microsoft.com/office/drawing/2014/main" val="10005"/>
                  </a:ext>
                </a:extLst>
              </a:tr>
            </a:tbl>
          </a:graphicData>
        </a:graphic>
      </p:graphicFrame>
      <p:sp>
        <p:nvSpPr>
          <p:cNvPr id="6" name="TextBox 5"/>
          <p:cNvSpPr txBox="1"/>
          <p:nvPr/>
        </p:nvSpPr>
        <p:spPr>
          <a:xfrm>
            <a:off x="548640" y="5120640"/>
            <a:ext cx="11109960" cy="731520"/>
          </a:xfrm>
          <a:prstGeom prst="rect">
            <a:avLst/>
          </a:prstGeom>
          <a:noFill/>
        </p:spPr>
        <p:txBody>
          <a:bodyPr wrap="square" lIns="45720" rIns="45720" anchor="t">
            <a:spAutoFit/>
          </a:bodyPr>
          <a:lstStyle/>
          <a:p>
            <a:pPr algn="l"/>
            <a:r>
              <a:rPr sz="1700" b="1" i="0">
                <a:solidFill>
                  <a:srgbClr val="F67132"/>
                </a:solidFill>
                <a:latin typeface="Times New Roman"/>
              </a:rPr>
              <a:t>Open-Meteo runs your midterm. </a:t>
            </a:r>
            <a:r>
              <a:rPr sz="1700" b="0" i="0">
                <a:solidFill>
                  <a:srgbClr val="1A1A1A"/>
                </a:solidFill>
                <a:latin typeface="Times New Roman"/>
              </a:rPr>
              <a:t>The others are here to show the shape of the work doesn’t change from one API to the next.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0" i="0">
                <a:solidFill>
                  <a:srgbClr val="1A1A1A"/>
                </a:solidFill>
                <a:latin typeface="Times New Roman"/>
              </a:rPr>
              <a:t>Learning an API = </a:t>
            </a:r>
            <a:r>
              <a:rPr sz="3200" b="0" i="0">
                <a:solidFill>
                  <a:srgbClr val="F67132"/>
                </a:solidFill>
                <a:latin typeface="Times New Roman"/>
              </a:rPr>
              <a:t>Learning Its Response Shape</a:t>
            </a:r>
          </a:p>
        </p:txBody>
      </p:sp>
      <p:sp>
        <p:nvSpPr>
          <p:cNvPr id="4" name="Text Placeholder 3"/>
          <p:cNvSpPr>
            <a:spLocks noGrp="1"/>
          </p:cNvSpPr>
          <p:nvPr>
            <p:ph type="body" sz="quarter" idx="13"/>
          </p:nvPr>
        </p:nvSpPr>
        <p:spPr/>
        <p:txBody>
          <a:bodyPr/>
          <a:lstStyle/>
          <a:p>
            <a:r>
              <a:rPr sz="1600" b="0" i="0">
                <a:solidFill>
                  <a:srgbClr val="1A1A1A"/>
                </a:solidFill>
                <a:latin typeface="Times New Roman"/>
              </a:rPr>
              <a:t>Three APIs, three shapes, one requests.get</a:t>
            </a:r>
          </a:p>
        </p:txBody>
      </p:sp>
      <p:sp>
        <p:nvSpPr>
          <p:cNvPr id="5" name="Rectangle 4"/>
          <p:cNvSpPr/>
          <p:nvPr/>
        </p:nvSpPr>
        <p:spPr>
          <a:xfrm>
            <a:off x="548640" y="1508760"/>
            <a:ext cx="3520440" cy="2514600"/>
          </a:xfrm>
          <a:prstGeom prst="rect">
            <a:avLst/>
          </a:prstGeom>
          <a:solidFill>
            <a:srgbClr val="FBE5D6"/>
          </a:solidFill>
          <a:ln w="12700">
            <a:solidFill>
              <a:srgbClr val="24323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ectangle 5"/>
          <p:cNvSpPr/>
          <p:nvPr/>
        </p:nvSpPr>
        <p:spPr>
          <a:xfrm>
            <a:off x="548640" y="1508760"/>
            <a:ext cx="3520440" cy="502920"/>
          </a:xfrm>
          <a:prstGeom prst="rect">
            <a:avLst/>
          </a:prstGeom>
          <a:solidFill>
            <a:srgbClr val="24323E"/>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800" b="1" i="0">
                <a:solidFill>
                  <a:srgbClr val="FFFFFF"/>
                </a:solidFill>
                <a:latin typeface="Times New Roman"/>
              </a:rPr>
              <a:t>USGS  </a:t>
            </a:r>
            <a:r>
              <a:rPr sz="1800" b="1" i="0">
                <a:solidFill>
                  <a:srgbClr val="F67132"/>
                </a:solidFill>
                <a:latin typeface="Courier New"/>
              </a:rPr>
              <a:t>200</a:t>
            </a:r>
          </a:p>
        </p:txBody>
      </p:sp>
      <p:sp>
        <p:nvSpPr>
          <p:cNvPr id="7" name="TextBox 6"/>
          <p:cNvSpPr txBox="1"/>
          <p:nvPr/>
        </p:nvSpPr>
        <p:spPr>
          <a:xfrm>
            <a:off x="731520" y="2148840"/>
            <a:ext cx="3154680" cy="685800"/>
          </a:xfrm>
          <a:prstGeom prst="rect">
            <a:avLst/>
          </a:prstGeom>
          <a:noFill/>
        </p:spPr>
        <p:txBody>
          <a:bodyPr wrap="square" lIns="45720" rIns="45720" anchor="t">
            <a:spAutoFit/>
          </a:bodyPr>
          <a:lstStyle/>
          <a:p>
            <a:pPr algn="l"/>
            <a:r>
              <a:rPr sz="1600" b="0" i="0">
                <a:solidFill>
                  <a:srgbClr val="1A1A1A"/>
                </a:solidFill>
                <a:latin typeface="Times New Roman"/>
              </a:rPr>
              <a:t>GeoJSON: a list under features</a:t>
            </a:r>
          </a:p>
        </p:txBody>
      </p:sp>
      <p:sp>
        <p:nvSpPr>
          <p:cNvPr id="8" name="Rectangle 7"/>
          <p:cNvSpPr/>
          <p:nvPr/>
        </p:nvSpPr>
        <p:spPr>
          <a:xfrm>
            <a:off x="685800" y="2971800"/>
            <a:ext cx="3246120" cy="868680"/>
          </a:xfrm>
          <a:prstGeom prst="rect">
            <a:avLst/>
          </a:prstGeom>
          <a:solidFill>
            <a:srgbClr val="24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822960" y="3063240"/>
            <a:ext cx="2971800" cy="685800"/>
          </a:xfrm>
          <a:prstGeom prst="rect">
            <a:avLst/>
          </a:prstGeom>
          <a:noFill/>
        </p:spPr>
        <p:txBody>
          <a:bodyPr wrap="square" lIns="0" tIns="0" rIns="0" bIns="0">
            <a:spAutoFit/>
          </a:bodyPr>
          <a:lstStyle/>
          <a:p>
            <a:pPr algn="l"/>
            <a:r>
              <a:rPr sz="1100" b="0" i="0">
                <a:solidFill>
                  <a:srgbClr val="E8ECF0"/>
                </a:solidFill>
                <a:latin typeface="Courier New"/>
              </a:rPr>
              <a:t>len(quakes.json()['features'])</a:t>
            </a:r>
          </a:p>
        </p:txBody>
      </p:sp>
      <p:sp>
        <p:nvSpPr>
          <p:cNvPr id="10" name="Rectangle 9"/>
          <p:cNvSpPr/>
          <p:nvPr/>
        </p:nvSpPr>
        <p:spPr>
          <a:xfrm>
            <a:off x="4297679" y="1508760"/>
            <a:ext cx="3520440" cy="2514600"/>
          </a:xfrm>
          <a:prstGeom prst="rect">
            <a:avLst/>
          </a:prstGeom>
          <a:solidFill>
            <a:srgbClr val="FBE5D6"/>
          </a:solidFill>
          <a:ln w="12700">
            <a:solidFill>
              <a:srgbClr val="24323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ectangle 10"/>
          <p:cNvSpPr/>
          <p:nvPr/>
        </p:nvSpPr>
        <p:spPr>
          <a:xfrm>
            <a:off x="4297679" y="1508760"/>
            <a:ext cx="3520440" cy="502920"/>
          </a:xfrm>
          <a:prstGeom prst="rect">
            <a:avLst/>
          </a:prstGeom>
          <a:solidFill>
            <a:srgbClr val="24323E"/>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800" b="1" i="0">
                <a:solidFill>
                  <a:srgbClr val="FFFFFF"/>
                </a:solidFill>
                <a:latin typeface="Times New Roman"/>
              </a:rPr>
              <a:t>GitHub  </a:t>
            </a:r>
            <a:r>
              <a:rPr sz="1800" b="1" i="0">
                <a:solidFill>
                  <a:srgbClr val="F67132"/>
                </a:solidFill>
                <a:latin typeface="Courier New"/>
              </a:rPr>
              <a:t>200</a:t>
            </a:r>
          </a:p>
        </p:txBody>
      </p:sp>
      <p:sp>
        <p:nvSpPr>
          <p:cNvPr id="12" name="TextBox 11"/>
          <p:cNvSpPr txBox="1"/>
          <p:nvPr/>
        </p:nvSpPr>
        <p:spPr>
          <a:xfrm>
            <a:off x="4480559" y="2148840"/>
            <a:ext cx="3154680" cy="685800"/>
          </a:xfrm>
          <a:prstGeom prst="rect">
            <a:avLst/>
          </a:prstGeom>
          <a:noFill/>
        </p:spPr>
        <p:txBody>
          <a:bodyPr wrap="square" lIns="45720" rIns="45720" anchor="t">
            <a:spAutoFit/>
          </a:bodyPr>
          <a:lstStyle/>
          <a:p>
            <a:pPr algn="l"/>
            <a:r>
              <a:rPr sz="1600" b="0" i="0">
                <a:solidFill>
                  <a:srgbClr val="1A1A1A"/>
                </a:solidFill>
                <a:latin typeface="Times New Roman"/>
              </a:rPr>
              <a:t>One flat object</a:t>
            </a:r>
          </a:p>
        </p:txBody>
      </p:sp>
      <p:sp>
        <p:nvSpPr>
          <p:cNvPr id="13" name="Rectangle 12"/>
          <p:cNvSpPr/>
          <p:nvPr/>
        </p:nvSpPr>
        <p:spPr>
          <a:xfrm>
            <a:off x="4434840" y="2971800"/>
            <a:ext cx="3246120" cy="868680"/>
          </a:xfrm>
          <a:prstGeom prst="rect">
            <a:avLst/>
          </a:prstGeom>
          <a:solidFill>
            <a:srgbClr val="24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4572000" y="3063240"/>
            <a:ext cx="2971800" cy="685800"/>
          </a:xfrm>
          <a:prstGeom prst="rect">
            <a:avLst/>
          </a:prstGeom>
          <a:noFill/>
        </p:spPr>
        <p:txBody>
          <a:bodyPr wrap="square" lIns="0" tIns="0" rIns="0" bIns="0">
            <a:spAutoFit/>
          </a:bodyPr>
          <a:lstStyle/>
          <a:p>
            <a:pPr algn="l"/>
            <a:r>
              <a:rPr sz="1100" b="0" i="0">
                <a:solidFill>
                  <a:srgbClr val="E8ECF0"/>
                </a:solidFill>
                <a:latin typeface="Courier New"/>
              </a:rPr>
              <a:t>repo.json()['stargazers_count']</a:t>
            </a:r>
          </a:p>
        </p:txBody>
      </p:sp>
      <p:sp>
        <p:nvSpPr>
          <p:cNvPr id="15" name="Rectangle 14"/>
          <p:cNvSpPr/>
          <p:nvPr/>
        </p:nvSpPr>
        <p:spPr>
          <a:xfrm>
            <a:off x="8046719" y="1508760"/>
            <a:ext cx="3520440" cy="2514600"/>
          </a:xfrm>
          <a:prstGeom prst="rect">
            <a:avLst/>
          </a:prstGeom>
          <a:solidFill>
            <a:srgbClr val="FBE5D6"/>
          </a:solidFill>
          <a:ln w="12700">
            <a:solidFill>
              <a:srgbClr val="24323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a:off x="8046719" y="1508760"/>
            <a:ext cx="3520440" cy="502920"/>
          </a:xfrm>
          <a:prstGeom prst="rect">
            <a:avLst/>
          </a:prstGeom>
          <a:solidFill>
            <a:srgbClr val="24323E"/>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800" b="1" i="0">
                <a:solidFill>
                  <a:srgbClr val="FFFFFF"/>
                </a:solidFill>
                <a:latin typeface="Times New Roman"/>
              </a:rPr>
              <a:t>Wikipedia  </a:t>
            </a:r>
            <a:r>
              <a:rPr sz="1800" b="1" i="0">
                <a:solidFill>
                  <a:srgbClr val="F67132"/>
                </a:solidFill>
                <a:latin typeface="Courier New"/>
              </a:rPr>
              <a:t>200</a:t>
            </a:r>
          </a:p>
        </p:txBody>
      </p:sp>
      <p:sp>
        <p:nvSpPr>
          <p:cNvPr id="17" name="TextBox 16"/>
          <p:cNvSpPr txBox="1"/>
          <p:nvPr/>
        </p:nvSpPr>
        <p:spPr>
          <a:xfrm>
            <a:off x="8229599" y="2148840"/>
            <a:ext cx="3154680" cy="685800"/>
          </a:xfrm>
          <a:prstGeom prst="rect">
            <a:avLst/>
          </a:prstGeom>
          <a:noFill/>
        </p:spPr>
        <p:txBody>
          <a:bodyPr wrap="square" lIns="45720" rIns="45720" anchor="t">
            <a:spAutoFit/>
          </a:bodyPr>
          <a:lstStyle/>
          <a:p>
            <a:pPr algn="l"/>
            <a:r>
              <a:rPr sz="1600" b="0" i="0">
                <a:solidFill>
                  <a:srgbClr val="1A1A1A"/>
                </a:solidFill>
                <a:latin typeface="Times New Roman"/>
              </a:rPr>
              <a:t>Small object, text under extract</a:t>
            </a:r>
          </a:p>
        </p:txBody>
      </p:sp>
      <p:sp>
        <p:nvSpPr>
          <p:cNvPr id="18" name="Rectangle 17"/>
          <p:cNvSpPr/>
          <p:nvPr/>
        </p:nvSpPr>
        <p:spPr>
          <a:xfrm>
            <a:off x="8183879" y="2971800"/>
            <a:ext cx="3246120" cy="868680"/>
          </a:xfrm>
          <a:prstGeom prst="rect">
            <a:avLst/>
          </a:prstGeom>
          <a:solidFill>
            <a:srgbClr val="24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8321040" y="3063240"/>
            <a:ext cx="2971800" cy="685800"/>
          </a:xfrm>
          <a:prstGeom prst="rect">
            <a:avLst/>
          </a:prstGeom>
          <a:noFill/>
        </p:spPr>
        <p:txBody>
          <a:bodyPr wrap="square" lIns="0" tIns="0" rIns="0" bIns="0">
            <a:spAutoFit/>
          </a:bodyPr>
          <a:lstStyle/>
          <a:p>
            <a:pPr algn="l"/>
            <a:r>
              <a:rPr sz="1100" b="0" i="0">
                <a:solidFill>
                  <a:srgbClr val="E8ECF0"/>
                </a:solidFill>
                <a:latin typeface="Courier New"/>
              </a:rPr>
              <a:t>wiki.json()['extract'][:90]</a:t>
            </a:r>
          </a:p>
        </p:txBody>
      </p:sp>
      <p:sp>
        <p:nvSpPr>
          <p:cNvPr id="20" name="Rectangle 19"/>
          <p:cNvSpPr/>
          <p:nvPr/>
        </p:nvSpPr>
        <p:spPr>
          <a:xfrm>
            <a:off x="548640" y="4251960"/>
            <a:ext cx="11109960" cy="1737360"/>
          </a:xfrm>
          <a:prstGeom prst="rect">
            <a:avLst/>
          </a:prstGeom>
          <a:solidFill>
            <a:srgbClr val="FDF2EA"/>
          </a:solidFill>
          <a:ln w="12700">
            <a:solidFill>
              <a:srgbClr val="24323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777240" y="4343400"/>
            <a:ext cx="4937760" cy="384048"/>
          </a:xfrm>
          <a:prstGeom prst="rect">
            <a:avLst/>
          </a:prstGeom>
          <a:noFill/>
        </p:spPr>
        <p:txBody>
          <a:bodyPr wrap="square" lIns="45720" rIns="45720" anchor="t">
            <a:spAutoFit/>
          </a:bodyPr>
          <a:lstStyle/>
          <a:p>
            <a:pPr algn="l"/>
            <a:r>
              <a:rPr sz="1800" b="1" i="0">
                <a:solidFill>
                  <a:srgbClr val="24323E"/>
                </a:solidFill>
                <a:latin typeface="Times New Roman"/>
              </a:rPr>
              <a:t>Say who is at the door</a:t>
            </a:r>
          </a:p>
        </p:txBody>
      </p:sp>
      <p:sp>
        <p:nvSpPr>
          <p:cNvPr id="22" name="TextBox 21"/>
          <p:cNvSpPr txBox="1"/>
          <p:nvPr/>
        </p:nvSpPr>
        <p:spPr>
          <a:xfrm>
            <a:off x="777240" y="4754880"/>
            <a:ext cx="4937760" cy="1188720"/>
          </a:xfrm>
          <a:prstGeom prst="rect">
            <a:avLst/>
          </a:prstGeom>
          <a:noFill/>
        </p:spPr>
        <p:txBody>
          <a:bodyPr wrap="square" lIns="45720" rIns="45720" anchor="t">
            <a:spAutoFit/>
          </a:bodyPr>
          <a:lstStyle/>
          <a:p>
            <a:pPr algn="l"/>
            <a:r>
              <a:rPr sz="1400" b="0" i="0">
                <a:solidFill>
                  <a:srgbClr val="1A1A1A"/>
                </a:solidFill>
                <a:latin typeface="Times New Roman"/>
              </a:rPr>
              <a:t>Default User-Agent python-requests/2.x gets refused by some providers — Wikipedia answers 403.</a:t>
            </a:r>
          </a:p>
          <a:p>
            <a:pPr algn="l">
              <a:spcBef>
                <a:spcPts val="400"/>
              </a:spcBef>
            </a:pPr>
            <a:r>
              <a:rPr sz="1400" b="0" i="0">
                <a:solidFill>
                  <a:srgbClr val="1A1A1A"/>
                </a:solidFill>
                <a:latin typeface="Times New Roman"/>
              </a:rPr>
              <a:t>Not authentication, not a key. One line.</a:t>
            </a:r>
          </a:p>
        </p:txBody>
      </p:sp>
      <p:sp>
        <p:nvSpPr>
          <p:cNvPr id="23" name="Rectangle 22"/>
          <p:cNvSpPr/>
          <p:nvPr/>
        </p:nvSpPr>
        <p:spPr>
          <a:xfrm>
            <a:off x="5897880" y="4526280"/>
            <a:ext cx="5577840" cy="1188720"/>
          </a:xfrm>
          <a:prstGeom prst="rect">
            <a:avLst/>
          </a:prstGeom>
          <a:solidFill>
            <a:srgbClr val="24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6035040" y="4617720"/>
            <a:ext cx="5303520" cy="1005840"/>
          </a:xfrm>
          <a:prstGeom prst="rect">
            <a:avLst/>
          </a:prstGeom>
          <a:noFill/>
        </p:spPr>
        <p:txBody>
          <a:bodyPr wrap="square" lIns="0" tIns="0" rIns="0" bIns="0">
            <a:spAutoFit/>
          </a:bodyPr>
          <a:lstStyle/>
          <a:p>
            <a:pPr algn="l"/>
            <a:r>
              <a:rPr sz="1200" b="0" i="0">
                <a:solidFill>
                  <a:srgbClr val="E8ECF0"/>
                </a:solidFill>
                <a:latin typeface="Courier New"/>
              </a:rPr>
              <a:t>HEADERS = {'User-Agent':</a:t>
            </a:r>
          </a:p>
          <a:p>
            <a:pPr algn="l"/>
            <a:r>
              <a:rPr sz="1200" b="0" i="0">
                <a:solidFill>
                  <a:srgbClr val="E8ECF0"/>
                </a:solidFill>
                <a:latin typeface="Courier New"/>
              </a:rPr>
              <a:t>           'DS2002-UVA-student (course project)'}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0" i="0">
                <a:solidFill>
                  <a:srgbClr val="1A1A1A"/>
                </a:solidFill>
                <a:latin typeface="Times New Roman"/>
              </a:rPr>
              <a:t>API Keys: </a:t>
            </a:r>
            <a:r>
              <a:rPr sz="3200" b="0" i="0">
                <a:solidFill>
                  <a:srgbClr val="F67132"/>
                </a:solidFill>
                <a:latin typeface="Times New Roman"/>
              </a:rPr>
              <a:t>A Nametag, Not a Password</a:t>
            </a:r>
          </a:p>
        </p:txBody>
      </p:sp>
      <p:sp>
        <p:nvSpPr>
          <p:cNvPr id="4" name="Text Placeholder 3"/>
          <p:cNvSpPr>
            <a:spLocks noGrp="1"/>
          </p:cNvSpPr>
          <p:nvPr>
            <p:ph type="body" sz="quarter" idx="13"/>
          </p:nvPr>
        </p:nvSpPr>
        <p:spPr/>
        <p:txBody>
          <a:bodyPr/>
          <a:lstStyle/>
          <a:p>
            <a:r>
              <a:rPr sz="1600" b="0" i="0">
                <a:solidFill>
                  <a:srgbClr val="1A1A1A"/>
                </a:solidFill>
                <a:latin typeface="Times New Roman"/>
              </a:rPr>
              <a:t>It rarely unlocks anything secret — it lets the provider answer four questions</a:t>
            </a:r>
          </a:p>
        </p:txBody>
      </p:sp>
      <p:sp>
        <p:nvSpPr>
          <p:cNvPr id="5" name="Rectangle 4"/>
          <p:cNvSpPr/>
          <p:nvPr/>
        </p:nvSpPr>
        <p:spPr>
          <a:xfrm>
            <a:off x="548640" y="1508760"/>
            <a:ext cx="5852160" cy="978408"/>
          </a:xfrm>
          <a:prstGeom prst="rect">
            <a:avLst/>
          </a:prstGeom>
          <a:solidFill>
            <a:srgbClr val="FBE5D6"/>
          </a:solidFill>
          <a:ln w="12700">
            <a:solidFill>
              <a:srgbClr val="24323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731520" y="1673351"/>
            <a:ext cx="640080" cy="640080"/>
          </a:xfrm>
          <a:prstGeom prst="ellipse">
            <a:avLst/>
          </a:prstGeom>
          <a:solidFill>
            <a:srgbClr val="F6713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2000" b="1" i="0">
                <a:solidFill>
                  <a:srgbClr val="FFFFFF"/>
                </a:solidFill>
                <a:latin typeface="Times New Roman"/>
              </a:rPr>
              <a:t>1</a:t>
            </a:r>
          </a:p>
        </p:txBody>
      </p:sp>
      <p:sp>
        <p:nvSpPr>
          <p:cNvPr id="7" name="TextBox 6"/>
          <p:cNvSpPr txBox="1"/>
          <p:nvPr/>
        </p:nvSpPr>
        <p:spPr>
          <a:xfrm>
            <a:off x="1554480" y="1600200"/>
            <a:ext cx="4754880" cy="384048"/>
          </a:xfrm>
          <a:prstGeom prst="rect">
            <a:avLst/>
          </a:prstGeom>
          <a:noFill/>
        </p:spPr>
        <p:txBody>
          <a:bodyPr wrap="square" lIns="45720" rIns="45720" anchor="t">
            <a:spAutoFit/>
          </a:bodyPr>
          <a:lstStyle/>
          <a:p>
            <a:pPr algn="l"/>
            <a:r>
              <a:rPr sz="1800" b="1" i="0">
                <a:solidFill>
                  <a:srgbClr val="24323E"/>
                </a:solidFill>
                <a:latin typeface="Times New Roman"/>
              </a:rPr>
              <a:t>Who is this?</a:t>
            </a:r>
          </a:p>
        </p:txBody>
      </p:sp>
      <p:sp>
        <p:nvSpPr>
          <p:cNvPr id="8" name="TextBox 7"/>
          <p:cNvSpPr txBox="1"/>
          <p:nvPr/>
        </p:nvSpPr>
        <p:spPr>
          <a:xfrm>
            <a:off x="1554480" y="1984248"/>
            <a:ext cx="4754880" cy="457200"/>
          </a:xfrm>
          <a:prstGeom prst="rect">
            <a:avLst/>
          </a:prstGeom>
          <a:noFill/>
        </p:spPr>
        <p:txBody>
          <a:bodyPr wrap="square" lIns="45720" rIns="45720" anchor="t">
            <a:spAutoFit/>
          </a:bodyPr>
          <a:lstStyle/>
          <a:p>
            <a:pPr algn="l"/>
            <a:r>
              <a:rPr sz="1400" b="0" i="0">
                <a:solidFill>
                  <a:srgbClr val="1A1A1A"/>
                </a:solidFill>
                <a:latin typeface="Times New Roman"/>
              </a:rPr>
              <a:t>So they can contact you or publish usage stats</a:t>
            </a:r>
          </a:p>
        </p:txBody>
      </p:sp>
      <p:sp>
        <p:nvSpPr>
          <p:cNvPr id="9" name="Rectangle 8"/>
          <p:cNvSpPr/>
          <p:nvPr/>
        </p:nvSpPr>
        <p:spPr>
          <a:xfrm>
            <a:off x="548640" y="2624328"/>
            <a:ext cx="5852160" cy="978408"/>
          </a:xfrm>
          <a:prstGeom prst="rect">
            <a:avLst/>
          </a:prstGeom>
          <a:solidFill>
            <a:srgbClr val="FBE5D6"/>
          </a:solidFill>
          <a:ln w="12700">
            <a:solidFill>
              <a:srgbClr val="24323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Oval 9"/>
          <p:cNvSpPr/>
          <p:nvPr/>
        </p:nvSpPr>
        <p:spPr>
          <a:xfrm>
            <a:off x="731520" y="2788920"/>
            <a:ext cx="640080" cy="640080"/>
          </a:xfrm>
          <a:prstGeom prst="ellipse">
            <a:avLst/>
          </a:prstGeom>
          <a:solidFill>
            <a:srgbClr val="F6713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2000" b="1" i="0">
                <a:solidFill>
                  <a:srgbClr val="FFFFFF"/>
                </a:solidFill>
                <a:latin typeface="Times New Roman"/>
              </a:rPr>
              <a:t>2</a:t>
            </a:r>
          </a:p>
        </p:txBody>
      </p:sp>
      <p:sp>
        <p:nvSpPr>
          <p:cNvPr id="11" name="TextBox 10"/>
          <p:cNvSpPr txBox="1"/>
          <p:nvPr/>
        </p:nvSpPr>
        <p:spPr>
          <a:xfrm>
            <a:off x="1554480" y="2715768"/>
            <a:ext cx="4754880" cy="384048"/>
          </a:xfrm>
          <a:prstGeom prst="rect">
            <a:avLst/>
          </a:prstGeom>
          <a:noFill/>
        </p:spPr>
        <p:txBody>
          <a:bodyPr wrap="square" lIns="45720" rIns="45720" anchor="t">
            <a:spAutoFit/>
          </a:bodyPr>
          <a:lstStyle/>
          <a:p>
            <a:pPr algn="l"/>
            <a:r>
              <a:rPr sz="1800" b="1" i="0">
                <a:solidFill>
                  <a:srgbClr val="24323E"/>
                </a:solidFill>
                <a:latin typeface="Times New Roman"/>
              </a:rPr>
              <a:t>How much have they used?</a:t>
            </a:r>
          </a:p>
        </p:txBody>
      </p:sp>
      <p:sp>
        <p:nvSpPr>
          <p:cNvPr id="12" name="TextBox 11"/>
          <p:cNvSpPr txBox="1"/>
          <p:nvPr/>
        </p:nvSpPr>
        <p:spPr>
          <a:xfrm>
            <a:off x="1554480" y="3099816"/>
            <a:ext cx="4754880" cy="457200"/>
          </a:xfrm>
          <a:prstGeom prst="rect">
            <a:avLst/>
          </a:prstGeom>
          <a:noFill/>
        </p:spPr>
        <p:txBody>
          <a:bodyPr wrap="square" lIns="45720" rIns="45720" anchor="t">
            <a:spAutoFit/>
          </a:bodyPr>
          <a:lstStyle/>
          <a:p>
            <a:pPr algn="l"/>
            <a:r>
              <a:rPr sz="1400" b="0" i="0">
                <a:solidFill>
                  <a:srgbClr val="1A1A1A"/>
                </a:solidFill>
                <a:latin typeface="Times New Roman"/>
              </a:rPr>
              <a:t>Cap you at 1,000 calls a day instead of guessing</a:t>
            </a:r>
          </a:p>
        </p:txBody>
      </p:sp>
      <p:sp>
        <p:nvSpPr>
          <p:cNvPr id="13" name="Rectangle 12"/>
          <p:cNvSpPr/>
          <p:nvPr/>
        </p:nvSpPr>
        <p:spPr>
          <a:xfrm>
            <a:off x="548640" y="3739896"/>
            <a:ext cx="5852160" cy="978408"/>
          </a:xfrm>
          <a:prstGeom prst="rect">
            <a:avLst/>
          </a:prstGeom>
          <a:solidFill>
            <a:srgbClr val="FBE5D6"/>
          </a:solidFill>
          <a:ln w="12700">
            <a:solidFill>
              <a:srgbClr val="24323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731520" y="3904487"/>
            <a:ext cx="640080" cy="640080"/>
          </a:xfrm>
          <a:prstGeom prst="ellipse">
            <a:avLst/>
          </a:prstGeom>
          <a:solidFill>
            <a:srgbClr val="F6713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2000" b="1" i="0">
                <a:solidFill>
                  <a:srgbClr val="FFFFFF"/>
                </a:solidFill>
                <a:latin typeface="Times New Roman"/>
              </a:rPr>
              <a:t>3</a:t>
            </a:r>
          </a:p>
        </p:txBody>
      </p:sp>
      <p:sp>
        <p:nvSpPr>
          <p:cNvPr id="15" name="TextBox 14"/>
          <p:cNvSpPr txBox="1"/>
          <p:nvPr/>
        </p:nvSpPr>
        <p:spPr>
          <a:xfrm>
            <a:off x="1554480" y="3831335"/>
            <a:ext cx="4754880" cy="384048"/>
          </a:xfrm>
          <a:prstGeom prst="rect">
            <a:avLst/>
          </a:prstGeom>
          <a:noFill/>
        </p:spPr>
        <p:txBody>
          <a:bodyPr wrap="square" lIns="45720" rIns="45720" anchor="t">
            <a:spAutoFit/>
          </a:bodyPr>
          <a:lstStyle/>
          <a:p>
            <a:pPr algn="l"/>
            <a:r>
              <a:rPr sz="1800" b="1" i="0">
                <a:solidFill>
                  <a:srgbClr val="24323E"/>
                </a:solidFill>
                <a:latin typeface="Times New Roman"/>
              </a:rPr>
              <a:t>Should they be billed?</a:t>
            </a:r>
          </a:p>
        </p:txBody>
      </p:sp>
      <p:sp>
        <p:nvSpPr>
          <p:cNvPr id="16" name="TextBox 15"/>
          <p:cNvSpPr txBox="1"/>
          <p:nvPr/>
        </p:nvSpPr>
        <p:spPr>
          <a:xfrm>
            <a:off x="1554480" y="4215383"/>
            <a:ext cx="4754880" cy="457200"/>
          </a:xfrm>
          <a:prstGeom prst="rect">
            <a:avLst/>
          </a:prstGeom>
          <a:noFill/>
        </p:spPr>
        <p:txBody>
          <a:bodyPr wrap="square" lIns="45720" rIns="45720" anchor="t">
            <a:spAutoFit/>
          </a:bodyPr>
          <a:lstStyle/>
          <a:p>
            <a:pPr algn="l"/>
            <a:r>
              <a:rPr sz="1400" b="0" i="0">
                <a:solidFill>
                  <a:srgbClr val="1A1A1A"/>
                </a:solidFill>
                <a:latin typeface="Times New Roman"/>
              </a:rPr>
              <a:t>Free tier, paid tier, or over the line</a:t>
            </a:r>
          </a:p>
        </p:txBody>
      </p:sp>
      <p:sp>
        <p:nvSpPr>
          <p:cNvPr id="17" name="Rectangle 16"/>
          <p:cNvSpPr/>
          <p:nvPr/>
        </p:nvSpPr>
        <p:spPr>
          <a:xfrm>
            <a:off x="548640" y="4855464"/>
            <a:ext cx="5852160" cy="978408"/>
          </a:xfrm>
          <a:prstGeom prst="rect">
            <a:avLst/>
          </a:prstGeom>
          <a:solidFill>
            <a:srgbClr val="FBE5D6"/>
          </a:solidFill>
          <a:ln w="12700">
            <a:solidFill>
              <a:srgbClr val="24323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Oval 17"/>
          <p:cNvSpPr/>
          <p:nvPr/>
        </p:nvSpPr>
        <p:spPr>
          <a:xfrm>
            <a:off x="731520" y="5020056"/>
            <a:ext cx="640080" cy="640080"/>
          </a:xfrm>
          <a:prstGeom prst="ellipse">
            <a:avLst/>
          </a:prstGeom>
          <a:solidFill>
            <a:srgbClr val="F6713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2000" b="1" i="0">
                <a:solidFill>
                  <a:srgbClr val="FFFFFF"/>
                </a:solidFill>
                <a:latin typeface="Times New Roman"/>
              </a:rPr>
              <a:t>4</a:t>
            </a:r>
          </a:p>
        </p:txBody>
      </p:sp>
      <p:sp>
        <p:nvSpPr>
          <p:cNvPr id="19" name="TextBox 18"/>
          <p:cNvSpPr txBox="1"/>
          <p:nvPr/>
        </p:nvSpPr>
        <p:spPr>
          <a:xfrm>
            <a:off x="1554480" y="4946904"/>
            <a:ext cx="4754880" cy="384048"/>
          </a:xfrm>
          <a:prstGeom prst="rect">
            <a:avLst/>
          </a:prstGeom>
          <a:noFill/>
        </p:spPr>
        <p:txBody>
          <a:bodyPr wrap="square" lIns="45720" rIns="45720" anchor="t">
            <a:spAutoFit/>
          </a:bodyPr>
          <a:lstStyle/>
          <a:p>
            <a:pPr algn="l"/>
            <a:r>
              <a:rPr sz="1800" b="1" i="0">
                <a:solidFill>
                  <a:srgbClr val="24323E"/>
                </a:solidFill>
                <a:latin typeface="Times New Roman"/>
              </a:rPr>
              <a:t>Can we cut them off?</a:t>
            </a:r>
          </a:p>
        </p:txBody>
      </p:sp>
      <p:sp>
        <p:nvSpPr>
          <p:cNvPr id="20" name="TextBox 19"/>
          <p:cNvSpPr txBox="1"/>
          <p:nvPr/>
        </p:nvSpPr>
        <p:spPr>
          <a:xfrm>
            <a:off x="1554480" y="5330952"/>
            <a:ext cx="4754880" cy="457200"/>
          </a:xfrm>
          <a:prstGeom prst="rect">
            <a:avLst/>
          </a:prstGeom>
          <a:noFill/>
        </p:spPr>
        <p:txBody>
          <a:bodyPr wrap="square" lIns="45720" rIns="45720" anchor="t">
            <a:spAutoFit/>
          </a:bodyPr>
          <a:lstStyle/>
          <a:p>
            <a:pPr algn="l"/>
            <a:r>
              <a:rPr sz="1400" b="0" i="0">
                <a:solidFill>
                  <a:srgbClr val="1A1A1A"/>
                </a:solidFill>
                <a:latin typeface="Times New Roman"/>
              </a:rPr>
              <a:t>One key revoked without affecting anyone else</a:t>
            </a:r>
          </a:p>
        </p:txBody>
      </p:sp>
      <p:sp>
        <p:nvSpPr>
          <p:cNvPr id="21" name="TextBox 20"/>
          <p:cNvSpPr txBox="1"/>
          <p:nvPr/>
        </p:nvSpPr>
        <p:spPr>
          <a:xfrm>
            <a:off x="6766560" y="1463040"/>
            <a:ext cx="4892040" cy="411480"/>
          </a:xfrm>
          <a:prstGeom prst="rect">
            <a:avLst/>
          </a:prstGeom>
          <a:noFill/>
        </p:spPr>
        <p:txBody>
          <a:bodyPr wrap="square" lIns="45720" rIns="45720" anchor="t">
            <a:spAutoFit/>
          </a:bodyPr>
          <a:lstStyle/>
          <a:p>
            <a:pPr algn="l"/>
            <a:r>
              <a:rPr sz="2000" b="1" i="0">
                <a:solidFill>
                  <a:srgbClr val="24323E"/>
                </a:solidFill>
                <a:latin typeface="Times New Roman"/>
              </a:rPr>
              <a:t>Where a key travels</a:t>
            </a:r>
          </a:p>
        </p:txBody>
      </p:sp>
      <p:sp>
        <p:nvSpPr>
          <p:cNvPr id="22" name="TextBox 21"/>
          <p:cNvSpPr txBox="1"/>
          <p:nvPr/>
        </p:nvSpPr>
        <p:spPr>
          <a:xfrm>
            <a:off x="6766560" y="1920240"/>
            <a:ext cx="4892040" cy="320040"/>
          </a:xfrm>
          <a:prstGeom prst="rect">
            <a:avLst/>
          </a:prstGeom>
          <a:noFill/>
        </p:spPr>
        <p:txBody>
          <a:bodyPr wrap="square" lIns="45720" rIns="45720" anchor="t">
            <a:spAutoFit/>
          </a:bodyPr>
          <a:lstStyle/>
          <a:p>
            <a:pPr algn="l"/>
            <a:r>
              <a:rPr sz="1400" b="0" i="0">
                <a:solidFill>
                  <a:srgbClr val="555F6A"/>
                </a:solidFill>
                <a:latin typeface="Times New Roman"/>
              </a:rPr>
              <a:t>Query string — ends up in logs and history</a:t>
            </a:r>
          </a:p>
        </p:txBody>
      </p:sp>
      <p:sp>
        <p:nvSpPr>
          <p:cNvPr id="23" name="Rectangle 22"/>
          <p:cNvSpPr/>
          <p:nvPr/>
        </p:nvSpPr>
        <p:spPr>
          <a:xfrm>
            <a:off x="6766560" y="2286000"/>
            <a:ext cx="4892040" cy="594360"/>
          </a:xfrm>
          <a:prstGeom prst="rect">
            <a:avLst/>
          </a:prstGeom>
          <a:solidFill>
            <a:srgbClr val="24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6903720" y="2377440"/>
            <a:ext cx="4617720" cy="411480"/>
          </a:xfrm>
          <a:prstGeom prst="rect">
            <a:avLst/>
          </a:prstGeom>
          <a:noFill/>
        </p:spPr>
        <p:txBody>
          <a:bodyPr wrap="square" lIns="0" tIns="0" rIns="0" bIns="0">
            <a:spAutoFit/>
          </a:bodyPr>
          <a:lstStyle/>
          <a:p>
            <a:pPr algn="l"/>
            <a:r>
              <a:rPr sz="1400" b="0" i="0">
                <a:solidFill>
                  <a:srgbClr val="E8ECF0"/>
                </a:solidFill>
                <a:latin typeface="Courier New"/>
              </a:rPr>
              <a:t>?api_key=abc123</a:t>
            </a:r>
          </a:p>
        </p:txBody>
      </p:sp>
      <p:sp>
        <p:nvSpPr>
          <p:cNvPr id="25" name="TextBox 24"/>
          <p:cNvSpPr txBox="1"/>
          <p:nvPr/>
        </p:nvSpPr>
        <p:spPr>
          <a:xfrm>
            <a:off x="6766560" y="3108960"/>
            <a:ext cx="4892040" cy="320040"/>
          </a:xfrm>
          <a:prstGeom prst="rect">
            <a:avLst/>
          </a:prstGeom>
          <a:noFill/>
        </p:spPr>
        <p:txBody>
          <a:bodyPr wrap="square" lIns="45720" rIns="45720" anchor="t">
            <a:spAutoFit/>
          </a:bodyPr>
          <a:lstStyle/>
          <a:p>
            <a:pPr algn="l"/>
            <a:r>
              <a:rPr sz="1400" b="0" i="0">
                <a:solidFill>
                  <a:srgbClr val="555F6A"/>
                </a:solidFill>
                <a:latin typeface="Times New Roman"/>
              </a:rPr>
              <a:t>Header — most modern APIs </a:t>
            </a:r>
            <a:r>
              <a:rPr sz="1400" b="1" i="0">
                <a:solidFill>
                  <a:srgbClr val="F67132"/>
                </a:solidFill>
                <a:latin typeface="Times New Roman"/>
              </a:rPr>
              <a:t>(preferred)</a:t>
            </a:r>
          </a:p>
        </p:txBody>
      </p:sp>
      <p:sp>
        <p:nvSpPr>
          <p:cNvPr id="26" name="Rectangle 25"/>
          <p:cNvSpPr/>
          <p:nvPr/>
        </p:nvSpPr>
        <p:spPr>
          <a:xfrm>
            <a:off x="6766560" y="3474720"/>
            <a:ext cx="4892040" cy="594360"/>
          </a:xfrm>
          <a:prstGeom prst="rect">
            <a:avLst/>
          </a:prstGeom>
          <a:solidFill>
            <a:srgbClr val="24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6903720" y="3566160"/>
            <a:ext cx="4617720" cy="411480"/>
          </a:xfrm>
          <a:prstGeom prst="rect">
            <a:avLst/>
          </a:prstGeom>
          <a:noFill/>
        </p:spPr>
        <p:txBody>
          <a:bodyPr wrap="square" lIns="0" tIns="0" rIns="0" bIns="0">
            <a:spAutoFit/>
          </a:bodyPr>
          <a:lstStyle/>
          <a:p>
            <a:pPr algn="l"/>
            <a:r>
              <a:rPr sz="1400" b="0" i="0">
                <a:solidFill>
                  <a:srgbClr val="E8ECF0"/>
                </a:solidFill>
                <a:latin typeface="Courier New"/>
              </a:rPr>
              <a:t>Authorization: Bearer abc123</a:t>
            </a:r>
          </a:p>
        </p:txBody>
      </p:sp>
      <p:sp>
        <p:nvSpPr>
          <p:cNvPr id="28" name="Rectangle 27"/>
          <p:cNvSpPr/>
          <p:nvPr/>
        </p:nvSpPr>
        <p:spPr>
          <a:xfrm>
            <a:off x="6766560" y="4389120"/>
            <a:ext cx="4892040" cy="1417320"/>
          </a:xfrm>
          <a:prstGeom prst="rect">
            <a:avLst/>
          </a:prstGeom>
          <a:solidFill>
            <a:srgbClr val="24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6949440" y="4434840"/>
            <a:ext cx="4526280" cy="1325880"/>
          </a:xfrm>
          <a:prstGeom prst="rect">
            <a:avLst/>
          </a:prstGeom>
          <a:noFill/>
        </p:spPr>
        <p:txBody>
          <a:bodyPr wrap="square" lIns="45720" rIns="45720" anchor="ctr">
            <a:spAutoFit/>
          </a:bodyPr>
          <a:lstStyle/>
          <a:p>
            <a:pPr algn="l"/>
            <a:r>
              <a:rPr sz="1600" b="1" i="0">
                <a:solidFill>
                  <a:srgbClr val="F67132"/>
                </a:solidFill>
                <a:latin typeface="Times New Roman"/>
              </a:rPr>
              <a:t>Open-Meteo needs no key: </a:t>
            </a:r>
            <a:r>
              <a:rPr sz="1600" b="0" i="0">
                <a:solidFill>
                  <a:srgbClr val="FFFFFF"/>
                </a:solidFill>
                <a:latin typeface="Times New Roman"/>
              </a:rPr>
              <a:t>it skips all four questions by limiting everyone the same way.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0" i="0">
                <a:solidFill>
                  <a:srgbClr val="1A1A1A"/>
                </a:solidFill>
                <a:latin typeface="Times New Roman"/>
              </a:rPr>
              <a:t>When the Key Is Wrong: </a:t>
            </a:r>
            <a:r>
              <a:rPr sz="3200" b="0" i="0">
                <a:solidFill>
                  <a:srgbClr val="F67132"/>
                </a:solidFill>
                <a:latin typeface="Times New Roman"/>
              </a:rPr>
              <a:t>Read the Refusal</a:t>
            </a:r>
          </a:p>
        </p:txBody>
      </p:sp>
      <p:sp>
        <p:nvSpPr>
          <p:cNvPr id="4" name="Text Placeholder 3"/>
          <p:cNvSpPr>
            <a:spLocks noGrp="1"/>
          </p:cNvSpPr>
          <p:nvPr>
            <p:ph type="body" sz="quarter" idx="13"/>
          </p:nvPr>
        </p:nvSpPr>
        <p:spPr/>
        <p:txBody>
          <a:bodyPr/>
          <a:lstStyle/>
          <a:p>
            <a:r>
              <a:rPr sz="1600" b="0" i="0">
                <a:solidFill>
                  <a:srgbClr val="1A1A1A"/>
                </a:solidFill>
                <a:latin typeface="Times New Roman"/>
              </a:rPr>
              <a:t>Cell 15 fails on purpose — the point is how</a:t>
            </a:r>
          </a:p>
        </p:txBody>
      </p:sp>
      <p:sp>
        <p:nvSpPr>
          <p:cNvPr id="5" name="Rectangle 4"/>
          <p:cNvSpPr/>
          <p:nvPr/>
        </p:nvSpPr>
        <p:spPr>
          <a:xfrm>
            <a:off x="548640" y="1508760"/>
            <a:ext cx="3520440" cy="3108960"/>
          </a:xfrm>
          <a:prstGeom prst="rect">
            <a:avLst/>
          </a:prstGeom>
          <a:solidFill>
            <a:srgbClr val="FBE5D6"/>
          </a:solidFill>
          <a:ln w="12700">
            <a:solidFill>
              <a:srgbClr val="24323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ectangle 5"/>
          <p:cNvSpPr/>
          <p:nvPr/>
        </p:nvSpPr>
        <p:spPr>
          <a:xfrm>
            <a:off x="548640" y="1508760"/>
            <a:ext cx="3520440" cy="1097280"/>
          </a:xfrm>
          <a:prstGeom prst="rect">
            <a:avLst/>
          </a:prstGeom>
          <a:solidFill>
            <a:srgbClr val="24323E"/>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3600" b="1" i="0">
                <a:solidFill>
                  <a:srgbClr val="FFFFFF"/>
                </a:solidFill>
                <a:latin typeface="Courier New"/>
              </a:rPr>
              <a:t>401</a:t>
            </a:r>
            <a:br/>
            <a:r>
              <a:rPr sz="1600" b="1" i="0">
                <a:solidFill>
                  <a:srgbClr val="FFFFFF"/>
                </a:solidFill>
                <a:latin typeface="Times New Roman"/>
              </a:rPr>
              <a:t>Unauthorized</a:t>
            </a:r>
          </a:p>
        </p:txBody>
      </p:sp>
      <p:sp>
        <p:nvSpPr>
          <p:cNvPr id="7" name="TextBox 6"/>
          <p:cNvSpPr txBox="1"/>
          <p:nvPr/>
        </p:nvSpPr>
        <p:spPr>
          <a:xfrm>
            <a:off x="731520" y="2743200"/>
            <a:ext cx="3154680" cy="777240"/>
          </a:xfrm>
          <a:prstGeom prst="rect">
            <a:avLst/>
          </a:prstGeom>
          <a:noFill/>
        </p:spPr>
        <p:txBody>
          <a:bodyPr wrap="square" lIns="45720" rIns="45720" anchor="t">
            <a:spAutoFit/>
          </a:bodyPr>
          <a:lstStyle/>
          <a:p>
            <a:pPr algn="l"/>
            <a:r>
              <a:rPr sz="1700" b="1" i="0">
                <a:solidFill>
                  <a:srgbClr val="24323E"/>
                </a:solidFill>
                <a:latin typeface="Times New Roman"/>
              </a:rPr>
              <a:t>No key, or a key that isn’t real</a:t>
            </a:r>
          </a:p>
        </p:txBody>
      </p:sp>
      <p:sp>
        <p:nvSpPr>
          <p:cNvPr id="8" name="TextBox 7"/>
          <p:cNvSpPr txBox="1"/>
          <p:nvPr/>
        </p:nvSpPr>
        <p:spPr>
          <a:xfrm>
            <a:off x="731520" y="3566160"/>
            <a:ext cx="3154680" cy="1005840"/>
          </a:xfrm>
          <a:prstGeom prst="rect">
            <a:avLst/>
          </a:prstGeom>
          <a:noFill/>
        </p:spPr>
        <p:txBody>
          <a:bodyPr wrap="square" lIns="45720" rIns="45720" anchor="t">
            <a:spAutoFit/>
          </a:bodyPr>
          <a:lstStyle/>
          <a:p>
            <a:pPr algn="l"/>
            <a:r>
              <a:rPr sz="1400" b="0" i="0">
                <a:solidFill>
                  <a:srgbClr val="1A1A1A"/>
                </a:solidFill>
                <a:latin typeface="Times New Roman"/>
              </a:rPr>
              <a:t>OpenWeather without a key · GitHub with a fake token</a:t>
            </a:r>
          </a:p>
        </p:txBody>
      </p:sp>
      <p:sp>
        <p:nvSpPr>
          <p:cNvPr id="9" name="Rectangle 8"/>
          <p:cNvSpPr/>
          <p:nvPr/>
        </p:nvSpPr>
        <p:spPr>
          <a:xfrm>
            <a:off x="4297679" y="1508760"/>
            <a:ext cx="3520440" cy="3108960"/>
          </a:xfrm>
          <a:prstGeom prst="rect">
            <a:avLst/>
          </a:prstGeom>
          <a:solidFill>
            <a:srgbClr val="FBE5D6"/>
          </a:solidFill>
          <a:ln w="12700">
            <a:solidFill>
              <a:srgbClr val="24323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4297679" y="1508760"/>
            <a:ext cx="3520440" cy="1097280"/>
          </a:xfrm>
          <a:prstGeom prst="rect">
            <a:avLst/>
          </a:prstGeom>
          <a:solidFill>
            <a:srgbClr val="24323E"/>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3600" b="1" i="0">
                <a:solidFill>
                  <a:srgbClr val="FFFFFF"/>
                </a:solidFill>
                <a:latin typeface="Courier New"/>
              </a:rPr>
              <a:t>403</a:t>
            </a:r>
            <a:br/>
            <a:r>
              <a:rPr sz="1600" b="1" i="0">
                <a:solidFill>
                  <a:srgbClr val="FFFFFF"/>
                </a:solidFill>
                <a:latin typeface="Times New Roman"/>
              </a:rPr>
              <a:t>Forbidden</a:t>
            </a:r>
          </a:p>
        </p:txBody>
      </p:sp>
      <p:sp>
        <p:nvSpPr>
          <p:cNvPr id="11" name="TextBox 10"/>
          <p:cNvSpPr txBox="1"/>
          <p:nvPr/>
        </p:nvSpPr>
        <p:spPr>
          <a:xfrm>
            <a:off x="4480559" y="2743200"/>
            <a:ext cx="3154680" cy="777240"/>
          </a:xfrm>
          <a:prstGeom prst="rect">
            <a:avLst/>
          </a:prstGeom>
          <a:noFill/>
        </p:spPr>
        <p:txBody>
          <a:bodyPr wrap="square" lIns="45720" rIns="45720" anchor="t">
            <a:spAutoFit/>
          </a:bodyPr>
          <a:lstStyle/>
          <a:p>
            <a:pPr algn="l"/>
            <a:r>
              <a:rPr sz="1700" b="1" i="0">
                <a:solidFill>
                  <a:srgbClr val="24323E"/>
                </a:solidFill>
                <a:latin typeface="Times New Roman"/>
              </a:rPr>
              <a:t>We know who you are — you still can’t have this</a:t>
            </a:r>
          </a:p>
        </p:txBody>
      </p:sp>
      <p:sp>
        <p:nvSpPr>
          <p:cNvPr id="12" name="TextBox 11"/>
          <p:cNvSpPr txBox="1"/>
          <p:nvPr/>
        </p:nvSpPr>
        <p:spPr>
          <a:xfrm>
            <a:off x="4480559" y="3566160"/>
            <a:ext cx="3154680" cy="1005840"/>
          </a:xfrm>
          <a:prstGeom prst="rect">
            <a:avLst/>
          </a:prstGeom>
          <a:noFill/>
        </p:spPr>
        <p:txBody>
          <a:bodyPr wrap="square" lIns="45720" rIns="45720" anchor="t">
            <a:spAutoFit/>
          </a:bodyPr>
          <a:lstStyle/>
          <a:p>
            <a:pPr algn="l"/>
            <a:r>
              <a:rPr sz="1400" b="0" i="0">
                <a:solidFill>
                  <a:srgbClr val="1A1A1A"/>
                </a:solidFill>
                <a:latin typeface="Times New Roman"/>
              </a:rPr>
              <a:t>Also: valid key, out of quota · Wikipedia with no User-Agent</a:t>
            </a:r>
          </a:p>
        </p:txBody>
      </p:sp>
      <p:sp>
        <p:nvSpPr>
          <p:cNvPr id="13" name="Rectangle 12"/>
          <p:cNvSpPr/>
          <p:nvPr/>
        </p:nvSpPr>
        <p:spPr>
          <a:xfrm>
            <a:off x="8046719" y="1508760"/>
            <a:ext cx="3520440" cy="3108960"/>
          </a:xfrm>
          <a:prstGeom prst="rect">
            <a:avLst/>
          </a:prstGeom>
          <a:solidFill>
            <a:srgbClr val="FBE5D6"/>
          </a:solidFill>
          <a:ln w="12700">
            <a:solidFill>
              <a:srgbClr val="24323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13"/>
          <p:cNvSpPr/>
          <p:nvPr/>
        </p:nvSpPr>
        <p:spPr>
          <a:xfrm>
            <a:off x="8046719" y="1508760"/>
            <a:ext cx="3520440" cy="1097280"/>
          </a:xfrm>
          <a:prstGeom prst="rect">
            <a:avLst/>
          </a:prstGeom>
          <a:solidFill>
            <a:srgbClr val="F6713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3600" b="1" i="0">
                <a:solidFill>
                  <a:srgbClr val="FFFFFF"/>
                </a:solidFill>
                <a:latin typeface="Courier New"/>
              </a:rPr>
              <a:t>429</a:t>
            </a:r>
            <a:br/>
            <a:r>
              <a:rPr sz="1600" b="1" i="0">
                <a:solidFill>
                  <a:srgbClr val="FFFFFF"/>
                </a:solidFill>
                <a:latin typeface="Times New Roman"/>
              </a:rPr>
              <a:t>Too Many Requests</a:t>
            </a:r>
          </a:p>
        </p:txBody>
      </p:sp>
      <p:sp>
        <p:nvSpPr>
          <p:cNvPr id="15" name="TextBox 14"/>
          <p:cNvSpPr txBox="1"/>
          <p:nvPr/>
        </p:nvSpPr>
        <p:spPr>
          <a:xfrm>
            <a:off x="8229599" y="2743200"/>
            <a:ext cx="3154680" cy="777240"/>
          </a:xfrm>
          <a:prstGeom prst="rect">
            <a:avLst/>
          </a:prstGeom>
          <a:noFill/>
        </p:spPr>
        <p:txBody>
          <a:bodyPr wrap="square" lIns="45720" rIns="45720" anchor="t">
            <a:spAutoFit/>
          </a:bodyPr>
          <a:lstStyle/>
          <a:p>
            <a:pPr algn="l"/>
            <a:r>
              <a:rPr sz="1700" b="1" i="0">
                <a:solidFill>
                  <a:srgbClr val="24323E"/>
                </a:solidFill>
                <a:latin typeface="Times New Roman"/>
              </a:rPr>
              <a:t>You are asking too fast</a:t>
            </a:r>
          </a:p>
        </p:txBody>
      </p:sp>
      <p:sp>
        <p:nvSpPr>
          <p:cNvPr id="16" name="TextBox 15"/>
          <p:cNvSpPr txBox="1"/>
          <p:nvPr/>
        </p:nvSpPr>
        <p:spPr>
          <a:xfrm>
            <a:off x="8229599" y="3566160"/>
            <a:ext cx="3154680" cy="1005840"/>
          </a:xfrm>
          <a:prstGeom prst="rect">
            <a:avLst/>
          </a:prstGeom>
          <a:noFill/>
        </p:spPr>
        <p:txBody>
          <a:bodyPr wrap="square" lIns="45720" rIns="45720" anchor="t">
            <a:spAutoFit/>
          </a:bodyPr>
          <a:lstStyle/>
          <a:p>
            <a:pPr algn="l"/>
            <a:r>
              <a:rPr sz="1400" b="0" i="0">
                <a:solidFill>
                  <a:srgbClr val="1A1A1A"/>
                </a:solidFill>
                <a:latin typeface="Times New Roman"/>
              </a:rPr>
              <a:t>Out-of-quota keys sometimes land here too</a:t>
            </a:r>
          </a:p>
        </p:txBody>
      </p:sp>
      <p:sp>
        <p:nvSpPr>
          <p:cNvPr id="17" name="Rectangle 16"/>
          <p:cNvSpPr/>
          <p:nvPr/>
        </p:nvSpPr>
        <p:spPr>
          <a:xfrm>
            <a:off x="548640" y="4892040"/>
            <a:ext cx="11109960" cy="1097280"/>
          </a:xfrm>
          <a:prstGeom prst="rect">
            <a:avLst/>
          </a:prstGeom>
          <a:solidFill>
            <a:srgbClr val="24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822960" y="4937760"/>
            <a:ext cx="10607040" cy="1005840"/>
          </a:xfrm>
          <a:prstGeom prst="rect">
            <a:avLst/>
          </a:prstGeom>
          <a:noFill/>
        </p:spPr>
        <p:txBody>
          <a:bodyPr wrap="square" lIns="45720" rIns="45720" anchor="ctr">
            <a:spAutoFit/>
          </a:bodyPr>
          <a:lstStyle/>
          <a:p>
            <a:pPr algn="l"/>
            <a:r>
              <a:rPr sz="1700" b="1" i="0">
                <a:solidFill>
                  <a:srgbClr val="F67132"/>
                </a:solidFill>
                <a:latin typeface="Times New Roman"/>
              </a:rPr>
              <a:t>401 and 403 are never worth retrying. </a:t>
            </a:r>
            <a:r>
              <a:rPr sz="1700" b="0" i="0">
                <a:solidFill>
                  <a:srgbClr val="FFFFFF"/>
                </a:solidFill>
                <a:latin typeface="Times New Roman"/>
              </a:rPr>
              <a:t>No amount of waiting will make a missing key appear. Read the body — it usually says exactly what’s wrong.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0" i="0">
                <a:solidFill>
                  <a:srgbClr val="1A1A1A"/>
                </a:solidFill>
                <a:latin typeface="Times New Roman"/>
              </a:rPr>
              <a:t>A Status of 200 </a:t>
            </a:r>
            <a:r>
              <a:rPr sz="3200" b="0" i="0">
                <a:solidFill>
                  <a:srgbClr val="F67132"/>
                </a:solidFill>
                <a:latin typeface="Times New Roman"/>
              </a:rPr>
              <a:t>Does Not Mean You Got Data</a:t>
            </a:r>
          </a:p>
        </p:txBody>
      </p:sp>
      <p:sp>
        <p:nvSpPr>
          <p:cNvPr id="4" name="Text Placeholder 3"/>
          <p:cNvSpPr>
            <a:spLocks noGrp="1"/>
          </p:cNvSpPr>
          <p:nvPr>
            <p:ph type="body" sz="quarter" idx="13"/>
          </p:nvPr>
        </p:nvSpPr>
        <p:spPr/>
        <p:txBody>
          <a:bodyPr/>
          <a:lstStyle/>
          <a:p>
            <a:r>
              <a:rPr sz="1600" b="0" i="0">
                <a:solidFill>
                  <a:srgbClr val="1A1A1A"/>
                </a:solidFill>
                <a:latin typeface="Times New Roman"/>
              </a:rPr>
              <a:t>The Census Bureau, after your free calls run out</a:t>
            </a:r>
          </a:p>
        </p:txBody>
      </p:sp>
      <p:sp>
        <p:nvSpPr>
          <p:cNvPr id="5" name="Rectangle 4"/>
          <p:cNvSpPr/>
          <p:nvPr/>
        </p:nvSpPr>
        <p:spPr>
          <a:xfrm>
            <a:off x="548640" y="1508760"/>
            <a:ext cx="5760720" cy="713232"/>
          </a:xfrm>
          <a:prstGeom prst="rect">
            <a:avLst/>
          </a:prstGeom>
          <a:solidFill>
            <a:srgbClr val="FBE5D6"/>
          </a:solidFill>
          <a:ln w="12700">
            <a:solidFill>
              <a:srgbClr val="24323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731520" y="1508760"/>
            <a:ext cx="2286000" cy="713232"/>
          </a:xfrm>
          <a:prstGeom prst="rect">
            <a:avLst/>
          </a:prstGeom>
          <a:noFill/>
        </p:spPr>
        <p:txBody>
          <a:bodyPr wrap="square" lIns="45720" rIns="45720" anchor="ctr">
            <a:spAutoFit/>
          </a:bodyPr>
          <a:lstStyle/>
          <a:p>
            <a:pPr algn="l"/>
            <a:r>
              <a:rPr sz="1600" b="1" i="0">
                <a:solidFill>
                  <a:srgbClr val="24323E"/>
                </a:solidFill>
                <a:latin typeface="Courier New"/>
              </a:rPr>
              <a:t>status</a:t>
            </a:r>
          </a:p>
        </p:txBody>
      </p:sp>
      <p:sp>
        <p:nvSpPr>
          <p:cNvPr id="7" name="Rounded Rectangle 6"/>
          <p:cNvSpPr/>
          <p:nvPr/>
        </p:nvSpPr>
        <p:spPr>
          <a:xfrm>
            <a:off x="3108960" y="1618488"/>
            <a:ext cx="3017520" cy="493776"/>
          </a:xfrm>
          <a:prstGeom prst="roundRect">
            <a:avLst>
              <a:gd name="adj" fmla="val 8000"/>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500" b="1" i="0">
                <a:solidFill>
                  <a:srgbClr val="FFFFFF"/>
                </a:solidFill>
                <a:latin typeface="Courier New"/>
              </a:rPr>
              <a:t>200</a:t>
            </a:r>
          </a:p>
        </p:txBody>
      </p:sp>
      <p:sp>
        <p:nvSpPr>
          <p:cNvPr id="8" name="Rectangle 7"/>
          <p:cNvSpPr/>
          <p:nvPr/>
        </p:nvSpPr>
        <p:spPr>
          <a:xfrm>
            <a:off x="548640" y="2377439"/>
            <a:ext cx="5760720" cy="713232"/>
          </a:xfrm>
          <a:prstGeom prst="rect">
            <a:avLst/>
          </a:prstGeom>
          <a:solidFill>
            <a:srgbClr val="FBE5D6"/>
          </a:solidFill>
          <a:ln w="12700">
            <a:solidFill>
              <a:srgbClr val="24323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731520" y="2377439"/>
            <a:ext cx="2286000" cy="713232"/>
          </a:xfrm>
          <a:prstGeom prst="rect">
            <a:avLst/>
          </a:prstGeom>
          <a:noFill/>
        </p:spPr>
        <p:txBody>
          <a:bodyPr wrap="square" lIns="45720" rIns="45720" anchor="ctr">
            <a:spAutoFit/>
          </a:bodyPr>
          <a:lstStyle/>
          <a:p>
            <a:pPr algn="l"/>
            <a:r>
              <a:rPr sz="1600" b="1" i="0">
                <a:solidFill>
                  <a:srgbClr val="24323E"/>
                </a:solidFill>
                <a:latin typeface="Courier New"/>
              </a:rPr>
              <a:t>Content-Type</a:t>
            </a:r>
          </a:p>
        </p:txBody>
      </p:sp>
      <p:sp>
        <p:nvSpPr>
          <p:cNvPr id="10" name="Rounded Rectangle 9"/>
          <p:cNvSpPr/>
          <p:nvPr/>
        </p:nvSpPr>
        <p:spPr>
          <a:xfrm>
            <a:off x="3108960" y="2487168"/>
            <a:ext cx="3017520" cy="493776"/>
          </a:xfrm>
          <a:prstGeom prst="roundRect">
            <a:avLst>
              <a:gd name="adj" fmla="val 8000"/>
            </a:avLst>
          </a:prstGeom>
          <a:solidFill>
            <a:srgbClr val="F6713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500" b="1" i="0">
                <a:solidFill>
                  <a:srgbClr val="FFFFFF"/>
                </a:solidFill>
                <a:latin typeface="Courier New"/>
              </a:rPr>
              <a:t>text/html</a:t>
            </a:r>
          </a:p>
        </p:txBody>
      </p:sp>
      <p:sp>
        <p:nvSpPr>
          <p:cNvPr id="11" name="Rectangle 10"/>
          <p:cNvSpPr/>
          <p:nvPr/>
        </p:nvSpPr>
        <p:spPr>
          <a:xfrm>
            <a:off x="548640" y="3246120"/>
            <a:ext cx="5760720" cy="713232"/>
          </a:xfrm>
          <a:prstGeom prst="rect">
            <a:avLst/>
          </a:prstGeom>
          <a:solidFill>
            <a:srgbClr val="FBE5D6"/>
          </a:solidFill>
          <a:ln w="12700">
            <a:solidFill>
              <a:srgbClr val="24323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731520" y="3246120"/>
            <a:ext cx="2286000" cy="713232"/>
          </a:xfrm>
          <a:prstGeom prst="rect">
            <a:avLst/>
          </a:prstGeom>
          <a:noFill/>
        </p:spPr>
        <p:txBody>
          <a:bodyPr wrap="square" lIns="45720" rIns="45720" anchor="ctr">
            <a:spAutoFit/>
          </a:bodyPr>
          <a:lstStyle/>
          <a:p>
            <a:pPr algn="l"/>
            <a:r>
              <a:rPr sz="1600" b="1" i="0">
                <a:solidFill>
                  <a:srgbClr val="24323E"/>
                </a:solidFill>
                <a:latin typeface="Courier New"/>
              </a:rPr>
              <a:t>r.text[:6]</a:t>
            </a:r>
          </a:p>
        </p:txBody>
      </p:sp>
      <p:sp>
        <p:nvSpPr>
          <p:cNvPr id="13" name="Rounded Rectangle 12"/>
          <p:cNvSpPr/>
          <p:nvPr/>
        </p:nvSpPr>
        <p:spPr>
          <a:xfrm>
            <a:off x="3108960" y="3355848"/>
            <a:ext cx="3017520" cy="493776"/>
          </a:xfrm>
          <a:prstGeom prst="roundRect">
            <a:avLst>
              <a:gd name="adj" fmla="val 8000"/>
            </a:avLst>
          </a:prstGeom>
          <a:solidFill>
            <a:srgbClr val="F6713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500" b="1" i="0">
                <a:solidFill>
                  <a:srgbClr val="FFFFFF"/>
                </a:solidFill>
                <a:latin typeface="Courier New"/>
              </a:rPr>
              <a:t>&lt;html&gt;</a:t>
            </a:r>
          </a:p>
        </p:txBody>
      </p:sp>
      <p:sp>
        <p:nvSpPr>
          <p:cNvPr id="14" name="Rectangle 13"/>
          <p:cNvSpPr/>
          <p:nvPr/>
        </p:nvSpPr>
        <p:spPr>
          <a:xfrm>
            <a:off x="548640" y="4114800"/>
            <a:ext cx="5760720" cy="713232"/>
          </a:xfrm>
          <a:prstGeom prst="rect">
            <a:avLst/>
          </a:prstGeom>
          <a:solidFill>
            <a:srgbClr val="FBE5D6"/>
          </a:solidFill>
          <a:ln w="12700">
            <a:solidFill>
              <a:srgbClr val="24323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731520" y="4114800"/>
            <a:ext cx="2286000" cy="713232"/>
          </a:xfrm>
          <a:prstGeom prst="rect">
            <a:avLst/>
          </a:prstGeom>
          <a:noFill/>
        </p:spPr>
        <p:txBody>
          <a:bodyPr wrap="square" lIns="45720" rIns="45720" anchor="ctr">
            <a:spAutoFit/>
          </a:bodyPr>
          <a:lstStyle/>
          <a:p>
            <a:pPr algn="l"/>
            <a:r>
              <a:rPr sz="1600" b="1" i="0">
                <a:solidFill>
                  <a:srgbClr val="24323E"/>
                </a:solidFill>
                <a:latin typeface="Courier New"/>
              </a:rPr>
              <a:t>r.json()</a:t>
            </a:r>
          </a:p>
        </p:txBody>
      </p:sp>
      <p:sp>
        <p:nvSpPr>
          <p:cNvPr id="16" name="Rounded Rectangle 15"/>
          <p:cNvSpPr/>
          <p:nvPr/>
        </p:nvSpPr>
        <p:spPr>
          <a:xfrm>
            <a:off x="3108960" y="4224528"/>
            <a:ext cx="3017520" cy="493776"/>
          </a:xfrm>
          <a:prstGeom prst="roundRect">
            <a:avLst>
              <a:gd name="adj" fmla="val 8000"/>
            </a:avLst>
          </a:prstGeom>
          <a:solidFill>
            <a:srgbClr val="B02A1E"/>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500" b="1" i="0">
                <a:solidFill>
                  <a:srgbClr val="FFFFFF"/>
                </a:solidFill>
                <a:latin typeface="Courier New"/>
              </a:rPr>
              <a:t>JSONDecodeError</a:t>
            </a:r>
          </a:p>
        </p:txBody>
      </p:sp>
      <p:sp>
        <p:nvSpPr>
          <p:cNvPr id="17" name="TextBox 16"/>
          <p:cNvSpPr txBox="1"/>
          <p:nvPr/>
        </p:nvSpPr>
        <p:spPr>
          <a:xfrm>
            <a:off x="548640" y="5029200"/>
            <a:ext cx="5760720" cy="914400"/>
          </a:xfrm>
          <a:prstGeom prst="rect">
            <a:avLst/>
          </a:prstGeom>
          <a:noFill/>
        </p:spPr>
        <p:txBody>
          <a:bodyPr wrap="square" lIns="45720" rIns="45720" anchor="t">
            <a:spAutoFit/>
          </a:bodyPr>
          <a:lstStyle/>
          <a:p>
            <a:pPr algn="l"/>
            <a:r>
              <a:rPr sz="1500" b="1" i="0">
                <a:solidFill>
                  <a:srgbClr val="1A1A1A"/>
                </a:solidFill>
                <a:latin typeface="Times New Roman"/>
              </a:rPr>
              <a:t>“line 1 column 1”</a:t>
            </a:r>
            <a:r>
              <a:rPr sz="1500" b="0" i="0">
                <a:solidFill>
                  <a:srgbClr val="1A1A1A"/>
                </a:solidFill>
                <a:latin typeface="Times New Roman"/>
              </a:rPr>
              <a:t> doesn’t mean malformed JSON. It means the thing you got was never JSON at all — </a:t>
            </a:r>
            <a:r>
              <a:rPr sz="1500" b="1" i="0">
                <a:solidFill>
                  <a:srgbClr val="1A1A1A"/>
                </a:solidFill>
                <a:latin typeface="Courier New"/>
              </a:rPr>
              <a:t>&lt;</a:t>
            </a:r>
            <a:r>
              <a:rPr sz="1500" b="0" i="0">
                <a:solidFill>
                  <a:srgbClr val="1A1A1A"/>
                </a:solidFill>
                <a:latin typeface="Times New Roman"/>
              </a:rPr>
              <a:t> can’t start a JSON document.</a:t>
            </a:r>
          </a:p>
        </p:txBody>
      </p:sp>
      <p:sp>
        <p:nvSpPr>
          <p:cNvPr id="18" name="Rectangle 17"/>
          <p:cNvSpPr/>
          <p:nvPr/>
        </p:nvSpPr>
        <p:spPr>
          <a:xfrm>
            <a:off x="6675120" y="1508760"/>
            <a:ext cx="4983480" cy="4480560"/>
          </a:xfrm>
          <a:prstGeom prst="rect">
            <a:avLst/>
          </a:prstGeom>
          <a:solidFill>
            <a:srgbClr val="24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6949440" y="1645920"/>
            <a:ext cx="4480560" cy="411480"/>
          </a:xfrm>
          <a:prstGeom prst="rect">
            <a:avLst/>
          </a:prstGeom>
          <a:noFill/>
        </p:spPr>
        <p:txBody>
          <a:bodyPr wrap="square" lIns="45720" rIns="45720" anchor="t">
            <a:spAutoFit/>
          </a:bodyPr>
          <a:lstStyle/>
          <a:p>
            <a:pPr algn="l"/>
            <a:r>
              <a:rPr sz="1800" b="1" i="0">
                <a:solidFill>
                  <a:srgbClr val="F67132"/>
                </a:solidFill>
                <a:latin typeface="Times New Roman"/>
              </a:rPr>
              <a:t>The habit worth taking from today</a:t>
            </a:r>
          </a:p>
        </p:txBody>
      </p:sp>
      <p:sp>
        <p:nvSpPr>
          <p:cNvPr id="20" name="TextBox 19"/>
          <p:cNvSpPr txBox="1"/>
          <p:nvPr/>
        </p:nvSpPr>
        <p:spPr>
          <a:xfrm>
            <a:off x="6949440" y="2103120"/>
            <a:ext cx="4480560" cy="640080"/>
          </a:xfrm>
          <a:prstGeom prst="rect">
            <a:avLst/>
          </a:prstGeom>
          <a:noFill/>
        </p:spPr>
        <p:txBody>
          <a:bodyPr wrap="square" lIns="45720" rIns="45720" anchor="t">
            <a:spAutoFit/>
          </a:bodyPr>
          <a:lstStyle/>
          <a:p>
            <a:pPr algn="l"/>
            <a:r>
              <a:rPr sz="1600" b="0" i="0">
                <a:solidFill>
                  <a:srgbClr val="FFFFFF"/>
                </a:solidFill>
                <a:latin typeface="Times New Roman"/>
              </a:rPr>
              <a:t>When r.json() fails, don’t stare at the traceback.</a:t>
            </a:r>
          </a:p>
        </p:txBody>
      </p:sp>
      <p:sp>
        <p:nvSpPr>
          <p:cNvPr id="21" name="Rectangle 20"/>
          <p:cNvSpPr/>
          <p:nvPr/>
        </p:nvSpPr>
        <p:spPr>
          <a:xfrm>
            <a:off x="6949440" y="2788920"/>
            <a:ext cx="4434840" cy="640080"/>
          </a:xfrm>
          <a:prstGeom prst="rect">
            <a:avLst/>
          </a:prstGeom>
          <a:solidFill>
            <a:srgbClr val="24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7086600" y="2880360"/>
            <a:ext cx="4160520" cy="457199"/>
          </a:xfrm>
          <a:prstGeom prst="rect">
            <a:avLst/>
          </a:prstGeom>
          <a:noFill/>
        </p:spPr>
        <p:txBody>
          <a:bodyPr wrap="square" lIns="0" tIns="0" rIns="0" bIns="0">
            <a:spAutoFit/>
          </a:bodyPr>
          <a:lstStyle/>
          <a:p>
            <a:pPr algn="l"/>
            <a:r>
              <a:rPr sz="1600" b="0" i="0">
                <a:solidFill>
                  <a:srgbClr val="E8ECF0"/>
                </a:solidFill>
                <a:latin typeface="Courier New"/>
              </a:rPr>
              <a:t>print(r.text[:200])</a:t>
            </a:r>
          </a:p>
        </p:txBody>
      </p:sp>
      <p:sp>
        <p:nvSpPr>
          <p:cNvPr id="23" name="TextBox 22"/>
          <p:cNvSpPr txBox="1"/>
          <p:nvPr/>
        </p:nvSpPr>
        <p:spPr>
          <a:xfrm>
            <a:off x="6949440" y="3566160"/>
            <a:ext cx="4480560" cy="365760"/>
          </a:xfrm>
          <a:prstGeom prst="rect">
            <a:avLst/>
          </a:prstGeom>
          <a:noFill/>
        </p:spPr>
        <p:txBody>
          <a:bodyPr wrap="square" lIns="45720" rIns="45720" anchor="t">
            <a:spAutoFit/>
          </a:bodyPr>
          <a:lstStyle/>
          <a:p>
            <a:pPr algn="l"/>
            <a:r>
              <a:rPr sz="1600" b="0" i="0">
                <a:solidFill>
                  <a:srgbClr val="FFFFFF"/>
                </a:solidFill>
                <a:latin typeface="Times New Roman"/>
              </a:rPr>
              <a:t>Nine times out of ten it’s:</a:t>
            </a:r>
          </a:p>
        </p:txBody>
      </p:sp>
      <p:sp>
        <p:nvSpPr>
          <p:cNvPr id="24" name="TextBox 23"/>
          <p:cNvSpPr txBox="1"/>
          <p:nvPr/>
        </p:nvSpPr>
        <p:spPr>
          <a:xfrm>
            <a:off x="6949440" y="3977639"/>
            <a:ext cx="4480560" cy="1463040"/>
          </a:xfrm>
          <a:prstGeom prst="rect">
            <a:avLst/>
          </a:prstGeom>
          <a:noFill/>
        </p:spPr>
        <p:txBody>
          <a:bodyPr wrap="square" lIns="45720" rIns="45720" anchor="t">
            <a:spAutoFit/>
          </a:bodyPr>
          <a:lstStyle/>
          <a:p>
            <a:pPr marL="201168" indent="-201168" algn="l">
              <a:buClr>
                <a:srgbClr val="F67132"/>
              </a:buClr>
              <a:buFont typeface="Arial"/>
              <a:buChar char="•"/>
            </a:pPr>
            <a:r>
              <a:rPr sz="1600" b="0" i="0">
                <a:solidFill>
                  <a:srgbClr val="FFFFFF"/>
                </a:solidFill>
                <a:latin typeface="Times New Roman"/>
              </a:rPr>
              <a:t>an HTML error page</a:t>
            </a:r>
          </a:p>
          <a:p>
            <a:pPr marL="201168" indent="-201168" algn="l">
              <a:spcBef>
                <a:spcPts val="400"/>
              </a:spcBef>
              <a:buClr>
                <a:srgbClr val="F67132"/>
              </a:buClr>
              <a:buFont typeface="Arial"/>
              <a:buChar char="•"/>
            </a:pPr>
            <a:r>
              <a:rPr sz="1600" b="0" i="0">
                <a:solidFill>
                  <a:srgbClr val="FFFFFF"/>
                </a:solidFill>
                <a:latin typeface="Times New Roman"/>
              </a:rPr>
              <a:t>a login redirect</a:t>
            </a:r>
          </a:p>
          <a:p>
            <a:pPr marL="201168" indent="-201168" algn="l">
              <a:spcBef>
                <a:spcPts val="400"/>
              </a:spcBef>
              <a:buClr>
                <a:srgbClr val="F67132"/>
              </a:buClr>
              <a:buFont typeface="Arial"/>
              <a:buChar char="•"/>
            </a:pPr>
            <a:r>
              <a:rPr sz="1600" b="0" i="0">
                <a:solidFill>
                  <a:srgbClr val="FFFFFF"/>
                </a:solidFill>
                <a:latin typeface="Times New Roman"/>
              </a:rPr>
              <a:t>a rate-limit notice</a:t>
            </a:r>
          </a:p>
        </p:txBody>
      </p:sp>
      <p:sp>
        <p:nvSpPr>
          <p:cNvPr id="25" name="TextBox 24"/>
          <p:cNvSpPr txBox="1"/>
          <p:nvPr/>
        </p:nvSpPr>
        <p:spPr>
          <a:xfrm>
            <a:off x="6949440" y="5257800"/>
            <a:ext cx="4480560" cy="640080"/>
          </a:xfrm>
          <a:prstGeom prst="rect">
            <a:avLst/>
          </a:prstGeom>
          <a:noFill/>
        </p:spPr>
        <p:txBody>
          <a:bodyPr wrap="square" lIns="45720" rIns="45720" anchor="t">
            <a:spAutoFit/>
          </a:bodyPr>
          <a:lstStyle/>
          <a:p>
            <a:pPr algn="l"/>
            <a:r>
              <a:rPr sz="1500" b="1" i="0">
                <a:solidFill>
                  <a:srgbClr val="FBE5D6"/>
                </a:solidFill>
                <a:latin typeface="Times New Roman"/>
              </a:rPr>
              <a:t>Your real problem is the request, not the parsing.</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0" i="0">
                <a:solidFill>
                  <a:srgbClr val="1A1A1A"/>
                </a:solidFill>
                <a:latin typeface="Times New Roman"/>
              </a:rPr>
              <a:t>Rate Limits: </a:t>
            </a:r>
            <a:r>
              <a:rPr sz="3200" b="0" i="0">
                <a:solidFill>
                  <a:srgbClr val="F67132"/>
                </a:solidFill>
                <a:latin typeface="Times New Roman"/>
              </a:rPr>
              <a:t>Know Where You Stand</a:t>
            </a:r>
          </a:p>
        </p:txBody>
      </p:sp>
      <p:sp>
        <p:nvSpPr>
          <p:cNvPr id="4" name="Text Placeholder 3"/>
          <p:cNvSpPr>
            <a:spLocks noGrp="1"/>
          </p:cNvSpPr>
          <p:nvPr>
            <p:ph type="body" sz="quarter" idx="13"/>
          </p:nvPr>
        </p:nvSpPr>
        <p:spPr/>
        <p:txBody>
          <a:bodyPr/>
          <a:lstStyle/>
          <a:p>
            <a:r>
              <a:rPr sz="1600" b="0" i="0">
                <a:solidFill>
                  <a:srgbClr val="1A1A1A"/>
                </a:solidFill>
                <a:latin typeface="Times New Roman"/>
              </a:rPr>
              <a:t>Over the cap → 429 Too Many Requests</a:t>
            </a:r>
          </a:p>
        </p:txBody>
      </p:sp>
      <p:sp>
        <p:nvSpPr>
          <p:cNvPr id="5" name="Rectangle 4"/>
          <p:cNvSpPr/>
          <p:nvPr/>
        </p:nvSpPr>
        <p:spPr>
          <a:xfrm>
            <a:off x="548640" y="1508760"/>
            <a:ext cx="2697480" cy="2286000"/>
          </a:xfrm>
          <a:prstGeom prst="rect">
            <a:avLst/>
          </a:prstGeom>
          <a:solidFill>
            <a:srgbClr val="FBE5D6"/>
          </a:solidFill>
          <a:ln w="12700">
            <a:solidFill>
              <a:srgbClr val="24323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640" y="1645920"/>
            <a:ext cx="2697480" cy="1005840"/>
          </a:xfrm>
          <a:prstGeom prst="rect">
            <a:avLst/>
          </a:prstGeom>
          <a:noFill/>
        </p:spPr>
        <p:txBody>
          <a:bodyPr wrap="square" lIns="45720" rIns="45720" anchor="ctr">
            <a:spAutoFit/>
          </a:bodyPr>
          <a:lstStyle/>
          <a:p>
            <a:pPr algn="ctr"/>
            <a:r>
              <a:rPr sz="6000" b="1" i="0">
                <a:solidFill>
                  <a:srgbClr val="24323E"/>
                </a:solidFill>
                <a:latin typeface="Times New Roman"/>
              </a:rPr>
              <a:t>60</a:t>
            </a:r>
          </a:p>
        </p:txBody>
      </p:sp>
      <p:sp>
        <p:nvSpPr>
          <p:cNvPr id="7" name="TextBox 6"/>
          <p:cNvSpPr txBox="1"/>
          <p:nvPr/>
        </p:nvSpPr>
        <p:spPr>
          <a:xfrm>
            <a:off x="548640" y="2697480"/>
            <a:ext cx="2697480" cy="914400"/>
          </a:xfrm>
          <a:prstGeom prst="rect">
            <a:avLst/>
          </a:prstGeom>
          <a:noFill/>
        </p:spPr>
        <p:txBody>
          <a:bodyPr wrap="square" lIns="45720" rIns="45720" anchor="t">
            <a:spAutoFit/>
          </a:bodyPr>
          <a:lstStyle/>
          <a:p>
            <a:pPr algn="ctr"/>
            <a:r>
              <a:rPr sz="1500" b="0" i="0">
                <a:solidFill>
                  <a:srgbClr val="1A1A1A"/>
                </a:solidFill>
                <a:latin typeface="Times New Roman"/>
              </a:rPr>
              <a:t>requests / hour</a:t>
            </a:r>
            <a:br/>
            <a:r>
              <a:rPr sz="1500" b="0" i="0">
                <a:solidFill>
                  <a:srgbClr val="1A1A1A"/>
                </a:solidFill>
                <a:latin typeface="Times New Roman"/>
              </a:rPr>
              <a:t>GitHub, no key</a:t>
            </a:r>
          </a:p>
        </p:txBody>
      </p:sp>
      <p:sp>
        <p:nvSpPr>
          <p:cNvPr id="8" name="Rectangle 7"/>
          <p:cNvSpPr/>
          <p:nvPr/>
        </p:nvSpPr>
        <p:spPr>
          <a:xfrm>
            <a:off x="3429000" y="1508760"/>
            <a:ext cx="2697480" cy="2286000"/>
          </a:xfrm>
          <a:prstGeom prst="rect">
            <a:avLst/>
          </a:prstGeom>
          <a:solidFill>
            <a:srgbClr val="FBE5D6"/>
          </a:solidFill>
          <a:ln w="12700">
            <a:solidFill>
              <a:srgbClr val="24323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3429000" y="1645920"/>
            <a:ext cx="2697480" cy="1005840"/>
          </a:xfrm>
          <a:prstGeom prst="rect">
            <a:avLst/>
          </a:prstGeom>
          <a:noFill/>
        </p:spPr>
        <p:txBody>
          <a:bodyPr wrap="square" lIns="45720" rIns="45720" anchor="ctr">
            <a:spAutoFit/>
          </a:bodyPr>
          <a:lstStyle/>
          <a:p>
            <a:pPr algn="ctr"/>
            <a:r>
              <a:rPr sz="6000" b="1" i="0">
                <a:solidFill>
                  <a:srgbClr val="F67132"/>
                </a:solidFill>
                <a:latin typeface="Times New Roman"/>
              </a:rPr>
              <a:t>5,000</a:t>
            </a:r>
          </a:p>
        </p:txBody>
      </p:sp>
      <p:sp>
        <p:nvSpPr>
          <p:cNvPr id="10" name="TextBox 9"/>
          <p:cNvSpPr txBox="1"/>
          <p:nvPr/>
        </p:nvSpPr>
        <p:spPr>
          <a:xfrm>
            <a:off x="3429000" y="2697480"/>
            <a:ext cx="2697480" cy="914400"/>
          </a:xfrm>
          <a:prstGeom prst="rect">
            <a:avLst/>
          </a:prstGeom>
          <a:noFill/>
        </p:spPr>
        <p:txBody>
          <a:bodyPr wrap="square" lIns="45720" rIns="45720" anchor="t">
            <a:spAutoFit/>
          </a:bodyPr>
          <a:lstStyle/>
          <a:p>
            <a:pPr algn="ctr"/>
            <a:r>
              <a:rPr sz="1500" b="0" i="0">
                <a:solidFill>
                  <a:srgbClr val="1A1A1A"/>
                </a:solidFill>
                <a:latin typeface="Times New Roman"/>
              </a:rPr>
              <a:t>requests / hour</a:t>
            </a:r>
            <a:br/>
            <a:r>
              <a:rPr sz="1500" b="0" i="0">
                <a:solidFill>
                  <a:srgbClr val="1A1A1A"/>
                </a:solidFill>
                <a:latin typeface="Times New Roman"/>
              </a:rPr>
              <a:t>GitHub, with a key</a:t>
            </a:r>
          </a:p>
        </p:txBody>
      </p:sp>
      <p:sp>
        <p:nvSpPr>
          <p:cNvPr id="11" name="TextBox 10"/>
          <p:cNvSpPr txBox="1"/>
          <p:nvPr/>
        </p:nvSpPr>
        <p:spPr>
          <a:xfrm>
            <a:off x="6492240" y="1463040"/>
            <a:ext cx="5166360" cy="365760"/>
          </a:xfrm>
          <a:prstGeom prst="rect">
            <a:avLst/>
          </a:prstGeom>
          <a:noFill/>
        </p:spPr>
        <p:txBody>
          <a:bodyPr wrap="square" lIns="45720" rIns="45720" anchor="t">
            <a:spAutoFit/>
          </a:bodyPr>
          <a:lstStyle/>
          <a:p>
            <a:pPr algn="l"/>
            <a:r>
              <a:rPr sz="1600" b="1" i="0">
                <a:solidFill>
                  <a:srgbClr val="24323E"/>
                </a:solidFill>
                <a:latin typeface="Times New Roman"/>
              </a:rPr>
              <a:t>Headers GitHub sends back</a:t>
            </a:r>
          </a:p>
        </p:txBody>
      </p:sp>
      <p:sp>
        <p:nvSpPr>
          <p:cNvPr id="12" name="Rectangle 11"/>
          <p:cNvSpPr/>
          <p:nvPr/>
        </p:nvSpPr>
        <p:spPr>
          <a:xfrm>
            <a:off x="6492240" y="1874519"/>
            <a:ext cx="5166360" cy="1920240"/>
          </a:xfrm>
          <a:prstGeom prst="rect">
            <a:avLst/>
          </a:prstGeom>
          <a:solidFill>
            <a:srgbClr val="24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629400" y="1965960"/>
            <a:ext cx="4892040" cy="1737360"/>
          </a:xfrm>
          <a:prstGeom prst="rect">
            <a:avLst/>
          </a:prstGeom>
          <a:noFill/>
        </p:spPr>
        <p:txBody>
          <a:bodyPr wrap="square" lIns="0" tIns="0" rIns="0" bIns="0">
            <a:spAutoFit/>
          </a:bodyPr>
          <a:lstStyle/>
          <a:p>
            <a:pPr algn="l"/>
            <a:r>
              <a:rPr sz="1300" b="0" i="0">
                <a:solidFill>
                  <a:srgbClr val="E8ECF0"/>
                </a:solidFill>
                <a:latin typeface="Courier New"/>
              </a:rPr>
              <a:t>X-RateLimit-Limit:     60</a:t>
            </a:r>
          </a:p>
          <a:p>
            <a:pPr algn="l"/>
            <a:r>
              <a:rPr sz="1300" b="0" i="0">
                <a:solidFill>
                  <a:srgbClr val="E8ECF0"/>
                </a:solidFill>
                <a:latin typeface="Courier New"/>
              </a:rPr>
              <a:t>X-RateLimit-Remaining: 57</a:t>
            </a:r>
          </a:p>
          <a:p>
            <a:pPr algn="l"/>
            <a:r>
              <a:rPr sz="1300" b="0" i="0">
                <a:solidFill>
                  <a:srgbClr val="E8ECF0"/>
                </a:solidFill>
                <a:latin typeface="Courier New"/>
              </a:rPr>
              <a:t>X-RateLimit-Reset:     &lt;unix time&gt;</a:t>
            </a:r>
          </a:p>
        </p:txBody>
      </p:sp>
      <p:sp>
        <p:nvSpPr>
          <p:cNvPr id="14" name="Rectangle 13"/>
          <p:cNvSpPr/>
          <p:nvPr/>
        </p:nvSpPr>
        <p:spPr>
          <a:xfrm>
            <a:off x="548640" y="4069080"/>
            <a:ext cx="5440680" cy="1920240"/>
          </a:xfrm>
          <a:prstGeom prst="rect">
            <a:avLst/>
          </a:prstGeom>
          <a:solidFill>
            <a:srgbClr val="24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777240" y="4206240"/>
            <a:ext cx="4983480" cy="731520"/>
          </a:xfrm>
          <a:prstGeom prst="rect">
            <a:avLst/>
          </a:prstGeom>
          <a:noFill/>
        </p:spPr>
        <p:txBody>
          <a:bodyPr wrap="square" lIns="45720" rIns="45720" anchor="t">
            <a:spAutoFit/>
          </a:bodyPr>
          <a:lstStyle/>
          <a:p>
            <a:pPr algn="l"/>
            <a:r>
              <a:rPr sz="1800" b="1" i="0">
                <a:solidFill>
                  <a:srgbClr val="F67132"/>
                </a:solidFill>
                <a:latin typeface="Times New Roman"/>
              </a:rPr>
              <a:t>Rule 1 · </a:t>
            </a:r>
            <a:r>
              <a:rPr sz="1800" b="1" i="0">
                <a:solidFill>
                  <a:srgbClr val="FFFFFF"/>
                </a:solidFill>
                <a:latin typeface="Times New Roman"/>
              </a:rPr>
              <a:t>Ask once and keep the answer</a:t>
            </a:r>
          </a:p>
        </p:txBody>
      </p:sp>
      <p:sp>
        <p:nvSpPr>
          <p:cNvPr id="16" name="TextBox 15"/>
          <p:cNvSpPr txBox="1"/>
          <p:nvPr/>
        </p:nvSpPr>
        <p:spPr>
          <a:xfrm>
            <a:off x="777240" y="4983480"/>
            <a:ext cx="4983480" cy="914400"/>
          </a:xfrm>
          <a:prstGeom prst="rect">
            <a:avLst/>
          </a:prstGeom>
          <a:noFill/>
        </p:spPr>
        <p:txBody>
          <a:bodyPr wrap="square" lIns="45720" rIns="45720" anchor="t">
            <a:spAutoFit/>
          </a:bodyPr>
          <a:lstStyle/>
          <a:p>
            <a:pPr algn="l"/>
            <a:r>
              <a:rPr sz="1500" b="0" i="0">
                <a:solidFill>
                  <a:srgbClr val="FBE5D6"/>
                </a:solidFill>
                <a:latin typeface="Times New Roman"/>
              </a:rPr>
              <a:t>That’s Build 4 — a cache.</a:t>
            </a:r>
          </a:p>
        </p:txBody>
      </p:sp>
      <p:sp>
        <p:nvSpPr>
          <p:cNvPr id="17" name="Rectangle 16"/>
          <p:cNvSpPr/>
          <p:nvPr/>
        </p:nvSpPr>
        <p:spPr>
          <a:xfrm>
            <a:off x="6217920" y="4069080"/>
            <a:ext cx="5440680" cy="1920240"/>
          </a:xfrm>
          <a:prstGeom prst="rect">
            <a:avLst/>
          </a:prstGeom>
          <a:solidFill>
            <a:srgbClr val="24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446520" y="4206240"/>
            <a:ext cx="4983480" cy="731520"/>
          </a:xfrm>
          <a:prstGeom prst="rect">
            <a:avLst/>
          </a:prstGeom>
          <a:noFill/>
        </p:spPr>
        <p:txBody>
          <a:bodyPr wrap="square" lIns="45720" rIns="45720" anchor="t">
            <a:spAutoFit/>
          </a:bodyPr>
          <a:lstStyle/>
          <a:p>
            <a:pPr algn="l"/>
            <a:r>
              <a:rPr sz="1800" b="1" i="0">
                <a:solidFill>
                  <a:srgbClr val="F67132"/>
                </a:solidFill>
                <a:latin typeface="Times New Roman"/>
              </a:rPr>
              <a:t>Rule 2 · </a:t>
            </a:r>
            <a:r>
              <a:rPr sz="1800" b="1" i="0">
                <a:solidFill>
                  <a:srgbClr val="FFFFFF"/>
                </a:solidFill>
                <a:latin typeface="Times New Roman"/>
              </a:rPr>
              <a:t>Never put a request in a tight loop without a pause</a:t>
            </a:r>
          </a:p>
        </p:txBody>
      </p:sp>
      <p:sp>
        <p:nvSpPr>
          <p:cNvPr id="19" name="TextBox 18"/>
          <p:cNvSpPr txBox="1"/>
          <p:nvPr/>
        </p:nvSpPr>
        <p:spPr>
          <a:xfrm>
            <a:off x="6446520" y="4983480"/>
            <a:ext cx="4983480" cy="914400"/>
          </a:xfrm>
          <a:prstGeom prst="rect">
            <a:avLst/>
          </a:prstGeom>
          <a:noFill/>
        </p:spPr>
        <p:txBody>
          <a:bodyPr wrap="square" lIns="45720" rIns="45720" anchor="t">
            <a:spAutoFit/>
          </a:bodyPr>
          <a:lstStyle/>
          <a:p>
            <a:pPr algn="l"/>
            <a:r>
              <a:rPr sz="1500" b="0" i="0">
                <a:solidFill>
                  <a:srgbClr val="FBE5D6"/>
                </a:solidFill>
                <a:latin typeface="Times New Roman"/>
              </a:rPr>
              <a:t>500 rows → 500 instant requests looks like an attack. You will be blocked.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0" i="0">
                <a:solidFill>
                  <a:srgbClr val="1A1A1A"/>
                </a:solidFill>
                <a:latin typeface="Times New Roman"/>
              </a:rPr>
              <a:t>Where a Key </a:t>
            </a:r>
            <a:r>
              <a:rPr sz="3200" b="0" i="0">
                <a:solidFill>
                  <a:srgbClr val="F67132"/>
                </a:solidFill>
                <a:latin typeface="Times New Roman"/>
              </a:rPr>
              <a:t>Must Never Go</a:t>
            </a:r>
          </a:p>
        </p:txBody>
      </p:sp>
      <p:sp>
        <p:nvSpPr>
          <p:cNvPr id="4" name="Text Placeholder 3"/>
          <p:cNvSpPr>
            <a:spLocks noGrp="1"/>
          </p:cNvSpPr>
          <p:nvPr>
            <p:ph type="body" sz="quarter" idx="13"/>
          </p:nvPr>
        </p:nvSpPr>
        <p:spPr/>
        <p:txBody>
          <a:bodyPr/>
          <a:lstStyle/>
          <a:p>
            <a:r>
              <a:rPr sz="1600" b="0" i="0">
                <a:solidFill>
                  <a:srgbClr val="1A1A1A"/>
                </a:solidFill>
                <a:latin typeface="Times New Roman"/>
              </a:rPr>
              <a:t>Public repos are scanned continuously — a leaked key is typically found and used within minutes</a:t>
            </a:r>
          </a:p>
        </p:txBody>
      </p:sp>
      <p:sp>
        <p:nvSpPr>
          <p:cNvPr id="5" name="Oval 4"/>
          <p:cNvSpPr/>
          <p:nvPr/>
        </p:nvSpPr>
        <p:spPr>
          <a:xfrm>
            <a:off x="548640" y="1874519"/>
            <a:ext cx="640080" cy="640080"/>
          </a:xfrm>
          <a:prstGeom prst="ellipse">
            <a:avLst/>
          </a:prstGeom>
          <a:solidFill>
            <a:srgbClr val="B02A1E"/>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2200" b="1" i="0">
                <a:solidFill>
                  <a:srgbClr val="FFFFFF"/>
                </a:solidFill>
                <a:latin typeface="Times New Roman"/>
              </a:rPr>
              <a:t>✗</a:t>
            </a:r>
          </a:p>
        </p:txBody>
      </p:sp>
      <p:sp>
        <p:nvSpPr>
          <p:cNvPr id="6" name="TextBox 5"/>
          <p:cNvSpPr txBox="1"/>
          <p:nvPr/>
        </p:nvSpPr>
        <p:spPr>
          <a:xfrm>
            <a:off x="1371600" y="1600200"/>
            <a:ext cx="3931920" cy="1188720"/>
          </a:xfrm>
          <a:prstGeom prst="rect">
            <a:avLst/>
          </a:prstGeom>
          <a:noFill/>
        </p:spPr>
        <p:txBody>
          <a:bodyPr wrap="square" lIns="45720" rIns="45720" anchor="ctr">
            <a:spAutoFit/>
          </a:bodyPr>
          <a:lstStyle/>
          <a:p>
            <a:pPr algn="l"/>
            <a:r>
              <a:rPr sz="1700" b="1" i="0">
                <a:solidFill>
                  <a:srgbClr val="B02A1E"/>
                </a:solidFill>
                <a:latin typeface="Times New Roman"/>
              </a:rPr>
              <a:t>Never — not even for five minutes</a:t>
            </a:r>
          </a:p>
        </p:txBody>
      </p:sp>
      <p:sp>
        <p:nvSpPr>
          <p:cNvPr id="7" name="Rectangle 6"/>
          <p:cNvSpPr/>
          <p:nvPr/>
        </p:nvSpPr>
        <p:spPr>
          <a:xfrm>
            <a:off x="5394960" y="1691640"/>
            <a:ext cx="6263640" cy="1005840"/>
          </a:xfrm>
          <a:prstGeom prst="rect">
            <a:avLst/>
          </a:prstGeom>
          <a:solidFill>
            <a:srgbClr val="24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5532120" y="1783080"/>
            <a:ext cx="5989320" cy="822960"/>
          </a:xfrm>
          <a:prstGeom prst="rect">
            <a:avLst/>
          </a:prstGeom>
          <a:noFill/>
        </p:spPr>
        <p:txBody>
          <a:bodyPr wrap="square" lIns="0" tIns="0" rIns="0" bIns="0">
            <a:spAutoFit/>
          </a:bodyPr>
          <a:lstStyle/>
          <a:p>
            <a:pPr algn="l"/>
            <a:r>
              <a:rPr sz="1300" b="0" i="0">
                <a:solidFill>
                  <a:srgbClr val="E8ECF0"/>
                </a:solidFill>
                <a:latin typeface="Courier New"/>
              </a:rPr>
              <a:t>KEY = 'a7f3c9e21b'</a:t>
            </a:r>
          </a:p>
        </p:txBody>
      </p:sp>
      <p:sp>
        <p:nvSpPr>
          <p:cNvPr id="9" name="Oval 8"/>
          <p:cNvSpPr/>
          <p:nvPr/>
        </p:nvSpPr>
        <p:spPr>
          <a:xfrm>
            <a:off x="548640" y="3246120"/>
            <a:ext cx="640080" cy="640080"/>
          </a:xfrm>
          <a:prstGeom prst="ellipse">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2200" b="1" i="0">
                <a:solidFill>
                  <a:srgbClr val="FFFFFF"/>
                </a:solidFill>
                <a:latin typeface="Times New Roman"/>
              </a:rPr>
              <a:t>✓</a:t>
            </a:r>
          </a:p>
        </p:txBody>
      </p:sp>
      <p:sp>
        <p:nvSpPr>
          <p:cNvPr id="10" name="TextBox 9"/>
          <p:cNvSpPr txBox="1"/>
          <p:nvPr/>
        </p:nvSpPr>
        <p:spPr>
          <a:xfrm>
            <a:off x="1371600" y="2971800"/>
            <a:ext cx="3931920" cy="1188720"/>
          </a:xfrm>
          <a:prstGeom prst="rect">
            <a:avLst/>
          </a:prstGeom>
          <a:noFill/>
        </p:spPr>
        <p:txBody>
          <a:bodyPr wrap="square" lIns="45720" rIns="45720" anchor="ctr">
            <a:spAutoFit/>
          </a:bodyPr>
          <a:lstStyle/>
          <a:p>
            <a:pPr algn="l"/>
            <a:r>
              <a:rPr sz="1700" b="1" i="0">
                <a:solidFill>
                  <a:srgbClr val="2E7D4F"/>
                </a:solidFill>
                <a:latin typeface="Times New Roman"/>
              </a:rPr>
              <a:t>In Colab — key icon in the sidebar</a:t>
            </a:r>
          </a:p>
        </p:txBody>
      </p:sp>
      <p:sp>
        <p:nvSpPr>
          <p:cNvPr id="11" name="Rectangle 10"/>
          <p:cNvSpPr/>
          <p:nvPr/>
        </p:nvSpPr>
        <p:spPr>
          <a:xfrm>
            <a:off x="5394960" y="3063240"/>
            <a:ext cx="6263640" cy="1005840"/>
          </a:xfrm>
          <a:prstGeom prst="rect">
            <a:avLst/>
          </a:prstGeom>
          <a:solidFill>
            <a:srgbClr val="24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5532120" y="3154680"/>
            <a:ext cx="5989320" cy="822960"/>
          </a:xfrm>
          <a:prstGeom prst="rect">
            <a:avLst/>
          </a:prstGeom>
          <a:noFill/>
        </p:spPr>
        <p:txBody>
          <a:bodyPr wrap="square" lIns="0" tIns="0" rIns="0" bIns="0">
            <a:spAutoFit/>
          </a:bodyPr>
          <a:lstStyle/>
          <a:p>
            <a:pPr algn="l"/>
            <a:r>
              <a:rPr sz="1300" b="0" i="0">
                <a:solidFill>
                  <a:srgbClr val="E8ECF0"/>
                </a:solidFill>
                <a:latin typeface="Courier New"/>
              </a:rPr>
              <a:t>from google.colab import userdata</a:t>
            </a:r>
          </a:p>
          <a:p>
            <a:pPr algn="l"/>
            <a:r>
              <a:rPr sz="1300" b="0" i="0">
                <a:solidFill>
                  <a:srgbClr val="E8ECF0"/>
                </a:solidFill>
                <a:latin typeface="Courier New"/>
              </a:rPr>
              <a:t>KEY = userdata.get('OPENWEATHER_KEY')</a:t>
            </a:r>
          </a:p>
        </p:txBody>
      </p:sp>
      <p:sp>
        <p:nvSpPr>
          <p:cNvPr id="13" name="Oval 12"/>
          <p:cNvSpPr/>
          <p:nvPr/>
        </p:nvSpPr>
        <p:spPr>
          <a:xfrm>
            <a:off x="548640" y="4617720"/>
            <a:ext cx="640080" cy="640080"/>
          </a:xfrm>
          <a:prstGeom prst="ellipse">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2200" b="1" i="0">
                <a:solidFill>
                  <a:srgbClr val="FFFFFF"/>
                </a:solidFill>
                <a:latin typeface="Times New Roman"/>
              </a:rPr>
              <a:t>✓</a:t>
            </a:r>
          </a:p>
        </p:txBody>
      </p:sp>
      <p:sp>
        <p:nvSpPr>
          <p:cNvPr id="14" name="TextBox 13"/>
          <p:cNvSpPr txBox="1"/>
          <p:nvPr/>
        </p:nvSpPr>
        <p:spPr>
          <a:xfrm>
            <a:off x="1371600" y="4343400"/>
            <a:ext cx="3931920" cy="1188720"/>
          </a:xfrm>
          <a:prstGeom prst="rect">
            <a:avLst/>
          </a:prstGeom>
          <a:noFill/>
        </p:spPr>
        <p:txBody>
          <a:bodyPr wrap="square" lIns="45720" rIns="45720" anchor="ctr">
            <a:spAutoFit/>
          </a:bodyPr>
          <a:lstStyle/>
          <a:p>
            <a:pPr algn="l"/>
            <a:r>
              <a:rPr sz="1700" b="1" i="0">
                <a:solidFill>
                  <a:srgbClr val="2E7D4F"/>
                </a:solidFill>
                <a:latin typeface="Times New Roman"/>
              </a:rPr>
              <a:t>Running locally — environment variable</a:t>
            </a:r>
          </a:p>
        </p:txBody>
      </p:sp>
      <p:sp>
        <p:nvSpPr>
          <p:cNvPr id="15" name="Rectangle 14"/>
          <p:cNvSpPr/>
          <p:nvPr/>
        </p:nvSpPr>
        <p:spPr>
          <a:xfrm>
            <a:off x="5394960" y="4434840"/>
            <a:ext cx="6263640" cy="1005840"/>
          </a:xfrm>
          <a:prstGeom prst="rect">
            <a:avLst/>
          </a:prstGeom>
          <a:solidFill>
            <a:srgbClr val="24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5532120" y="4526279"/>
            <a:ext cx="5989320" cy="822960"/>
          </a:xfrm>
          <a:prstGeom prst="rect">
            <a:avLst/>
          </a:prstGeom>
          <a:noFill/>
        </p:spPr>
        <p:txBody>
          <a:bodyPr wrap="square" lIns="0" tIns="0" rIns="0" bIns="0">
            <a:spAutoFit/>
          </a:bodyPr>
          <a:lstStyle/>
          <a:p>
            <a:pPr algn="l"/>
            <a:r>
              <a:rPr sz="1300" b="0" i="0">
                <a:solidFill>
                  <a:srgbClr val="E8ECF0"/>
                </a:solidFill>
                <a:latin typeface="Courier New"/>
              </a:rPr>
              <a:t>import os</a:t>
            </a:r>
          </a:p>
          <a:p>
            <a:pPr algn="l"/>
            <a:r>
              <a:rPr sz="1300" b="0" i="0">
                <a:solidFill>
                  <a:srgbClr val="E8ECF0"/>
                </a:solidFill>
                <a:latin typeface="Courier New"/>
              </a:rPr>
              <a:t>KEY = os.environ['OPENWEATHER_KEY']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0" i="0">
                <a:solidFill>
                  <a:srgbClr val="1A1A1A"/>
                </a:solidFill>
                <a:latin typeface="Times New Roman"/>
              </a:rPr>
              <a:t>The API Contract: </a:t>
            </a:r>
            <a:r>
              <a:rPr sz="3200" b="0" i="0">
                <a:solidFill>
                  <a:srgbClr val="F67132"/>
                </a:solidFill>
                <a:latin typeface="Times New Roman"/>
              </a:rPr>
              <a:t>Read Before You Code</a:t>
            </a:r>
          </a:p>
        </p:txBody>
      </p:sp>
      <p:sp>
        <p:nvSpPr>
          <p:cNvPr id="4" name="Text Placeholder 3"/>
          <p:cNvSpPr>
            <a:spLocks noGrp="1"/>
          </p:cNvSpPr>
          <p:nvPr>
            <p:ph type="body" sz="quarter" idx="13"/>
          </p:nvPr>
        </p:nvSpPr>
        <p:spPr/>
        <p:txBody>
          <a:bodyPr/>
          <a:lstStyle/>
          <a:p>
            <a:r>
              <a:rPr sz="1600" b="0" i="0">
                <a:solidFill>
                  <a:srgbClr val="1A1A1A"/>
                </a:solidFill>
                <a:latin typeface="Times New Roman"/>
              </a:rPr>
              <a:t>Find these in the documentation before writing any code</a:t>
            </a:r>
          </a:p>
        </p:txBody>
      </p:sp>
      <p:sp>
        <p:nvSpPr>
          <p:cNvPr id="5" name="Rectangle 4"/>
          <p:cNvSpPr/>
          <p:nvPr/>
        </p:nvSpPr>
        <p:spPr>
          <a:xfrm>
            <a:off x="548640" y="1508760"/>
            <a:ext cx="2633472" cy="1645920"/>
          </a:xfrm>
          <a:prstGeom prst="rect">
            <a:avLst/>
          </a:prstGeom>
          <a:solidFill>
            <a:srgbClr val="FBE5D6"/>
          </a:solidFill>
          <a:ln w="12700">
            <a:solidFill>
              <a:srgbClr val="24323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685800" y="1645919"/>
            <a:ext cx="457200" cy="457200"/>
          </a:xfrm>
          <a:prstGeom prst="ellipse">
            <a:avLst/>
          </a:prstGeom>
          <a:solidFill>
            <a:srgbClr val="F6713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400" b="1" i="0">
                <a:solidFill>
                  <a:srgbClr val="FFFFFF"/>
                </a:solidFill>
                <a:latin typeface="Times New Roman"/>
              </a:rPr>
              <a:t>1</a:t>
            </a:r>
          </a:p>
        </p:txBody>
      </p:sp>
      <p:sp>
        <p:nvSpPr>
          <p:cNvPr id="7" name="TextBox 6"/>
          <p:cNvSpPr txBox="1"/>
          <p:nvPr/>
        </p:nvSpPr>
        <p:spPr>
          <a:xfrm>
            <a:off x="1234440" y="1618488"/>
            <a:ext cx="1856231" cy="548640"/>
          </a:xfrm>
          <a:prstGeom prst="rect">
            <a:avLst/>
          </a:prstGeom>
          <a:noFill/>
        </p:spPr>
        <p:txBody>
          <a:bodyPr wrap="square" lIns="45720" rIns="45720" anchor="ctr">
            <a:spAutoFit/>
          </a:bodyPr>
          <a:lstStyle/>
          <a:p>
            <a:pPr algn="l"/>
            <a:r>
              <a:rPr sz="1600" b="1" i="0">
                <a:solidFill>
                  <a:srgbClr val="24323E"/>
                </a:solidFill>
                <a:latin typeface="Times New Roman"/>
              </a:rPr>
              <a:t>Base URL &amp; endpoint</a:t>
            </a:r>
          </a:p>
        </p:txBody>
      </p:sp>
      <p:sp>
        <p:nvSpPr>
          <p:cNvPr id="8" name="TextBox 7"/>
          <p:cNvSpPr txBox="1"/>
          <p:nvPr/>
        </p:nvSpPr>
        <p:spPr>
          <a:xfrm>
            <a:off x="685800" y="2240280"/>
            <a:ext cx="2359152" cy="868680"/>
          </a:xfrm>
          <a:prstGeom prst="rect">
            <a:avLst/>
          </a:prstGeom>
          <a:noFill/>
        </p:spPr>
        <p:txBody>
          <a:bodyPr wrap="square" lIns="45720" rIns="45720" anchor="t">
            <a:spAutoFit/>
          </a:bodyPr>
          <a:lstStyle/>
          <a:p>
            <a:pPr algn="l"/>
            <a:r>
              <a:rPr sz="1400" b="0" i="0">
                <a:solidFill>
                  <a:srgbClr val="1A1A1A"/>
                </a:solidFill>
                <a:latin typeface="Times New Roman"/>
              </a:rPr>
              <a:t>Which question you are asking</a:t>
            </a:r>
          </a:p>
        </p:txBody>
      </p:sp>
      <p:sp>
        <p:nvSpPr>
          <p:cNvPr id="9" name="Rectangle 8"/>
          <p:cNvSpPr/>
          <p:nvPr/>
        </p:nvSpPr>
        <p:spPr>
          <a:xfrm>
            <a:off x="3374136" y="1508760"/>
            <a:ext cx="2633472" cy="1645920"/>
          </a:xfrm>
          <a:prstGeom prst="rect">
            <a:avLst/>
          </a:prstGeom>
          <a:solidFill>
            <a:srgbClr val="FBE5D6"/>
          </a:solidFill>
          <a:ln w="12700">
            <a:solidFill>
              <a:srgbClr val="24323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Oval 9"/>
          <p:cNvSpPr/>
          <p:nvPr/>
        </p:nvSpPr>
        <p:spPr>
          <a:xfrm>
            <a:off x="3511296" y="1645919"/>
            <a:ext cx="457200" cy="457200"/>
          </a:xfrm>
          <a:prstGeom prst="ellipse">
            <a:avLst/>
          </a:prstGeom>
          <a:solidFill>
            <a:srgbClr val="F6713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400" b="1" i="0">
                <a:solidFill>
                  <a:srgbClr val="FFFFFF"/>
                </a:solidFill>
                <a:latin typeface="Times New Roman"/>
              </a:rPr>
              <a:t>2</a:t>
            </a:r>
          </a:p>
        </p:txBody>
      </p:sp>
      <p:sp>
        <p:nvSpPr>
          <p:cNvPr id="11" name="TextBox 10"/>
          <p:cNvSpPr txBox="1"/>
          <p:nvPr/>
        </p:nvSpPr>
        <p:spPr>
          <a:xfrm>
            <a:off x="4059935" y="1618488"/>
            <a:ext cx="1856231" cy="548640"/>
          </a:xfrm>
          <a:prstGeom prst="rect">
            <a:avLst/>
          </a:prstGeom>
          <a:noFill/>
        </p:spPr>
        <p:txBody>
          <a:bodyPr wrap="square" lIns="45720" rIns="45720" anchor="ctr">
            <a:spAutoFit/>
          </a:bodyPr>
          <a:lstStyle/>
          <a:p>
            <a:pPr algn="l"/>
            <a:r>
              <a:rPr sz="1600" b="1" i="0">
                <a:solidFill>
                  <a:srgbClr val="24323E"/>
                </a:solidFill>
                <a:latin typeface="Times New Roman"/>
              </a:rPr>
              <a:t>Parameters</a:t>
            </a:r>
          </a:p>
        </p:txBody>
      </p:sp>
      <p:sp>
        <p:nvSpPr>
          <p:cNvPr id="12" name="TextBox 11"/>
          <p:cNvSpPr txBox="1"/>
          <p:nvPr/>
        </p:nvSpPr>
        <p:spPr>
          <a:xfrm>
            <a:off x="3511296" y="2240280"/>
            <a:ext cx="2359152" cy="868680"/>
          </a:xfrm>
          <a:prstGeom prst="rect">
            <a:avLst/>
          </a:prstGeom>
          <a:noFill/>
        </p:spPr>
        <p:txBody>
          <a:bodyPr wrap="square" lIns="45720" rIns="45720" anchor="t">
            <a:spAutoFit/>
          </a:bodyPr>
          <a:lstStyle/>
          <a:p>
            <a:pPr algn="l"/>
            <a:r>
              <a:rPr sz="1400" b="0" i="0">
                <a:solidFill>
                  <a:srgbClr val="1A1A1A"/>
                </a:solidFill>
                <a:latin typeface="Times New Roman"/>
              </a:rPr>
              <a:t>How you narrow it down</a:t>
            </a:r>
          </a:p>
        </p:txBody>
      </p:sp>
      <p:sp>
        <p:nvSpPr>
          <p:cNvPr id="13" name="Rectangle 12"/>
          <p:cNvSpPr/>
          <p:nvPr/>
        </p:nvSpPr>
        <p:spPr>
          <a:xfrm>
            <a:off x="6199631" y="1508760"/>
            <a:ext cx="2633472" cy="1645920"/>
          </a:xfrm>
          <a:prstGeom prst="rect">
            <a:avLst/>
          </a:prstGeom>
          <a:solidFill>
            <a:srgbClr val="FBE5D6"/>
          </a:solidFill>
          <a:ln w="12700">
            <a:solidFill>
              <a:srgbClr val="24323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6336792" y="1645919"/>
            <a:ext cx="457200" cy="457200"/>
          </a:xfrm>
          <a:prstGeom prst="ellipse">
            <a:avLst/>
          </a:prstGeom>
          <a:solidFill>
            <a:srgbClr val="F6713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400" b="1" i="0">
                <a:solidFill>
                  <a:srgbClr val="FFFFFF"/>
                </a:solidFill>
                <a:latin typeface="Times New Roman"/>
              </a:rPr>
              <a:t>3</a:t>
            </a:r>
          </a:p>
        </p:txBody>
      </p:sp>
      <p:sp>
        <p:nvSpPr>
          <p:cNvPr id="15" name="TextBox 14"/>
          <p:cNvSpPr txBox="1"/>
          <p:nvPr/>
        </p:nvSpPr>
        <p:spPr>
          <a:xfrm>
            <a:off x="6885431" y="1618488"/>
            <a:ext cx="1856231" cy="548640"/>
          </a:xfrm>
          <a:prstGeom prst="rect">
            <a:avLst/>
          </a:prstGeom>
          <a:noFill/>
        </p:spPr>
        <p:txBody>
          <a:bodyPr wrap="square" lIns="45720" rIns="45720" anchor="ctr">
            <a:spAutoFit/>
          </a:bodyPr>
          <a:lstStyle/>
          <a:p>
            <a:pPr algn="l"/>
            <a:r>
              <a:rPr sz="1600" b="1" i="0">
                <a:solidFill>
                  <a:srgbClr val="24323E"/>
                </a:solidFill>
                <a:latin typeface="Times New Roman"/>
              </a:rPr>
              <a:t>Authentication</a:t>
            </a:r>
          </a:p>
        </p:txBody>
      </p:sp>
      <p:sp>
        <p:nvSpPr>
          <p:cNvPr id="16" name="TextBox 15"/>
          <p:cNvSpPr txBox="1"/>
          <p:nvPr/>
        </p:nvSpPr>
        <p:spPr>
          <a:xfrm>
            <a:off x="6336792" y="2240280"/>
            <a:ext cx="2359152" cy="868680"/>
          </a:xfrm>
          <a:prstGeom prst="rect">
            <a:avLst/>
          </a:prstGeom>
          <a:noFill/>
        </p:spPr>
        <p:txBody>
          <a:bodyPr wrap="square" lIns="45720" rIns="45720" anchor="t">
            <a:spAutoFit/>
          </a:bodyPr>
          <a:lstStyle/>
          <a:p>
            <a:pPr algn="l"/>
            <a:r>
              <a:rPr sz="1400" b="0" i="0">
                <a:solidFill>
                  <a:srgbClr val="1A1A1A"/>
                </a:solidFill>
                <a:latin typeface="Times New Roman"/>
              </a:rPr>
              <a:t>Key or no key; query string or header</a:t>
            </a:r>
          </a:p>
        </p:txBody>
      </p:sp>
      <p:sp>
        <p:nvSpPr>
          <p:cNvPr id="17" name="Rectangle 16"/>
          <p:cNvSpPr/>
          <p:nvPr/>
        </p:nvSpPr>
        <p:spPr>
          <a:xfrm>
            <a:off x="9025128" y="1508760"/>
            <a:ext cx="2633472" cy="1645920"/>
          </a:xfrm>
          <a:prstGeom prst="rect">
            <a:avLst/>
          </a:prstGeom>
          <a:solidFill>
            <a:srgbClr val="FBE5D6"/>
          </a:solidFill>
          <a:ln w="12700">
            <a:solidFill>
              <a:srgbClr val="24323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Oval 17"/>
          <p:cNvSpPr/>
          <p:nvPr/>
        </p:nvSpPr>
        <p:spPr>
          <a:xfrm>
            <a:off x="9162288" y="1645919"/>
            <a:ext cx="457200" cy="457200"/>
          </a:xfrm>
          <a:prstGeom prst="ellipse">
            <a:avLst/>
          </a:prstGeom>
          <a:solidFill>
            <a:srgbClr val="F6713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400" b="1" i="0">
                <a:solidFill>
                  <a:srgbClr val="FFFFFF"/>
                </a:solidFill>
                <a:latin typeface="Times New Roman"/>
              </a:rPr>
              <a:t>4</a:t>
            </a:r>
          </a:p>
        </p:txBody>
      </p:sp>
      <p:sp>
        <p:nvSpPr>
          <p:cNvPr id="19" name="TextBox 18"/>
          <p:cNvSpPr txBox="1"/>
          <p:nvPr/>
        </p:nvSpPr>
        <p:spPr>
          <a:xfrm>
            <a:off x="9710928" y="1618488"/>
            <a:ext cx="1856231" cy="548640"/>
          </a:xfrm>
          <a:prstGeom prst="rect">
            <a:avLst/>
          </a:prstGeom>
          <a:noFill/>
        </p:spPr>
        <p:txBody>
          <a:bodyPr wrap="square" lIns="45720" rIns="45720" anchor="ctr">
            <a:spAutoFit/>
          </a:bodyPr>
          <a:lstStyle/>
          <a:p>
            <a:pPr algn="l"/>
            <a:r>
              <a:rPr sz="1600" b="1" i="0">
                <a:solidFill>
                  <a:srgbClr val="24323E"/>
                </a:solidFill>
                <a:latin typeface="Times New Roman"/>
              </a:rPr>
              <a:t>Rate limit</a:t>
            </a:r>
          </a:p>
        </p:txBody>
      </p:sp>
      <p:sp>
        <p:nvSpPr>
          <p:cNvPr id="20" name="TextBox 19"/>
          <p:cNvSpPr txBox="1"/>
          <p:nvPr/>
        </p:nvSpPr>
        <p:spPr>
          <a:xfrm>
            <a:off x="9162288" y="2240280"/>
            <a:ext cx="2359152" cy="868680"/>
          </a:xfrm>
          <a:prstGeom prst="rect">
            <a:avLst/>
          </a:prstGeom>
          <a:noFill/>
        </p:spPr>
        <p:txBody>
          <a:bodyPr wrap="square" lIns="45720" rIns="45720" anchor="t">
            <a:spAutoFit/>
          </a:bodyPr>
          <a:lstStyle/>
          <a:p>
            <a:pPr algn="l"/>
            <a:r>
              <a:rPr sz="1400" b="0" i="0">
                <a:solidFill>
                  <a:srgbClr val="1A1A1A"/>
                </a:solidFill>
                <a:latin typeface="Times New Roman"/>
              </a:rPr>
              <a:t>How often you may ask</a:t>
            </a:r>
          </a:p>
        </p:txBody>
      </p:sp>
      <p:sp>
        <p:nvSpPr>
          <p:cNvPr id="21" name="Rectangle 20"/>
          <p:cNvSpPr/>
          <p:nvPr/>
        </p:nvSpPr>
        <p:spPr>
          <a:xfrm>
            <a:off x="1961388" y="3337560"/>
            <a:ext cx="2633472" cy="1645920"/>
          </a:xfrm>
          <a:prstGeom prst="rect">
            <a:avLst/>
          </a:prstGeom>
          <a:solidFill>
            <a:srgbClr val="FBE5D6"/>
          </a:solidFill>
          <a:ln w="12700">
            <a:solidFill>
              <a:srgbClr val="24323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Oval 21"/>
          <p:cNvSpPr/>
          <p:nvPr/>
        </p:nvSpPr>
        <p:spPr>
          <a:xfrm>
            <a:off x="2098548" y="3474720"/>
            <a:ext cx="457200" cy="457200"/>
          </a:xfrm>
          <a:prstGeom prst="ellipse">
            <a:avLst/>
          </a:prstGeom>
          <a:solidFill>
            <a:srgbClr val="F6713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400" b="1" i="0">
                <a:solidFill>
                  <a:srgbClr val="FFFFFF"/>
                </a:solidFill>
                <a:latin typeface="Times New Roman"/>
              </a:rPr>
              <a:t>5</a:t>
            </a:r>
          </a:p>
        </p:txBody>
      </p:sp>
      <p:sp>
        <p:nvSpPr>
          <p:cNvPr id="23" name="TextBox 22"/>
          <p:cNvSpPr txBox="1"/>
          <p:nvPr/>
        </p:nvSpPr>
        <p:spPr>
          <a:xfrm>
            <a:off x="2647188" y="3447288"/>
            <a:ext cx="1856231" cy="548640"/>
          </a:xfrm>
          <a:prstGeom prst="rect">
            <a:avLst/>
          </a:prstGeom>
          <a:noFill/>
        </p:spPr>
        <p:txBody>
          <a:bodyPr wrap="square" lIns="45720" rIns="45720" anchor="ctr">
            <a:spAutoFit/>
          </a:bodyPr>
          <a:lstStyle/>
          <a:p>
            <a:pPr algn="l"/>
            <a:r>
              <a:rPr sz="1600" b="1" i="0">
                <a:solidFill>
                  <a:srgbClr val="24323E"/>
                </a:solidFill>
                <a:latin typeface="Times New Roman"/>
              </a:rPr>
              <a:t>Response shape</a:t>
            </a:r>
          </a:p>
        </p:txBody>
      </p:sp>
      <p:sp>
        <p:nvSpPr>
          <p:cNvPr id="24" name="TextBox 23"/>
          <p:cNvSpPr txBox="1"/>
          <p:nvPr/>
        </p:nvSpPr>
        <p:spPr>
          <a:xfrm>
            <a:off x="2098548" y="4069080"/>
            <a:ext cx="2359152" cy="868680"/>
          </a:xfrm>
          <a:prstGeom prst="rect">
            <a:avLst/>
          </a:prstGeom>
          <a:noFill/>
        </p:spPr>
        <p:txBody>
          <a:bodyPr wrap="square" lIns="45720" rIns="45720" anchor="t">
            <a:spAutoFit/>
          </a:bodyPr>
          <a:lstStyle/>
          <a:p>
            <a:pPr algn="l"/>
            <a:r>
              <a:rPr sz="1400" b="0" i="0">
                <a:solidFill>
                  <a:srgbClr val="1A1A1A"/>
                </a:solidFill>
                <a:latin typeface="Times New Roman"/>
              </a:rPr>
              <a:t>What one record looks like; what’s optional</a:t>
            </a:r>
          </a:p>
        </p:txBody>
      </p:sp>
      <p:sp>
        <p:nvSpPr>
          <p:cNvPr id="25" name="Rectangle 24"/>
          <p:cNvSpPr/>
          <p:nvPr/>
        </p:nvSpPr>
        <p:spPr>
          <a:xfrm>
            <a:off x="4786883" y="3337560"/>
            <a:ext cx="2633472" cy="1645920"/>
          </a:xfrm>
          <a:prstGeom prst="rect">
            <a:avLst/>
          </a:prstGeom>
          <a:solidFill>
            <a:srgbClr val="FBE5D6"/>
          </a:solidFill>
          <a:ln w="12700">
            <a:solidFill>
              <a:srgbClr val="24323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Oval 25"/>
          <p:cNvSpPr/>
          <p:nvPr/>
        </p:nvSpPr>
        <p:spPr>
          <a:xfrm>
            <a:off x="4924044" y="3474720"/>
            <a:ext cx="457200" cy="457200"/>
          </a:xfrm>
          <a:prstGeom prst="ellipse">
            <a:avLst/>
          </a:prstGeom>
          <a:solidFill>
            <a:srgbClr val="F6713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400" b="1" i="0">
                <a:solidFill>
                  <a:srgbClr val="FFFFFF"/>
                </a:solidFill>
                <a:latin typeface="Times New Roman"/>
              </a:rPr>
              <a:t>6</a:t>
            </a:r>
          </a:p>
        </p:txBody>
      </p:sp>
      <p:sp>
        <p:nvSpPr>
          <p:cNvPr id="27" name="TextBox 26"/>
          <p:cNvSpPr txBox="1"/>
          <p:nvPr/>
        </p:nvSpPr>
        <p:spPr>
          <a:xfrm>
            <a:off x="5472683" y="3447288"/>
            <a:ext cx="1856231" cy="548640"/>
          </a:xfrm>
          <a:prstGeom prst="rect">
            <a:avLst/>
          </a:prstGeom>
          <a:noFill/>
        </p:spPr>
        <p:txBody>
          <a:bodyPr wrap="square" lIns="45720" rIns="45720" anchor="ctr">
            <a:spAutoFit/>
          </a:bodyPr>
          <a:lstStyle/>
          <a:p>
            <a:pPr algn="l"/>
            <a:r>
              <a:rPr sz="1600" b="1" i="0">
                <a:solidFill>
                  <a:srgbClr val="24323E"/>
                </a:solidFill>
                <a:latin typeface="Times New Roman"/>
              </a:rPr>
              <a:t>Terms of use</a:t>
            </a:r>
          </a:p>
        </p:txBody>
      </p:sp>
      <p:sp>
        <p:nvSpPr>
          <p:cNvPr id="28" name="TextBox 27"/>
          <p:cNvSpPr txBox="1"/>
          <p:nvPr/>
        </p:nvSpPr>
        <p:spPr>
          <a:xfrm>
            <a:off x="4924044" y="4069080"/>
            <a:ext cx="2359152" cy="868680"/>
          </a:xfrm>
          <a:prstGeom prst="rect">
            <a:avLst/>
          </a:prstGeom>
          <a:noFill/>
        </p:spPr>
        <p:txBody>
          <a:bodyPr wrap="square" lIns="45720" rIns="45720" anchor="t">
            <a:spAutoFit/>
          </a:bodyPr>
          <a:lstStyle/>
          <a:p>
            <a:pPr algn="l"/>
            <a:r>
              <a:rPr sz="1400" b="0" i="0">
                <a:solidFill>
                  <a:srgbClr val="1A1A1A"/>
                </a:solidFill>
                <a:latin typeface="Times New Roman"/>
              </a:rPr>
              <a:t>What you may do with it; how to credit it</a:t>
            </a:r>
          </a:p>
        </p:txBody>
      </p:sp>
      <p:sp>
        <p:nvSpPr>
          <p:cNvPr id="29" name="Rectangle 28"/>
          <p:cNvSpPr/>
          <p:nvPr/>
        </p:nvSpPr>
        <p:spPr>
          <a:xfrm>
            <a:off x="7612379" y="3337560"/>
            <a:ext cx="2633472" cy="1645920"/>
          </a:xfrm>
          <a:prstGeom prst="rect">
            <a:avLst/>
          </a:prstGeom>
          <a:solidFill>
            <a:srgbClr val="FBE5D6"/>
          </a:solidFill>
          <a:ln w="12700">
            <a:solidFill>
              <a:srgbClr val="24323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Oval 29"/>
          <p:cNvSpPr/>
          <p:nvPr/>
        </p:nvSpPr>
        <p:spPr>
          <a:xfrm>
            <a:off x="7749540" y="3474720"/>
            <a:ext cx="457200" cy="457200"/>
          </a:xfrm>
          <a:prstGeom prst="ellipse">
            <a:avLst/>
          </a:prstGeom>
          <a:solidFill>
            <a:srgbClr val="F6713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400" b="1" i="0">
                <a:solidFill>
                  <a:srgbClr val="FFFFFF"/>
                </a:solidFill>
                <a:latin typeface="Times New Roman"/>
              </a:rPr>
              <a:t>7</a:t>
            </a:r>
          </a:p>
        </p:txBody>
      </p:sp>
      <p:sp>
        <p:nvSpPr>
          <p:cNvPr id="31" name="TextBox 30"/>
          <p:cNvSpPr txBox="1"/>
          <p:nvPr/>
        </p:nvSpPr>
        <p:spPr>
          <a:xfrm>
            <a:off x="8298179" y="3447288"/>
            <a:ext cx="1856231" cy="548640"/>
          </a:xfrm>
          <a:prstGeom prst="rect">
            <a:avLst/>
          </a:prstGeom>
          <a:noFill/>
        </p:spPr>
        <p:txBody>
          <a:bodyPr wrap="square" lIns="45720" rIns="45720" anchor="ctr">
            <a:spAutoFit/>
          </a:bodyPr>
          <a:lstStyle/>
          <a:p>
            <a:pPr algn="l"/>
            <a:r>
              <a:rPr sz="1600" b="1" i="0">
                <a:solidFill>
                  <a:srgbClr val="24323E"/>
                </a:solidFill>
                <a:latin typeface="Times New Roman"/>
              </a:rPr>
              <a:t>Versioning</a:t>
            </a:r>
          </a:p>
        </p:txBody>
      </p:sp>
      <p:sp>
        <p:nvSpPr>
          <p:cNvPr id="32" name="TextBox 31"/>
          <p:cNvSpPr txBox="1"/>
          <p:nvPr/>
        </p:nvSpPr>
        <p:spPr>
          <a:xfrm>
            <a:off x="7749540" y="4069080"/>
            <a:ext cx="2359152" cy="868680"/>
          </a:xfrm>
          <a:prstGeom prst="rect">
            <a:avLst/>
          </a:prstGeom>
          <a:noFill/>
        </p:spPr>
        <p:txBody>
          <a:bodyPr wrap="square" lIns="45720" rIns="45720" anchor="t">
            <a:spAutoFit/>
          </a:bodyPr>
          <a:lstStyle/>
          <a:p>
            <a:pPr algn="l"/>
            <a:r>
              <a:rPr sz="1400" b="0" i="0">
                <a:solidFill>
                  <a:srgbClr val="1A1A1A"/>
                </a:solidFill>
                <a:latin typeface="Times New Roman"/>
              </a:rPr>
              <a:t>The /v1/ in the URL — a /v2/ can change everything</a:t>
            </a:r>
          </a:p>
        </p:txBody>
      </p:sp>
      <p:sp>
        <p:nvSpPr>
          <p:cNvPr id="33" name="TextBox 32"/>
          <p:cNvSpPr txBox="1"/>
          <p:nvPr/>
        </p:nvSpPr>
        <p:spPr>
          <a:xfrm>
            <a:off x="548640" y="5349240"/>
            <a:ext cx="11109960" cy="640080"/>
          </a:xfrm>
          <a:prstGeom prst="rect">
            <a:avLst/>
          </a:prstGeom>
          <a:noFill/>
        </p:spPr>
        <p:txBody>
          <a:bodyPr wrap="square" lIns="45720" rIns="45720" anchor="t">
            <a:spAutoFit/>
          </a:bodyPr>
          <a:lstStyle/>
          <a:p>
            <a:pPr algn="ctr"/>
            <a:r>
              <a:rPr sz="1700" b="1" i="0">
                <a:solidFill>
                  <a:srgbClr val="F67132"/>
                </a:solidFill>
                <a:latin typeface="Times New Roman"/>
              </a:rPr>
              <a:t>A real contract — and one the provider can rewrite. </a:t>
            </a:r>
            <a:r>
              <a:rPr sz="1700" b="0" i="0">
                <a:solidFill>
                  <a:srgbClr val="1A1A1A"/>
                </a:solidFill>
                <a:latin typeface="Times New Roman"/>
              </a:rPr>
              <a:t>Build code that notices when something changed.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48A386-5535-4367-B6A5-83232255ADBE}"/>
              </a:ext>
            </a:extLst>
          </p:cNvPr>
          <p:cNvSpPr txBox="1">
            <a:spLocks/>
          </p:cNvSpPr>
          <p:nvPr/>
        </p:nvSpPr>
        <p:spPr>
          <a:xfrm>
            <a:off x="613457" y="2595717"/>
            <a:ext cx="10949651" cy="17206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6000" dirty="0">
                <a:solidFill>
                  <a:srgbClr val="F67132"/>
                </a:solidFill>
                <a:latin typeface="Times New Roman" panose="02020603050405020304" pitchFamily="18" charset="0"/>
                <a:cs typeface="Times New Roman" panose="02020603050405020304" pitchFamily="18" charset="0"/>
              </a:rPr>
              <a:t>Part 2 — Getting the Data</a:t>
            </a:r>
          </a:p>
        </p:txBody>
      </p:sp>
      <p:sp>
        <p:nvSpPr>
          <p:cNvPr id="3" name="Subtitle 2">
            <a:extLst>
              <a:ext uri="{FF2B5EF4-FFF2-40B4-BE49-F238E27FC236}">
                <a16:creationId xmlns:a16="http://schemas.microsoft.com/office/drawing/2014/main" id="{C7CB5BE4-CFAE-4A84-946E-788A1BA2BF1C}"/>
              </a:ext>
            </a:extLst>
          </p:cNvPr>
          <p:cNvSpPr txBox="1">
            <a:spLocks/>
          </p:cNvSpPr>
          <p:nvPr/>
        </p:nvSpPr>
        <p:spPr>
          <a:xfrm>
            <a:off x="613457" y="3598600"/>
            <a:ext cx="10949651" cy="90211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solidFill>
                  <a:schemeClr val="bg1"/>
                </a:solidFill>
                <a:latin typeface="Times New Roman" panose="02020603050405020304" pitchFamily="18" charset="0"/>
                <a:cs typeface="Times New Roman" panose="02020603050405020304" pitchFamily="18" charset="0"/>
              </a:rPr>
              <a:t>…and surviving the attempt · Open-Meteo, the API your midterm runs 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0" i="0">
                <a:solidFill>
                  <a:srgbClr val="1A1A1A"/>
                </a:solidFill>
                <a:latin typeface="Times New Roman"/>
              </a:rPr>
              <a:t>Anatomy of a Request: </a:t>
            </a:r>
            <a:r>
              <a:rPr sz="3200" b="0" i="0">
                <a:solidFill>
                  <a:srgbClr val="F67132"/>
                </a:solidFill>
                <a:latin typeface="Times New Roman"/>
              </a:rPr>
              <a:t>URL, Status, Body</a:t>
            </a:r>
          </a:p>
        </p:txBody>
      </p:sp>
      <p:sp>
        <p:nvSpPr>
          <p:cNvPr id="4" name="Text Placeholder 3"/>
          <p:cNvSpPr>
            <a:spLocks noGrp="1"/>
          </p:cNvSpPr>
          <p:nvPr>
            <p:ph type="body" sz="quarter" idx="13"/>
          </p:nvPr>
        </p:nvSpPr>
        <p:spPr/>
        <p:txBody>
          <a:bodyPr/>
          <a:lstStyle/>
          <a:p>
            <a:r>
              <a:rPr sz="1600" b="0" i="0">
                <a:solidFill>
                  <a:srgbClr val="1A1A1A"/>
                </a:solidFill>
                <a:latin typeface="Times New Roman"/>
              </a:rPr>
              <a:t>The status code is the first thing to look at, every time</a:t>
            </a:r>
          </a:p>
        </p:txBody>
      </p:sp>
      <p:sp>
        <p:nvSpPr>
          <p:cNvPr id="5" name="Rectangle 4"/>
          <p:cNvSpPr/>
          <p:nvPr/>
        </p:nvSpPr>
        <p:spPr>
          <a:xfrm>
            <a:off x="548640" y="1508760"/>
            <a:ext cx="5120640" cy="548640"/>
          </a:xfrm>
          <a:prstGeom prst="rect">
            <a:avLst/>
          </a:prstGeom>
          <a:solidFill>
            <a:srgbClr val="24323E"/>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300" b="0" i="0">
                <a:solidFill>
                  <a:srgbClr val="FFFFFF"/>
                </a:solidFill>
                <a:latin typeface="Courier New"/>
              </a:rPr>
              <a:t>archive-api.open-meteo.com/v1/archive</a:t>
            </a:r>
          </a:p>
        </p:txBody>
      </p:sp>
      <p:sp>
        <p:nvSpPr>
          <p:cNvPr id="6" name="Rectangle 5"/>
          <p:cNvSpPr/>
          <p:nvPr/>
        </p:nvSpPr>
        <p:spPr>
          <a:xfrm>
            <a:off x="5669280" y="1508760"/>
            <a:ext cx="5989320" cy="548640"/>
          </a:xfrm>
          <a:prstGeom prst="rect">
            <a:avLst/>
          </a:prstGeom>
          <a:solidFill>
            <a:srgbClr val="F6713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300" b="0" i="0">
                <a:solidFill>
                  <a:srgbClr val="FFFFFF"/>
                </a:solidFill>
                <a:latin typeface="Courier New"/>
              </a:rPr>
              <a:t>?latitude=38.03&amp;start_date=…&amp;hourly=…</a:t>
            </a:r>
          </a:p>
        </p:txBody>
      </p:sp>
      <p:sp>
        <p:nvSpPr>
          <p:cNvPr id="7" name="TextBox 6"/>
          <p:cNvSpPr txBox="1"/>
          <p:nvPr/>
        </p:nvSpPr>
        <p:spPr>
          <a:xfrm>
            <a:off x="548640" y="2103120"/>
            <a:ext cx="5120640" cy="320040"/>
          </a:xfrm>
          <a:prstGeom prst="rect">
            <a:avLst/>
          </a:prstGeom>
          <a:noFill/>
        </p:spPr>
        <p:txBody>
          <a:bodyPr wrap="square" lIns="45720" rIns="45720" anchor="t">
            <a:spAutoFit/>
          </a:bodyPr>
          <a:lstStyle/>
          <a:p>
            <a:pPr algn="ctr"/>
            <a:r>
              <a:rPr sz="1300" b="0" i="0">
                <a:solidFill>
                  <a:srgbClr val="555F6A"/>
                </a:solidFill>
                <a:latin typeface="Times New Roman"/>
              </a:rPr>
              <a:t>base URL — which question</a:t>
            </a:r>
          </a:p>
        </p:txBody>
      </p:sp>
      <p:sp>
        <p:nvSpPr>
          <p:cNvPr id="8" name="TextBox 7"/>
          <p:cNvSpPr txBox="1"/>
          <p:nvPr/>
        </p:nvSpPr>
        <p:spPr>
          <a:xfrm>
            <a:off x="5669280" y="2103120"/>
            <a:ext cx="5989320" cy="320040"/>
          </a:xfrm>
          <a:prstGeom prst="rect">
            <a:avLst/>
          </a:prstGeom>
          <a:noFill/>
        </p:spPr>
        <p:txBody>
          <a:bodyPr wrap="square" lIns="45720" rIns="45720" anchor="t">
            <a:spAutoFit/>
          </a:bodyPr>
          <a:lstStyle/>
          <a:p>
            <a:pPr algn="ctr"/>
            <a:r>
              <a:rPr sz="1300" b="0" i="0">
                <a:solidFill>
                  <a:srgbClr val="555F6A"/>
                </a:solidFill>
                <a:latin typeface="Times New Roman"/>
              </a:rPr>
              <a:t>query parameters — how you narrow it</a:t>
            </a:r>
          </a:p>
        </p:txBody>
      </p:sp>
      <p:graphicFrame>
        <p:nvGraphicFramePr>
          <p:cNvPr id="9" name="Table 8"/>
          <p:cNvGraphicFramePr>
            <a:graphicFrameLocks noGrp="1"/>
          </p:cNvGraphicFramePr>
          <p:nvPr/>
        </p:nvGraphicFramePr>
        <p:xfrm>
          <a:off x="548640" y="2560320"/>
          <a:ext cx="11109960" cy="2743200"/>
        </p:xfrm>
        <a:graphic>
          <a:graphicData uri="http://schemas.openxmlformats.org/drawingml/2006/table">
            <a:tbl>
              <a:tblPr firstRow="1" bandRow="1">
                <a:tableStyleId>{5940675A-B579-460E-94D1-54222C63F5DA}</a:tableStyleId>
              </a:tblPr>
              <a:tblGrid>
                <a:gridCol w="146304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406908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457200">
                <a:tc>
                  <a:txBody>
                    <a:bodyPr/>
                    <a:lstStyle/>
                    <a:p>
                      <a:r>
                        <a:rPr sz="1500" b="1" i="0">
                          <a:solidFill>
                            <a:srgbClr val="FFFFFF"/>
                          </a:solidFill>
                          <a:latin typeface="Times New Roman"/>
                        </a:rPr>
                        <a:t>Code</a:t>
                      </a:r>
                    </a:p>
                  </a:txBody>
                  <a:tcPr marT="27432" marB="27432" anchor="ctr">
                    <a:solidFill>
                      <a:srgbClr val="24323E"/>
                    </a:solidFill>
                  </a:tcPr>
                </a:tc>
                <a:tc>
                  <a:txBody>
                    <a:bodyPr/>
                    <a:lstStyle/>
                    <a:p>
                      <a:r>
                        <a:rPr sz="1500" b="1" i="0">
                          <a:solidFill>
                            <a:srgbClr val="FFFFFF"/>
                          </a:solidFill>
                          <a:latin typeface="Times New Roman"/>
                        </a:rPr>
                        <a:t>Meaning</a:t>
                      </a:r>
                    </a:p>
                  </a:txBody>
                  <a:tcPr marT="27432" marB="27432" anchor="ctr">
                    <a:solidFill>
                      <a:srgbClr val="24323E"/>
                    </a:solidFill>
                  </a:tcPr>
                </a:tc>
                <a:tc>
                  <a:txBody>
                    <a:bodyPr/>
                    <a:lstStyle/>
                    <a:p>
                      <a:r>
                        <a:rPr sz="1500" b="1" i="0">
                          <a:solidFill>
                            <a:srgbClr val="FFFFFF"/>
                          </a:solidFill>
                          <a:latin typeface="Times New Roman"/>
                        </a:rPr>
                        <a:t>What you should do</a:t>
                      </a:r>
                    </a:p>
                  </a:txBody>
                  <a:tcPr marT="27432" marB="27432" anchor="ctr">
                    <a:solidFill>
                      <a:srgbClr val="24323E"/>
                    </a:solidFill>
                  </a:tcPr>
                </a:tc>
                <a:tc>
                  <a:txBody>
                    <a:bodyPr/>
                    <a:lstStyle/>
                    <a:p>
                      <a:r>
                        <a:rPr sz="1500" b="1" i="0">
                          <a:solidFill>
                            <a:srgbClr val="FFFFFF"/>
                          </a:solidFill>
                          <a:latin typeface="Times New Roman"/>
                        </a:rPr>
                        <a:t>Retry?</a:t>
                      </a:r>
                    </a:p>
                  </a:txBody>
                  <a:tcPr marT="27432" marB="27432" anchor="ctr">
                    <a:solidFill>
                      <a:srgbClr val="24323E"/>
                    </a:solidFill>
                  </a:tcPr>
                </a:tc>
                <a:extLst>
                  <a:ext uri="{0D108BD9-81ED-4DB2-BD59-A6C34878D82A}">
                    <a16:rowId xmlns:a16="http://schemas.microsoft.com/office/drawing/2014/main" val="10000"/>
                  </a:ext>
                </a:extLst>
              </a:tr>
              <a:tr h="457200">
                <a:tc>
                  <a:txBody>
                    <a:bodyPr/>
                    <a:lstStyle/>
                    <a:p>
                      <a:r>
                        <a:rPr sz="1500" b="1" i="0">
                          <a:solidFill>
                            <a:srgbClr val="1A1A1A"/>
                          </a:solidFill>
                          <a:latin typeface="Times New Roman"/>
                        </a:rPr>
                        <a:t>200</a:t>
                      </a:r>
                    </a:p>
                  </a:txBody>
                  <a:tcPr marT="27432" marB="27432" anchor="ctr">
                    <a:solidFill>
                      <a:srgbClr val="FBE5D6"/>
                    </a:solidFill>
                  </a:tcPr>
                </a:tc>
                <a:tc>
                  <a:txBody>
                    <a:bodyPr/>
                    <a:lstStyle/>
                    <a:p>
                      <a:r>
                        <a:rPr sz="1500" b="0" i="0">
                          <a:solidFill>
                            <a:srgbClr val="1A1A1A"/>
                          </a:solidFill>
                          <a:latin typeface="Times New Roman"/>
                        </a:rPr>
                        <a:t>Fine</a:t>
                      </a:r>
                    </a:p>
                  </a:txBody>
                  <a:tcPr marT="27432" marB="27432" anchor="ctr">
                    <a:solidFill>
                      <a:srgbClr val="FBE5D6"/>
                    </a:solidFill>
                  </a:tcPr>
                </a:tc>
                <a:tc>
                  <a:txBody>
                    <a:bodyPr/>
                    <a:lstStyle/>
                    <a:p>
                      <a:r>
                        <a:rPr sz="1500" b="0" i="0">
                          <a:solidFill>
                            <a:srgbClr val="1A1A1A"/>
                          </a:solidFill>
                          <a:latin typeface="Times New Roman"/>
                        </a:rPr>
                        <a:t>Parse the body</a:t>
                      </a:r>
                    </a:p>
                  </a:txBody>
                  <a:tcPr marT="27432" marB="27432" anchor="ctr">
                    <a:solidFill>
                      <a:srgbClr val="FBE5D6"/>
                    </a:solidFill>
                  </a:tcPr>
                </a:tc>
                <a:tc>
                  <a:txBody>
                    <a:bodyPr/>
                    <a:lstStyle/>
                    <a:p>
                      <a:r>
                        <a:rPr sz="1500" b="0" i="0">
                          <a:solidFill>
                            <a:srgbClr val="1A1A1A"/>
                          </a:solidFill>
                          <a:latin typeface="Times New Roman"/>
                        </a:rPr>
                        <a:t>—</a:t>
                      </a:r>
                    </a:p>
                  </a:txBody>
                  <a:tcPr marT="27432" marB="27432" anchor="ctr">
                    <a:solidFill>
                      <a:srgbClr val="FBE5D6"/>
                    </a:solidFill>
                  </a:tcPr>
                </a:tc>
                <a:extLst>
                  <a:ext uri="{0D108BD9-81ED-4DB2-BD59-A6C34878D82A}">
                    <a16:rowId xmlns:a16="http://schemas.microsoft.com/office/drawing/2014/main" val="10001"/>
                  </a:ext>
                </a:extLst>
              </a:tr>
              <a:tr h="457200">
                <a:tc>
                  <a:txBody>
                    <a:bodyPr/>
                    <a:lstStyle/>
                    <a:p>
                      <a:r>
                        <a:rPr sz="1500" b="1" i="0">
                          <a:solidFill>
                            <a:srgbClr val="1A1A1A"/>
                          </a:solidFill>
                          <a:latin typeface="Times New Roman"/>
                        </a:rPr>
                        <a:t>400</a:t>
                      </a:r>
                    </a:p>
                  </a:txBody>
                  <a:tcPr marT="27432" marB="27432" anchor="ctr">
                    <a:solidFill>
                      <a:srgbClr val="FDF2EA"/>
                    </a:solidFill>
                  </a:tcPr>
                </a:tc>
                <a:tc>
                  <a:txBody>
                    <a:bodyPr/>
                    <a:lstStyle/>
                    <a:p>
                      <a:r>
                        <a:rPr sz="1500" b="0" i="0">
                          <a:solidFill>
                            <a:srgbClr val="1A1A1A"/>
                          </a:solidFill>
                          <a:latin typeface="Times New Roman"/>
                        </a:rPr>
                        <a:t>Your request was malformed</a:t>
                      </a:r>
                    </a:p>
                  </a:txBody>
                  <a:tcPr marT="27432" marB="27432" anchor="ctr">
                    <a:solidFill>
                      <a:srgbClr val="FDF2EA"/>
                    </a:solidFill>
                  </a:tcPr>
                </a:tc>
                <a:tc>
                  <a:txBody>
                    <a:bodyPr/>
                    <a:lstStyle/>
                    <a:p>
                      <a:r>
                        <a:rPr sz="1500" b="0" i="0">
                          <a:solidFill>
                            <a:srgbClr val="1A1A1A"/>
                          </a:solidFill>
                          <a:latin typeface="Times New Roman"/>
                        </a:rPr>
                        <a:t>Fix your parameters</a:t>
                      </a:r>
                    </a:p>
                  </a:txBody>
                  <a:tcPr marT="27432" marB="27432" anchor="ctr">
                    <a:solidFill>
                      <a:srgbClr val="FDF2EA"/>
                    </a:solidFill>
                  </a:tcPr>
                </a:tc>
                <a:tc>
                  <a:txBody>
                    <a:bodyPr/>
                    <a:lstStyle/>
                    <a:p>
                      <a:r>
                        <a:rPr sz="1500" b="0" i="0">
                          <a:solidFill>
                            <a:srgbClr val="1A1A1A"/>
                          </a:solidFill>
                          <a:latin typeface="Times New Roman"/>
                        </a:rPr>
                        <a:t>No</a:t>
                      </a:r>
                    </a:p>
                  </a:txBody>
                  <a:tcPr marT="27432" marB="27432" anchor="ctr">
                    <a:solidFill>
                      <a:srgbClr val="F6D8D4"/>
                    </a:solidFill>
                  </a:tcPr>
                </a:tc>
                <a:extLst>
                  <a:ext uri="{0D108BD9-81ED-4DB2-BD59-A6C34878D82A}">
                    <a16:rowId xmlns:a16="http://schemas.microsoft.com/office/drawing/2014/main" val="10002"/>
                  </a:ext>
                </a:extLst>
              </a:tr>
              <a:tr h="457200">
                <a:tc>
                  <a:txBody>
                    <a:bodyPr/>
                    <a:lstStyle/>
                    <a:p>
                      <a:r>
                        <a:rPr sz="1500" b="1" i="0">
                          <a:solidFill>
                            <a:srgbClr val="1A1A1A"/>
                          </a:solidFill>
                          <a:latin typeface="Times New Roman"/>
                        </a:rPr>
                        <a:t>404</a:t>
                      </a:r>
                    </a:p>
                  </a:txBody>
                  <a:tcPr marT="27432" marB="27432" anchor="ctr">
                    <a:solidFill>
                      <a:srgbClr val="FBE5D6"/>
                    </a:solidFill>
                  </a:tcPr>
                </a:tc>
                <a:tc>
                  <a:txBody>
                    <a:bodyPr/>
                    <a:lstStyle/>
                    <a:p>
                      <a:r>
                        <a:rPr sz="1500" b="0" i="0">
                          <a:solidFill>
                            <a:srgbClr val="1A1A1A"/>
                          </a:solidFill>
                          <a:latin typeface="Times New Roman"/>
                        </a:rPr>
                        <a:t>Wrong URL</a:t>
                      </a:r>
                    </a:p>
                  </a:txBody>
                  <a:tcPr marT="27432" marB="27432" anchor="ctr">
                    <a:solidFill>
                      <a:srgbClr val="FBE5D6"/>
                    </a:solidFill>
                  </a:tcPr>
                </a:tc>
                <a:tc>
                  <a:txBody>
                    <a:bodyPr/>
                    <a:lstStyle/>
                    <a:p>
                      <a:r>
                        <a:rPr sz="1500" b="0" i="0">
                          <a:solidFill>
                            <a:srgbClr val="1A1A1A"/>
                          </a:solidFill>
                          <a:latin typeface="Times New Roman"/>
                        </a:rPr>
                        <a:t>Fix the URL</a:t>
                      </a:r>
                    </a:p>
                  </a:txBody>
                  <a:tcPr marT="27432" marB="27432" anchor="ctr">
                    <a:solidFill>
                      <a:srgbClr val="FBE5D6"/>
                    </a:solidFill>
                  </a:tcPr>
                </a:tc>
                <a:tc>
                  <a:txBody>
                    <a:bodyPr/>
                    <a:lstStyle/>
                    <a:p>
                      <a:r>
                        <a:rPr sz="1500" b="0" i="0">
                          <a:solidFill>
                            <a:srgbClr val="1A1A1A"/>
                          </a:solidFill>
                          <a:latin typeface="Times New Roman"/>
                        </a:rPr>
                        <a:t>No</a:t>
                      </a:r>
                    </a:p>
                  </a:txBody>
                  <a:tcPr marT="27432" marB="27432" anchor="ctr">
                    <a:solidFill>
                      <a:srgbClr val="F6D8D4"/>
                    </a:solidFill>
                  </a:tcPr>
                </a:tc>
                <a:extLst>
                  <a:ext uri="{0D108BD9-81ED-4DB2-BD59-A6C34878D82A}">
                    <a16:rowId xmlns:a16="http://schemas.microsoft.com/office/drawing/2014/main" val="10003"/>
                  </a:ext>
                </a:extLst>
              </a:tr>
              <a:tr h="457200">
                <a:tc>
                  <a:txBody>
                    <a:bodyPr/>
                    <a:lstStyle/>
                    <a:p>
                      <a:r>
                        <a:rPr sz="1500" b="1" i="0">
                          <a:solidFill>
                            <a:srgbClr val="1A1A1A"/>
                          </a:solidFill>
                          <a:latin typeface="Times New Roman"/>
                        </a:rPr>
                        <a:t>429</a:t>
                      </a:r>
                    </a:p>
                  </a:txBody>
                  <a:tcPr marT="27432" marB="27432" anchor="ctr">
                    <a:solidFill>
                      <a:srgbClr val="FDF2EA"/>
                    </a:solidFill>
                  </a:tcPr>
                </a:tc>
                <a:tc>
                  <a:txBody>
                    <a:bodyPr/>
                    <a:lstStyle/>
                    <a:p>
                      <a:r>
                        <a:rPr sz="1500" b="0" i="0">
                          <a:solidFill>
                            <a:srgbClr val="1A1A1A"/>
                          </a:solidFill>
                          <a:latin typeface="Times New Roman"/>
                        </a:rPr>
                        <a:t>You are asking too fast</a:t>
                      </a:r>
                    </a:p>
                  </a:txBody>
                  <a:tcPr marT="27432" marB="27432" anchor="ctr">
                    <a:solidFill>
                      <a:srgbClr val="FDF2EA"/>
                    </a:solidFill>
                  </a:tcPr>
                </a:tc>
                <a:tc>
                  <a:txBody>
                    <a:bodyPr/>
                    <a:lstStyle/>
                    <a:p>
                      <a:r>
                        <a:rPr sz="1500" b="0" i="0">
                          <a:solidFill>
                            <a:srgbClr val="1A1A1A"/>
                          </a:solidFill>
                          <a:latin typeface="Times New Roman"/>
                        </a:rPr>
                        <a:t>Slow down and retry</a:t>
                      </a:r>
                    </a:p>
                  </a:txBody>
                  <a:tcPr marT="27432" marB="27432" anchor="ctr">
                    <a:solidFill>
                      <a:srgbClr val="FDF2EA"/>
                    </a:solidFill>
                  </a:tcPr>
                </a:tc>
                <a:tc>
                  <a:txBody>
                    <a:bodyPr/>
                    <a:lstStyle/>
                    <a:p>
                      <a:r>
                        <a:rPr sz="1500" b="0" i="0">
                          <a:solidFill>
                            <a:srgbClr val="1A1A1A"/>
                          </a:solidFill>
                          <a:latin typeface="Times New Roman"/>
                        </a:rPr>
                        <a:t>Yes</a:t>
                      </a:r>
                    </a:p>
                  </a:txBody>
                  <a:tcPr marT="27432" marB="27432" anchor="ctr">
                    <a:solidFill>
                      <a:srgbClr val="DCEFE3"/>
                    </a:solidFill>
                  </a:tcPr>
                </a:tc>
                <a:extLst>
                  <a:ext uri="{0D108BD9-81ED-4DB2-BD59-A6C34878D82A}">
                    <a16:rowId xmlns:a16="http://schemas.microsoft.com/office/drawing/2014/main" val="10004"/>
                  </a:ext>
                </a:extLst>
              </a:tr>
              <a:tr h="457200">
                <a:tc>
                  <a:txBody>
                    <a:bodyPr/>
                    <a:lstStyle/>
                    <a:p>
                      <a:r>
                        <a:rPr sz="1500" b="1" i="0">
                          <a:solidFill>
                            <a:srgbClr val="1A1A1A"/>
                          </a:solidFill>
                          <a:latin typeface="Times New Roman"/>
                        </a:rPr>
                        <a:t>500–504</a:t>
                      </a:r>
                    </a:p>
                  </a:txBody>
                  <a:tcPr marT="27432" marB="27432" anchor="ctr">
                    <a:solidFill>
                      <a:srgbClr val="FBE5D6"/>
                    </a:solidFill>
                  </a:tcPr>
                </a:tc>
                <a:tc>
                  <a:txBody>
                    <a:bodyPr/>
                    <a:lstStyle/>
                    <a:p>
                      <a:r>
                        <a:rPr sz="1500" b="0" i="0">
                          <a:solidFill>
                            <a:srgbClr val="1A1A1A"/>
                          </a:solidFill>
                          <a:latin typeface="Times New Roman"/>
                        </a:rPr>
                        <a:t>Their server had a problem</a:t>
                      </a:r>
                    </a:p>
                  </a:txBody>
                  <a:tcPr marT="27432" marB="27432" anchor="ctr">
                    <a:solidFill>
                      <a:srgbClr val="FBE5D6"/>
                    </a:solidFill>
                  </a:tcPr>
                </a:tc>
                <a:tc>
                  <a:txBody>
                    <a:bodyPr/>
                    <a:lstStyle/>
                    <a:p>
                      <a:r>
                        <a:rPr sz="1500" b="0" i="0">
                          <a:solidFill>
                            <a:srgbClr val="1A1A1A"/>
                          </a:solidFill>
                          <a:latin typeface="Times New Roman"/>
                        </a:rPr>
                        <a:t>Wait and retry</a:t>
                      </a:r>
                    </a:p>
                  </a:txBody>
                  <a:tcPr marT="27432" marB="27432" anchor="ctr">
                    <a:solidFill>
                      <a:srgbClr val="FBE5D6"/>
                    </a:solidFill>
                  </a:tcPr>
                </a:tc>
                <a:tc>
                  <a:txBody>
                    <a:bodyPr/>
                    <a:lstStyle/>
                    <a:p>
                      <a:r>
                        <a:rPr sz="1500" b="0" i="0">
                          <a:solidFill>
                            <a:srgbClr val="1A1A1A"/>
                          </a:solidFill>
                          <a:latin typeface="Times New Roman"/>
                        </a:rPr>
                        <a:t>Yes</a:t>
                      </a:r>
                    </a:p>
                  </a:txBody>
                  <a:tcPr marT="27432" marB="27432" anchor="ctr">
                    <a:solidFill>
                      <a:srgbClr val="DCEFE3"/>
                    </a:solidFill>
                  </a:tcPr>
                </a:tc>
                <a:extLst>
                  <a:ext uri="{0D108BD9-81ED-4DB2-BD59-A6C34878D82A}">
                    <a16:rowId xmlns:a16="http://schemas.microsoft.com/office/drawing/2014/main" val="10005"/>
                  </a:ext>
                </a:extLst>
              </a:tr>
            </a:tbl>
          </a:graphicData>
        </a:graphic>
      </p:graphicFrame>
      <p:sp>
        <p:nvSpPr>
          <p:cNvPr id="10" name="TextBox 9"/>
          <p:cNvSpPr txBox="1"/>
          <p:nvPr/>
        </p:nvSpPr>
        <p:spPr>
          <a:xfrm>
            <a:off x="548640" y="5486400"/>
            <a:ext cx="11109960" cy="502920"/>
          </a:xfrm>
          <a:prstGeom prst="rect">
            <a:avLst/>
          </a:prstGeom>
          <a:noFill/>
        </p:spPr>
        <p:txBody>
          <a:bodyPr wrap="square" lIns="45720" rIns="45720" anchor="t">
            <a:spAutoFit/>
          </a:bodyPr>
          <a:lstStyle/>
          <a:p>
            <a:pPr algn="ctr"/>
            <a:r>
              <a:rPr sz="1800" b="1" i="0">
                <a:solidFill>
                  <a:srgbClr val="F67132"/>
                </a:solidFill>
                <a:latin typeface="Times New Roman"/>
              </a:rPr>
              <a:t>Retry the server’s problems. </a:t>
            </a:r>
            <a:r>
              <a:rPr sz="1800" b="1" i="0">
                <a:solidFill>
                  <a:srgbClr val="24323E"/>
                </a:solidFill>
                <a:latin typeface="Times New Roman"/>
              </a:rPr>
              <a:t>Never retry your own mistakes.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0" i="0">
                <a:solidFill>
                  <a:srgbClr val="1A1A1A"/>
                </a:solidFill>
                <a:latin typeface="Times New Roman"/>
              </a:rPr>
              <a:t>Build 1: </a:t>
            </a:r>
            <a:r>
              <a:rPr sz="3200" b="0" i="0">
                <a:solidFill>
                  <a:srgbClr val="F67132"/>
                </a:solidFill>
                <a:latin typeface="Times New Roman"/>
              </a:rPr>
              <a:t>See the URL Before You Send It</a:t>
            </a:r>
          </a:p>
        </p:txBody>
      </p:sp>
      <p:sp>
        <p:nvSpPr>
          <p:cNvPr id="3" name="Rectangle 2"/>
          <p:cNvSpPr/>
          <p:nvPr/>
        </p:nvSpPr>
        <p:spPr>
          <a:xfrm>
            <a:off x="548640" y="1463040"/>
            <a:ext cx="6675120" cy="3246120"/>
          </a:xfrm>
          <a:prstGeom prst="rect">
            <a:avLst/>
          </a:prstGeom>
          <a:solidFill>
            <a:srgbClr val="24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685800" y="1554480"/>
            <a:ext cx="6400800" cy="3063239"/>
          </a:xfrm>
          <a:prstGeom prst="rect">
            <a:avLst/>
          </a:prstGeom>
          <a:noFill/>
        </p:spPr>
        <p:txBody>
          <a:bodyPr wrap="square" lIns="0" tIns="0" rIns="0" bIns="0">
            <a:spAutoFit/>
          </a:bodyPr>
          <a:lstStyle/>
          <a:p>
            <a:pPr algn="l"/>
            <a:r>
              <a:rPr sz="1200" b="0" i="0">
                <a:solidFill>
                  <a:srgbClr val="E8ECF0"/>
                </a:solidFill>
                <a:latin typeface="Courier New"/>
              </a:rPr>
              <a:t>END = date.today() - timedelta(days=3)   </a:t>
            </a:r>
            <a:r>
              <a:rPr sz="1200" b="0" i="0">
                <a:solidFill>
                  <a:srgbClr val="9AA8B5"/>
                </a:solidFill>
                <a:latin typeface="Courier New"/>
              </a:rPr>
              <a:t># let it settle</a:t>
            </a:r>
          </a:p>
          <a:p>
            <a:pPr algn="l"/>
            <a:r>
              <a:rPr sz="1200" b="0" i="0">
                <a:solidFill>
                  <a:srgbClr val="E8ECF0"/>
                </a:solidFill>
                <a:latin typeface="Courier New"/>
              </a:rPr>
              <a:t>START = END - timedelta(days=2)          </a:t>
            </a:r>
            <a:r>
              <a:rPr sz="1200" b="0" i="0">
                <a:solidFill>
                  <a:srgbClr val="9AA8B5"/>
                </a:solidFill>
                <a:latin typeface="Courier New"/>
              </a:rPr>
              <a:t># three days</a:t>
            </a:r>
          </a:p>
          <a:p>
            <a:pPr algn="l"/>
            <a:r>
              <a:rPr sz="1200" b="0" i="0">
                <a:solidFill>
                  <a:srgbClr val="E8ECF0"/>
                </a:solidFill>
                <a:latin typeface="Courier New"/>
              </a:rPr>
              <a:t> </a:t>
            </a:r>
          </a:p>
          <a:p>
            <a:pPr algn="l"/>
            <a:r>
              <a:rPr sz="1200" b="0" i="0">
                <a:solidFill>
                  <a:srgbClr val="E8ECF0"/>
                </a:solidFill>
                <a:latin typeface="Courier New"/>
              </a:rPr>
              <a:t>params = {</a:t>
            </a:r>
          </a:p>
          <a:p>
            <a:pPr algn="l"/>
            <a:r>
              <a:rPr sz="1200" b="0" i="0">
                <a:solidFill>
                  <a:srgbClr val="E8ECF0"/>
                </a:solidFill>
                <a:latin typeface="Courier New"/>
              </a:rPr>
              <a:t>    'latitude': 38.03, 'longitude': -78.51,</a:t>
            </a:r>
          </a:p>
          <a:p>
            <a:pPr algn="l"/>
            <a:r>
              <a:rPr sz="1200" b="0" i="0">
                <a:solidFill>
                  <a:srgbClr val="E8ECF0"/>
                </a:solidFill>
                <a:latin typeface="Courier New"/>
              </a:rPr>
              <a:t>    'start_date': START.isoformat(),</a:t>
            </a:r>
          </a:p>
          <a:p>
            <a:pPr algn="l"/>
            <a:r>
              <a:rPr sz="1200" b="0" i="0">
                <a:solidFill>
                  <a:srgbClr val="E8ECF0"/>
                </a:solidFill>
                <a:latin typeface="Courier New"/>
              </a:rPr>
              <a:t>    'end_date': END.isoformat(),</a:t>
            </a:r>
          </a:p>
          <a:p>
            <a:pPr algn="l"/>
            <a:r>
              <a:rPr sz="1200" b="0" i="0">
                <a:solidFill>
                  <a:srgbClr val="E8ECF0"/>
                </a:solidFill>
                <a:latin typeface="Courier New"/>
              </a:rPr>
              <a:t>    'hourly': 'temperature_2m,precipitation',</a:t>
            </a:r>
          </a:p>
          <a:p>
            <a:pPr algn="l"/>
            <a:r>
              <a:rPr sz="1200" b="0" i="0">
                <a:solidFill>
                  <a:srgbClr val="E8ECF0"/>
                </a:solidFill>
                <a:latin typeface="Courier New"/>
              </a:rPr>
              <a:t>    'timezone': 'America/New_York',</a:t>
            </a:r>
          </a:p>
          <a:p>
            <a:pPr algn="l"/>
            <a:r>
              <a:rPr sz="1200" b="0" i="0">
                <a:solidFill>
                  <a:srgbClr val="E8ECF0"/>
                </a:solidFill>
                <a:latin typeface="Courier New"/>
              </a:rPr>
              <a:t>}</a:t>
            </a:r>
          </a:p>
          <a:p>
            <a:pPr algn="l"/>
            <a:r>
              <a:rPr sz="1200" b="0" i="0">
                <a:solidFill>
                  <a:srgbClr val="E8ECF0"/>
                </a:solidFill>
                <a:latin typeface="Courier New"/>
              </a:rPr>
              <a:t>print(BASE + '?' + urlencode(params))</a:t>
            </a:r>
          </a:p>
        </p:txBody>
      </p:sp>
      <p:sp>
        <p:nvSpPr>
          <p:cNvPr id="5" name="Rectangle 4"/>
          <p:cNvSpPr/>
          <p:nvPr/>
        </p:nvSpPr>
        <p:spPr>
          <a:xfrm>
            <a:off x="548640" y="4892040"/>
            <a:ext cx="6675120" cy="1097280"/>
          </a:xfrm>
          <a:prstGeom prst="rect">
            <a:avLst/>
          </a:prstGeom>
          <a:solidFill>
            <a:srgbClr val="24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685800" y="4983479"/>
            <a:ext cx="6400800" cy="914400"/>
          </a:xfrm>
          <a:prstGeom prst="rect">
            <a:avLst/>
          </a:prstGeom>
          <a:noFill/>
        </p:spPr>
        <p:txBody>
          <a:bodyPr wrap="square" lIns="0" tIns="0" rIns="0" bIns="0">
            <a:spAutoFit/>
          </a:bodyPr>
          <a:lstStyle/>
          <a:p>
            <a:pPr algn="l"/>
            <a:r>
              <a:rPr sz="1200" b="0" i="0">
                <a:solidFill>
                  <a:srgbClr val="E8ECF0"/>
                </a:solidFill>
                <a:latin typeface="Courier New"/>
              </a:rPr>
              <a:t>resp = requests.get(BASE, params=params, timeout=15)</a:t>
            </a:r>
          </a:p>
          <a:p>
            <a:pPr algn="l"/>
            <a:r>
              <a:rPr sz="1200" b="0" i="0">
                <a:solidFill>
                  <a:srgbClr val="E8ECF0"/>
                </a:solidFill>
                <a:latin typeface="Courier New"/>
              </a:rPr>
              <a:t>hourly = pd.DataFrame(resp.json()['hourly'])</a:t>
            </a:r>
          </a:p>
        </p:txBody>
      </p:sp>
      <p:sp>
        <p:nvSpPr>
          <p:cNvPr id="7" name="Rectangle 6"/>
          <p:cNvSpPr/>
          <p:nvPr/>
        </p:nvSpPr>
        <p:spPr>
          <a:xfrm>
            <a:off x="7498079" y="1463040"/>
            <a:ext cx="4160520" cy="1005840"/>
          </a:xfrm>
          <a:prstGeom prst="rect">
            <a:avLst/>
          </a:prstGeom>
          <a:solidFill>
            <a:srgbClr val="FBE5D6"/>
          </a:solidFill>
          <a:ln w="12700">
            <a:solidFill>
              <a:srgbClr val="24323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7680960" y="1517904"/>
            <a:ext cx="3840480" cy="365760"/>
          </a:xfrm>
          <a:prstGeom prst="rect">
            <a:avLst/>
          </a:prstGeom>
          <a:noFill/>
        </p:spPr>
        <p:txBody>
          <a:bodyPr wrap="square" lIns="45720" rIns="45720" anchor="t">
            <a:spAutoFit/>
          </a:bodyPr>
          <a:lstStyle/>
          <a:p>
            <a:pPr algn="l"/>
            <a:r>
              <a:rPr sz="1600" b="1" i="0">
                <a:solidFill>
                  <a:srgbClr val="24323E"/>
                </a:solidFill>
                <a:latin typeface="Times New Roman"/>
              </a:rPr>
              <a:t>Archive = the past only</a:t>
            </a:r>
          </a:p>
        </p:txBody>
      </p:sp>
      <p:sp>
        <p:nvSpPr>
          <p:cNvPr id="9" name="TextBox 8"/>
          <p:cNvSpPr txBox="1"/>
          <p:nvPr/>
        </p:nvSpPr>
        <p:spPr>
          <a:xfrm>
            <a:off x="7680960" y="1901952"/>
            <a:ext cx="3840480" cy="548640"/>
          </a:xfrm>
          <a:prstGeom prst="rect">
            <a:avLst/>
          </a:prstGeom>
          <a:noFill/>
        </p:spPr>
        <p:txBody>
          <a:bodyPr wrap="square" lIns="45720" rIns="45720" anchor="t">
            <a:spAutoFit/>
          </a:bodyPr>
          <a:lstStyle/>
          <a:p>
            <a:pPr algn="l"/>
            <a:r>
              <a:rPr sz="1400" b="0" i="0">
                <a:solidFill>
                  <a:srgbClr val="1A1A1A"/>
                </a:solidFill>
                <a:latin typeface="Times New Roman"/>
              </a:rPr>
              <a:t>Today or tomorrow is an error, not an empty answer.</a:t>
            </a:r>
          </a:p>
        </p:txBody>
      </p:sp>
      <p:sp>
        <p:nvSpPr>
          <p:cNvPr id="10" name="Rectangle 9"/>
          <p:cNvSpPr/>
          <p:nvPr/>
        </p:nvSpPr>
        <p:spPr>
          <a:xfrm>
            <a:off x="7498079" y="2606040"/>
            <a:ext cx="4160520" cy="1005840"/>
          </a:xfrm>
          <a:prstGeom prst="rect">
            <a:avLst/>
          </a:prstGeom>
          <a:solidFill>
            <a:srgbClr val="FBE5D6"/>
          </a:solidFill>
          <a:ln w="12700">
            <a:solidFill>
              <a:srgbClr val="24323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7680960" y="2660904"/>
            <a:ext cx="3840480" cy="365760"/>
          </a:xfrm>
          <a:prstGeom prst="rect">
            <a:avLst/>
          </a:prstGeom>
          <a:noFill/>
        </p:spPr>
        <p:txBody>
          <a:bodyPr wrap="square" lIns="45720" rIns="45720" anchor="t">
            <a:spAutoFit/>
          </a:bodyPr>
          <a:lstStyle/>
          <a:p>
            <a:pPr algn="l"/>
            <a:r>
              <a:rPr sz="1600" b="1" i="0">
                <a:solidFill>
                  <a:srgbClr val="24323E"/>
                </a:solidFill>
                <a:latin typeface="Times New Roman"/>
              </a:rPr>
              <a:t>Compute dates, don’t type them</a:t>
            </a:r>
          </a:p>
        </p:txBody>
      </p:sp>
      <p:sp>
        <p:nvSpPr>
          <p:cNvPr id="12" name="TextBox 11"/>
          <p:cNvSpPr txBox="1"/>
          <p:nvPr/>
        </p:nvSpPr>
        <p:spPr>
          <a:xfrm>
            <a:off x="7680960" y="3044952"/>
            <a:ext cx="3840480" cy="548640"/>
          </a:xfrm>
          <a:prstGeom prst="rect">
            <a:avLst/>
          </a:prstGeom>
          <a:noFill/>
        </p:spPr>
        <p:txBody>
          <a:bodyPr wrap="square" lIns="45720" rIns="45720" anchor="t">
            <a:spAutoFit/>
          </a:bodyPr>
          <a:lstStyle/>
          <a:p>
            <a:pPr algn="l"/>
            <a:r>
              <a:rPr sz="1400" b="0" i="0">
                <a:solidFill>
                  <a:srgbClr val="1A1A1A"/>
                </a:solidFill>
                <a:latin typeface="Times New Roman"/>
              </a:rPr>
              <a:t>Back from date.today() — still runs in November.</a:t>
            </a:r>
          </a:p>
        </p:txBody>
      </p:sp>
      <p:sp>
        <p:nvSpPr>
          <p:cNvPr id="13" name="Rectangle 12"/>
          <p:cNvSpPr/>
          <p:nvPr/>
        </p:nvSpPr>
        <p:spPr>
          <a:xfrm>
            <a:off x="7498079" y="3749039"/>
            <a:ext cx="4160520" cy="1005840"/>
          </a:xfrm>
          <a:prstGeom prst="rect">
            <a:avLst/>
          </a:prstGeom>
          <a:solidFill>
            <a:srgbClr val="FBE5D6"/>
          </a:solidFill>
          <a:ln w="12700">
            <a:solidFill>
              <a:srgbClr val="24323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7680960" y="3803903"/>
            <a:ext cx="3840480" cy="365760"/>
          </a:xfrm>
          <a:prstGeom prst="rect">
            <a:avLst/>
          </a:prstGeom>
          <a:noFill/>
        </p:spPr>
        <p:txBody>
          <a:bodyPr wrap="square" lIns="45720" rIns="45720" anchor="t">
            <a:spAutoFit/>
          </a:bodyPr>
          <a:lstStyle/>
          <a:p>
            <a:pPr algn="l"/>
            <a:r>
              <a:rPr sz="1600" b="1" i="0">
                <a:solidFill>
                  <a:srgbClr val="24323E"/>
                </a:solidFill>
                <a:latin typeface="Times New Roman"/>
              </a:rPr>
              <a:t>Print the shape first</a:t>
            </a:r>
          </a:p>
        </p:txBody>
      </p:sp>
      <p:sp>
        <p:nvSpPr>
          <p:cNvPr id="15" name="TextBox 14"/>
          <p:cNvSpPr txBox="1"/>
          <p:nvPr/>
        </p:nvSpPr>
        <p:spPr>
          <a:xfrm>
            <a:off x="7680960" y="4187952"/>
            <a:ext cx="3840480" cy="548640"/>
          </a:xfrm>
          <a:prstGeom prst="rect">
            <a:avLst/>
          </a:prstGeom>
          <a:noFill/>
        </p:spPr>
        <p:txBody>
          <a:bodyPr wrap="square" lIns="45720" rIns="45720" anchor="t">
            <a:spAutoFit/>
          </a:bodyPr>
          <a:lstStyle/>
          <a:p>
            <a:pPr algn="l"/>
            <a:r>
              <a:rPr sz="1400" b="0" i="0">
                <a:solidFill>
                  <a:srgbClr val="1A1A1A"/>
                </a:solidFill>
                <a:latin typeface="Times New Roman"/>
              </a:rPr>
              <a:t>Status, top-level keys, units — then trust it.</a:t>
            </a:r>
          </a:p>
        </p:txBody>
      </p:sp>
      <p:sp>
        <p:nvSpPr>
          <p:cNvPr id="16" name="Rectangle 15"/>
          <p:cNvSpPr/>
          <p:nvPr/>
        </p:nvSpPr>
        <p:spPr>
          <a:xfrm>
            <a:off x="7498079" y="4892040"/>
            <a:ext cx="4160520" cy="1005840"/>
          </a:xfrm>
          <a:prstGeom prst="rect">
            <a:avLst/>
          </a:prstGeom>
          <a:solidFill>
            <a:srgbClr val="FBE5D6"/>
          </a:solidFill>
          <a:ln w="12700">
            <a:solidFill>
              <a:srgbClr val="24323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7680960" y="4946903"/>
            <a:ext cx="3840480" cy="365760"/>
          </a:xfrm>
          <a:prstGeom prst="rect">
            <a:avLst/>
          </a:prstGeom>
          <a:noFill/>
        </p:spPr>
        <p:txBody>
          <a:bodyPr wrap="square" lIns="45720" rIns="45720" anchor="t">
            <a:spAutoFit/>
          </a:bodyPr>
          <a:lstStyle/>
          <a:p>
            <a:pPr algn="l"/>
            <a:r>
              <a:rPr sz="1600" b="1" i="0">
                <a:solidFill>
                  <a:srgbClr val="24323E"/>
                </a:solidFill>
                <a:latin typeface="Times New Roman"/>
              </a:rPr>
              <a:t>Parallel lists → DataFrame</a:t>
            </a:r>
          </a:p>
        </p:txBody>
      </p:sp>
      <p:sp>
        <p:nvSpPr>
          <p:cNvPr id="18" name="TextBox 17"/>
          <p:cNvSpPr txBox="1"/>
          <p:nvPr/>
        </p:nvSpPr>
        <p:spPr>
          <a:xfrm>
            <a:off x="7680960" y="5330952"/>
            <a:ext cx="3840480" cy="548640"/>
          </a:xfrm>
          <a:prstGeom prst="rect">
            <a:avLst/>
          </a:prstGeom>
          <a:noFill/>
        </p:spPr>
        <p:txBody>
          <a:bodyPr wrap="square" lIns="45720" rIns="45720" anchor="t">
            <a:spAutoFit/>
          </a:bodyPr>
          <a:lstStyle/>
          <a:p>
            <a:pPr algn="l"/>
            <a:r>
              <a:rPr sz="1400" b="0" i="0">
                <a:solidFill>
                  <a:srgbClr val="1A1A1A"/>
                </a:solidFill>
                <a:latin typeface="Times New Roman"/>
              </a:rPr>
              <a:t>One list of times, one per variable. 72 rows.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0" i="0">
                <a:solidFill>
                  <a:srgbClr val="1A1A1A"/>
                </a:solidFill>
                <a:latin typeface="Times New Roman"/>
              </a:rPr>
              <a:t>Build 2: </a:t>
            </a:r>
            <a:r>
              <a:rPr sz="3200" b="0" i="0">
                <a:solidFill>
                  <a:srgbClr val="F67132"/>
                </a:solidFill>
                <a:latin typeface="Times New Roman"/>
              </a:rPr>
              <a:t>What Failure Actually Looks Like</a:t>
            </a:r>
          </a:p>
        </p:txBody>
      </p:sp>
      <p:sp>
        <p:nvSpPr>
          <p:cNvPr id="4" name="Text Placeholder 3"/>
          <p:cNvSpPr>
            <a:spLocks noGrp="1"/>
          </p:cNvSpPr>
          <p:nvPr>
            <p:ph type="body" sz="quarter" idx="13"/>
          </p:nvPr>
        </p:nvSpPr>
        <p:spPr/>
        <p:txBody>
          <a:bodyPr/>
          <a:lstStyle/>
          <a:p>
            <a:r>
              <a:rPr sz="1600" b="0" i="0">
                <a:solidFill>
                  <a:srgbClr val="1A1A1A"/>
                </a:solidFill>
                <a:latin typeface="Times New Roman"/>
              </a:rPr>
              <a:t>Ask the archive for a date that hasn’t happened yet — the most common way people break it</a:t>
            </a:r>
          </a:p>
        </p:txBody>
      </p:sp>
      <p:sp>
        <p:nvSpPr>
          <p:cNvPr id="5" name="Rectangle 4"/>
          <p:cNvSpPr/>
          <p:nvPr/>
        </p:nvSpPr>
        <p:spPr>
          <a:xfrm>
            <a:off x="548640" y="1600200"/>
            <a:ext cx="6035040" cy="1554480"/>
          </a:xfrm>
          <a:prstGeom prst="rect">
            <a:avLst/>
          </a:prstGeom>
          <a:solidFill>
            <a:srgbClr val="24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685800" y="1691640"/>
            <a:ext cx="5760720" cy="1371600"/>
          </a:xfrm>
          <a:prstGeom prst="rect">
            <a:avLst/>
          </a:prstGeom>
          <a:noFill/>
        </p:spPr>
        <p:txBody>
          <a:bodyPr wrap="square" lIns="0" tIns="0" rIns="0" bIns="0">
            <a:spAutoFit/>
          </a:bodyPr>
          <a:lstStyle/>
          <a:p>
            <a:pPr algn="l"/>
            <a:r>
              <a:rPr sz="1200" b="0" i="0">
                <a:solidFill>
                  <a:srgbClr val="E8ECF0"/>
                </a:solidFill>
                <a:latin typeface="Courier New"/>
              </a:rPr>
              <a:t>future = date.today() + timedelta(days=10)</a:t>
            </a:r>
          </a:p>
          <a:p>
            <a:pPr algn="l"/>
            <a:r>
              <a:rPr sz="1200" b="0" i="0">
                <a:solidFill>
                  <a:srgbClr val="E8ECF0"/>
                </a:solidFill>
                <a:latin typeface="Courier New"/>
              </a:rPr>
              <a:t>bad = dict(params, start_date=future.isoformat(), ...)</a:t>
            </a:r>
          </a:p>
          <a:p>
            <a:pPr algn="l"/>
            <a:r>
              <a:rPr sz="1200" b="0" i="0">
                <a:solidFill>
                  <a:srgbClr val="E8ECF0"/>
                </a:solidFill>
                <a:latin typeface="Courier New"/>
              </a:rPr>
              <a:t>r = requests.get(BASE, params=bad, timeout=15)</a:t>
            </a:r>
          </a:p>
        </p:txBody>
      </p:sp>
      <p:sp>
        <p:nvSpPr>
          <p:cNvPr id="7" name="Rectangle 6"/>
          <p:cNvSpPr/>
          <p:nvPr/>
        </p:nvSpPr>
        <p:spPr>
          <a:xfrm>
            <a:off x="6858000" y="1600200"/>
            <a:ext cx="1463040" cy="1554480"/>
          </a:xfrm>
          <a:prstGeom prst="rect">
            <a:avLst/>
          </a:prstGeom>
          <a:solidFill>
            <a:srgbClr val="B02A1E"/>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3600" b="1" i="0">
                <a:solidFill>
                  <a:srgbClr val="FFFFFF"/>
                </a:solidFill>
                <a:latin typeface="Courier New"/>
              </a:rPr>
              <a:t>400</a:t>
            </a:r>
            <a:br/>
            <a:r>
              <a:rPr sz="1300" b="1" i="0">
                <a:solidFill>
                  <a:srgbClr val="FFFFFF"/>
                </a:solidFill>
                <a:latin typeface="Times New Roman"/>
              </a:rPr>
              <a:t>Bad Request</a:t>
            </a:r>
          </a:p>
        </p:txBody>
      </p:sp>
      <p:sp>
        <p:nvSpPr>
          <p:cNvPr id="8" name="TextBox 7"/>
          <p:cNvSpPr txBox="1"/>
          <p:nvPr/>
        </p:nvSpPr>
        <p:spPr>
          <a:xfrm>
            <a:off x="8503920" y="1600200"/>
            <a:ext cx="3154680" cy="1554480"/>
          </a:xfrm>
          <a:prstGeom prst="rect">
            <a:avLst/>
          </a:prstGeom>
          <a:noFill/>
        </p:spPr>
        <p:txBody>
          <a:bodyPr wrap="square" lIns="45720" rIns="45720" anchor="ctr">
            <a:spAutoFit/>
          </a:bodyPr>
          <a:lstStyle/>
          <a:p>
            <a:pPr algn="l"/>
            <a:r>
              <a:rPr sz="1800" b="1" i="0">
                <a:solidFill>
                  <a:srgbClr val="24323E"/>
                </a:solidFill>
                <a:latin typeface="Times New Roman"/>
              </a:rPr>
              <a:t>Read the status — then read the body.</a:t>
            </a:r>
          </a:p>
        </p:txBody>
      </p:sp>
      <p:sp>
        <p:nvSpPr>
          <p:cNvPr id="9" name="Rectangle 8"/>
          <p:cNvSpPr/>
          <p:nvPr/>
        </p:nvSpPr>
        <p:spPr>
          <a:xfrm>
            <a:off x="548640" y="3383280"/>
            <a:ext cx="11109960" cy="914400"/>
          </a:xfrm>
          <a:prstGeom prst="rect">
            <a:avLst/>
          </a:prstGeom>
          <a:solidFill>
            <a:srgbClr val="24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85800" y="3474720"/>
            <a:ext cx="10835640" cy="731520"/>
          </a:xfrm>
          <a:prstGeom prst="rect">
            <a:avLst/>
          </a:prstGeom>
          <a:noFill/>
        </p:spPr>
        <p:txBody>
          <a:bodyPr wrap="square" lIns="0" tIns="0" rIns="0" bIns="0">
            <a:spAutoFit/>
          </a:bodyPr>
          <a:lstStyle/>
          <a:p>
            <a:pPr algn="l"/>
            <a:r>
              <a:rPr sz="1300" b="0" i="0">
                <a:solidFill>
                  <a:srgbClr val="E8ECF0"/>
                </a:solidFill>
                <a:latin typeface="Courier New"/>
              </a:rPr>
              <a:t>{"error":true,"reason":"Parameter 'start_date' is out of allowed range from 1940-01-01 to ..."}</a:t>
            </a:r>
          </a:p>
        </p:txBody>
      </p:sp>
      <p:sp>
        <p:nvSpPr>
          <p:cNvPr id="11" name="Rectangle 10"/>
          <p:cNvSpPr/>
          <p:nvPr/>
        </p:nvSpPr>
        <p:spPr>
          <a:xfrm>
            <a:off x="548640" y="4526280"/>
            <a:ext cx="5440680" cy="1463040"/>
          </a:xfrm>
          <a:prstGeom prst="rect">
            <a:avLst/>
          </a:prstGeom>
          <a:solidFill>
            <a:srgbClr val="FBE5D6"/>
          </a:solidFill>
          <a:ln w="12700">
            <a:solidFill>
              <a:srgbClr val="24323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777240" y="4617720"/>
            <a:ext cx="4983480" cy="411480"/>
          </a:xfrm>
          <a:prstGeom prst="rect">
            <a:avLst/>
          </a:prstGeom>
          <a:noFill/>
        </p:spPr>
        <p:txBody>
          <a:bodyPr wrap="square" lIns="45720" rIns="45720" anchor="t">
            <a:spAutoFit/>
          </a:bodyPr>
          <a:lstStyle/>
          <a:p>
            <a:pPr algn="l"/>
            <a:r>
              <a:rPr sz="1700" b="1" i="0">
                <a:solidFill>
                  <a:srgbClr val="24323E"/>
                </a:solidFill>
                <a:latin typeface="Times New Roman"/>
              </a:rPr>
              <a:t>The server told you exactly what to fix</a:t>
            </a:r>
          </a:p>
        </p:txBody>
      </p:sp>
      <p:sp>
        <p:nvSpPr>
          <p:cNvPr id="13" name="TextBox 12"/>
          <p:cNvSpPr txBox="1"/>
          <p:nvPr/>
        </p:nvSpPr>
        <p:spPr>
          <a:xfrm>
            <a:off x="777240" y="5074920"/>
            <a:ext cx="4983480" cy="868680"/>
          </a:xfrm>
          <a:prstGeom prst="rect">
            <a:avLst/>
          </a:prstGeom>
          <a:noFill/>
        </p:spPr>
        <p:txBody>
          <a:bodyPr wrap="square" lIns="45720" rIns="45720" anchor="t">
            <a:spAutoFit/>
          </a:bodyPr>
          <a:lstStyle/>
          <a:p>
            <a:pPr algn="l"/>
            <a:r>
              <a:rPr sz="1400" b="0" i="0">
                <a:solidFill>
                  <a:srgbClr val="1A1A1A"/>
                </a:solidFill>
                <a:latin typeface="Times New Roman"/>
              </a:rPr>
              <a:t>The parameter and the range it will accept — more than most error messages manage.</a:t>
            </a:r>
          </a:p>
        </p:txBody>
      </p:sp>
      <p:sp>
        <p:nvSpPr>
          <p:cNvPr id="14" name="Rectangle 13"/>
          <p:cNvSpPr/>
          <p:nvPr/>
        </p:nvSpPr>
        <p:spPr>
          <a:xfrm>
            <a:off x="6217920" y="4526280"/>
            <a:ext cx="5440680" cy="1463040"/>
          </a:xfrm>
          <a:prstGeom prst="rect">
            <a:avLst/>
          </a:prstGeom>
          <a:solidFill>
            <a:srgbClr val="FBE5D6"/>
          </a:solidFill>
          <a:ln w="12700">
            <a:solidFill>
              <a:srgbClr val="24323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446520" y="4617720"/>
            <a:ext cx="4983480" cy="411480"/>
          </a:xfrm>
          <a:prstGeom prst="rect">
            <a:avLst/>
          </a:prstGeom>
          <a:noFill/>
        </p:spPr>
        <p:txBody>
          <a:bodyPr wrap="square" lIns="45720" rIns="45720" anchor="t">
            <a:spAutoFit/>
          </a:bodyPr>
          <a:lstStyle/>
          <a:p>
            <a:pPr algn="l"/>
            <a:r>
              <a:rPr sz="1700" b="1" i="0">
                <a:solidFill>
                  <a:srgbClr val="24323E"/>
                </a:solidFill>
                <a:latin typeface="Times New Roman"/>
              </a:rPr>
              <a:t>Retrying this would be pointless</a:t>
            </a:r>
          </a:p>
        </p:txBody>
      </p:sp>
      <p:sp>
        <p:nvSpPr>
          <p:cNvPr id="16" name="TextBox 15"/>
          <p:cNvSpPr txBox="1"/>
          <p:nvPr/>
        </p:nvSpPr>
        <p:spPr>
          <a:xfrm>
            <a:off x="6446520" y="5074920"/>
            <a:ext cx="4983480" cy="868680"/>
          </a:xfrm>
          <a:prstGeom prst="rect">
            <a:avLst/>
          </a:prstGeom>
          <a:noFill/>
        </p:spPr>
        <p:txBody>
          <a:bodyPr wrap="square" lIns="45720" rIns="45720" anchor="t">
            <a:spAutoFit/>
          </a:bodyPr>
          <a:lstStyle/>
          <a:p>
            <a:pPr algn="l"/>
            <a:r>
              <a:rPr sz="1400" b="0" i="0">
                <a:solidFill>
                  <a:srgbClr val="1A1A1A"/>
                </a:solidFill>
                <a:latin typeface="Times New Roman"/>
              </a:rPr>
              <a:t>It will be just as out of range in thirty seconds. Your mistake, not theirs.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0" i="0">
                <a:solidFill>
                  <a:srgbClr val="1A1A1A"/>
                </a:solidFill>
                <a:latin typeface="Times New Roman"/>
              </a:rPr>
              <a:t>Build 2: </a:t>
            </a:r>
            <a:r>
              <a:rPr sz="3200" b="0" i="0">
                <a:solidFill>
                  <a:srgbClr val="F67132"/>
                </a:solidFill>
                <a:latin typeface="Times New Roman"/>
              </a:rPr>
              <a:t>Never Disguise Failure as Data</a:t>
            </a:r>
          </a:p>
        </p:txBody>
      </p:sp>
      <p:sp>
        <p:nvSpPr>
          <p:cNvPr id="4" name="Text Placeholder 3"/>
          <p:cNvSpPr>
            <a:spLocks noGrp="1"/>
          </p:cNvSpPr>
          <p:nvPr>
            <p:ph type="body" sz="quarter" idx="13"/>
          </p:nvPr>
        </p:nvSpPr>
        <p:spPr/>
        <p:txBody>
          <a:bodyPr/>
          <a:lstStyle/>
          <a:p>
            <a:r>
              <a:rPr sz="1600" b="0" i="0">
                <a:solidFill>
                  <a:srgbClr val="1A1A1A"/>
                </a:solidFill>
                <a:latin typeface="Times New Roman"/>
              </a:rPr>
              <a:t>A failure must raise, or be recorded as a failure</a:t>
            </a:r>
          </a:p>
        </p:txBody>
      </p:sp>
      <p:sp>
        <p:nvSpPr>
          <p:cNvPr id="5" name="TextBox 4"/>
          <p:cNvSpPr txBox="1"/>
          <p:nvPr/>
        </p:nvSpPr>
        <p:spPr>
          <a:xfrm>
            <a:off x="548640" y="1463040"/>
            <a:ext cx="4754880" cy="365760"/>
          </a:xfrm>
          <a:prstGeom prst="rect">
            <a:avLst/>
          </a:prstGeom>
          <a:noFill/>
        </p:spPr>
        <p:txBody>
          <a:bodyPr wrap="square" lIns="45720" rIns="45720" anchor="t">
            <a:spAutoFit/>
          </a:bodyPr>
          <a:lstStyle/>
          <a:p>
            <a:pPr algn="l"/>
            <a:r>
              <a:rPr sz="1800" b="1" i="0">
                <a:solidFill>
                  <a:srgbClr val="B02A1E"/>
                </a:solidFill>
                <a:latin typeface="Times New Roman"/>
              </a:rPr>
              <a:t>✗  The trap</a:t>
            </a:r>
          </a:p>
        </p:txBody>
      </p:sp>
      <p:sp>
        <p:nvSpPr>
          <p:cNvPr id="6" name="Rectangle 5"/>
          <p:cNvSpPr/>
          <p:nvPr/>
        </p:nvSpPr>
        <p:spPr>
          <a:xfrm>
            <a:off x="548640" y="1874519"/>
            <a:ext cx="4754880" cy="1463040"/>
          </a:xfrm>
          <a:prstGeom prst="rect">
            <a:avLst/>
          </a:prstGeom>
          <a:solidFill>
            <a:srgbClr val="24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685800" y="1965960"/>
            <a:ext cx="4480560" cy="1280160"/>
          </a:xfrm>
          <a:prstGeom prst="rect">
            <a:avLst/>
          </a:prstGeom>
          <a:noFill/>
        </p:spPr>
        <p:txBody>
          <a:bodyPr wrap="square" lIns="0" tIns="0" rIns="0" bIns="0">
            <a:spAutoFit/>
          </a:bodyPr>
          <a:lstStyle/>
          <a:p>
            <a:pPr algn="l"/>
            <a:r>
              <a:rPr sz="1300" b="0" i="0">
                <a:solidFill>
                  <a:srgbClr val="E8ECF0"/>
                </a:solidFill>
                <a:latin typeface="Courier New"/>
              </a:rPr>
              <a:t>try:</a:t>
            </a:r>
          </a:p>
          <a:p>
            <a:pPr algn="l"/>
            <a:r>
              <a:rPr sz="1300" b="0" i="0">
                <a:solidFill>
                  <a:srgbClr val="E8ECF0"/>
                </a:solidFill>
                <a:latin typeface="Courier New"/>
              </a:rPr>
              <a:t>    wx = fetch_weather(date)</a:t>
            </a:r>
          </a:p>
          <a:p>
            <a:pPr algn="l"/>
            <a:r>
              <a:rPr sz="1300" b="0" i="0">
                <a:solidFill>
                  <a:srgbClr val="E8ECF0"/>
                </a:solidFill>
                <a:latin typeface="Courier New"/>
              </a:rPr>
              <a:t>except Exception:</a:t>
            </a:r>
          </a:p>
          <a:p>
            <a:pPr algn="l"/>
            <a:r>
              <a:rPr sz="1300" b="0" i="0">
                <a:solidFill>
                  <a:srgbClr val="E8ECF0"/>
                </a:solidFill>
                <a:latin typeface="Courier New"/>
              </a:rPr>
              <a:t>    wx = pd.DataFrame()  </a:t>
            </a:r>
            <a:r>
              <a:rPr sz="1300" b="0" i="0">
                <a:solidFill>
                  <a:srgbClr val="9AA8B5"/>
                </a:solidFill>
                <a:latin typeface="Courier New"/>
              </a:rPr>
              <a:t># never</a:t>
            </a:r>
          </a:p>
        </p:txBody>
      </p:sp>
      <p:sp>
        <p:nvSpPr>
          <p:cNvPr id="8" name="TextBox 7"/>
          <p:cNvSpPr txBox="1"/>
          <p:nvPr/>
        </p:nvSpPr>
        <p:spPr>
          <a:xfrm>
            <a:off x="548640" y="3429000"/>
            <a:ext cx="4754880" cy="1097280"/>
          </a:xfrm>
          <a:prstGeom prst="rect">
            <a:avLst/>
          </a:prstGeom>
          <a:noFill/>
        </p:spPr>
        <p:txBody>
          <a:bodyPr wrap="square" lIns="45720" rIns="45720" anchor="t">
            <a:spAutoFit/>
          </a:bodyPr>
          <a:lstStyle/>
          <a:p>
            <a:pPr algn="l"/>
            <a:r>
              <a:rPr sz="1500" b="0" i="0">
                <a:solidFill>
                  <a:srgbClr val="1A1A1A"/>
                </a:solidFill>
                <a:latin typeface="Times New Roman"/>
              </a:rPr>
              <a:t>Empty because it failed, or empty because it was a dry day? Downstream, nobody can tell.</a:t>
            </a:r>
          </a:p>
        </p:txBody>
      </p:sp>
      <p:sp>
        <p:nvSpPr>
          <p:cNvPr id="9" name="TextBox 8"/>
          <p:cNvSpPr txBox="1"/>
          <p:nvPr/>
        </p:nvSpPr>
        <p:spPr>
          <a:xfrm>
            <a:off x="5577840" y="1463040"/>
            <a:ext cx="6080760" cy="365760"/>
          </a:xfrm>
          <a:prstGeom prst="rect">
            <a:avLst/>
          </a:prstGeom>
          <a:noFill/>
        </p:spPr>
        <p:txBody>
          <a:bodyPr wrap="square" lIns="45720" rIns="45720" anchor="t">
            <a:spAutoFit/>
          </a:bodyPr>
          <a:lstStyle/>
          <a:p>
            <a:pPr algn="l"/>
            <a:r>
              <a:rPr sz="1800" b="1" i="0">
                <a:solidFill>
                  <a:srgbClr val="2E7D4F"/>
                </a:solidFill>
                <a:latin typeface="Times New Roman"/>
              </a:rPr>
              <a:t>✓  The version that behaves</a:t>
            </a:r>
          </a:p>
        </p:txBody>
      </p:sp>
      <p:sp>
        <p:nvSpPr>
          <p:cNvPr id="10" name="Rectangle 9"/>
          <p:cNvSpPr/>
          <p:nvPr/>
        </p:nvSpPr>
        <p:spPr>
          <a:xfrm>
            <a:off x="5577840" y="1874519"/>
            <a:ext cx="6080760" cy="2194560"/>
          </a:xfrm>
          <a:prstGeom prst="rect">
            <a:avLst/>
          </a:prstGeom>
          <a:solidFill>
            <a:srgbClr val="24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5715000" y="1965960"/>
            <a:ext cx="5806440" cy="2011679"/>
          </a:xfrm>
          <a:prstGeom prst="rect">
            <a:avLst/>
          </a:prstGeom>
          <a:noFill/>
        </p:spPr>
        <p:txBody>
          <a:bodyPr wrap="square" lIns="0" tIns="0" rIns="0" bIns="0">
            <a:spAutoFit/>
          </a:bodyPr>
          <a:lstStyle/>
          <a:p>
            <a:pPr algn="l"/>
            <a:r>
              <a:rPr sz="1200" b="0" i="0">
                <a:solidFill>
                  <a:srgbClr val="E8ECF0"/>
                </a:solidFill>
                <a:latin typeface="Courier New"/>
              </a:rPr>
              <a:t>def fetch_json(url, params, timeout=15):</a:t>
            </a:r>
          </a:p>
          <a:p>
            <a:pPr algn="l"/>
            <a:r>
              <a:rPr sz="1200" b="0" i="0">
                <a:solidFill>
                  <a:srgbClr val="E8ECF0"/>
                </a:solidFill>
                <a:latin typeface="Courier New"/>
              </a:rPr>
              <a:t>    r = requests.get(url, params=params,</a:t>
            </a:r>
          </a:p>
          <a:p>
            <a:pPr algn="l"/>
            <a:r>
              <a:rPr sz="1200" b="0" i="0">
                <a:solidFill>
                  <a:srgbClr val="E8ECF0"/>
                </a:solidFill>
                <a:latin typeface="Courier New"/>
              </a:rPr>
              <a:t>                     timeout=timeout)</a:t>
            </a:r>
          </a:p>
          <a:p>
            <a:pPr algn="l"/>
            <a:r>
              <a:rPr sz="1200" b="0" i="0">
                <a:solidFill>
                  <a:srgbClr val="E8ECF0"/>
                </a:solidFill>
                <a:latin typeface="Courier New"/>
              </a:rPr>
              <a:t>    if r.status_code != 200:</a:t>
            </a:r>
          </a:p>
          <a:p>
            <a:pPr algn="l"/>
            <a:r>
              <a:rPr sz="1200" b="0" i="0">
                <a:solidFill>
                  <a:srgbClr val="E8ECF0"/>
                </a:solidFill>
                <a:latin typeface="Courier New"/>
              </a:rPr>
              <a:t>        raise RuntimeError(</a:t>
            </a:r>
          </a:p>
          <a:p>
            <a:pPr algn="l"/>
            <a:r>
              <a:rPr sz="1200" b="0" i="0">
                <a:solidFill>
                  <a:srgbClr val="E8ECF0"/>
                </a:solidFill>
                <a:latin typeface="Courier New"/>
              </a:rPr>
              <a:t>            f'{url} returned {r.status_code}: {r.text[:200]}')</a:t>
            </a:r>
          </a:p>
          <a:p>
            <a:pPr algn="l"/>
            <a:r>
              <a:rPr sz="1200" b="0" i="0">
                <a:solidFill>
                  <a:srgbClr val="E8ECF0"/>
                </a:solidFill>
                <a:latin typeface="Courier New"/>
              </a:rPr>
              <a:t>    return r.json()</a:t>
            </a:r>
          </a:p>
        </p:txBody>
      </p:sp>
      <p:graphicFrame>
        <p:nvGraphicFramePr>
          <p:cNvPr id="12" name="Table 11"/>
          <p:cNvGraphicFramePr>
            <a:graphicFrameLocks noGrp="1"/>
          </p:cNvGraphicFramePr>
          <p:nvPr/>
        </p:nvGraphicFramePr>
        <p:xfrm>
          <a:off x="548640" y="4343400"/>
          <a:ext cx="11109960" cy="1536192"/>
        </p:xfrm>
        <a:graphic>
          <a:graphicData uri="http://schemas.openxmlformats.org/drawingml/2006/table">
            <a:tbl>
              <a:tblPr firstRow="1" bandRow="1">
                <a:tableStyleId>{5940675A-B579-460E-94D1-54222C63F5DA}</a:tableStyleId>
              </a:tblPr>
              <a:tblGrid>
                <a:gridCol w="3840480">
                  <a:extLst>
                    <a:ext uri="{9D8B030D-6E8A-4147-A177-3AD203B41FA5}">
                      <a16:colId xmlns:a16="http://schemas.microsoft.com/office/drawing/2014/main" val="20000"/>
                    </a:ext>
                  </a:extLst>
                </a:gridCol>
                <a:gridCol w="7269480">
                  <a:extLst>
                    <a:ext uri="{9D8B030D-6E8A-4147-A177-3AD203B41FA5}">
                      <a16:colId xmlns:a16="http://schemas.microsoft.com/office/drawing/2014/main" val="20001"/>
                    </a:ext>
                  </a:extLst>
                </a:gridCol>
              </a:tblGrid>
              <a:tr h="384048">
                <a:tc>
                  <a:txBody>
                    <a:bodyPr/>
                    <a:lstStyle/>
                    <a:p>
                      <a:r>
                        <a:rPr sz="1400" b="1" i="0">
                          <a:solidFill>
                            <a:srgbClr val="FFFFFF"/>
                          </a:solidFill>
                          <a:latin typeface="Times New Roman"/>
                        </a:rPr>
                        <a:t>On failure…</a:t>
                      </a:r>
                    </a:p>
                  </a:txBody>
                  <a:tcPr marT="27432" marB="27432" anchor="ctr">
                    <a:solidFill>
                      <a:srgbClr val="24323E"/>
                    </a:solidFill>
                  </a:tcPr>
                </a:tc>
                <a:tc>
                  <a:txBody>
                    <a:bodyPr/>
                    <a:lstStyle/>
                    <a:p>
                      <a:r>
                        <a:rPr sz="1400" b="1" i="0">
                          <a:solidFill>
                            <a:srgbClr val="FFFFFF"/>
                          </a:solidFill>
                          <a:latin typeface="Times New Roman"/>
                        </a:rPr>
                        <a:t>What you get</a:t>
                      </a:r>
                    </a:p>
                  </a:txBody>
                  <a:tcPr marT="27432" marB="27432" anchor="ctr">
                    <a:solidFill>
                      <a:srgbClr val="24323E"/>
                    </a:solidFill>
                  </a:tcPr>
                </a:tc>
                <a:extLst>
                  <a:ext uri="{0D108BD9-81ED-4DB2-BD59-A6C34878D82A}">
                    <a16:rowId xmlns:a16="http://schemas.microsoft.com/office/drawing/2014/main" val="10000"/>
                  </a:ext>
                </a:extLst>
              </a:tr>
              <a:tr h="384048">
                <a:tc>
                  <a:txBody>
                    <a:bodyPr/>
                    <a:lstStyle/>
                    <a:p>
                      <a:r>
                        <a:rPr sz="1400" b="1" i="0">
                          <a:solidFill>
                            <a:srgbClr val="1A1A1A"/>
                          </a:solidFill>
                          <a:latin typeface="Times New Roman"/>
                        </a:rPr>
                        <a:t>pass</a:t>
                      </a:r>
                    </a:p>
                  </a:txBody>
                  <a:tcPr marT="27432" marB="27432" anchor="ctr">
                    <a:solidFill>
                      <a:srgbClr val="FBE5D6"/>
                    </a:solidFill>
                  </a:tcPr>
                </a:tc>
                <a:tc>
                  <a:txBody>
                    <a:bodyPr/>
                    <a:lstStyle/>
                    <a:p>
                      <a:r>
                        <a:rPr sz="1400" b="0" i="0">
                          <a:solidFill>
                            <a:srgbClr val="1A1A1A"/>
                          </a:solidFill>
                          <a:latin typeface="Times New Roman"/>
                        </a:rPr>
                        <a:t>None — and a TypeError three cells later</a:t>
                      </a:r>
                    </a:p>
                  </a:txBody>
                  <a:tcPr marT="27432" marB="27432" anchor="ctr">
                    <a:solidFill>
                      <a:srgbClr val="FBE5D6"/>
                    </a:solidFill>
                  </a:tcPr>
                </a:tc>
                <a:extLst>
                  <a:ext uri="{0D108BD9-81ED-4DB2-BD59-A6C34878D82A}">
                    <a16:rowId xmlns:a16="http://schemas.microsoft.com/office/drawing/2014/main" val="10001"/>
                  </a:ext>
                </a:extLst>
              </a:tr>
              <a:tr h="384048">
                <a:tc>
                  <a:txBody>
                    <a:bodyPr/>
                    <a:lstStyle/>
                    <a:p>
                      <a:r>
                        <a:rPr sz="1400" b="1" i="0">
                          <a:solidFill>
                            <a:srgbClr val="1A1A1A"/>
                          </a:solidFill>
                          <a:latin typeface="Times New Roman"/>
                        </a:rPr>
                        <a:t>raise RuntimeError('request failed')</a:t>
                      </a:r>
                    </a:p>
                  </a:txBody>
                  <a:tcPr marT="27432" marB="27432" anchor="ctr">
                    <a:solidFill>
                      <a:srgbClr val="FDF2EA"/>
                    </a:solidFill>
                  </a:tcPr>
                </a:tc>
                <a:tc>
                  <a:txBody>
                    <a:bodyPr/>
                    <a:lstStyle/>
                    <a:p>
                      <a:r>
                        <a:rPr sz="1400" b="0" i="0">
                          <a:solidFill>
                            <a:srgbClr val="1A1A1A"/>
                          </a:solidFill>
                          <a:latin typeface="Times New Roman"/>
                        </a:rPr>
                        <a:t>Nothing you didn’t already know</a:t>
                      </a:r>
                    </a:p>
                  </a:txBody>
                  <a:tcPr marT="27432" marB="27432" anchor="ctr">
                    <a:solidFill>
                      <a:srgbClr val="FDF2EA"/>
                    </a:solidFill>
                  </a:tcPr>
                </a:tc>
                <a:extLst>
                  <a:ext uri="{0D108BD9-81ED-4DB2-BD59-A6C34878D82A}">
                    <a16:rowId xmlns:a16="http://schemas.microsoft.com/office/drawing/2014/main" val="10002"/>
                  </a:ext>
                </a:extLst>
              </a:tr>
              <a:tr h="384048">
                <a:tc>
                  <a:txBody>
                    <a:bodyPr/>
                    <a:lstStyle/>
                    <a:p>
                      <a:r>
                        <a:rPr sz="1400" b="1" i="0">
                          <a:solidFill>
                            <a:srgbClr val="1A1A1A"/>
                          </a:solidFill>
                          <a:latin typeface="Times New Roman"/>
                        </a:rPr>
                        <a:t>r.raise_for_status()</a:t>
                      </a:r>
                    </a:p>
                  </a:txBody>
                  <a:tcPr marT="27432" marB="27432" anchor="ctr">
                    <a:solidFill>
                      <a:srgbClr val="FBE5D6"/>
                    </a:solidFill>
                  </a:tcPr>
                </a:tc>
                <a:tc>
                  <a:txBody>
                    <a:bodyPr/>
                    <a:lstStyle/>
                    <a:p>
                      <a:r>
                        <a:rPr sz="1400" b="0" i="0">
                          <a:solidFill>
                            <a:srgbClr val="1A1A1A"/>
                          </a:solidFill>
                          <a:latin typeface="Times New Roman"/>
                        </a:rPr>
                        <a:t>Better — but throws away the body that names the bad parameter</a:t>
                      </a:r>
                    </a:p>
                  </a:txBody>
                  <a:tcPr marT="27432" marB="27432" anchor="ctr">
                    <a:solidFill>
                      <a:srgbClr val="FBE5D6"/>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0" i="0">
                <a:solidFill>
                  <a:srgbClr val="1A1A1A"/>
                </a:solidFill>
                <a:latin typeface="Times New Roman"/>
              </a:rPr>
              <a:t>Build 3: </a:t>
            </a:r>
            <a:r>
              <a:rPr sz="3200" b="0" i="0">
                <a:solidFill>
                  <a:srgbClr val="F67132"/>
                </a:solidFill>
                <a:latin typeface="Times New Roman"/>
              </a:rPr>
              <a:t>Retry With Exponential Backoff</a:t>
            </a:r>
          </a:p>
        </p:txBody>
      </p:sp>
      <p:sp>
        <p:nvSpPr>
          <p:cNvPr id="4" name="Text Placeholder 3"/>
          <p:cNvSpPr>
            <a:spLocks noGrp="1"/>
          </p:cNvSpPr>
          <p:nvPr>
            <p:ph type="body" sz="quarter" idx="13"/>
          </p:nvPr>
        </p:nvSpPr>
        <p:spPr/>
        <p:txBody>
          <a:bodyPr/>
          <a:lstStyle/>
          <a:p>
            <a:r>
              <a:rPr sz="1600" b="0" i="0">
                <a:solidFill>
                  <a:srgbClr val="1A1A1A"/>
                </a:solidFill>
                <a:latin typeface="Times New Roman"/>
              </a:rPr>
              <a:t>Test against flaky(): fails twice, then succeeds — deterministic, no network needed</a:t>
            </a:r>
          </a:p>
        </p:txBody>
      </p:sp>
      <p:sp>
        <p:nvSpPr>
          <p:cNvPr id="5" name="Rectangle 4"/>
          <p:cNvSpPr/>
          <p:nvPr/>
        </p:nvSpPr>
        <p:spPr>
          <a:xfrm>
            <a:off x="548640" y="1508760"/>
            <a:ext cx="1783080" cy="1234440"/>
          </a:xfrm>
          <a:prstGeom prst="rect">
            <a:avLst/>
          </a:prstGeom>
          <a:solidFill>
            <a:srgbClr val="FBE5D6"/>
          </a:solidFill>
          <a:ln w="12700">
            <a:solidFill>
              <a:srgbClr val="24323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640" y="1572768"/>
            <a:ext cx="1783080" cy="411480"/>
          </a:xfrm>
          <a:prstGeom prst="rect">
            <a:avLst/>
          </a:prstGeom>
          <a:noFill/>
        </p:spPr>
        <p:txBody>
          <a:bodyPr wrap="square" lIns="45720" rIns="45720" anchor="t">
            <a:spAutoFit/>
          </a:bodyPr>
          <a:lstStyle/>
          <a:p>
            <a:pPr algn="ctr"/>
            <a:r>
              <a:rPr sz="1600" b="1" i="0">
                <a:solidFill>
                  <a:srgbClr val="24323E"/>
                </a:solidFill>
                <a:latin typeface="Times New Roman"/>
              </a:rPr>
              <a:t>Attempt 1</a:t>
            </a:r>
          </a:p>
        </p:txBody>
      </p:sp>
      <p:sp>
        <p:nvSpPr>
          <p:cNvPr id="7" name="Rounded Rectangle 6"/>
          <p:cNvSpPr/>
          <p:nvPr/>
        </p:nvSpPr>
        <p:spPr>
          <a:xfrm>
            <a:off x="731520" y="2057400"/>
            <a:ext cx="1417320" cy="457200"/>
          </a:xfrm>
          <a:prstGeom prst="roundRect">
            <a:avLst>
              <a:gd name="adj" fmla="val 8000"/>
            </a:avLst>
          </a:prstGeom>
          <a:solidFill>
            <a:srgbClr val="B02A1E"/>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200" b="1" i="0">
                <a:solidFill>
                  <a:srgbClr val="FFFFFF"/>
                </a:solidFill>
                <a:latin typeface="Courier New"/>
              </a:rPr>
              <a:t>TimeoutError</a:t>
            </a:r>
          </a:p>
        </p:txBody>
      </p:sp>
      <p:sp>
        <p:nvSpPr>
          <p:cNvPr id="8" name="Right Arrow 7"/>
          <p:cNvSpPr/>
          <p:nvPr/>
        </p:nvSpPr>
        <p:spPr>
          <a:xfrm>
            <a:off x="2468880" y="1783080"/>
            <a:ext cx="1737360" cy="685800"/>
          </a:xfrm>
          <a:prstGeom prst="rightArrow">
            <a:avLst/>
          </a:prstGeom>
          <a:solidFill>
            <a:srgbClr val="FBE5D6"/>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400" b="1" i="0">
                <a:solidFill>
                  <a:srgbClr val="24323E"/>
                </a:solidFill>
                <a:latin typeface="Courier New"/>
              </a:rPr>
              <a:t>wait 0.1 s</a:t>
            </a:r>
          </a:p>
        </p:txBody>
      </p:sp>
      <p:sp>
        <p:nvSpPr>
          <p:cNvPr id="9" name="Rectangle 8"/>
          <p:cNvSpPr/>
          <p:nvPr/>
        </p:nvSpPr>
        <p:spPr>
          <a:xfrm>
            <a:off x="4343400" y="1508760"/>
            <a:ext cx="1783080" cy="1234440"/>
          </a:xfrm>
          <a:prstGeom prst="rect">
            <a:avLst/>
          </a:prstGeom>
          <a:solidFill>
            <a:srgbClr val="FBE5D6"/>
          </a:solidFill>
          <a:ln w="12700">
            <a:solidFill>
              <a:srgbClr val="24323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4343400" y="1572768"/>
            <a:ext cx="1783080" cy="411480"/>
          </a:xfrm>
          <a:prstGeom prst="rect">
            <a:avLst/>
          </a:prstGeom>
          <a:noFill/>
        </p:spPr>
        <p:txBody>
          <a:bodyPr wrap="square" lIns="45720" rIns="45720" anchor="t">
            <a:spAutoFit/>
          </a:bodyPr>
          <a:lstStyle/>
          <a:p>
            <a:pPr algn="ctr"/>
            <a:r>
              <a:rPr sz="1600" b="1" i="0">
                <a:solidFill>
                  <a:srgbClr val="24323E"/>
                </a:solidFill>
                <a:latin typeface="Times New Roman"/>
              </a:rPr>
              <a:t>Attempt 2</a:t>
            </a:r>
          </a:p>
        </p:txBody>
      </p:sp>
      <p:sp>
        <p:nvSpPr>
          <p:cNvPr id="11" name="Rounded Rectangle 10"/>
          <p:cNvSpPr/>
          <p:nvPr/>
        </p:nvSpPr>
        <p:spPr>
          <a:xfrm>
            <a:off x="4526280" y="2057400"/>
            <a:ext cx="1417320" cy="457200"/>
          </a:xfrm>
          <a:prstGeom prst="roundRect">
            <a:avLst>
              <a:gd name="adj" fmla="val 8000"/>
            </a:avLst>
          </a:prstGeom>
          <a:solidFill>
            <a:srgbClr val="B02A1E"/>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200" b="1" i="0">
                <a:solidFill>
                  <a:srgbClr val="FFFFFF"/>
                </a:solidFill>
                <a:latin typeface="Courier New"/>
              </a:rPr>
              <a:t>TimeoutError</a:t>
            </a:r>
          </a:p>
        </p:txBody>
      </p:sp>
      <p:sp>
        <p:nvSpPr>
          <p:cNvPr id="12" name="Right Arrow 11"/>
          <p:cNvSpPr/>
          <p:nvPr/>
        </p:nvSpPr>
        <p:spPr>
          <a:xfrm>
            <a:off x="6263640" y="1783080"/>
            <a:ext cx="1737360" cy="685800"/>
          </a:xfrm>
          <a:prstGeom prst="rightArrow">
            <a:avLst/>
          </a:prstGeom>
          <a:solidFill>
            <a:srgbClr val="FBE5D6"/>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400" b="1" i="0">
                <a:solidFill>
                  <a:srgbClr val="24323E"/>
                </a:solidFill>
                <a:latin typeface="Courier New"/>
              </a:rPr>
              <a:t>wait 0.2 s</a:t>
            </a:r>
          </a:p>
        </p:txBody>
      </p:sp>
      <p:sp>
        <p:nvSpPr>
          <p:cNvPr id="13" name="Rectangle 12"/>
          <p:cNvSpPr/>
          <p:nvPr/>
        </p:nvSpPr>
        <p:spPr>
          <a:xfrm>
            <a:off x="8138159" y="1508760"/>
            <a:ext cx="1783080" cy="1234440"/>
          </a:xfrm>
          <a:prstGeom prst="rect">
            <a:avLst/>
          </a:prstGeom>
          <a:solidFill>
            <a:srgbClr val="FBE5D6"/>
          </a:solidFill>
          <a:ln w="12700">
            <a:solidFill>
              <a:srgbClr val="24323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8138159" y="1572768"/>
            <a:ext cx="1783080" cy="411480"/>
          </a:xfrm>
          <a:prstGeom prst="rect">
            <a:avLst/>
          </a:prstGeom>
          <a:noFill/>
        </p:spPr>
        <p:txBody>
          <a:bodyPr wrap="square" lIns="45720" rIns="45720" anchor="t">
            <a:spAutoFit/>
          </a:bodyPr>
          <a:lstStyle/>
          <a:p>
            <a:pPr algn="ctr"/>
            <a:r>
              <a:rPr sz="1600" b="1" i="0">
                <a:solidFill>
                  <a:srgbClr val="24323E"/>
                </a:solidFill>
                <a:latin typeface="Times New Roman"/>
              </a:rPr>
              <a:t>Attempt 3</a:t>
            </a:r>
          </a:p>
        </p:txBody>
      </p:sp>
      <p:sp>
        <p:nvSpPr>
          <p:cNvPr id="15" name="Rounded Rectangle 14"/>
          <p:cNvSpPr/>
          <p:nvPr/>
        </p:nvSpPr>
        <p:spPr>
          <a:xfrm>
            <a:off x="8321039" y="2057400"/>
            <a:ext cx="1417320" cy="457200"/>
          </a:xfrm>
          <a:prstGeom prst="roundRect">
            <a:avLst>
              <a:gd name="adj" fmla="val 8000"/>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200" b="1" i="0">
                <a:solidFill>
                  <a:srgbClr val="FFFFFF"/>
                </a:solidFill>
                <a:latin typeface="Courier New"/>
              </a:rPr>
              <a:t>ok ✓</a:t>
            </a:r>
          </a:p>
        </p:txBody>
      </p:sp>
      <p:sp>
        <p:nvSpPr>
          <p:cNvPr id="16" name="Rectangle 15"/>
          <p:cNvSpPr/>
          <p:nvPr/>
        </p:nvSpPr>
        <p:spPr>
          <a:xfrm>
            <a:off x="548640" y="3017520"/>
            <a:ext cx="5852160" cy="2971800"/>
          </a:xfrm>
          <a:prstGeom prst="rect">
            <a:avLst/>
          </a:prstGeom>
          <a:solidFill>
            <a:srgbClr val="24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685800" y="3108960"/>
            <a:ext cx="5577840" cy="2788920"/>
          </a:xfrm>
          <a:prstGeom prst="rect">
            <a:avLst/>
          </a:prstGeom>
          <a:noFill/>
        </p:spPr>
        <p:txBody>
          <a:bodyPr wrap="square" lIns="0" tIns="0" rIns="0" bIns="0">
            <a:spAutoFit/>
          </a:bodyPr>
          <a:lstStyle/>
          <a:p>
            <a:pPr algn="l"/>
            <a:r>
              <a:rPr sz="1200" b="0" i="0">
                <a:solidFill>
                  <a:srgbClr val="E8ECF0"/>
                </a:solidFill>
                <a:latin typeface="Courier New"/>
              </a:rPr>
              <a:t>def with_retries(fn, tries=4, base_delay=0.1):</a:t>
            </a:r>
          </a:p>
          <a:p>
            <a:pPr algn="l"/>
            <a:r>
              <a:rPr sz="1200" b="0" i="0">
                <a:solidFill>
                  <a:srgbClr val="E8ECF0"/>
                </a:solidFill>
                <a:latin typeface="Courier New"/>
              </a:rPr>
              <a:t>    for attempt in range(tries):</a:t>
            </a:r>
          </a:p>
          <a:p>
            <a:pPr algn="l"/>
            <a:r>
              <a:rPr sz="1200" b="0" i="0">
                <a:solidFill>
                  <a:srgbClr val="E8ECF0"/>
                </a:solidFill>
                <a:latin typeface="Courier New"/>
              </a:rPr>
              <a:t>        try:</a:t>
            </a:r>
          </a:p>
          <a:p>
            <a:pPr algn="l"/>
            <a:r>
              <a:rPr sz="1200" b="0" i="0">
                <a:solidFill>
                  <a:srgbClr val="E8ECF0"/>
                </a:solidFill>
                <a:latin typeface="Courier New"/>
              </a:rPr>
              <a:t>            return fn()</a:t>
            </a:r>
          </a:p>
          <a:p>
            <a:pPr algn="l"/>
            <a:r>
              <a:rPr sz="1200" b="0" i="0">
                <a:solidFill>
                  <a:srgbClr val="E8ECF0"/>
                </a:solidFill>
                <a:latin typeface="Courier New"/>
              </a:rPr>
              <a:t>        except Exception as e:</a:t>
            </a:r>
          </a:p>
          <a:p>
            <a:pPr algn="l"/>
            <a:r>
              <a:rPr sz="1200" b="0" i="0">
                <a:solidFill>
                  <a:srgbClr val="E8ECF0"/>
                </a:solidFill>
                <a:latin typeface="Courier New"/>
              </a:rPr>
              <a:t>            if attempt == tries - 1:</a:t>
            </a:r>
          </a:p>
          <a:p>
            <a:pPr algn="l"/>
            <a:r>
              <a:rPr sz="1200" b="0" i="0">
                <a:solidFill>
                  <a:srgbClr val="E8ECF0"/>
                </a:solidFill>
                <a:latin typeface="Courier New"/>
              </a:rPr>
              <a:t>                raise</a:t>
            </a:r>
          </a:p>
          <a:p>
            <a:pPr algn="l"/>
            <a:r>
              <a:rPr sz="1200" b="0" i="0">
                <a:solidFill>
                  <a:srgbClr val="E8ECF0"/>
                </a:solidFill>
                <a:latin typeface="Courier New"/>
              </a:rPr>
              <a:t>            delay = base_delay * (2 ** attempt)</a:t>
            </a:r>
          </a:p>
          <a:p>
            <a:pPr algn="l"/>
            <a:r>
              <a:rPr sz="1200" b="0" i="0">
                <a:solidFill>
                  <a:srgbClr val="E8ECF0"/>
                </a:solidFill>
                <a:latin typeface="Courier New"/>
              </a:rPr>
              <a:t>            time.sleep(delay)</a:t>
            </a:r>
          </a:p>
        </p:txBody>
      </p:sp>
      <p:sp>
        <p:nvSpPr>
          <p:cNvPr id="18" name="Rectangle 17"/>
          <p:cNvSpPr/>
          <p:nvPr/>
        </p:nvSpPr>
        <p:spPr>
          <a:xfrm>
            <a:off x="6675120" y="3017520"/>
            <a:ext cx="4983480" cy="896112"/>
          </a:xfrm>
          <a:prstGeom prst="rect">
            <a:avLst/>
          </a:prstGeom>
          <a:solidFill>
            <a:srgbClr val="FBE5D6"/>
          </a:solidFill>
          <a:ln w="12700">
            <a:solidFill>
              <a:srgbClr val="24323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6858000" y="3054096"/>
            <a:ext cx="4663440" cy="365760"/>
          </a:xfrm>
          <a:prstGeom prst="rect">
            <a:avLst/>
          </a:prstGeom>
          <a:noFill/>
        </p:spPr>
        <p:txBody>
          <a:bodyPr wrap="square" lIns="45720" rIns="45720" anchor="t">
            <a:spAutoFit/>
          </a:bodyPr>
          <a:lstStyle/>
          <a:p>
            <a:pPr algn="l"/>
            <a:r>
              <a:rPr sz="1600" b="1" i="0">
                <a:solidFill>
                  <a:srgbClr val="24323E"/>
                </a:solidFill>
                <a:latin typeface="Times New Roman"/>
              </a:rPr>
              <a:t>return fn() is inside the try</a:t>
            </a:r>
          </a:p>
        </p:txBody>
      </p:sp>
      <p:sp>
        <p:nvSpPr>
          <p:cNvPr id="20" name="TextBox 19"/>
          <p:cNvSpPr txBox="1"/>
          <p:nvPr/>
        </p:nvSpPr>
        <p:spPr>
          <a:xfrm>
            <a:off x="6858000" y="3429000"/>
            <a:ext cx="4663440" cy="457200"/>
          </a:xfrm>
          <a:prstGeom prst="rect">
            <a:avLst/>
          </a:prstGeom>
          <a:noFill/>
        </p:spPr>
        <p:txBody>
          <a:bodyPr wrap="square" lIns="45720" rIns="45720" anchor="t">
            <a:spAutoFit/>
          </a:bodyPr>
          <a:lstStyle/>
          <a:p>
            <a:pPr algn="l"/>
            <a:r>
              <a:rPr sz="1400" b="0" i="0">
                <a:solidFill>
                  <a:srgbClr val="1A1A1A"/>
                </a:solidFill>
                <a:latin typeface="Times New Roman"/>
              </a:rPr>
              <a:t>Success leaves the loop at once — no “did it work” flag.</a:t>
            </a:r>
          </a:p>
        </p:txBody>
      </p:sp>
      <p:sp>
        <p:nvSpPr>
          <p:cNvPr id="21" name="Rectangle 20"/>
          <p:cNvSpPr/>
          <p:nvPr/>
        </p:nvSpPr>
        <p:spPr>
          <a:xfrm>
            <a:off x="6675120" y="4041648"/>
            <a:ext cx="4983480" cy="896112"/>
          </a:xfrm>
          <a:prstGeom prst="rect">
            <a:avLst/>
          </a:prstGeom>
          <a:solidFill>
            <a:srgbClr val="FBE5D6"/>
          </a:solidFill>
          <a:ln w="12700">
            <a:solidFill>
              <a:srgbClr val="24323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858000" y="4078224"/>
            <a:ext cx="4663440" cy="365760"/>
          </a:xfrm>
          <a:prstGeom prst="rect">
            <a:avLst/>
          </a:prstGeom>
          <a:noFill/>
        </p:spPr>
        <p:txBody>
          <a:bodyPr wrap="square" lIns="45720" rIns="45720" anchor="t">
            <a:spAutoFit/>
          </a:bodyPr>
          <a:lstStyle/>
          <a:p>
            <a:pPr algn="l"/>
            <a:r>
              <a:rPr sz="1600" b="1" i="0">
                <a:solidFill>
                  <a:srgbClr val="24323E"/>
                </a:solidFill>
                <a:latin typeface="Times New Roman"/>
              </a:rPr>
              <a:t>The last attempt re-raises</a:t>
            </a:r>
          </a:p>
        </p:txBody>
      </p:sp>
      <p:sp>
        <p:nvSpPr>
          <p:cNvPr id="23" name="TextBox 22"/>
          <p:cNvSpPr txBox="1"/>
          <p:nvPr/>
        </p:nvSpPr>
        <p:spPr>
          <a:xfrm>
            <a:off x="6858000" y="4453128"/>
            <a:ext cx="4663440" cy="457200"/>
          </a:xfrm>
          <a:prstGeom prst="rect">
            <a:avLst/>
          </a:prstGeom>
          <a:noFill/>
        </p:spPr>
        <p:txBody>
          <a:bodyPr wrap="square" lIns="45720" rIns="45720" anchor="t">
            <a:spAutoFit/>
          </a:bodyPr>
          <a:lstStyle/>
          <a:p>
            <a:pPr algn="l"/>
            <a:r>
              <a:rPr sz="1400" b="0" i="0">
                <a:solidFill>
                  <a:srgbClr val="1A1A1A"/>
                </a:solidFill>
                <a:latin typeface="Times New Roman"/>
              </a:rPr>
              <a:t>Otherwise it falls off the loop and returns None.</a:t>
            </a:r>
          </a:p>
        </p:txBody>
      </p:sp>
      <p:sp>
        <p:nvSpPr>
          <p:cNvPr id="24" name="Rectangle 23"/>
          <p:cNvSpPr/>
          <p:nvPr/>
        </p:nvSpPr>
        <p:spPr>
          <a:xfrm>
            <a:off x="6675120" y="5065776"/>
            <a:ext cx="4983480" cy="896112"/>
          </a:xfrm>
          <a:prstGeom prst="rect">
            <a:avLst/>
          </a:prstGeom>
          <a:solidFill>
            <a:srgbClr val="FBE5D6"/>
          </a:solidFill>
          <a:ln w="12700">
            <a:solidFill>
              <a:srgbClr val="24323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6858000" y="5102352"/>
            <a:ext cx="4663440" cy="365760"/>
          </a:xfrm>
          <a:prstGeom prst="rect">
            <a:avLst/>
          </a:prstGeom>
          <a:noFill/>
        </p:spPr>
        <p:txBody>
          <a:bodyPr wrap="square" lIns="45720" rIns="45720" anchor="t">
            <a:spAutoFit/>
          </a:bodyPr>
          <a:lstStyle/>
          <a:p>
            <a:pPr algn="l"/>
            <a:r>
              <a:rPr sz="1600" b="1" i="0">
                <a:solidFill>
                  <a:srgbClr val="24323E"/>
                </a:solidFill>
                <a:latin typeface="Times New Roman"/>
              </a:rPr>
              <a:t>Sleep between attempts</a:t>
            </a:r>
          </a:p>
        </p:txBody>
      </p:sp>
      <p:sp>
        <p:nvSpPr>
          <p:cNvPr id="26" name="TextBox 25"/>
          <p:cNvSpPr txBox="1"/>
          <p:nvPr/>
        </p:nvSpPr>
        <p:spPr>
          <a:xfrm>
            <a:off x="6858000" y="5477256"/>
            <a:ext cx="4663440" cy="457200"/>
          </a:xfrm>
          <a:prstGeom prst="rect">
            <a:avLst/>
          </a:prstGeom>
          <a:noFill/>
        </p:spPr>
        <p:txBody>
          <a:bodyPr wrap="square" lIns="45720" rIns="45720" anchor="t">
            <a:spAutoFit/>
          </a:bodyPr>
          <a:lstStyle/>
          <a:p>
            <a:pPr algn="l"/>
            <a:r>
              <a:rPr sz="1400" b="0" i="0">
                <a:solidFill>
                  <a:srgbClr val="1A1A1A"/>
                </a:solidFill>
                <a:latin typeface="Times New Roman"/>
              </a:rPr>
              <a:t>Not after the last one — don’t make the user wait for nothing.</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0" i="0">
                <a:solidFill>
                  <a:srgbClr val="1A1A1A"/>
                </a:solidFill>
                <a:latin typeface="Times New Roman"/>
              </a:rPr>
              <a:t>Build 3: </a:t>
            </a:r>
            <a:r>
              <a:rPr sz="3200" b="0" i="0">
                <a:solidFill>
                  <a:srgbClr val="F67132"/>
                </a:solidFill>
                <a:latin typeface="Times New Roman"/>
              </a:rPr>
              <a:t>Three Outcomes, Three Places</a:t>
            </a:r>
          </a:p>
        </p:txBody>
      </p:sp>
      <p:sp>
        <p:nvSpPr>
          <p:cNvPr id="4" name="Text Placeholder 3"/>
          <p:cNvSpPr>
            <a:spLocks noGrp="1"/>
          </p:cNvSpPr>
          <p:nvPr>
            <p:ph type="body" sz="quarter" idx="13"/>
          </p:nvPr>
        </p:nvSpPr>
        <p:spPr/>
        <p:txBody>
          <a:bodyPr/>
          <a:lstStyle/>
          <a:p>
            <a:r>
              <a:rPr sz="1600" b="0" i="0">
                <a:solidFill>
                  <a:srgbClr val="1A1A1A"/>
                </a:solidFill>
                <a:latin typeface="Times New Roman"/>
              </a:rPr>
              <a:t>fetch_with_retries — retry 429, 5xx and network errors; never 400 or 404</a:t>
            </a:r>
          </a:p>
        </p:txBody>
      </p:sp>
      <p:sp>
        <p:nvSpPr>
          <p:cNvPr id="5" name="Rectangle 4"/>
          <p:cNvSpPr/>
          <p:nvPr/>
        </p:nvSpPr>
        <p:spPr>
          <a:xfrm>
            <a:off x="548640" y="1508760"/>
            <a:ext cx="3520440" cy="777240"/>
          </a:xfrm>
          <a:prstGeom prst="rect">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800" b="1" i="0">
                <a:solidFill>
                  <a:srgbClr val="FFFFFF"/>
                </a:solidFill>
                <a:latin typeface="Times New Roman"/>
              </a:rPr>
              <a:t>200</a:t>
            </a:r>
          </a:p>
        </p:txBody>
      </p:sp>
      <p:sp>
        <p:nvSpPr>
          <p:cNvPr id="6" name="Rectangle 5"/>
          <p:cNvSpPr/>
          <p:nvPr/>
        </p:nvSpPr>
        <p:spPr>
          <a:xfrm>
            <a:off x="548640" y="2286000"/>
            <a:ext cx="3520440" cy="1600200"/>
          </a:xfrm>
          <a:prstGeom prst="rect">
            <a:avLst/>
          </a:prstGeom>
          <a:solidFill>
            <a:srgbClr val="FBE5D6"/>
          </a:solidFill>
          <a:ln w="12700">
            <a:solidFill>
              <a:srgbClr val="24323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731520" y="2423160"/>
            <a:ext cx="3154680" cy="457200"/>
          </a:xfrm>
          <a:prstGeom prst="rect">
            <a:avLst/>
          </a:prstGeom>
          <a:noFill/>
        </p:spPr>
        <p:txBody>
          <a:bodyPr wrap="square" lIns="45720" rIns="45720" anchor="t">
            <a:spAutoFit/>
          </a:bodyPr>
          <a:lstStyle/>
          <a:p>
            <a:pPr algn="ctr"/>
            <a:r>
              <a:rPr sz="1700" b="1" i="0">
                <a:solidFill>
                  <a:srgbClr val="24323E"/>
                </a:solidFill>
                <a:latin typeface="Courier New"/>
              </a:rPr>
              <a:t>return r.json()</a:t>
            </a:r>
          </a:p>
        </p:txBody>
      </p:sp>
      <p:sp>
        <p:nvSpPr>
          <p:cNvPr id="8" name="TextBox 7"/>
          <p:cNvSpPr txBox="1"/>
          <p:nvPr/>
        </p:nvSpPr>
        <p:spPr>
          <a:xfrm>
            <a:off x="731520" y="2971800"/>
            <a:ext cx="3154680" cy="822960"/>
          </a:xfrm>
          <a:prstGeom prst="rect">
            <a:avLst/>
          </a:prstGeom>
          <a:noFill/>
        </p:spPr>
        <p:txBody>
          <a:bodyPr wrap="square" lIns="45720" rIns="45720" anchor="t">
            <a:spAutoFit/>
          </a:bodyPr>
          <a:lstStyle/>
          <a:p>
            <a:pPr algn="ctr"/>
            <a:r>
              <a:rPr sz="1600" b="0" i="0">
                <a:solidFill>
                  <a:srgbClr val="1A1A1A"/>
                </a:solidFill>
                <a:latin typeface="Times New Roman"/>
              </a:rPr>
              <a:t>Done. Leave immediately.</a:t>
            </a:r>
          </a:p>
        </p:txBody>
      </p:sp>
      <p:sp>
        <p:nvSpPr>
          <p:cNvPr id="9" name="Rectangle 8"/>
          <p:cNvSpPr/>
          <p:nvPr/>
        </p:nvSpPr>
        <p:spPr>
          <a:xfrm>
            <a:off x="4297679" y="1508760"/>
            <a:ext cx="3520440" cy="777240"/>
          </a:xfrm>
          <a:prstGeom prst="rect">
            <a:avLst/>
          </a:prstGeom>
          <a:solidFill>
            <a:srgbClr val="B02A1E"/>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800" b="1" i="0">
                <a:solidFill>
                  <a:srgbClr val="FFFFFF"/>
                </a:solidFill>
                <a:latin typeface="Times New Roman"/>
              </a:rPr>
              <a:t>400 · 401 · 404</a:t>
            </a:r>
          </a:p>
        </p:txBody>
      </p:sp>
      <p:sp>
        <p:nvSpPr>
          <p:cNvPr id="10" name="Rectangle 9"/>
          <p:cNvSpPr/>
          <p:nvPr/>
        </p:nvSpPr>
        <p:spPr>
          <a:xfrm>
            <a:off x="4297679" y="2286000"/>
            <a:ext cx="3520440" cy="1600200"/>
          </a:xfrm>
          <a:prstGeom prst="rect">
            <a:avLst/>
          </a:prstGeom>
          <a:solidFill>
            <a:srgbClr val="FBE5D6"/>
          </a:solidFill>
          <a:ln w="12700">
            <a:solidFill>
              <a:srgbClr val="24323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4480559" y="2423160"/>
            <a:ext cx="3154680" cy="457200"/>
          </a:xfrm>
          <a:prstGeom prst="rect">
            <a:avLst/>
          </a:prstGeom>
          <a:noFill/>
        </p:spPr>
        <p:txBody>
          <a:bodyPr wrap="square" lIns="45720" rIns="45720" anchor="t">
            <a:spAutoFit/>
          </a:bodyPr>
          <a:lstStyle/>
          <a:p>
            <a:pPr algn="ctr"/>
            <a:r>
              <a:rPr sz="1700" b="1" i="0">
                <a:solidFill>
                  <a:srgbClr val="24323E"/>
                </a:solidFill>
                <a:latin typeface="Courier New"/>
              </a:rPr>
              <a:t>raise on the spot</a:t>
            </a:r>
          </a:p>
        </p:txBody>
      </p:sp>
      <p:sp>
        <p:nvSpPr>
          <p:cNvPr id="12" name="TextBox 11"/>
          <p:cNvSpPr txBox="1"/>
          <p:nvPr/>
        </p:nvSpPr>
        <p:spPr>
          <a:xfrm>
            <a:off x="4480559" y="2971800"/>
            <a:ext cx="3154680" cy="822960"/>
          </a:xfrm>
          <a:prstGeom prst="rect">
            <a:avLst/>
          </a:prstGeom>
          <a:noFill/>
        </p:spPr>
        <p:txBody>
          <a:bodyPr wrap="square" lIns="45720" rIns="45720" anchor="t">
            <a:spAutoFit/>
          </a:bodyPr>
          <a:lstStyle/>
          <a:p>
            <a:pPr algn="ctr"/>
            <a:r>
              <a:rPr sz="1600" b="0" i="0">
                <a:solidFill>
                  <a:srgbClr val="1A1A1A"/>
                </a:solidFill>
                <a:latin typeface="Times New Roman"/>
              </a:rPr>
              <a:t>Your bug. Waiting changes nothing.</a:t>
            </a:r>
          </a:p>
        </p:txBody>
      </p:sp>
      <p:sp>
        <p:nvSpPr>
          <p:cNvPr id="13" name="Rectangle 12"/>
          <p:cNvSpPr/>
          <p:nvPr/>
        </p:nvSpPr>
        <p:spPr>
          <a:xfrm>
            <a:off x="8046719" y="1508760"/>
            <a:ext cx="3520440" cy="777240"/>
          </a:xfrm>
          <a:prstGeom prst="rect">
            <a:avLst/>
          </a:prstGeom>
          <a:solidFill>
            <a:srgbClr val="F6713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800" b="1" i="0">
                <a:solidFill>
                  <a:srgbClr val="FFFFFF"/>
                </a:solidFill>
                <a:latin typeface="Times New Roman"/>
              </a:rPr>
              <a:t>429 · 5xx · network error</a:t>
            </a:r>
          </a:p>
        </p:txBody>
      </p:sp>
      <p:sp>
        <p:nvSpPr>
          <p:cNvPr id="14" name="Rectangle 13"/>
          <p:cNvSpPr/>
          <p:nvPr/>
        </p:nvSpPr>
        <p:spPr>
          <a:xfrm>
            <a:off x="8046719" y="2286000"/>
            <a:ext cx="3520440" cy="1600200"/>
          </a:xfrm>
          <a:prstGeom prst="rect">
            <a:avLst/>
          </a:prstGeom>
          <a:solidFill>
            <a:srgbClr val="FBE5D6"/>
          </a:solidFill>
          <a:ln w="12700">
            <a:solidFill>
              <a:srgbClr val="24323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8229599" y="2423160"/>
            <a:ext cx="3154680" cy="457200"/>
          </a:xfrm>
          <a:prstGeom prst="rect">
            <a:avLst/>
          </a:prstGeom>
          <a:noFill/>
        </p:spPr>
        <p:txBody>
          <a:bodyPr wrap="square" lIns="45720" rIns="45720" anchor="t">
            <a:spAutoFit/>
          </a:bodyPr>
          <a:lstStyle/>
          <a:p>
            <a:pPr algn="ctr"/>
            <a:r>
              <a:rPr sz="1700" b="1" i="0">
                <a:solidFill>
                  <a:srgbClr val="24323E"/>
                </a:solidFill>
                <a:latin typeface="Courier New"/>
              </a:rPr>
              <a:t>record, sleep, loop</a:t>
            </a:r>
          </a:p>
        </p:txBody>
      </p:sp>
      <p:sp>
        <p:nvSpPr>
          <p:cNvPr id="16" name="TextBox 15"/>
          <p:cNvSpPr txBox="1"/>
          <p:nvPr/>
        </p:nvSpPr>
        <p:spPr>
          <a:xfrm>
            <a:off x="8229599" y="2971800"/>
            <a:ext cx="3154680" cy="822960"/>
          </a:xfrm>
          <a:prstGeom prst="rect">
            <a:avLst/>
          </a:prstGeom>
          <a:noFill/>
        </p:spPr>
        <p:txBody>
          <a:bodyPr wrap="square" lIns="45720" rIns="45720" anchor="t">
            <a:spAutoFit/>
          </a:bodyPr>
          <a:lstStyle/>
          <a:p>
            <a:pPr algn="ctr"/>
            <a:r>
              <a:rPr sz="1600" b="0" i="0">
                <a:solidFill>
                  <a:srgbClr val="1A1A1A"/>
                </a:solidFill>
                <a:latin typeface="Times New Roman"/>
              </a:rPr>
              <a:t>Their problem. It may clear.</a:t>
            </a:r>
          </a:p>
        </p:txBody>
      </p:sp>
      <p:sp>
        <p:nvSpPr>
          <p:cNvPr id="17" name="Rectangle 16"/>
          <p:cNvSpPr/>
          <p:nvPr/>
        </p:nvSpPr>
        <p:spPr>
          <a:xfrm>
            <a:off x="548640" y="4206240"/>
            <a:ext cx="5440680" cy="1783080"/>
          </a:xfrm>
          <a:prstGeom prst="rect">
            <a:avLst/>
          </a:prstGeom>
          <a:solidFill>
            <a:srgbClr val="24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777240" y="4315968"/>
            <a:ext cx="4983480" cy="411480"/>
          </a:xfrm>
          <a:prstGeom prst="rect">
            <a:avLst/>
          </a:prstGeom>
          <a:noFill/>
        </p:spPr>
        <p:txBody>
          <a:bodyPr wrap="square" lIns="45720" rIns="45720" anchor="t">
            <a:spAutoFit/>
          </a:bodyPr>
          <a:lstStyle/>
          <a:p>
            <a:pPr algn="l"/>
            <a:r>
              <a:rPr sz="1600" b="1" i="0">
                <a:solidFill>
                  <a:srgbClr val="F67132"/>
                </a:solidFill>
                <a:latin typeface="Courier New"/>
              </a:rPr>
              <a:t>except requests.RequestException</a:t>
            </a:r>
          </a:p>
        </p:txBody>
      </p:sp>
      <p:sp>
        <p:nvSpPr>
          <p:cNvPr id="19" name="TextBox 18"/>
          <p:cNvSpPr txBox="1"/>
          <p:nvPr/>
        </p:nvSpPr>
        <p:spPr>
          <a:xfrm>
            <a:off x="777240" y="4800600"/>
            <a:ext cx="4983480" cy="1097280"/>
          </a:xfrm>
          <a:prstGeom prst="rect">
            <a:avLst/>
          </a:prstGeom>
          <a:noFill/>
        </p:spPr>
        <p:txBody>
          <a:bodyPr wrap="square" lIns="45720" rIns="45720" anchor="t">
            <a:spAutoFit/>
          </a:bodyPr>
          <a:lstStyle/>
          <a:p>
            <a:pPr algn="l"/>
            <a:r>
              <a:rPr sz="1500" b="0" i="0">
                <a:solidFill>
                  <a:srgbClr val="FFFFFF"/>
                </a:solidFill>
                <a:latin typeface="Times New Roman"/>
              </a:rPr>
              <a:t>Catches DNS failure, refused connection, timeout — cases that never reach a status code.</a:t>
            </a:r>
          </a:p>
        </p:txBody>
      </p:sp>
      <p:sp>
        <p:nvSpPr>
          <p:cNvPr id="20" name="Rectangle 19"/>
          <p:cNvSpPr/>
          <p:nvPr/>
        </p:nvSpPr>
        <p:spPr>
          <a:xfrm>
            <a:off x="6217920" y="4206240"/>
            <a:ext cx="5440680" cy="1783080"/>
          </a:xfrm>
          <a:prstGeom prst="rect">
            <a:avLst/>
          </a:prstGeom>
          <a:solidFill>
            <a:srgbClr val="24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6446520" y="4315968"/>
            <a:ext cx="4983480" cy="411480"/>
          </a:xfrm>
          <a:prstGeom prst="rect">
            <a:avLst/>
          </a:prstGeom>
          <a:noFill/>
        </p:spPr>
        <p:txBody>
          <a:bodyPr wrap="square" lIns="45720" rIns="45720" anchor="t">
            <a:spAutoFit/>
          </a:bodyPr>
          <a:lstStyle/>
          <a:p>
            <a:pPr algn="l"/>
            <a:r>
              <a:rPr sz="1600" b="1" i="0">
                <a:solidFill>
                  <a:srgbClr val="F67132"/>
                </a:solidFill>
                <a:latin typeface="Courier New"/>
              </a:rPr>
              <a:t>The final raise</a:t>
            </a:r>
          </a:p>
        </p:txBody>
      </p:sp>
      <p:sp>
        <p:nvSpPr>
          <p:cNvPr id="22" name="TextBox 21"/>
          <p:cNvSpPr txBox="1"/>
          <p:nvPr/>
        </p:nvSpPr>
        <p:spPr>
          <a:xfrm>
            <a:off x="6446520" y="4800600"/>
            <a:ext cx="4983480" cy="1097280"/>
          </a:xfrm>
          <a:prstGeom prst="rect">
            <a:avLst/>
          </a:prstGeom>
          <a:noFill/>
        </p:spPr>
        <p:txBody>
          <a:bodyPr wrap="square" lIns="45720" rIns="45720" anchor="t">
            <a:spAutoFit/>
          </a:bodyPr>
          <a:lstStyle/>
          <a:p>
            <a:pPr algn="l"/>
            <a:r>
              <a:rPr sz="1500" b="0" i="0">
                <a:solidFill>
                  <a:srgbClr val="FFFFFF"/>
                </a:solidFill>
                <a:latin typeface="Times New Roman"/>
              </a:rPr>
              <a:t>If every attempt fails, raise — never return None. An exception tells the caller now; None tells them later.</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0" i="0">
                <a:solidFill>
                  <a:srgbClr val="1A1A1A"/>
                </a:solidFill>
                <a:latin typeface="Times New Roman"/>
              </a:rPr>
              <a:t>Build 4: </a:t>
            </a:r>
            <a:r>
              <a:rPr sz="3200" b="0" i="0">
                <a:solidFill>
                  <a:srgbClr val="F67132"/>
                </a:solidFill>
                <a:latin typeface="Times New Roman"/>
              </a:rPr>
              <a:t>Stop Asking the Same Question Twice</a:t>
            </a:r>
          </a:p>
        </p:txBody>
      </p:sp>
      <p:sp>
        <p:nvSpPr>
          <p:cNvPr id="4" name="Text Placeholder 3"/>
          <p:cNvSpPr>
            <a:spLocks noGrp="1"/>
          </p:cNvSpPr>
          <p:nvPr>
            <p:ph type="body" sz="quarter" idx="13"/>
          </p:nvPr>
        </p:nvSpPr>
        <p:spPr/>
        <p:txBody>
          <a:bodyPr/>
          <a:lstStyle/>
          <a:p>
            <a:r>
              <a:rPr sz="1600" b="0" i="0">
                <a:solidFill>
                  <a:srgbClr val="1A1A1A"/>
                </a:solidFill>
                <a:latin typeface="Times New Roman"/>
              </a:rPr>
              <a:t>Optional — drop this one if time is short</a:t>
            </a:r>
          </a:p>
        </p:txBody>
      </p:sp>
      <p:sp>
        <p:nvSpPr>
          <p:cNvPr id="5" name="Rectangle 4"/>
          <p:cNvSpPr/>
          <p:nvPr/>
        </p:nvSpPr>
        <p:spPr>
          <a:xfrm>
            <a:off x="548640" y="1508760"/>
            <a:ext cx="6400800" cy="3291840"/>
          </a:xfrm>
          <a:prstGeom prst="rect">
            <a:avLst/>
          </a:prstGeom>
          <a:solidFill>
            <a:srgbClr val="24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685800" y="1600200"/>
            <a:ext cx="6126480" cy="3108960"/>
          </a:xfrm>
          <a:prstGeom prst="rect">
            <a:avLst/>
          </a:prstGeom>
          <a:noFill/>
        </p:spPr>
        <p:txBody>
          <a:bodyPr wrap="square" lIns="0" tIns="0" rIns="0" bIns="0">
            <a:spAutoFit/>
          </a:bodyPr>
          <a:lstStyle/>
          <a:p>
            <a:pPr algn="l"/>
            <a:r>
              <a:rPr sz="1200" b="0" i="0">
                <a:solidFill>
                  <a:srgbClr val="E8ECF0"/>
                </a:solidFill>
                <a:latin typeface="Courier New"/>
              </a:rPr>
              <a:t>_cache = {}</a:t>
            </a:r>
          </a:p>
          <a:p>
            <a:pPr algn="l"/>
            <a:r>
              <a:rPr sz="1200" b="0" i="0">
                <a:solidFill>
                  <a:srgbClr val="E8ECF0"/>
                </a:solidFill>
                <a:latin typeface="Courier New"/>
              </a:rPr>
              <a:t> </a:t>
            </a:r>
          </a:p>
          <a:p>
            <a:pPr algn="l"/>
            <a:r>
              <a:rPr sz="1200" b="0" i="0">
                <a:solidFill>
                  <a:srgbClr val="E8ECF0"/>
                </a:solidFill>
                <a:latin typeface="Courier New"/>
              </a:rPr>
              <a:t>def cache_key(params):</a:t>
            </a:r>
          </a:p>
          <a:p>
            <a:pPr algn="l"/>
            <a:r>
              <a:rPr sz="1200" b="0" i="0">
                <a:solidFill>
                  <a:srgbClr val="E8ECF0"/>
                </a:solidFill>
                <a:latin typeface="Courier New"/>
              </a:rPr>
              <a:t>    return tuple(sorted(params.items()))</a:t>
            </a:r>
          </a:p>
          <a:p>
            <a:pPr algn="l"/>
            <a:r>
              <a:rPr sz="1200" b="0" i="0">
                <a:solidFill>
                  <a:srgbClr val="E8ECF0"/>
                </a:solidFill>
                <a:latin typeface="Courier New"/>
              </a:rPr>
              <a:t> </a:t>
            </a:r>
          </a:p>
          <a:p>
            <a:pPr algn="l"/>
            <a:r>
              <a:rPr sz="1200" b="0" i="0">
                <a:solidFill>
                  <a:srgbClr val="E8ECF0"/>
                </a:solidFill>
                <a:latin typeface="Courier New"/>
              </a:rPr>
              <a:t>def cached_fetch(url, params):</a:t>
            </a:r>
          </a:p>
          <a:p>
            <a:pPr algn="l"/>
            <a:r>
              <a:rPr sz="1200" b="0" i="0">
                <a:solidFill>
                  <a:srgbClr val="E8ECF0"/>
                </a:solidFill>
                <a:latin typeface="Courier New"/>
              </a:rPr>
              <a:t>    key = cache_key(params)</a:t>
            </a:r>
          </a:p>
          <a:p>
            <a:pPr algn="l"/>
            <a:r>
              <a:rPr sz="1200" b="0" i="0">
                <a:solidFill>
                  <a:srgbClr val="E8ECF0"/>
                </a:solidFill>
                <a:latin typeface="Courier New"/>
              </a:rPr>
              <a:t>    if key in _cache:</a:t>
            </a:r>
          </a:p>
          <a:p>
            <a:pPr algn="l"/>
            <a:r>
              <a:rPr sz="1200" b="0" i="0">
                <a:solidFill>
                  <a:srgbClr val="E8ECF0"/>
                </a:solidFill>
                <a:latin typeface="Courier New"/>
              </a:rPr>
              <a:t>        print('cache hit')</a:t>
            </a:r>
          </a:p>
          <a:p>
            <a:pPr algn="l"/>
            <a:r>
              <a:rPr sz="1200" b="0" i="0">
                <a:solidFill>
                  <a:srgbClr val="E8ECF0"/>
                </a:solidFill>
                <a:latin typeface="Courier New"/>
              </a:rPr>
              <a:t>        return _cache[key]</a:t>
            </a:r>
          </a:p>
          <a:p>
            <a:pPr algn="l"/>
            <a:r>
              <a:rPr sz="1200" b="0" i="0">
                <a:solidFill>
                  <a:srgbClr val="E8ECF0"/>
                </a:solidFill>
                <a:latin typeface="Courier New"/>
              </a:rPr>
              <a:t>    _cache[key] = fetch_with_retries(url, params)</a:t>
            </a:r>
          </a:p>
          <a:p>
            <a:pPr algn="l"/>
            <a:r>
              <a:rPr sz="1200" b="0" i="0">
                <a:solidFill>
                  <a:srgbClr val="E8ECF0"/>
                </a:solidFill>
                <a:latin typeface="Courier New"/>
              </a:rPr>
              <a:t>    return _cache[key]</a:t>
            </a:r>
          </a:p>
        </p:txBody>
      </p:sp>
      <p:sp>
        <p:nvSpPr>
          <p:cNvPr id="7" name="TextBox 6"/>
          <p:cNvSpPr txBox="1"/>
          <p:nvPr/>
        </p:nvSpPr>
        <p:spPr>
          <a:xfrm>
            <a:off x="548640" y="4937760"/>
            <a:ext cx="6400800" cy="1051560"/>
          </a:xfrm>
          <a:prstGeom prst="rect">
            <a:avLst/>
          </a:prstGeom>
          <a:noFill/>
        </p:spPr>
        <p:txBody>
          <a:bodyPr wrap="square" lIns="45720" rIns="45720" anchor="t">
            <a:spAutoFit/>
          </a:bodyPr>
          <a:lstStyle/>
          <a:p>
            <a:pPr algn="l"/>
            <a:r>
              <a:rPr sz="1600" b="1" i="0">
                <a:solidFill>
                  <a:srgbClr val="24323E"/>
                </a:solidFill>
                <a:latin typeface="Times New Roman"/>
              </a:rPr>
              <a:t>Two calls, one network trip: </a:t>
            </a:r>
            <a:r>
              <a:rPr sz="1600" b="0" i="0">
                <a:solidFill>
                  <a:srgbClr val="1A1A1A"/>
                </a:solidFill>
                <a:latin typeface="Times New Roman"/>
              </a:rPr>
              <a:t>the second prints </a:t>
            </a:r>
            <a:r>
              <a:rPr sz="1600" b="1" i="0">
                <a:solidFill>
                  <a:srgbClr val="1A1A1A"/>
                </a:solidFill>
                <a:latin typeface="Courier New"/>
              </a:rPr>
              <a:t>cache hit</a:t>
            </a:r>
            <a:r>
              <a:rPr sz="1600" b="0" i="0">
                <a:solidFill>
                  <a:srgbClr val="1A1A1A"/>
                </a:solidFill>
                <a:latin typeface="Times New Roman"/>
              </a:rPr>
              <a:t>.</a:t>
            </a:r>
          </a:p>
        </p:txBody>
      </p:sp>
      <p:sp>
        <p:nvSpPr>
          <p:cNvPr id="8" name="Rectangle 7"/>
          <p:cNvSpPr/>
          <p:nvPr/>
        </p:nvSpPr>
        <p:spPr>
          <a:xfrm>
            <a:off x="7269480" y="1508760"/>
            <a:ext cx="4389120" cy="1325880"/>
          </a:xfrm>
          <a:prstGeom prst="rect">
            <a:avLst/>
          </a:prstGeom>
          <a:solidFill>
            <a:srgbClr val="FBE5D6"/>
          </a:solidFill>
          <a:ln w="12700">
            <a:solidFill>
              <a:srgbClr val="24323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7452360" y="1600200"/>
            <a:ext cx="4023360" cy="384048"/>
          </a:xfrm>
          <a:prstGeom prst="rect">
            <a:avLst/>
          </a:prstGeom>
          <a:noFill/>
        </p:spPr>
        <p:txBody>
          <a:bodyPr wrap="square" lIns="45720" rIns="45720" anchor="t">
            <a:spAutoFit/>
          </a:bodyPr>
          <a:lstStyle/>
          <a:p>
            <a:pPr algn="l"/>
            <a:r>
              <a:rPr sz="1600" b="1" i="0">
                <a:solidFill>
                  <a:srgbClr val="24323E"/>
                </a:solidFill>
                <a:latin typeface="Times New Roman"/>
              </a:rPr>
              <a:t>A dict can’t be a dict key</a:t>
            </a:r>
          </a:p>
        </p:txBody>
      </p:sp>
      <p:sp>
        <p:nvSpPr>
          <p:cNvPr id="10" name="TextBox 9"/>
          <p:cNvSpPr txBox="1"/>
          <p:nvPr/>
        </p:nvSpPr>
        <p:spPr>
          <a:xfrm>
            <a:off x="7452360" y="2011680"/>
            <a:ext cx="4023360" cy="777240"/>
          </a:xfrm>
          <a:prstGeom prst="rect">
            <a:avLst/>
          </a:prstGeom>
          <a:noFill/>
        </p:spPr>
        <p:txBody>
          <a:bodyPr wrap="square" lIns="45720" rIns="45720" anchor="t">
            <a:spAutoFit/>
          </a:bodyPr>
          <a:lstStyle/>
          <a:p>
            <a:pPr algn="l"/>
            <a:r>
              <a:rPr sz="1400" b="0" i="0">
                <a:solidFill>
                  <a:srgbClr val="1A1A1A"/>
                </a:solidFill>
                <a:latin typeface="Times New Roman"/>
              </a:rPr>
              <a:t>Mutable → unhashable. Turn it into a tuple.</a:t>
            </a:r>
          </a:p>
        </p:txBody>
      </p:sp>
      <p:sp>
        <p:nvSpPr>
          <p:cNvPr id="11" name="Rectangle 10"/>
          <p:cNvSpPr/>
          <p:nvPr/>
        </p:nvSpPr>
        <p:spPr>
          <a:xfrm>
            <a:off x="7269480" y="3017520"/>
            <a:ext cx="4389120" cy="1325880"/>
          </a:xfrm>
          <a:prstGeom prst="rect">
            <a:avLst/>
          </a:prstGeom>
          <a:solidFill>
            <a:srgbClr val="24323E"/>
          </a:solidFill>
          <a:ln w="12700">
            <a:solidFill>
              <a:srgbClr val="24323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7452360" y="3108960"/>
            <a:ext cx="4023360" cy="384048"/>
          </a:xfrm>
          <a:prstGeom prst="rect">
            <a:avLst/>
          </a:prstGeom>
          <a:noFill/>
        </p:spPr>
        <p:txBody>
          <a:bodyPr wrap="square" lIns="45720" rIns="45720" anchor="t">
            <a:spAutoFit/>
          </a:bodyPr>
          <a:lstStyle/>
          <a:p>
            <a:pPr algn="l"/>
            <a:r>
              <a:rPr sz="1600" b="1" i="0">
                <a:solidFill>
                  <a:srgbClr val="F67132"/>
                </a:solidFill>
                <a:latin typeface="Times New Roman"/>
              </a:rPr>
              <a:t>sorted is load-bearing</a:t>
            </a:r>
          </a:p>
        </p:txBody>
      </p:sp>
      <p:sp>
        <p:nvSpPr>
          <p:cNvPr id="13" name="TextBox 12"/>
          <p:cNvSpPr txBox="1"/>
          <p:nvPr/>
        </p:nvSpPr>
        <p:spPr>
          <a:xfrm>
            <a:off x="7452360" y="3520439"/>
            <a:ext cx="4023360" cy="777240"/>
          </a:xfrm>
          <a:prstGeom prst="rect">
            <a:avLst/>
          </a:prstGeom>
          <a:noFill/>
        </p:spPr>
        <p:txBody>
          <a:bodyPr wrap="square" lIns="45720" rIns="45720" anchor="t">
            <a:spAutoFit/>
          </a:bodyPr>
          <a:lstStyle/>
          <a:p>
            <a:pPr algn="l"/>
            <a:r>
              <a:rPr sz="1400" b="0" i="0">
                <a:solidFill>
                  <a:srgbClr val="FFFFFF"/>
                </a:solidFill>
                <a:latin typeface="Times New Roman"/>
              </a:rPr>
              <a:t>Same params, different order → different key → fetched twice.</a:t>
            </a:r>
          </a:p>
        </p:txBody>
      </p:sp>
      <p:sp>
        <p:nvSpPr>
          <p:cNvPr id="14" name="Rectangle 13"/>
          <p:cNvSpPr/>
          <p:nvPr/>
        </p:nvSpPr>
        <p:spPr>
          <a:xfrm>
            <a:off x="7269480" y="4526279"/>
            <a:ext cx="4389120" cy="1325880"/>
          </a:xfrm>
          <a:prstGeom prst="rect">
            <a:avLst/>
          </a:prstGeom>
          <a:solidFill>
            <a:srgbClr val="FBE5D6"/>
          </a:solidFill>
          <a:ln w="12700">
            <a:solidFill>
              <a:srgbClr val="24323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7452360" y="4617719"/>
            <a:ext cx="4023360" cy="384048"/>
          </a:xfrm>
          <a:prstGeom prst="rect">
            <a:avLst/>
          </a:prstGeom>
          <a:noFill/>
        </p:spPr>
        <p:txBody>
          <a:bodyPr wrap="square" lIns="45720" rIns="45720" anchor="t">
            <a:spAutoFit/>
          </a:bodyPr>
          <a:lstStyle/>
          <a:p>
            <a:pPr algn="l"/>
            <a:r>
              <a:rPr sz="1600" b="1" i="0">
                <a:solidFill>
                  <a:srgbClr val="24323E"/>
                </a:solidFill>
                <a:latin typeface="Times New Roman"/>
              </a:rPr>
              <a:t>For the midterm: write to disk</a:t>
            </a:r>
          </a:p>
        </p:txBody>
      </p:sp>
      <p:sp>
        <p:nvSpPr>
          <p:cNvPr id="16" name="TextBox 15"/>
          <p:cNvSpPr txBox="1"/>
          <p:nvPr/>
        </p:nvSpPr>
        <p:spPr>
          <a:xfrm>
            <a:off x="7452360" y="5029199"/>
            <a:ext cx="4023360" cy="777240"/>
          </a:xfrm>
          <a:prstGeom prst="rect">
            <a:avLst/>
          </a:prstGeom>
          <a:noFill/>
        </p:spPr>
        <p:txBody>
          <a:bodyPr wrap="square" lIns="45720" rIns="45720" anchor="t">
            <a:spAutoFit/>
          </a:bodyPr>
          <a:lstStyle/>
          <a:p>
            <a:pPr algn="l"/>
            <a:r>
              <a:rPr sz="1400" b="0" i="0">
                <a:solidFill>
                  <a:srgbClr val="1A1A1A"/>
                </a:solidFill>
                <a:latin typeface="Times New Roman"/>
              </a:rPr>
              <a:t>Save the response as .json and check if it exists. Survives restarts; hand a teammate the file.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0" i="0">
                <a:solidFill>
                  <a:srgbClr val="1A1A1A"/>
                </a:solidFill>
                <a:latin typeface="Times New Roman"/>
              </a:rPr>
              <a:t>Build 5: </a:t>
            </a:r>
            <a:r>
              <a:rPr sz="3200" b="0" i="0">
                <a:solidFill>
                  <a:srgbClr val="F67132"/>
                </a:solidFill>
                <a:latin typeface="Times New Roman"/>
              </a:rPr>
              <a:t>Hourly Readings → Daily Rows</a:t>
            </a:r>
          </a:p>
        </p:txBody>
      </p:sp>
      <p:sp>
        <p:nvSpPr>
          <p:cNvPr id="4" name="Text Placeholder 3"/>
          <p:cNvSpPr>
            <a:spLocks noGrp="1"/>
          </p:cNvSpPr>
          <p:nvPr>
            <p:ph type="body" sz="quarter" idx="13"/>
          </p:nvPr>
        </p:nvSpPr>
        <p:spPr/>
        <p:txBody>
          <a:bodyPr/>
          <a:lstStyle/>
          <a:p>
            <a:r>
              <a:rPr sz="1600" b="0" i="0">
                <a:solidFill>
                  <a:srgbClr val="1A1A1A"/>
                </a:solidFill>
                <a:latin typeface="Times New Roman"/>
              </a:rPr>
              <a:t>Sales are daily, weather came back hourly — somebody has to reshape</a:t>
            </a:r>
          </a:p>
        </p:txBody>
      </p:sp>
      <p:sp>
        <p:nvSpPr>
          <p:cNvPr id="5" name="Rectangle 4"/>
          <p:cNvSpPr/>
          <p:nvPr/>
        </p:nvSpPr>
        <p:spPr>
          <a:xfrm>
            <a:off x="548640" y="1554480"/>
            <a:ext cx="2377440" cy="2103120"/>
          </a:xfrm>
          <a:prstGeom prst="rect">
            <a:avLst/>
          </a:prstGeom>
          <a:solidFill>
            <a:srgbClr val="FBE5D6"/>
          </a:solidFill>
          <a:ln w="12700">
            <a:solidFill>
              <a:srgbClr val="24323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640" y="1645920"/>
            <a:ext cx="2377440" cy="822960"/>
          </a:xfrm>
          <a:prstGeom prst="rect">
            <a:avLst/>
          </a:prstGeom>
          <a:noFill/>
        </p:spPr>
        <p:txBody>
          <a:bodyPr wrap="square" lIns="45720" rIns="45720" anchor="t">
            <a:spAutoFit/>
          </a:bodyPr>
          <a:lstStyle/>
          <a:p>
            <a:pPr algn="ctr"/>
            <a:r>
              <a:rPr sz="4800" b="1" i="0">
                <a:solidFill>
                  <a:srgbClr val="24323E"/>
                </a:solidFill>
                <a:latin typeface="Times New Roman"/>
              </a:rPr>
              <a:t>72</a:t>
            </a:r>
          </a:p>
        </p:txBody>
      </p:sp>
      <p:sp>
        <p:nvSpPr>
          <p:cNvPr id="7" name="TextBox 6"/>
          <p:cNvSpPr txBox="1"/>
          <p:nvPr/>
        </p:nvSpPr>
        <p:spPr>
          <a:xfrm>
            <a:off x="548640" y="2514600"/>
            <a:ext cx="2377440" cy="1005840"/>
          </a:xfrm>
          <a:prstGeom prst="rect">
            <a:avLst/>
          </a:prstGeom>
          <a:noFill/>
        </p:spPr>
        <p:txBody>
          <a:bodyPr wrap="square" lIns="45720" rIns="45720" anchor="t">
            <a:spAutoFit/>
          </a:bodyPr>
          <a:lstStyle/>
          <a:p>
            <a:pPr algn="ctr"/>
            <a:r>
              <a:rPr sz="1500" b="0" i="0">
                <a:solidFill>
                  <a:srgbClr val="1A1A1A"/>
                </a:solidFill>
                <a:latin typeface="Times New Roman"/>
              </a:rPr>
              <a:t>hourly rows</a:t>
            </a:r>
            <a:br/>
            <a:r>
              <a:rPr sz="1500" b="0" i="0">
                <a:solidFill>
                  <a:srgbClr val="1A1A1A"/>
                </a:solidFill>
                <a:latin typeface="Times New Roman"/>
              </a:rPr>
              <a:t>3 days × 24 hours</a:t>
            </a:r>
          </a:p>
        </p:txBody>
      </p:sp>
      <p:sp>
        <p:nvSpPr>
          <p:cNvPr id="8" name="Right Arrow 7"/>
          <p:cNvSpPr/>
          <p:nvPr/>
        </p:nvSpPr>
        <p:spPr>
          <a:xfrm>
            <a:off x="3063240" y="2194560"/>
            <a:ext cx="2377440" cy="822960"/>
          </a:xfrm>
          <a:prstGeom prst="rightArrow">
            <a:avLst/>
          </a:prstGeom>
          <a:solidFill>
            <a:srgbClr val="F6713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400" b="1" i="0">
                <a:solidFill>
                  <a:srgbClr val="FFFFFF"/>
                </a:solidFill>
                <a:latin typeface="Courier New"/>
              </a:rPr>
              <a:t>.dt.date</a:t>
            </a:r>
          </a:p>
        </p:txBody>
      </p:sp>
      <p:sp>
        <p:nvSpPr>
          <p:cNvPr id="9" name="Rectangle 8"/>
          <p:cNvSpPr/>
          <p:nvPr/>
        </p:nvSpPr>
        <p:spPr>
          <a:xfrm>
            <a:off x="5577840" y="1554480"/>
            <a:ext cx="2377440" cy="2103120"/>
          </a:xfrm>
          <a:prstGeom prst="rect">
            <a:avLst/>
          </a:prstGeom>
          <a:solidFill>
            <a:srgbClr val="24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577840" y="1645920"/>
            <a:ext cx="2377440" cy="822960"/>
          </a:xfrm>
          <a:prstGeom prst="rect">
            <a:avLst/>
          </a:prstGeom>
          <a:noFill/>
        </p:spPr>
        <p:txBody>
          <a:bodyPr wrap="square" lIns="45720" rIns="45720" anchor="t">
            <a:spAutoFit/>
          </a:bodyPr>
          <a:lstStyle/>
          <a:p>
            <a:pPr algn="ctr"/>
            <a:r>
              <a:rPr sz="4800" b="1" i="0">
                <a:solidFill>
                  <a:srgbClr val="F67132"/>
                </a:solidFill>
                <a:latin typeface="Times New Roman"/>
              </a:rPr>
              <a:t>3</a:t>
            </a:r>
          </a:p>
        </p:txBody>
      </p:sp>
      <p:sp>
        <p:nvSpPr>
          <p:cNvPr id="11" name="TextBox 10"/>
          <p:cNvSpPr txBox="1"/>
          <p:nvPr/>
        </p:nvSpPr>
        <p:spPr>
          <a:xfrm>
            <a:off x="5577840" y="2514600"/>
            <a:ext cx="2377440" cy="1005840"/>
          </a:xfrm>
          <a:prstGeom prst="rect">
            <a:avLst/>
          </a:prstGeom>
          <a:noFill/>
        </p:spPr>
        <p:txBody>
          <a:bodyPr wrap="square" lIns="45720" rIns="45720" anchor="t">
            <a:spAutoFit/>
          </a:bodyPr>
          <a:lstStyle/>
          <a:p>
            <a:pPr algn="ctr"/>
            <a:r>
              <a:rPr sz="1500" b="0" i="0">
                <a:solidFill>
                  <a:srgbClr val="FFFFFF"/>
                </a:solidFill>
                <a:latin typeface="Times New Roman"/>
              </a:rPr>
              <a:t>daily rows</a:t>
            </a:r>
            <a:br/>
            <a:r>
              <a:rPr sz="1500" b="0" i="0">
                <a:solidFill>
                  <a:srgbClr val="FFFFFF"/>
                </a:solidFill>
                <a:latin typeface="Times New Roman"/>
              </a:rPr>
              <a:t>one per calendar day</a:t>
            </a:r>
          </a:p>
        </p:txBody>
      </p:sp>
      <p:sp>
        <p:nvSpPr>
          <p:cNvPr id="12" name="Rectangle 11"/>
          <p:cNvSpPr/>
          <p:nvPr/>
        </p:nvSpPr>
        <p:spPr>
          <a:xfrm>
            <a:off x="8229600" y="1554480"/>
            <a:ext cx="3429000" cy="960120"/>
          </a:xfrm>
          <a:prstGeom prst="rect">
            <a:avLst/>
          </a:prstGeom>
          <a:solidFill>
            <a:srgbClr val="FBE5D6"/>
          </a:solidFill>
          <a:ln w="12700">
            <a:solidFill>
              <a:srgbClr val="24323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8366760" y="1600200"/>
            <a:ext cx="3200400" cy="411480"/>
          </a:xfrm>
          <a:prstGeom prst="rect">
            <a:avLst/>
          </a:prstGeom>
          <a:noFill/>
        </p:spPr>
        <p:txBody>
          <a:bodyPr wrap="square" lIns="45720" rIns="45720" anchor="t">
            <a:spAutoFit/>
          </a:bodyPr>
          <a:lstStyle/>
          <a:p>
            <a:pPr algn="l"/>
            <a:r>
              <a:rPr sz="1300" b="0" i="0">
                <a:solidFill>
                  <a:srgbClr val="1A1A1A"/>
                </a:solidFill>
                <a:latin typeface="Courier New"/>
              </a:rPr>
              <a:t>precipitation → </a:t>
            </a:r>
            <a:r>
              <a:rPr sz="1600" b="1" i="0">
                <a:solidFill>
                  <a:srgbClr val="F67132"/>
                </a:solidFill>
                <a:latin typeface="Courier New"/>
              </a:rPr>
              <a:t>sum</a:t>
            </a:r>
          </a:p>
        </p:txBody>
      </p:sp>
      <p:sp>
        <p:nvSpPr>
          <p:cNvPr id="14" name="TextBox 13"/>
          <p:cNvSpPr txBox="1"/>
          <p:nvPr/>
        </p:nvSpPr>
        <p:spPr>
          <a:xfrm>
            <a:off x="8366760" y="2029967"/>
            <a:ext cx="3200400" cy="411480"/>
          </a:xfrm>
          <a:prstGeom prst="rect">
            <a:avLst/>
          </a:prstGeom>
          <a:noFill/>
        </p:spPr>
        <p:txBody>
          <a:bodyPr wrap="square" lIns="45720" rIns="45720" anchor="t">
            <a:spAutoFit/>
          </a:bodyPr>
          <a:lstStyle/>
          <a:p>
            <a:pPr algn="l"/>
            <a:r>
              <a:rPr sz="1500" b="0" i="0">
                <a:solidFill>
                  <a:srgbClr val="1A1A1A"/>
                </a:solidFill>
                <a:latin typeface="Times New Roman"/>
              </a:rPr>
              <a:t>Rain accumulates</a:t>
            </a:r>
          </a:p>
        </p:txBody>
      </p:sp>
      <p:sp>
        <p:nvSpPr>
          <p:cNvPr id="15" name="Rectangle 14"/>
          <p:cNvSpPr/>
          <p:nvPr/>
        </p:nvSpPr>
        <p:spPr>
          <a:xfrm>
            <a:off x="8229600" y="2651760"/>
            <a:ext cx="3429000" cy="960120"/>
          </a:xfrm>
          <a:prstGeom prst="rect">
            <a:avLst/>
          </a:prstGeom>
          <a:solidFill>
            <a:srgbClr val="FBE5D6"/>
          </a:solidFill>
          <a:ln w="12700">
            <a:solidFill>
              <a:srgbClr val="24323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366760" y="2697479"/>
            <a:ext cx="3200400" cy="411480"/>
          </a:xfrm>
          <a:prstGeom prst="rect">
            <a:avLst/>
          </a:prstGeom>
          <a:noFill/>
        </p:spPr>
        <p:txBody>
          <a:bodyPr wrap="square" lIns="45720" rIns="45720" anchor="t">
            <a:spAutoFit/>
          </a:bodyPr>
          <a:lstStyle/>
          <a:p>
            <a:pPr algn="l"/>
            <a:r>
              <a:rPr sz="1300" b="0" i="0">
                <a:solidFill>
                  <a:srgbClr val="1A1A1A"/>
                </a:solidFill>
                <a:latin typeface="Courier New"/>
              </a:rPr>
              <a:t>temperature_2m → </a:t>
            </a:r>
            <a:r>
              <a:rPr sz="1600" b="1" i="0">
                <a:solidFill>
                  <a:srgbClr val="F67132"/>
                </a:solidFill>
                <a:latin typeface="Courier New"/>
              </a:rPr>
              <a:t>max</a:t>
            </a:r>
          </a:p>
        </p:txBody>
      </p:sp>
      <p:sp>
        <p:nvSpPr>
          <p:cNvPr id="17" name="TextBox 16"/>
          <p:cNvSpPr txBox="1"/>
          <p:nvPr/>
        </p:nvSpPr>
        <p:spPr>
          <a:xfrm>
            <a:off x="8366760" y="3127248"/>
            <a:ext cx="3200400" cy="411480"/>
          </a:xfrm>
          <a:prstGeom prst="rect">
            <a:avLst/>
          </a:prstGeom>
          <a:noFill/>
        </p:spPr>
        <p:txBody>
          <a:bodyPr wrap="square" lIns="45720" rIns="45720" anchor="t">
            <a:spAutoFit/>
          </a:bodyPr>
          <a:lstStyle/>
          <a:p>
            <a:pPr algn="l"/>
            <a:r>
              <a:rPr sz="1500" b="0" i="0">
                <a:solidFill>
                  <a:srgbClr val="1A1A1A"/>
                </a:solidFill>
                <a:latin typeface="Times New Roman"/>
              </a:rPr>
              <a:t>A reading at a moment</a:t>
            </a:r>
          </a:p>
        </p:txBody>
      </p:sp>
      <p:sp>
        <p:nvSpPr>
          <p:cNvPr id="18" name="Rectangle 17"/>
          <p:cNvSpPr/>
          <p:nvPr/>
        </p:nvSpPr>
        <p:spPr>
          <a:xfrm>
            <a:off x="548640" y="3931920"/>
            <a:ext cx="6766560" cy="2057400"/>
          </a:xfrm>
          <a:prstGeom prst="rect">
            <a:avLst/>
          </a:prstGeom>
          <a:solidFill>
            <a:srgbClr val="24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685800" y="4023359"/>
            <a:ext cx="6492240" cy="1874519"/>
          </a:xfrm>
          <a:prstGeom prst="rect">
            <a:avLst/>
          </a:prstGeom>
          <a:noFill/>
        </p:spPr>
        <p:txBody>
          <a:bodyPr wrap="square" lIns="0" tIns="0" rIns="0" bIns="0">
            <a:spAutoFit/>
          </a:bodyPr>
          <a:lstStyle/>
          <a:p>
            <a:pPr algn="l"/>
            <a:r>
              <a:rPr sz="1200" b="0" i="0">
                <a:solidFill>
                  <a:srgbClr val="E8ECF0"/>
                </a:solidFill>
                <a:latin typeface="Courier New"/>
              </a:rPr>
              <a:t>daily = (hourly.groupby(hourly['time'].dt.date)</a:t>
            </a:r>
          </a:p>
          <a:p>
            <a:pPr algn="l"/>
            <a:r>
              <a:rPr sz="1200" b="0" i="0">
                <a:solidFill>
                  <a:srgbClr val="E8ECF0"/>
                </a:solidFill>
                <a:latin typeface="Courier New"/>
              </a:rPr>
              <a:t>         .agg(precipitation_total=('precipitation', 'sum'),</a:t>
            </a:r>
          </a:p>
          <a:p>
            <a:pPr algn="l"/>
            <a:r>
              <a:rPr sz="1200" b="0" i="0">
                <a:solidFill>
                  <a:srgbClr val="E8ECF0"/>
                </a:solidFill>
                <a:latin typeface="Courier New"/>
              </a:rPr>
              <a:t>              temp_max=('temperature_2m', 'max'))</a:t>
            </a:r>
          </a:p>
          <a:p>
            <a:pPr algn="l"/>
            <a:r>
              <a:rPr sz="1200" b="0" i="0">
                <a:solidFill>
                  <a:srgbClr val="E8ECF0"/>
                </a:solidFill>
                <a:latin typeface="Courier New"/>
              </a:rPr>
              <a:t>         .reset_index()</a:t>
            </a:r>
          </a:p>
          <a:p>
            <a:pPr algn="l"/>
            <a:r>
              <a:rPr sz="1200" b="0" i="0">
                <a:solidFill>
                  <a:srgbClr val="E8ECF0"/>
                </a:solidFill>
                <a:latin typeface="Courier New"/>
              </a:rPr>
              <a:t>         .rename(columns={'time': 'date'}))</a:t>
            </a:r>
          </a:p>
        </p:txBody>
      </p:sp>
      <p:sp>
        <p:nvSpPr>
          <p:cNvPr id="20" name="Rectangle 19"/>
          <p:cNvSpPr/>
          <p:nvPr/>
        </p:nvSpPr>
        <p:spPr>
          <a:xfrm>
            <a:off x="7589520" y="3931920"/>
            <a:ext cx="4069080" cy="2057400"/>
          </a:xfrm>
          <a:prstGeom prst="rect">
            <a:avLst/>
          </a:prstGeom>
          <a:solidFill>
            <a:srgbClr val="FDF2EA"/>
          </a:solidFill>
          <a:ln w="12700">
            <a:solidFill>
              <a:srgbClr val="24323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7772400" y="4023360"/>
            <a:ext cx="3749039" cy="411480"/>
          </a:xfrm>
          <a:prstGeom prst="rect">
            <a:avLst/>
          </a:prstGeom>
          <a:noFill/>
        </p:spPr>
        <p:txBody>
          <a:bodyPr wrap="square" lIns="45720" rIns="45720" anchor="t">
            <a:spAutoFit/>
          </a:bodyPr>
          <a:lstStyle/>
          <a:p>
            <a:pPr algn="l"/>
            <a:r>
              <a:rPr sz="1600" b="1" i="0">
                <a:solidFill>
                  <a:srgbClr val="B02A1E"/>
                </a:solidFill>
                <a:latin typeface="Times New Roman"/>
              </a:rPr>
              <a:t>Two ways to be silently wrong</a:t>
            </a:r>
          </a:p>
        </p:txBody>
      </p:sp>
      <p:sp>
        <p:nvSpPr>
          <p:cNvPr id="22" name="TextBox 21"/>
          <p:cNvSpPr txBox="1"/>
          <p:nvPr/>
        </p:nvSpPr>
        <p:spPr>
          <a:xfrm>
            <a:off x="7772400" y="4480560"/>
            <a:ext cx="3749039" cy="1463040"/>
          </a:xfrm>
          <a:prstGeom prst="rect">
            <a:avLst/>
          </a:prstGeom>
          <a:noFill/>
        </p:spPr>
        <p:txBody>
          <a:bodyPr wrap="square" lIns="45720" rIns="45720" anchor="t">
            <a:spAutoFit/>
          </a:bodyPr>
          <a:lstStyle/>
          <a:p>
            <a:pPr marL="201168" indent="-201168" algn="l">
              <a:buClr>
                <a:srgbClr val="F67132"/>
              </a:buClr>
              <a:buFont typeface="Arial"/>
              <a:buChar char="•"/>
            </a:pPr>
            <a:r>
              <a:rPr sz="1400" b="0" i="0">
                <a:solidFill>
                  <a:srgbClr val="1A1A1A"/>
                </a:solidFill>
                <a:latin typeface="Times New Roman"/>
              </a:rPr>
              <a:t>Sum the temperatures: runs fine, meaningless</a:t>
            </a:r>
          </a:p>
          <a:p>
            <a:pPr marL="201168" indent="-201168" algn="l">
              <a:spcBef>
                <a:spcPts val="600"/>
              </a:spcBef>
              <a:buClr>
                <a:srgbClr val="F67132"/>
              </a:buClr>
              <a:buFont typeface="Arial"/>
              <a:buChar char="•"/>
            </a:pPr>
            <a:r>
              <a:rPr sz="1400" b="0" i="0">
                <a:solidFill>
                  <a:srgbClr val="1A1A1A"/>
                </a:solidFill>
                <a:latin typeface="Times New Roman"/>
              </a:rPr>
              <a:t>groupby('time'): 72 groups of one row, no error</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0" i="0">
                <a:solidFill>
                  <a:srgbClr val="1A1A1A"/>
                </a:solidFill>
                <a:latin typeface="Times New Roman"/>
              </a:rPr>
              <a:t>Keep the Hourly Table — </a:t>
            </a:r>
            <a:r>
              <a:rPr sz="3200" b="0" i="0">
                <a:solidFill>
                  <a:srgbClr val="F67132"/>
                </a:solidFill>
                <a:latin typeface="Times New Roman"/>
              </a:rPr>
              <a:t>and Cite What You Pulled</a:t>
            </a:r>
          </a:p>
        </p:txBody>
      </p:sp>
      <p:sp>
        <p:nvSpPr>
          <p:cNvPr id="3" name="TextBox 2"/>
          <p:cNvSpPr txBox="1"/>
          <p:nvPr/>
        </p:nvSpPr>
        <p:spPr>
          <a:xfrm>
            <a:off x="548640" y="1463040"/>
            <a:ext cx="5440680" cy="411480"/>
          </a:xfrm>
          <a:prstGeom prst="rect">
            <a:avLst/>
          </a:prstGeom>
          <a:noFill/>
        </p:spPr>
        <p:txBody>
          <a:bodyPr wrap="square" lIns="45720" rIns="45720" anchor="t">
            <a:spAutoFit/>
          </a:bodyPr>
          <a:lstStyle/>
          <a:p>
            <a:pPr algn="l"/>
            <a:r>
              <a:rPr sz="2000" b="1" i="0">
                <a:solidFill>
                  <a:srgbClr val="24323E"/>
                </a:solidFill>
                <a:latin typeface="Times New Roman"/>
              </a:rPr>
              <a:t>Which single hour was wettest?</a:t>
            </a:r>
          </a:p>
        </p:txBody>
      </p:sp>
      <p:sp>
        <p:nvSpPr>
          <p:cNvPr id="4" name="Rectangle 3"/>
          <p:cNvSpPr/>
          <p:nvPr/>
        </p:nvSpPr>
        <p:spPr>
          <a:xfrm>
            <a:off x="548640" y="1920240"/>
            <a:ext cx="5440680" cy="1188720"/>
          </a:xfrm>
          <a:prstGeom prst="rect">
            <a:avLst/>
          </a:prstGeom>
          <a:solidFill>
            <a:srgbClr val="24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685800" y="2011680"/>
            <a:ext cx="5166360" cy="1005840"/>
          </a:xfrm>
          <a:prstGeom prst="rect">
            <a:avLst/>
          </a:prstGeom>
          <a:noFill/>
        </p:spPr>
        <p:txBody>
          <a:bodyPr wrap="square" lIns="0" tIns="0" rIns="0" bIns="0">
            <a:spAutoFit/>
          </a:bodyPr>
          <a:lstStyle/>
          <a:p>
            <a:pPr algn="l"/>
            <a:r>
              <a:rPr sz="1300" b="0" i="0">
                <a:solidFill>
                  <a:srgbClr val="E8ECF0"/>
                </a:solidFill>
                <a:latin typeface="Courier New"/>
              </a:rPr>
              <a:t>wettest = hourly.loc[</a:t>
            </a:r>
          </a:p>
          <a:p>
            <a:pPr algn="l"/>
            <a:r>
              <a:rPr sz="1300" b="0" i="0">
                <a:solidFill>
                  <a:srgbClr val="E8ECF0"/>
                </a:solidFill>
                <a:latin typeface="Courier New"/>
              </a:rPr>
              <a:t>    hourly['precipitation'].idxmax()]</a:t>
            </a:r>
          </a:p>
        </p:txBody>
      </p:sp>
      <p:sp>
        <p:nvSpPr>
          <p:cNvPr id="6" name="Rectangle 5"/>
          <p:cNvSpPr/>
          <p:nvPr/>
        </p:nvSpPr>
        <p:spPr>
          <a:xfrm>
            <a:off x="548640" y="3291840"/>
            <a:ext cx="5440680" cy="731520"/>
          </a:xfrm>
          <a:prstGeom prst="rect">
            <a:avLst/>
          </a:prstGeom>
          <a:solidFill>
            <a:srgbClr val="FBE5D6"/>
          </a:solidFill>
          <a:ln w="12700">
            <a:solidFill>
              <a:srgbClr val="24323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731520" y="3291840"/>
            <a:ext cx="1828800" cy="731520"/>
          </a:xfrm>
          <a:prstGeom prst="rect">
            <a:avLst/>
          </a:prstGeom>
          <a:noFill/>
        </p:spPr>
        <p:txBody>
          <a:bodyPr wrap="square" lIns="45720" rIns="45720" anchor="ctr">
            <a:spAutoFit/>
          </a:bodyPr>
          <a:lstStyle/>
          <a:p>
            <a:pPr algn="l"/>
            <a:r>
              <a:rPr sz="1500" b="1" i="0">
                <a:solidFill>
                  <a:srgbClr val="24323E"/>
                </a:solidFill>
                <a:latin typeface="Courier New"/>
              </a:rPr>
              <a:t>idxmax()</a:t>
            </a:r>
          </a:p>
        </p:txBody>
      </p:sp>
      <p:sp>
        <p:nvSpPr>
          <p:cNvPr id="8" name="TextBox 7"/>
          <p:cNvSpPr txBox="1"/>
          <p:nvPr/>
        </p:nvSpPr>
        <p:spPr>
          <a:xfrm>
            <a:off x="2606040" y="3291840"/>
            <a:ext cx="3291840" cy="731520"/>
          </a:xfrm>
          <a:prstGeom prst="rect">
            <a:avLst/>
          </a:prstGeom>
          <a:noFill/>
        </p:spPr>
        <p:txBody>
          <a:bodyPr wrap="square" lIns="45720" rIns="45720" anchor="ctr">
            <a:spAutoFit/>
          </a:bodyPr>
          <a:lstStyle/>
          <a:p>
            <a:pPr algn="l"/>
            <a:r>
              <a:rPr sz="1500" b="0" i="0">
                <a:solidFill>
                  <a:srgbClr val="1A1A1A"/>
                </a:solidFill>
                <a:latin typeface="Times New Roman"/>
              </a:rPr>
              <a:t>the index label of the largest value</a:t>
            </a:r>
          </a:p>
        </p:txBody>
      </p:sp>
      <p:sp>
        <p:nvSpPr>
          <p:cNvPr id="9" name="Rectangle 8"/>
          <p:cNvSpPr/>
          <p:nvPr/>
        </p:nvSpPr>
        <p:spPr>
          <a:xfrm>
            <a:off x="548640" y="4160520"/>
            <a:ext cx="5440680" cy="731520"/>
          </a:xfrm>
          <a:prstGeom prst="rect">
            <a:avLst/>
          </a:prstGeom>
          <a:solidFill>
            <a:srgbClr val="FBE5D6"/>
          </a:solidFill>
          <a:ln w="12700">
            <a:solidFill>
              <a:srgbClr val="24323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31520" y="4160520"/>
            <a:ext cx="1828800" cy="731520"/>
          </a:xfrm>
          <a:prstGeom prst="rect">
            <a:avLst/>
          </a:prstGeom>
          <a:noFill/>
        </p:spPr>
        <p:txBody>
          <a:bodyPr wrap="square" lIns="45720" rIns="45720" anchor="ctr">
            <a:spAutoFit/>
          </a:bodyPr>
          <a:lstStyle/>
          <a:p>
            <a:pPr algn="l"/>
            <a:r>
              <a:rPr sz="1500" b="1" i="0">
                <a:solidFill>
                  <a:srgbClr val="24323E"/>
                </a:solidFill>
                <a:latin typeface="Courier New"/>
              </a:rPr>
              <a:t>.loc[label]</a:t>
            </a:r>
          </a:p>
        </p:txBody>
      </p:sp>
      <p:sp>
        <p:nvSpPr>
          <p:cNvPr id="11" name="TextBox 10"/>
          <p:cNvSpPr txBox="1"/>
          <p:nvPr/>
        </p:nvSpPr>
        <p:spPr>
          <a:xfrm>
            <a:off x="2606040" y="4160520"/>
            <a:ext cx="3291840" cy="731520"/>
          </a:xfrm>
          <a:prstGeom prst="rect">
            <a:avLst/>
          </a:prstGeom>
          <a:noFill/>
        </p:spPr>
        <p:txBody>
          <a:bodyPr wrap="square" lIns="45720" rIns="45720" anchor="ctr">
            <a:spAutoFit/>
          </a:bodyPr>
          <a:lstStyle/>
          <a:p>
            <a:pPr algn="l"/>
            <a:r>
              <a:rPr sz="1500" b="0" i="0">
                <a:solidFill>
                  <a:srgbClr val="1A1A1A"/>
                </a:solidFill>
                <a:latin typeface="Times New Roman"/>
              </a:rPr>
              <a:t>the whole row: timestamp and all</a:t>
            </a:r>
          </a:p>
        </p:txBody>
      </p:sp>
      <p:sp>
        <p:nvSpPr>
          <p:cNvPr id="12" name="Rectangle 11"/>
          <p:cNvSpPr/>
          <p:nvPr/>
        </p:nvSpPr>
        <p:spPr>
          <a:xfrm>
            <a:off x="548640" y="5029200"/>
            <a:ext cx="5440680" cy="731520"/>
          </a:xfrm>
          <a:prstGeom prst="rect">
            <a:avLst/>
          </a:prstGeom>
          <a:solidFill>
            <a:srgbClr val="FBE5D6"/>
          </a:solidFill>
          <a:ln w="12700">
            <a:solidFill>
              <a:srgbClr val="24323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731520" y="5029200"/>
            <a:ext cx="1828800" cy="731520"/>
          </a:xfrm>
          <a:prstGeom prst="rect">
            <a:avLst/>
          </a:prstGeom>
          <a:noFill/>
        </p:spPr>
        <p:txBody>
          <a:bodyPr wrap="square" lIns="45720" rIns="45720" anchor="ctr">
            <a:spAutoFit/>
          </a:bodyPr>
          <a:lstStyle/>
          <a:p>
            <a:pPr algn="l"/>
            <a:r>
              <a:rPr sz="1500" b="1" i="0">
                <a:solidFill>
                  <a:srgbClr val="B02A1E"/>
                </a:solidFill>
                <a:latin typeface="Courier New"/>
              </a:rPr>
              <a:t>max()</a:t>
            </a:r>
          </a:p>
        </p:txBody>
      </p:sp>
      <p:sp>
        <p:nvSpPr>
          <p:cNvPr id="14" name="TextBox 13"/>
          <p:cNvSpPr txBox="1"/>
          <p:nvPr/>
        </p:nvSpPr>
        <p:spPr>
          <a:xfrm>
            <a:off x="2606040" y="5029200"/>
            <a:ext cx="3291840" cy="731520"/>
          </a:xfrm>
          <a:prstGeom prst="rect">
            <a:avLst/>
          </a:prstGeom>
          <a:noFill/>
        </p:spPr>
        <p:txBody>
          <a:bodyPr wrap="square" lIns="45720" rIns="45720" anchor="ctr">
            <a:spAutoFit/>
          </a:bodyPr>
          <a:lstStyle/>
          <a:p>
            <a:pPr algn="l"/>
            <a:r>
              <a:rPr sz="1500" b="0" i="0">
                <a:solidFill>
                  <a:srgbClr val="1A1A1A"/>
                </a:solidFill>
                <a:latin typeface="Times New Roman"/>
              </a:rPr>
              <a:t>just the mm — the timestamp is gone</a:t>
            </a:r>
          </a:p>
        </p:txBody>
      </p:sp>
      <p:sp>
        <p:nvSpPr>
          <p:cNvPr id="15" name="TextBox 14"/>
          <p:cNvSpPr txBox="1"/>
          <p:nvPr/>
        </p:nvSpPr>
        <p:spPr>
          <a:xfrm>
            <a:off x="6355080" y="1463040"/>
            <a:ext cx="5303520" cy="411480"/>
          </a:xfrm>
          <a:prstGeom prst="rect">
            <a:avLst/>
          </a:prstGeom>
          <a:noFill/>
        </p:spPr>
        <p:txBody>
          <a:bodyPr wrap="square" lIns="45720" rIns="45720" anchor="t">
            <a:spAutoFit/>
          </a:bodyPr>
          <a:lstStyle/>
          <a:p>
            <a:pPr algn="l"/>
            <a:r>
              <a:rPr sz="2000" b="1" i="0">
                <a:solidFill>
                  <a:srgbClr val="24323E"/>
                </a:solidFill>
                <a:latin typeface="Times New Roman"/>
              </a:rPr>
              <a:t>Cite what you pulled</a:t>
            </a:r>
          </a:p>
        </p:txBody>
      </p:sp>
      <p:sp>
        <p:nvSpPr>
          <p:cNvPr id="16" name="Rectangle 15"/>
          <p:cNvSpPr/>
          <p:nvPr/>
        </p:nvSpPr>
        <p:spPr>
          <a:xfrm>
            <a:off x="6355080" y="1920240"/>
            <a:ext cx="5303520" cy="1737360"/>
          </a:xfrm>
          <a:prstGeom prst="rect">
            <a:avLst/>
          </a:prstGeom>
          <a:solidFill>
            <a:srgbClr val="24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6492240" y="2011680"/>
            <a:ext cx="5029200" cy="1554480"/>
          </a:xfrm>
          <a:prstGeom prst="rect">
            <a:avLst/>
          </a:prstGeom>
          <a:noFill/>
        </p:spPr>
        <p:txBody>
          <a:bodyPr wrap="square" lIns="0" tIns="0" rIns="0" bIns="0">
            <a:spAutoFit/>
          </a:bodyPr>
          <a:lstStyle/>
          <a:p>
            <a:pPr algn="l"/>
            <a:r>
              <a:rPr sz="1200" b="0" i="0">
                <a:solidFill>
                  <a:srgbClr val="E8ECF0"/>
                </a:solidFill>
                <a:latin typeface="Courier New"/>
              </a:rPr>
              <a:t>print('Source:  Open-Meteo archive API')</a:t>
            </a:r>
          </a:p>
          <a:p>
            <a:pPr algn="l"/>
            <a:r>
              <a:rPr sz="1200" b="0" i="0">
                <a:solidFill>
                  <a:srgbClr val="E8ECF0"/>
                </a:solidFill>
                <a:latin typeface="Courier New"/>
              </a:rPr>
              <a:t>print('Endpoint:', BASE)</a:t>
            </a:r>
          </a:p>
          <a:p>
            <a:pPr algn="l"/>
            <a:r>
              <a:rPr sz="1200" b="0" i="0">
                <a:solidFill>
                  <a:srgbClr val="E8ECF0"/>
                </a:solidFill>
                <a:latin typeface="Courier New"/>
              </a:rPr>
              <a:t>print('Params: ', params)</a:t>
            </a:r>
          </a:p>
          <a:p>
            <a:pPr algn="l"/>
            <a:r>
              <a:rPr sz="1200" b="0" i="0">
                <a:solidFill>
                  <a:srgbClr val="E8ECF0"/>
                </a:solidFill>
                <a:latin typeface="Courier New"/>
              </a:rPr>
              <a:t>print('Pulled: ', datetime.now()</a:t>
            </a:r>
          </a:p>
          <a:p>
            <a:pPr algn="l"/>
            <a:r>
              <a:rPr sz="1200" b="0" i="0">
                <a:solidFill>
                  <a:srgbClr val="E8ECF0"/>
                </a:solidFill>
                <a:latin typeface="Courier New"/>
              </a:rPr>
              <a:t>      .strftime('%Y-%m-%d %H:%M'))</a:t>
            </a:r>
          </a:p>
        </p:txBody>
      </p:sp>
      <p:sp>
        <p:nvSpPr>
          <p:cNvPr id="18" name="Rectangle 17"/>
          <p:cNvSpPr/>
          <p:nvPr/>
        </p:nvSpPr>
        <p:spPr>
          <a:xfrm>
            <a:off x="6355080" y="3840480"/>
            <a:ext cx="5303520" cy="2148840"/>
          </a:xfrm>
          <a:prstGeom prst="rect">
            <a:avLst/>
          </a:prstGeom>
          <a:solidFill>
            <a:srgbClr val="24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6583680" y="3931920"/>
            <a:ext cx="4846320" cy="1965960"/>
          </a:xfrm>
          <a:prstGeom prst="rect">
            <a:avLst/>
          </a:prstGeom>
          <a:noFill/>
        </p:spPr>
        <p:txBody>
          <a:bodyPr wrap="square" lIns="45720" rIns="45720" anchor="t">
            <a:spAutoFit/>
          </a:bodyPr>
          <a:lstStyle/>
          <a:p>
            <a:pPr algn="l"/>
            <a:r>
              <a:rPr sz="1600" b="1" i="0">
                <a:solidFill>
                  <a:srgbClr val="F67132"/>
                </a:solidFill>
                <a:latin typeface="Times New Roman"/>
              </a:rPr>
              <a:t>Not a formality. </a:t>
            </a:r>
            <a:r>
              <a:rPr sz="1600" b="0" i="0">
                <a:solidFill>
                  <a:srgbClr val="FFFFFF"/>
                </a:solidFill>
                <a:latin typeface="Times New Roman"/>
              </a:rPr>
              <a:t>Six weeks from now you’ll need to know:</a:t>
            </a:r>
          </a:p>
          <a:p>
            <a:pPr algn="l">
              <a:spcBef>
                <a:spcPts val="600"/>
              </a:spcBef>
            </a:pPr>
            <a:r>
              <a:rPr sz="1600" b="0" i="0">
                <a:solidFill>
                  <a:srgbClr val="FFFFFF"/>
                </a:solidFill>
                <a:latin typeface="Times New Roman"/>
              </a:rPr>
              <a:t>archive or forecast endpoint?</a:t>
            </a:r>
          </a:p>
          <a:p>
            <a:pPr algn="l">
              <a:spcBef>
                <a:spcPts val="600"/>
              </a:spcBef>
            </a:pPr>
            <a:r>
              <a:rPr sz="1600" b="0" i="0">
                <a:solidFill>
                  <a:srgbClr val="FFFFFF"/>
                </a:solidFill>
                <a:latin typeface="Times New Roman"/>
              </a:rPr>
              <a:t>which coordinates?</a:t>
            </a:r>
          </a:p>
          <a:p>
            <a:pPr algn="l">
              <a:spcBef>
                <a:spcPts val="600"/>
              </a:spcBef>
            </a:pPr>
            <a:r>
              <a:rPr sz="1600" b="0" i="0">
                <a:solidFill>
                  <a:srgbClr val="FFFFFF"/>
                </a:solidFill>
                <a:latin typeface="Times New Roman"/>
              </a:rPr>
              <a:t>pulled when?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0" i="0">
                <a:solidFill>
                  <a:srgbClr val="1A1A1A"/>
                </a:solidFill>
                <a:latin typeface="Times New Roman"/>
              </a:rPr>
              <a:t>Five Habits </a:t>
            </a:r>
            <a:r>
              <a:rPr sz="3200" b="0" i="0">
                <a:solidFill>
                  <a:srgbClr val="F67132"/>
                </a:solidFill>
                <a:latin typeface="Times New Roman"/>
              </a:rPr>
              <a:t>to Take Home</a:t>
            </a:r>
          </a:p>
        </p:txBody>
      </p:sp>
      <p:sp>
        <p:nvSpPr>
          <p:cNvPr id="3" name="Rectangle 2"/>
          <p:cNvSpPr/>
          <p:nvPr/>
        </p:nvSpPr>
        <p:spPr>
          <a:xfrm>
            <a:off x="548640" y="1463040"/>
            <a:ext cx="11109960" cy="777240"/>
          </a:xfrm>
          <a:prstGeom prst="rect">
            <a:avLst/>
          </a:prstGeom>
          <a:solidFill>
            <a:srgbClr val="FBE5D6"/>
          </a:solidFill>
          <a:ln w="12700">
            <a:solidFill>
              <a:srgbClr val="24323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Oval 3"/>
          <p:cNvSpPr/>
          <p:nvPr/>
        </p:nvSpPr>
        <p:spPr>
          <a:xfrm>
            <a:off x="685800" y="1554480"/>
            <a:ext cx="594360" cy="594360"/>
          </a:xfrm>
          <a:prstGeom prst="ellipse">
            <a:avLst/>
          </a:prstGeom>
          <a:solidFill>
            <a:srgbClr val="F6713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800" b="1" i="0">
                <a:solidFill>
                  <a:srgbClr val="FFFFFF"/>
                </a:solidFill>
                <a:latin typeface="Times New Roman"/>
              </a:rPr>
              <a:t>1</a:t>
            </a:r>
          </a:p>
        </p:txBody>
      </p:sp>
      <p:sp>
        <p:nvSpPr>
          <p:cNvPr id="5" name="TextBox 4"/>
          <p:cNvSpPr txBox="1"/>
          <p:nvPr/>
        </p:nvSpPr>
        <p:spPr>
          <a:xfrm>
            <a:off x="1463040" y="1463040"/>
            <a:ext cx="4389120" cy="777240"/>
          </a:xfrm>
          <a:prstGeom prst="rect">
            <a:avLst/>
          </a:prstGeom>
          <a:noFill/>
        </p:spPr>
        <p:txBody>
          <a:bodyPr wrap="square" lIns="45720" rIns="45720" anchor="ctr">
            <a:spAutoFit/>
          </a:bodyPr>
          <a:lstStyle/>
          <a:p>
            <a:pPr algn="l"/>
            <a:r>
              <a:rPr sz="1800" b="1" i="0">
                <a:solidFill>
                  <a:srgbClr val="24323E"/>
                </a:solidFill>
                <a:latin typeface="Times New Roman"/>
              </a:rPr>
              <a:t>Set a timeout on every request</a:t>
            </a:r>
          </a:p>
        </p:txBody>
      </p:sp>
      <p:sp>
        <p:nvSpPr>
          <p:cNvPr id="6" name="TextBox 5"/>
          <p:cNvSpPr txBox="1"/>
          <p:nvPr/>
        </p:nvSpPr>
        <p:spPr>
          <a:xfrm>
            <a:off x="5943600" y="1463040"/>
            <a:ext cx="5577840" cy="777240"/>
          </a:xfrm>
          <a:prstGeom prst="rect">
            <a:avLst/>
          </a:prstGeom>
          <a:noFill/>
        </p:spPr>
        <p:txBody>
          <a:bodyPr wrap="square" lIns="45720" rIns="45720" anchor="ctr">
            <a:spAutoFit/>
          </a:bodyPr>
          <a:lstStyle/>
          <a:p>
            <a:pPr algn="l"/>
            <a:r>
              <a:rPr sz="1500" b="0" i="0">
                <a:solidFill>
                  <a:srgbClr val="1A1A1A"/>
                </a:solidFill>
                <a:latin typeface="Times New Roman"/>
              </a:rPr>
              <a:t>There is no default. timeout= every time.</a:t>
            </a:r>
          </a:p>
        </p:txBody>
      </p:sp>
      <p:sp>
        <p:nvSpPr>
          <p:cNvPr id="7" name="Rectangle 6"/>
          <p:cNvSpPr/>
          <p:nvPr/>
        </p:nvSpPr>
        <p:spPr>
          <a:xfrm>
            <a:off x="548640" y="2368296"/>
            <a:ext cx="11109960" cy="777240"/>
          </a:xfrm>
          <a:prstGeom prst="rect">
            <a:avLst/>
          </a:prstGeom>
          <a:solidFill>
            <a:srgbClr val="FDF2EA"/>
          </a:solidFill>
          <a:ln w="12700">
            <a:solidFill>
              <a:srgbClr val="24323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685800" y="2459736"/>
            <a:ext cx="594360" cy="594360"/>
          </a:xfrm>
          <a:prstGeom prst="ellipse">
            <a:avLst/>
          </a:prstGeom>
          <a:solidFill>
            <a:srgbClr val="F6713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800" b="1" i="0">
                <a:solidFill>
                  <a:srgbClr val="FFFFFF"/>
                </a:solidFill>
                <a:latin typeface="Times New Roman"/>
              </a:rPr>
              <a:t>2</a:t>
            </a:r>
          </a:p>
        </p:txBody>
      </p:sp>
      <p:sp>
        <p:nvSpPr>
          <p:cNvPr id="9" name="TextBox 8"/>
          <p:cNvSpPr txBox="1"/>
          <p:nvPr/>
        </p:nvSpPr>
        <p:spPr>
          <a:xfrm>
            <a:off x="1463040" y="2368296"/>
            <a:ext cx="4389120" cy="777240"/>
          </a:xfrm>
          <a:prstGeom prst="rect">
            <a:avLst/>
          </a:prstGeom>
          <a:noFill/>
        </p:spPr>
        <p:txBody>
          <a:bodyPr wrap="square" lIns="45720" rIns="45720" anchor="ctr">
            <a:spAutoFit/>
          </a:bodyPr>
          <a:lstStyle/>
          <a:p>
            <a:pPr algn="l"/>
            <a:r>
              <a:rPr sz="1800" b="1" i="0">
                <a:solidFill>
                  <a:srgbClr val="24323E"/>
                </a:solidFill>
                <a:latin typeface="Times New Roman"/>
              </a:rPr>
              <a:t>Status first, then the body</a:t>
            </a:r>
          </a:p>
        </p:txBody>
      </p:sp>
      <p:sp>
        <p:nvSpPr>
          <p:cNvPr id="10" name="TextBox 9"/>
          <p:cNvSpPr txBox="1"/>
          <p:nvPr/>
        </p:nvSpPr>
        <p:spPr>
          <a:xfrm>
            <a:off x="5943600" y="2368296"/>
            <a:ext cx="5577840" cy="777240"/>
          </a:xfrm>
          <a:prstGeom prst="rect">
            <a:avLst/>
          </a:prstGeom>
          <a:noFill/>
        </p:spPr>
        <p:txBody>
          <a:bodyPr wrap="square" lIns="45720" rIns="45720" anchor="ctr">
            <a:spAutoFit/>
          </a:bodyPr>
          <a:lstStyle/>
          <a:p>
            <a:pPr algn="l"/>
            <a:r>
              <a:rPr sz="1500" b="0" i="0">
                <a:solidFill>
                  <a:srgbClr val="1A1A1A"/>
                </a:solidFill>
                <a:latin typeface="Times New Roman"/>
              </a:rPr>
              <a:t>And when r.json() fails, print r.text[:200].</a:t>
            </a:r>
          </a:p>
        </p:txBody>
      </p:sp>
      <p:sp>
        <p:nvSpPr>
          <p:cNvPr id="11" name="Rectangle 10"/>
          <p:cNvSpPr/>
          <p:nvPr/>
        </p:nvSpPr>
        <p:spPr>
          <a:xfrm>
            <a:off x="548640" y="3273552"/>
            <a:ext cx="11109960" cy="777240"/>
          </a:xfrm>
          <a:prstGeom prst="rect">
            <a:avLst/>
          </a:prstGeom>
          <a:solidFill>
            <a:srgbClr val="FBE5D6"/>
          </a:solidFill>
          <a:ln w="12700">
            <a:solidFill>
              <a:srgbClr val="24323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Oval 11"/>
          <p:cNvSpPr/>
          <p:nvPr/>
        </p:nvSpPr>
        <p:spPr>
          <a:xfrm>
            <a:off x="685800" y="3364992"/>
            <a:ext cx="594360" cy="594360"/>
          </a:xfrm>
          <a:prstGeom prst="ellipse">
            <a:avLst/>
          </a:prstGeom>
          <a:solidFill>
            <a:srgbClr val="F6713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800" b="1" i="0">
                <a:solidFill>
                  <a:srgbClr val="FFFFFF"/>
                </a:solidFill>
                <a:latin typeface="Times New Roman"/>
              </a:rPr>
              <a:t>3</a:t>
            </a:r>
          </a:p>
        </p:txBody>
      </p:sp>
      <p:sp>
        <p:nvSpPr>
          <p:cNvPr id="13" name="TextBox 12"/>
          <p:cNvSpPr txBox="1"/>
          <p:nvPr/>
        </p:nvSpPr>
        <p:spPr>
          <a:xfrm>
            <a:off x="1463040" y="3273552"/>
            <a:ext cx="4389120" cy="777240"/>
          </a:xfrm>
          <a:prstGeom prst="rect">
            <a:avLst/>
          </a:prstGeom>
          <a:noFill/>
        </p:spPr>
        <p:txBody>
          <a:bodyPr wrap="square" lIns="45720" rIns="45720" anchor="ctr">
            <a:spAutoFit/>
          </a:bodyPr>
          <a:lstStyle/>
          <a:p>
            <a:pPr algn="l"/>
            <a:r>
              <a:rPr sz="1800" b="1" i="0">
                <a:solidFill>
                  <a:srgbClr val="24323E"/>
                </a:solidFill>
                <a:latin typeface="Times New Roman"/>
              </a:rPr>
              <a:t>Retry their problems, never yours</a:t>
            </a:r>
          </a:p>
        </p:txBody>
      </p:sp>
      <p:sp>
        <p:nvSpPr>
          <p:cNvPr id="14" name="TextBox 13"/>
          <p:cNvSpPr txBox="1"/>
          <p:nvPr/>
        </p:nvSpPr>
        <p:spPr>
          <a:xfrm>
            <a:off x="5943600" y="3273552"/>
            <a:ext cx="5577840" cy="777240"/>
          </a:xfrm>
          <a:prstGeom prst="rect">
            <a:avLst/>
          </a:prstGeom>
          <a:noFill/>
        </p:spPr>
        <p:txBody>
          <a:bodyPr wrap="square" lIns="45720" rIns="45720" anchor="ctr">
            <a:spAutoFit/>
          </a:bodyPr>
          <a:lstStyle/>
          <a:p>
            <a:pPr algn="l"/>
            <a:r>
              <a:rPr sz="1500" b="0" i="0">
                <a:solidFill>
                  <a:srgbClr val="1A1A1A"/>
                </a:solidFill>
                <a:latin typeface="Times New Roman"/>
              </a:rPr>
              <a:t>429 and 5xx with backoff. 400, 401, 404: raise.</a:t>
            </a:r>
          </a:p>
        </p:txBody>
      </p:sp>
      <p:sp>
        <p:nvSpPr>
          <p:cNvPr id="15" name="Rectangle 14"/>
          <p:cNvSpPr/>
          <p:nvPr/>
        </p:nvSpPr>
        <p:spPr>
          <a:xfrm>
            <a:off x="548640" y="4178808"/>
            <a:ext cx="11109960" cy="777240"/>
          </a:xfrm>
          <a:prstGeom prst="rect">
            <a:avLst/>
          </a:prstGeom>
          <a:solidFill>
            <a:srgbClr val="FDF2EA"/>
          </a:solidFill>
          <a:ln w="12700">
            <a:solidFill>
              <a:srgbClr val="24323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Oval 15"/>
          <p:cNvSpPr/>
          <p:nvPr/>
        </p:nvSpPr>
        <p:spPr>
          <a:xfrm>
            <a:off x="685800" y="4270248"/>
            <a:ext cx="594360" cy="594360"/>
          </a:xfrm>
          <a:prstGeom prst="ellipse">
            <a:avLst/>
          </a:prstGeom>
          <a:solidFill>
            <a:srgbClr val="F6713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800" b="1" i="0">
                <a:solidFill>
                  <a:srgbClr val="FFFFFF"/>
                </a:solidFill>
                <a:latin typeface="Times New Roman"/>
              </a:rPr>
              <a:t>4</a:t>
            </a:r>
          </a:p>
        </p:txBody>
      </p:sp>
      <p:sp>
        <p:nvSpPr>
          <p:cNvPr id="17" name="TextBox 16"/>
          <p:cNvSpPr txBox="1"/>
          <p:nvPr/>
        </p:nvSpPr>
        <p:spPr>
          <a:xfrm>
            <a:off x="1463040" y="4178808"/>
            <a:ext cx="4389120" cy="777240"/>
          </a:xfrm>
          <a:prstGeom prst="rect">
            <a:avLst/>
          </a:prstGeom>
          <a:noFill/>
        </p:spPr>
        <p:txBody>
          <a:bodyPr wrap="square" lIns="45720" rIns="45720" anchor="ctr">
            <a:spAutoFit/>
          </a:bodyPr>
          <a:lstStyle/>
          <a:p>
            <a:pPr algn="l"/>
            <a:r>
              <a:rPr sz="1800" b="1" i="0">
                <a:solidFill>
                  <a:srgbClr val="24323E"/>
                </a:solidFill>
                <a:latin typeface="Times New Roman"/>
              </a:rPr>
              <a:t>Fail loudly</a:t>
            </a:r>
          </a:p>
        </p:txBody>
      </p:sp>
      <p:sp>
        <p:nvSpPr>
          <p:cNvPr id="18" name="TextBox 17"/>
          <p:cNvSpPr txBox="1"/>
          <p:nvPr/>
        </p:nvSpPr>
        <p:spPr>
          <a:xfrm>
            <a:off x="5943600" y="4178808"/>
            <a:ext cx="5577840" cy="777240"/>
          </a:xfrm>
          <a:prstGeom prst="rect">
            <a:avLst/>
          </a:prstGeom>
          <a:noFill/>
        </p:spPr>
        <p:txBody>
          <a:bodyPr wrap="square" lIns="45720" rIns="45720" anchor="ctr">
            <a:spAutoFit/>
          </a:bodyPr>
          <a:lstStyle/>
          <a:p>
            <a:pPr algn="l"/>
            <a:r>
              <a:rPr sz="1500" b="0" i="0">
                <a:solidFill>
                  <a:srgbClr val="1A1A1A"/>
                </a:solidFill>
                <a:latin typeface="Times New Roman"/>
              </a:rPr>
              <a:t>Raise or record it. Never return an empty frame or None as if it were data.</a:t>
            </a:r>
          </a:p>
        </p:txBody>
      </p:sp>
      <p:sp>
        <p:nvSpPr>
          <p:cNvPr id="19" name="Rectangle 18"/>
          <p:cNvSpPr/>
          <p:nvPr/>
        </p:nvSpPr>
        <p:spPr>
          <a:xfrm>
            <a:off x="548640" y="5084064"/>
            <a:ext cx="11109960" cy="777240"/>
          </a:xfrm>
          <a:prstGeom prst="rect">
            <a:avLst/>
          </a:prstGeom>
          <a:solidFill>
            <a:srgbClr val="FBE5D6"/>
          </a:solidFill>
          <a:ln w="12700">
            <a:solidFill>
              <a:srgbClr val="24323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Oval 19"/>
          <p:cNvSpPr/>
          <p:nvPr/>
        </p:nvSpPr>
        <p:spPr>
          <a:xfrm>
            <a:off x="685800" y="5175504"/>
            <a:ext cx="594360" cy="594360"/>
          </a:xfrm>
          <a:prstGeom prst="ellipse">
            <a:avLst/>
          </a:prstGeom>
          <a:solidFill>
            <a:srgbClr val="F6713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800" b="1" i="0">
                <a:solidFill>
                  <a:srgbClr val="FFFFFF"/>
                </a:solidFill>
                <a:latin typeface="Times New Roman"/>
              </a:rPr>
              <a:t>5</a:t>
            </a:r>
          </a:p>
        </p:txBody>
      </p:sp>
      <p:sp>
        <p:nvSpPr>
          <p:cNvPr id="21" name="TextBox 20"/>
          <p:cNvSpPr txBox="1"/>
          <p:nvPr/>
        </p:nvSpPr>
        <p:spPr>
          <a:xfrm>
            <a:off x="1463040" y="5084064"/>
            <a:ext cx="4389120" cy="777240"/>
          </a:xfrm>
          <a:prstGeom prst="rect">
            <a:avLst/>
          </a:prstGeom>
          <a:noFill/>
        </p:spPr>
        <p:txBody>
          <a:bodyPr wrap="square" lIns="45720" rIns="45720" anchor="ctr">
            <a:spAutoFit/>
          </a:bodyPr>
          <a:lstStyle/>
          <a:p>
            <a:pPr algn="l"/>
            <a:r>
              <a:rPr sz="1800" b="1" i="0">
                <a:solidFill>
                  <a:srgbClr val="24323E"/>
                </a:solidFill>
                <a:latin typeface="Times New Roman"/>
              </a:rPr>
              <a:t>Ask once, keep it, cite it</a:t>
            </a:r>
          </a:p>
        </p:txBody>
      </p:sp>
      <p:sp>
        <p:nvSpPr>
          <p:cNvPr id="22" name="TextBox 21"/>
          <p:cNvSpPr txBox="1"/>
          <p:nvPr/>
        </p:nvSpPr>
        <p:spPr>
          <a:xfrm>
            <a:off x="5943600" y="5084064"/>
            <a:ext cx="5577840" cy="777240"/>
          </a:xfrm>
          <a:prstGeom prst="rect">
            <a:avLst/>
          </a:prstGeom>
          <a:noFill/>
        </p:spPr>
        <p:txBody>
          <a:bodyPr wrap="square" lIns="45720" rIns="45720" anchor="ctr">
            <a:spAutoFit/>
          </a:bodyPr>
          <a:lstStyle/>
          <a:p>
            <a:pPr algn="l"/>
            <a:r>
              <a:rPr sz="1500" b="0" i="0">
                <a:solidFill>
                  <a:srgbClr val="1A1A1A"/>
                </a:solidFill>
                <a:latin typeface="Times New Roman"/>
              </a:rPr>
              <a:t>Cache the response; record endpoint, params and time.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175B8F-1B82-4676-8A04-7DC1B1F2D8CB}"/>
              </a:ext>
            </a:extLst>
          </p:cNvPr>
          <p:cNvSpPr>
            <a:spLocks noGrp="1"/>
          </p:cNvSpPr>
          <p:nvPr>
            <p:ph type="ctrTitle"/>
          </p:nvPr>
        </p:nvSpPr>
        <p:spPr/>
        <p:txBody>
          <a:bodyPr/>
          <a:lstStyle/>
          <a:p>
            <a:r>
              <a:rPr lang="en-US" dirty="0"/>
              <a:t>Checkpoint</a:t>
            </a:r>
          </a:p>
        </p:txBody>
      </p:sp>
      <p:sp>
        <p:nvSpPr>
          <p:cNvPr id="3" name="Subtitle 2">
            <a:extLst>
              <a:ext uri="{FF2B5EF4-FFF2-40B4-BE49-F238E27FC236}">
                <a16:creationId xmlns:a16="http://schemas.microsoft.com/office/drawing/2014/main" id="{C8AA2B34-D697-4EC5-B85D-23017F6154BC}"/>
              </a:ext>
            </a:extLst>
          </p:cNvPr>
          <p:cNvSpPr>
            <a:spLocks noGrp="1"/>
          </p:cNvSpPr>
          <p:nvPr>
            <p:ph type="subTitle" idx="1"/>
          </p:nvPr>
        </p:nvSpPr>
        <p:spPr/>
        <p:txBody>
          <a:bodyPr/>
          <a:lstStyle/>
          <a:p>
            <a:r>
              <a:rPr lang="en-US" dirty="0"/>
              <a:t>Daily rows · wettest day · bad-request status · one code you would not retry, and why</a:t>
            </a:r>
          </a:p>
          <a:p>
            <a:r>
              <a:rPr sz="1800" b="1" i="0">
                <a:solidFill>
                  <a:srgbClr val="FFFFFF"/>
                </a:solidFill>
                <a:latin typeface="Times New Roman"/>
              </a:rPr>
              <a:t>Canvas → Studio Checkpoint · Thursday 11:59 pm ET · one submission per person</a:t>
            </a:r>
          </a:p>
        </p:txBody>
      </p:sp>
    </p:spTree>
    <p:extLst>
      <p:ext uri="{BB962C8B-B14F-4D97-AF65-F5344CB8AC3E}">
        <p14:creationId xmlns:p14="http://schemas.microsoft.com/office/powerpoint/2010/main" val="20371622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6837</TotalTime>
  <Words>5158</Words>
  <Application>Microsoft Macintosh PowerPoint</Application>
  <PresentationFormat>Widescreen</PresentationFormat>
  <Paragraphs>471</Paragraphs>
  <Slides>27</Slides>
  <Notes>27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Arial</vt:lpstr>
      <vt:lpstr>Calibri</vt:lpstr>
      <vt:lpstr>Calibri Light</vt:lpstr>
      <vt:lpstr>Courier New</vt:lpstr>
      <vt:lpstr>Times New Roman</vt:lpstr>
      <vt:lpstr>Wingdings</vt:lpstr>
      <vt:lpstr>Office Theme</vt:lpstr>
      <vt:lpstr>APIs 101 &amp; Ingestion</vt:lpstr>
      <vt:lpstr>Today’s Studio: The Plan</vt:lpstr>
      <vt:lpstr>PowerPoint Presentation</vt:lpstr>
      <vt:lpstr>Why APIs: Data That Won’t Sit Still</vt:lpstr>
      <vt:lpstr>The Same Data, Two Different Doors</vt:lpstr>
      <vt:lpstr>Your First Request, in Three Lines</vt:lpstr>
      <vt:lpstr>Why Reach for an API Instead of a File</vt:lpstr>
      <vt:lpstr>Open APIs You Can Call Right Now</vt:lpstr>
      <vt:lpstr>Learning an API = Learning Its Response Shape</vt:lpstr>
      <vt:lpstr>API Keys: A Nametag, Not a Password</vt:lpstr>
      <vt:lpstr>When the Key Is Wrong: Read the Refusal</vt:lpstr>
      <vt:lpstr>A Status of 200 Does Not Mean You Got Data</vt:lpstr>
      <vt:lpstr>Rate Limits: Know Where You Stand</vt:lpstr>
      <vt:lpstr>Where a Key Must Never Go</vt:lpstr>
      <vt:lpstr>The API Contract: Read Before You Code</vt:lpstr>
      <vt:lpstr>PowerPoint Presentation</vt:lpstr>
      <vt:lpstr>Anatomy of a Request: URL, Status, Body</vt:lpstr>
      <vt:lpstr>Build 1: See the URL Before You Send It</vt:lpstr>
      <vt:lpstr>Build 2: What Failure Actually Looks Like</vt:lpstr>
      <vt:lpstr>Build 2: Never Disguise Failure as Data</vt:lpstr>
      <vt:lpstr>Build 3: Retry With Exponential Backoff</vt:lpstr>
      <vt:lpstr>Build 3: Three Outcomes, Three Places</vt:lpstr>
      <vt:lpstr>Build 4: Stop Asking the Same Question Twice</vt:lpstr>
      <vt:lpstr>Build 5: Hourly Readings → Daily Rows</vt:lpstr>
      <vt:lpstr>Keep the Hourly Table — and Cite What You Pulled</vt:lpstr>
      <vt:lpstr>Five Habits to Take Home</vt:lpstr>
      <vt:lpstr>Checkpoint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DS-3002 Data Systems</dc:title>
  <dc:creator>Jon Tupitza</dc:creator>
  <cp:lastModifiedBy>Jason Williamson</cp:lastModifiedBy>
  <cp:revision>234</cp:revision>
  <dcterms:created xsi:type="dcterms:W3CDTF">2022-01-15T18:00:49Z</dcterms:created>
  <dcterms:modified xsi:type="dcterms:W3CDTF">2026-10-07T00:48:53Z</dcterms:modified>
</cp:coreProperties>
</file>