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8"/>
  </p:normalViewPr>
  <p:slideViewPr>
    <p:cSldViewPr snapToGrid="0">
      <p:cViewPr varScale="1">
        <p:scale>
          <a:sx n="119" d="100"/>
          <a:sy n="119"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framing</a:t>
            </a:r>
          </a:p>
          <a:p>
            <a:r>
              <a:t>This lesson assumes basic Python dictionaries, lists, loops, and functions. Plan approximately 65–75 minutes including the syntax discussion and applied exercise. Slides 2–7 establish the problem and context. Slides 8–19 develop structure and validation. Slides 20–27 support a Python walkthrough. Slides 28–29 close the core lesson. Slides 31–35 provide optional reference material and solutions.</a:t>
            </a:r>
          </a:p>
          <a:p>
            <a:endParaRPr/>
          </a:p>
          <a:p>
            <a:r>
              <a:t>Instructor preparation</a:t>
            </a:r>
          </a:p>
          <a:p>
            <a:r>
              <a:t>Python 3 is sufficient for the standard-library examples. The later demonstrations use pandas, requests, and jsonschema. Use a notebook or Python interpreter alongside the deck. Copy the complete fictional dataset from slide 12 into campus_air.json in the working directory. Every displayed code example is also repeated as plain text in the relevant notes. The dataset does not describe measured UVA air quality.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question, 2 minutes</a:t>
            </a:r>
          </a:p>
          <a:p>
            <a:r>
              <a:t>A campus research team receives nested sensor readings as JSON. Ask students what must happen before computing a mean. Let them name types, units, missing observations, and the location of individual measurements. The analytical unit is one station at one hour. The data are fictional and deliberately small so students can audit every transformation. This is a data-engineering lesson, not an environmental-health assessment.</a:t>
            </a:r>
          </a:p>
          <a:p>
            <a:endParaRPr/>
          </a:p>
          <a:p>
            <a:r>
              <a:t>The question is descriptive: which station has the highest mean among the available readings in this small example? No population inference or health classification follows.</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Learning outcomes, 1 minute</a:t>
            </a:r>
          </a:p>
          <a:p>
            <a:r>
              <a:t>By the end, students should be able to describe JSON’s role, inspect a nested structure, distinguish syntax from a schema contract, and construct a reproducible Python workflow. Ask students to keep the investigation question in view. Use the syntax repair exercise as an early check and the final extension exercise as an applied check.</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Definition, 2 minutes</a:t>
            </a:r>
          </a:p>
          <a:p>
            <a:r>
              <a:t>JSON expands to JavaScript Object Notation. It is a text format for exchanging structured values across program boundaries. Explain serialization as writing an in-memory value into an agreed representation and deserialization as parsing that representation back into language-specific objects. A JSON document and a Python dictionary are different things even when the printed forms look similar. JSON describes data and contains no loops or functions.</a:t>
            </a:r>
          </a:p>
          <a:p>
            <a:endParaRPr/>
          </a:p>
          <a:p>
            <a:r>
              <a:t>Code</a:t>
            </a:r>
          </a:p>
          <a:p>
            <a:r>
              <a:t>import json</a:t>
            </a:r>
          </a:p>
          <a:p>
            <a:r>
              <a:t>raw = '{"station_id": "A1", "active": true}'</a:t>
            </a:r>
          </a:p>
          <a:p>
            <a:r>
              <a:t>record = json.loads(raw)</a:t>
            </a:r>
          </a:p>
          <a:p>
            <a:r>
              <a:t>print(type(raw).__name__)     # str</a:t>
            </a:r>
          </a:p>
          <a:p>
            <a:r>
              <a:t>print(type(record).__name__)  # dict</a:t>
            </a:r>
          </a:p>
          <a:p>
            <a:endParaRPr/>
          </a:p>
          <a:p>
            <a:r>
              <a:t>Sources</a:t>
            </a:r>
          </a:p>
          <a:p>
            <a:r>
              <a:t>JSON.org. Introducing JSON. https://www.json.org/json-en.html</a:t>
            </a:r>
          </a:p>
          <a:p>
            <a:r>
              <a:t>Ecma International. (2017). ECMA-404, 2nd ed. https://ecma-international.org/publications-and-standards/standards/ecma-404/</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Historical context, 2 minutes</a:t>
            </a:r>
          </a:p>
          <a:p>
            <a:r>
              <a:t>JSON borrows its notation from JavaScript object literals. Douglas Crockford helped describe and popularize its use as a general data-interchange format during the early 2000s and authored RFC 4627. Avoid telling students that JSON requires a JavaScript runtime. The later standards establish language-independent syntax and interoperability expectations. The historical progression here concerns standardization, not a claim that one person invented every earlier object-message pattern.</a:t>
            </a:r>
          </a:p>
          <a:p>
            <a:endParaRPr/>
          </a:p>
          <a:p>
            <a:r>
              <a:t>Sources</a:t>
            </a:r>
          </a:p>
          <a:p>
            <a:r>
              <a:t>JSON.org. Introducing JSON. https://www.json.org/json-en.html</a:t>
            </a:r>
          </a:p>
          <a:p>
            <a:r>
              <a:t>Crockford, D. (2006). RFC 4627. IETF. https://www.rfc-editor.org/rfc/rfc4627.html</a:t>
            </a:r>
          </a:p>
          <a:p>
            <a:r>
              <a:t>Ecma International. (2017). ECMA-404, 2nd ed. https://ecma-international.org/publications-and-standards/standards/ecma-404/</a:t>
            </a:r>
          </a:p>
          <a:p>
            <a:r>
              <a:t>Bray, T. (Ed.). (2017). RFC 8259: The JavaScript Object Notation (JSON) Data Interchange Format. IETF. https://datatracker.ietf.org/doc/html/rfc8259</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Context, 3 minutes</a:t>
            </a:r>
          </a:p>
          <a:p>
            <a:r>
              <a:t>Treat this phrase as a useful metaphor. JSON is common in web APIs because programs in many languages can map its simple structures to native types, and it can express nested records in ordinary text. HTTP carries messages and supplies methods, headers, and status codes. JSON can represent the message body. HTML describes a web document; JavaScript supplies programming behavior. Neither HTTP nor REST requires JSON. Web services also exchange XML, images, binary formats, and many other representations.</a:t>
            </a:r>
          </a:p>
          <a:p>
            <a:endParaRPr/>
          </a:p>
          <a:p>
            <a:r>
              <a:t>The following HTTP fragment is illustrative, not captured network traffic.</a:t>
            </a:r>
          </a:p>
          <a:p>
            <a:endParaRPr/>
          </a:p>
          <a:p>
            <a:r>
              <a:t>Sources</a:t>
            </a:r>
          </a:p>
          <a:p>
            <a:r>
              <a:t>JSON.org. Introducing JSON. https://www.json.org/json-en.html</a:t>
            </a:r>
          </a:p>
          <a:p>
            <a:r>
              <a:t>Bray, T. (Ed.). (2017). RFC 8259: The JavaScript Object Notation (JSON) Data Interchange Format. IETF. https://datatracker.ietf.org/doc/html/rfc8259</a:t>
            </a:r>
          </a:p>
          <a:p>
            <a:r>
              <a:t>Requests. Quickstart. https://requests.readthedocs.io/en/latest/user/quickstart/</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Motivation, 2 minutes</a:t>
            </a:r>
          </a:p>
          <a:p>
            <a:r>
              <a:t>Semi-structured data still have structure. The fields and nesting may vary across records or versions, and the producer may not enforce a uniform table. A data scientist must identify what one analytical observation means before flattening. Preserve a raw snapshot, source, retrieval time, and units so analysis can be reproduced. A schema documents expectations, even when the source does not ship one. The workflow below is a teaching model, not a formal standard.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Types, 3 minutes</a:t>
            </a:r>
          </a:p>
          <a:p>
            <a:r>
              <a:t>JSON has four primitive value categories and two containers. JSON’s number type does not formally distinguish integers from floating-point values, although decoders and JSON Schema make useful distinctions. Any JSON value may appear at the top level under RFC 8259. Objects and arrays are common roots, but 42, true, null, and a quoted string can each be a complete JSON text. The Python column describes the default json decoder.</a:t>
            </a:r>
          </a:p>
          <a:p>
            <a:endParaRPr/>
          </a:p>
          <a:p>
            <a:r>
              <a:t>Sources</a:t>
            </a:r>
          </a:p>
          <a:p>
            <a:r>
              <a:t>JSON.org. Introducing JSON. https://www.json.org/json-en.html</a:t>
            </a:r>
          </a:p>
          <a:p>
            <a:r>
              <a:t>Bray, T. (Ed.). (2017). RFC 8259: The JavaScript Object Notation (JSON) Data Interchange Format. IETF. https://datatracker.ietf.org/doc/html/rfc8259</a:t>
            </a:r>
          </a:p>
          <a:p>
            <a:r>
              <a:t>Python Software Foundation. json: JSON encoder and decoder. https://docs.python.org/3/library/json.html</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Structure, 3 minutes</a:t>
            </a:r>
          </a:p>
          <a:p>
            <a:r>
              <a:t>An object maps string names to values. An array gives values positions. Do not make the semantic interpretation of an object depend on its key order. Python preserves dictionary insertion order, but JSON’s object data model treats that order as insignificant. Array order is significant. Mixed arrays are allowed by the syntax, though a data contract often uses a consistent item schema. JSON member names should be unique for interoperable exchange. Repeated names are not a simple grammar error, so we revisit them later.</a:t>
            </a:r>
          </a:p>
          <a:p>
            <a:endParaRPr/>
          </a:p>
          <a:p>
            <a:r>
              <a:t>Sources</a:t>
            </a:r>
          </a:p>
          <a:p>
            <a:r>
              <a:t>Bray, T. (Ed.). (2017). RFC 8259: The JavaScript Object Notation (JSON) Data Interchange Format. IETF. https://datatracker.ietf.org/doc/html/rfc8259</a:t>
            </a:r>
          </a:p>
          <a:p>
            <a:r>
              <a:t>JSON.org. Introducing JSON. https://www.json.org/json-en.html</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Grammar, 3 minutes</a:t>
            </a:r>
          </a:p>
          <a:p>
            <a:r>
              <a:t>Walk through the punctuation before introducing edge cases. Every key is a double-quoted string. A colon separates a key from its value, and a comma separates members or array items. Objects use braces and arrays use brackets. There is no comma after the final member or item. The literal values are lowercase true, false, and null. Comments and Python expressions are outside JSON syntax. Whitespace between tokens can improve readability without changing the value. Bracket counting alone does not validate JSON, especially because strings can contain bracket characters.</a:t>
            </a:r>
          </a:p>
          <a:p>
            <a:endParaRPr/>
          </a:p>
          <a:p>
            <a:r>
              <a:t>Sources</a:t>
            </a:r>
          </a:p>
          <a:p>
            <a:r>
              <a:t>JSON.org. Introducing JSON. https://www.json.org/json-en.html</a:t>
            </a:r>
          </a:p>
          <a:p>
            <a:r>
              <a:t>Ecma International. (2017). ECMA-404, 2nd ed. https://ecma-international.org/publications-and-standards/standards/ecma-404/</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Edge cases, 3 minutes</a:t>
            </a:r>
          </a:p>
          <a:p>
            <a:r>
              <a:t>Read the backslash examples literally. Inside a JSON string, an embedded quotation mark uses backslash-quote and a line break uses the escape sequence backslash-n. A literal newline inside a quoted string is invalid. Leading zeros are not permitted in ordinary numbers, so identifiers such as a ZIP code should remain strings. A fractional number needs an integer component. JSON has no native date, binary, NaN, or infinity value. Date strings need an agreed convention and explicit parsing. Large integer interoperability is discussed in the appendix notes.</a:t>
            </a:r>
          </a:p>
          <a:p>
            <a:endParaRPr/>
          </a:p>
          <a:p>
            <a:r>
              <a:t>Sources</a:t>
            </a:r>
          </a:p>
          <a:p>
            <a:r>
              <a:t>Ecma International. (2017). ECMA-404, 2nd ed. https://ecma-international.org/publications-and-standards/standards/ecma-404/</a:t>
            </a:r>
          </a:p>
          <a:p>
            <a:r>
              <a:t>Bray, T. (Ed.). (2017). RFC 8259: The JavaScript Object Notation (JSON) Data Interchange Format. IETF. https://datatracker.ietf.org/doc/html/rfc8259</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Dataset walkthrough, 4 minutes</a:t>
            </a:r>
          </a:p>
          <a:p>
            <a:r>
              <a:t>This complete JSON document is the recurring example. Save it as campus_air.json in the notebook’s working directory. Explain the campaign-level metadata, the array of station objects, each site object, and each station’s array of reading objects. The field hour is a simplified integer hour in a single shared observation window. The example deliberately omits a full date and time zone; a real dataset should document both. A null PM2.5 value means the observation is unavailable under our teaching contract. The readings and sites are entirely fictional.</a:t>
            </a:r>
          </a:p>
          <a:p>
            <a:endParaRPr/>
          </a:p>
          <a:p>
            <a:r>
              <a:t>Complete dataset</a:t>
            </a:r>
          </a:p>
          <a:p>
            <a:r>
              <a:t>{</a:t>
            </a:r>
          </a:p>
          <a:p>
            <a:r>
              <a:t>  "campaign": "grounds-air",</a:t>
            </a:r>
          </a:p>
          <a:p>
            <a:r>
              <a:t>  "units": {"pm25": "µg/m³"},</a:t>
            </a:r>
          </a:p>
          <a:p>
            <a:r>
              <a:t>  "stations": [</a:t>
            </a:r>
          </a:p>
          <a:p>
            <a:r>
              <a:t>    {"station_id": "A1", "site": {"name": "North"},</a:t>
            </a:r>
          </a:p>
          <a:p>
            <a:r>
              <a:t>     "readings": [</a:t>
            </a:r>
          </a:p>
          <a:p>
            <a:r>
              <a:t>       {"hour": 9, "pm25": 8.1},</a:t>
            </a:r>
          </a:p>
          <a:p>
            <a:r>
              <a:t>       {"hour": 10, "pm25": null}]},</a:t>
            </a:r>
          </a:p>
          <a:p>
            <a:r>
              <a:t>    {"station_id": "B2", "site": {"name": "South"},</a:t>
            </a:r>
          </a:p>
          <a:p>
            <a:r>
              <a:t>     "readings": [</a:t>
            </a:r>
          </a:p>
          <a:p>
            <a:r>
              <a:t>       {"hour": 9, "pm25": 12.4},</a:t>
            </a:r>
          </a:p>
          <a:p>
            <a:r>
              <a:t>       {"hour": 10, "pm25": 10.8}]}</a:t>
            </a:r>
          </a:p>
          <a:p>
            <a:r>
              <a:t>  ]</a:t>
            </a:r>
          </a:p>
          <a:p>
            <a:r>
              <a:t>}</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Path reasoning, 3 minutes</a:t>
            </a:r>
          </a:p>
          <a:p>
            <a:r>
              <a:t>Use the previous slide as the reference. Ask students to say the container type aloud before each lookup. data is the parsed Python dictionary. A string in brackets selects an object member and an integer selects an array position. The slash-like paths that some tools display are a different notation from these Python expressions. The final expression reaches the second reading of the first station. null becomes None. A wrong key raises KeyError, a wrong index can raise IndexError, and using the wrong type of accessor can raise TypeError.</a:t>
            </a:r>
          </a:p>
          <a:p>
            <a:endParaRPr/>
          </a:p>
          <a:p>
            <a:r>
              <a:t>All expressions assume data = json.load(...) has already parsed the fixture.</a:t>
            </a:r>
          </a:p>
          <a:p>
            <a:endParaRPr/>
          </a:p>
          <a:p>
            <a:r>
              <a:t>Sources</a:t>
            </a:r>
          </a:p>
          <a:p>
            <a:r>
              <a:t>Python Software Foundation. json: JSON encoder and decoder. https://docs.python.org/3/library/json.html</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semantics, 3 minutes</a:t>
            </a:r>
          </a:p>
          <a:p>
            <a:r>
              <a:t>Syntax alone cannot explain why a value is missing. Our contract gives null the meaning of unavailable measurement. A missing required field is a contract violation. Empty arrays may mean no observations; empty strings may be allowed or rejected depending on the field. Zero is a real numerical value and false is a Boolean value. Python truthiness groups several of these together, which can silently remove valid zero measurements. Dictionary get returns None both when a key is absent and when its value is None unless a different default or sentinel is supplied.</a:t>
            </a:r>
          </a:p>
          <a:p>
            <a:endParaRPr/>
          </a:p>
          <a:p>
            <a:r>
              <a:t>Sources</a:t>
            </a:r>
          </a:p>
          <a:p>
            <a:r>
              <a:t>JSON Schema. Understanding JSON Schema: Objects. https://json-schema.org/understanding-json-schema/reference/object</a:t>
            </a:r>
          </a:p>
          <a:p>
            <a:r>
              <a:t>Python Software Foundation. json: JSON encoder and decoder. https://docs.python.org/3/library/json.html</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Validation model, 3 minutes</a:t>
            </a:r>
          </a:p>
          <a:p>
            <a:r>
              <a:t>The four levels are a teaching framework. Decoding turns bytes into text. Parsing checks the grammar. Schema validation checks the structure and allowed values. Domain checks decide whether a structurally valid record is meaningful for this dataset. A syntactically valid string such as "12.4" can still violate a numeric field contract. An hour of 99 violates the range constraint we will declare. Duplicate station-hour pairs can pass that schema yet double-count measurements. A timestamp or unit label may be well formed while describing the wrong observation context.</a:t>
            </a:r>
          </a:p>
          <a:p>
            <a:endParaRPr/>
          </a:p>
          <a:p>
            <a:r>
              <a:t>Sources</a:t>
            </a:r>
          </a:p>
          <a:p>
            <a:r>
              <a:t>Bray, T. (Ed.). (2017). RFC 8259: The JavaScript Object Notation (JSON) Data Interchange Format. IETF. https://datatracker.ietf.org/doc/html/rfc8259</a:t>
            </a:r>
          </a:p>
          <a:p>
            <a:r>
              <a:t>JSON Schema. Understanding JSON Schema: Objects. https://json-schema.org/understanding-json-schema/reference/object</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Active recall, 3 minutes</a:t>
            </a:r>
          </a:p>
          <a:p>
            <a:r>
              <a:t>Give students 60–90 seconds in pairs before discussing. There are four distinct grammar faults: the station_id key uses single quotes; True must be true; .8 must be 0.8; and the readings array has a trailing comma. Do not count braces or indentation as errors. All containers are balanced. Ask whether a formatter alone can repair this reliably and whether a valid repair establishes data quality. It does not. The corrected document is in Appendix A, slide 31.</a:t>
            </a:r>
          </a:p>
          <a:p>
            <a:endParaRPr/>
          </a:p>
          <a:p>
            <a:r>
              <a:t>Intentionally invalid input</a:t>
            </a:r>
          </a:p>
          <a:p>
            <a:r>
              <a:t>{</a:t>
            </a:r>
          </a:p>
          <a:p>
            <a:r>
              <a:t>  'station_id': "A1",</a:t>
            </a:r>
          </a:p>
          <a:p>
            <a:r>
              <a:t>  "active": True,</a:t>
            </a:r>
          </a:p>
          <a:p>
            <a:r>
              <a:t>  "readings": [</a:t>
            </a:r>
          </a:p>
          <a:p>
            <a:r>
              <a:t>    {"hour": 9, "pm25": .8},</a:t>
            </a:r>
          </a:p>
          <a:p>
            <a:r>
              <a:t>  ]</a:t>
            </a:r>
          </a:p>
          <a:p>
            <a:r>
              <a:t>}</a:t>
            </a:r>
          </a:p>
          <a:p>
            <a:endParaRPr/>
          </a:p>
          <a:p>
            <a:r>
              <a:t>Sources</a:t>
            </a:r>
          </a:p>
          <a:p>
            <a:r>
              <a:t>Ecma International. (2017). ECMA-404, 2nd ed. https://ecma-international.org/publications-and-standards/standards/ecma-404/</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Parsing demonstration, 3 minutes</a:t>
            </a:r>
          </a:p>
          <a:p>
            <a:r>
              <a:t>Set raw_text to the invalid example from slide 16. The parser reports the first syntax problem it reaches. Fix that problem and rerun; one error message does not enumerate every issue. json.loads parses JSON text held in a string. Do not use eval or ad hoc regular expressions to parse input. The command-line tool is convenient for parsing and formatting a local file. Python’s default decoder accepts NaN and infinity tokens and collapses repeated object names. A successful default parse is therefore not a strict interoperability certificate. Appendix B supplies explicit checks for those cases.</a:t>
            </a:r>
          </a:p>
          <a:p>
            <a:endParaRPr/>
          </a:p>
          <a:p>
            <a:r>
              <a:t>Code</a:t>
            </a:r>
          </a:p>
          <a:p>
            <a:r>
              <a:t>import json</a:t>
            </a:r>
          </a:p>
          <a:p>
            <a:endParaRPr/>
          </a:p>
          <a:p>
            <a:r>
              <a:t>try:</a:t>
            </a:r>
          </a:p>
          <a:p>
            <a:r>
              <a:t>    data = json.loads(raw_text)</a:t>
            </a:r>
          </a:p>
          <a:p>
            <a:r>
              <a:t>except json.JSONDecodeError as err:</a:t>
            </a:r>
          </a:p>
          <a:p>
            <a:r>
              <a:t>    print(err.msg)</a:t>
            </a:r>
          </a:p>
          <a:p>
            <a:r>
              <a:t>    print(err.lineno, err.colno)</a:t>
            </a:r>
          </a:p>
          <a:p>
            <a:endParaRPr/>
          </a:p>
          <a:p>
            <a:r>
              <a:t>Shell command</a:t>
            </a:r>
          </a:p>
          <a:p>
            <a:r>
              <a:t>python -m json.tool campus_air.json</a:t>
            </a:r>
          </a:p>
          <a:p>
            <a:endParaRPr/>
          </a:p>
          <a:p>
            <a:r>
              <a:t>Sources</a:t>
            </a:r>
          </a:p>
          <a:p>
            <a:r>
              <a:t>Python Software Foundation. json: JSON encoder and decoder. https://docs.python.org/3/library/json.html</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Schema, 4 minutes</a:t>
            </a:r>
          </a:p>
          <a:p>
            <a:r>
              <a:t>This is a complete schema for one reading, using keywords supported by Draft 2020-12. It is itself JSON. Copy it into reading_schema.json, then load it with json.load to create the Python dictionary reading_schema. Alternatively, define the dictionary directly in Python and change false to False. The required list requires the keys to exist. The type union lets pm25 hold either a number or null. The minimum constraint applies to numbers and does not rule out null. additionalProperties rejects unexpected keys at this object level. Explain that this is our teaching contract; a real PM2.5 pipeline may need a more nuanced treatment of calibration artifacts and negative values.</a:t>
            </a:r>
          </a:p>
          <a:p>
            <a:endParaRPr/>
          </a:p>
          <a:p>
            <a:r>
              <a:t>Schema text</a:t>
            </a:r>
          </a:p>
          <a:p>
            <a:r>
              <a:t>{</a:t>
            </a:r>
          </a:p>
          <a:p>
            <a:r>
              <a:t>  "type": "object",</a:t>
            </a:r>
          </a:p>
          <a:p>
            <a:r>
              <a:t>  "required": ["hour", "pm25"],</a:t>
            </a:r>
          </a:p>
          <a:p>
            <a:r>
              <a:t>  "properties": {</a:t>
            </a:r>
          </a:p>
          <a:p>
            <a:r>
              <a:t>    "hour": {"type": "integer",</a:t>
            </a:r>
          </a:p>
          <a:p>
            <a:r>
              <a:t>             "minimum": 0, "maximum": 23},</a:t>
            </a:r>
          </a:p>
          <a:p>
            <a:r>
              <a:t>    "pm25": {"type": ["number", "null"],</a:t>
            </a:r>
          </a:p>
          <a:p>
            <a:r>
              <a:t>             "minimum": 0}</a:t>
            </a:r>
          </a:p>
          <a:p>
            <a:r>
              <a:t>  },</a:t>
            </a:r>
          </a:p>
          <a:p>
            <a:r>
              <a:t>  "additionalProperties": false</a:t>
            </a:r>
          </a:p>
          <a:p>
            <a:r>
              <a:t>}</a:t>
            </a:r>
          </a:p>
          <a:p>
            <a:endParaRPr/>
          </a:p>
          <a:p>
            <a:r>
              <a:t>Sources</a:t>
            </a:r>
          </a:p>
          <a:p>
            <a:r>
              <a:t>JSON Schema. Understanding JSON Schema: Objects. https://json-schema.org/understanding-json-schema/reference/object</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Nested validation, 3 minutes</a:t>
            </a:r>
          </a:p>
          <a:p>
            <a:r>
              <a:t>This loop assumes the outer document has the structure shown on slide 12. It validates each reading against reading_schema from slide 18 and prefixes each error’s local path with its station and reading indices. Change A1’s first pm25 value to the string "8.1" and rerun: the path identifies stations, 0, readings, 0, pm25. iter_errors can return more than one error. Nothing prints for valid readings. The loop is not a substitute for validating the outer station structure. Appendix C composes a schema for the whole document. Stop or quarantine invalid records before analysis; this example prints errors to make the lesson visible.</a:t>
            </a:r>
          </a:p>
          <a:p>
            <a:endParaRPr/>
          </a:p>
          <a:p>
            <a:r>
              <a:t>Code</a:t>
            </a:r>
          </a:p>
          <a:p>
            <a:r>
              <a:t>from jsonschema import Draft202012Validator</a:t>
            </a:r>
          </a:p>
          <a:p>
            <a:endParaRPr/>
          </a:p>
          <a:p>
            <a:r>
              <a:t>validator = Draft202012Validator(reading_schema)</a:t>
            </a:r>
          </a:p>
          <a:p>
            <a:r>
              <a:t>for i, station in enumerate(data["stations"]):</a:t>
            </a:r>
          </a:p>
          <a:p>
            <a:r>
              <a:t>    for j, reading in enumerate(station["readings"]):</a:t>
            </a:r>
          </a:p>
          <a:p>
            <a:r>
              <a:t>        for err in validator.iter_errors(reading):</a:t>
            </a:r>
          </a:p>
          <a:p>
            <a:r>
              <a:t>            location = ["stations", i, "readings", j]</a:t>
            </a:r>
          </a:p>
          <a:p>
            <a:r>
              <a:t>            print(location + list(err.path), err.message)</a:t>
            </a:r>
          </a:p>
          <a:p>
            <a:endParaRPr/>
          </a:p>
          <a:p>
            <a:r>
              <a:t>Sources</a:t>
            </a:r>
          </a:p>
          <a:p>
            <a:r>
              <a:t>python-jsonschema. Schema Validation. https://python-jsonschema.readthedocs.io/en/stable/validate/</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Python API orientation, 2 minutes</a:t>
            </a:r>
          </a:p>
          <a:p>
            <a:r>
              <a:t>The s suffix means the JSON text is in a Python string. load and dump work with open file objects. The direction matters: loads/load decode JSON, while dumps/dump encode Python values. json.dumps returns a string. json.dump writes to the file and returns None. JSON true and null decode as Python True and None. str(a_dictionary) and print(a_dictionary) do not perform JSON serialization. Most ordinary Python objects, including datetime, sets, and Decimal, require an explicit encoding policy.</a:t>
            </a:r>
          </a:p>
          <a:p>
            <a:endParaRPr/>
          </a:p>
          <a:p>
            <a:r>
              <a:t>Sources</a:t>
            </a:r>
          </a:p>
          <a:p>
            <a:r>
              <a:t>Python Software Foundation. json: JSON encoder and decoder. https://docs.python.org/3/library/json.html</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Python walkthrough, 3 minutes</a:t>
            </a:r>
          </a:p>
          <a:p>
            <a:r>
              <a:t>Create campus_air.json by copying the complete JSON from slide 12. Run this in the directory containing that file. The with statement closes the file even if an exception occurs. encoding="utf-8" states the intended text encoding. The parser recursively produces dictionaries and lists. The output is dict, grounds-air, and 2 on separate lines. A file extension alone proves nothing about its contents. Distinguish file access failures from decoding errors and JSON syntax errors when debugging.</a:t>
            </a:r>
          </a:p>
          <a:p>
            <a:endParaRPr/>
          </a:p>
          <a:p>
            <a:r>
              <a:t>Code</a:t>
            </a:r>
          </a:p>
          <a:p>
            <a:r>
              <a:t>import json</a:t>
            </a:r>
          </a:p>
          <a:p>
            <a:endParaRPr/>
          </a:p>
          <a:p>
            <a:r>
              <a:t>with open("campus_air.json", encoding="utf-8") as f:</a:t>
            </a:r>
          </a:p>
          <a:p>
            <a:r>
              <a:t>    data = json.load(f)</a:t>
            </a:r>
          </a:p>
          <a:p>
            <a:endParaRPr/>
          </a:p>
          <a:p>
            <a:r>
              <a:t>print(type(data).__name__)</a:t>
            </a:r>
          </a:p>
          <a:p>
            <a:r>
              <a:t>print(data["campaign"])</a:t>
            </a:r>
          </a:p>
          <a:p>
            <a:r>
              <a:t>print(len(data["stations"]))</a:t>
            </a:r>
          </a:p>
          <a:p>
            <a:endParaRPr/>
          </a:p>
          <a:p>
            <a:r>
              <a:t>Sources</a:t>
            </a:r>
          </a:p>
          <a:p>
            <a:r>
              <a:t>Python Software Foundation. json: JSON encoder and decoder. https://docs.python.org/3/library/json.html</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walkthrough, 3 minutes</a:t>
            </a:r>
          </a:p>
          <a:p>
            <a:r>
              <a:t>Trace the loop on the fictional fixture. The outer iteration selects stations and the inner iteration selects their readings. Required keys use direct access after validation. An optional field can use get with an explicit missingness policy. is not None keeps valid zeros and excludes unavailable measurements. A condition such as if value would silently drop zero. The output values are 8.1, 12.4, and 10.8. This flat list loses station identity, so it is useful for demonstrating traversal but cannot answer the per-station question. That motivates the tabular representation on slide 24.</a:t>
            </a:r>
          </a:p>
          <a:p>
            <a:endParaRPr/>
          </a:p>
          <a:p>
            <a:r>
              <a:t>Code</a:t>
            </a:r>
          </a:p>
          <a:p>
            <a:r>
              <a:t>values = []</a:t>
            </a:r>
          </a:p>
          <a:p>
            <a:r>
              <a:t>for station in data["stations"]:</a:t>
            </a:r>
          </a:p>
          <a:p>
            <a:r>
              <a:t>    for reading in station["readings"]:</a:t>
            </a:r>
          </a:p>
          <a:p>
            <a:r>
              <a:t>        value = reading["pm25"]</a:t>
            </a:r>
          </a:p>
          <a:p>
            <a:r>
              <a:t>        if value is not None:</a:t>
            </a:r>
          </a:p>
          <a:p>
            <a:r>
              <a:t>            values.append(value)</a:t>
            </a:r>
          </a:p>
          <a:p>
            <a:endParaRPr/>
          </a:p>
          <a:p>
            <a:r>
              <a:t>print(values)</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API demonstration, 3 minutes</a:t>
            </a:r>
          </a:p>
          <a:p>
            <a:r>
              <a:t>This separate public example fetches repository metadata and does not replace the campus fixture in data. Requests is a third-party package. timeout prevents an indefinite socket wait; it is not a complete wall-clock budget for all possible activity. raise_for_status checks unsuccessful HTTP status codes, whereas response.json decodes the response body. Either stage can fail. A server error response may itself contain perfectly valid JSON. The expected full_name is python/cpython. Public services can rate-limit requests or change behavior, so preserve a local response when reproducibility matters. This example needs internet access and is optional during the lecture.</a:t>
            </a:r>
          </a:p>
          <a:p>
            <a:endParaRPr/>
          </a:p>
          <a:p>
            <a:r>
              <a:t>Code</a:t>
            </a:r>
          </a:p>
          <a:p>
            <a:r>
              <a:t>import requests</a:t>
            </a:r>
          </a:p>
          <a:p>
            <a:endParaRPr/>
          </a:p>
          <a:p>
            <a:r>
              <a:t>url = "https://api.github.com/repos/python/cpython"</a:t>
            </a:r>
          </a:p>
          <a:p>
            <a:r>
              <a:t>response = requests.get(url, timeout=10)</a:t>
            </a:r>
          </a:p>
          <a:p>
            <a:r>
              <a:t>response.raise_for_status()</a:t>
            </a:r>
          </a:p>
          <a:p>
            <a:r>
              <a:t>repo = response.json()</a:t>
            </a:r>
          </a:p>
          <a:p>
            <a:endParaRPr/>
          </a:p>
          <a:p>
            <a:r>
              <a:t>print(repo["full_name"])</a:t>
            </a:r>
          </a:p>
          <a:p>
            <a:endParaRPr/>
          </a:p>
          <a:p>
            <a:r>
              <a:t>Sources</a:t>
            </a:r>
          </a:p>
          <a:p>
            <a:r>
              <a:t>Requests. Quickstart. https://requests.readthedocs.io/en/latest/user/quickstart/</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Reshaping walkthrough, 4 minutes</a:t>
            </a:r>
          </a:p>
          <a:p>
            <a:r>
              <a:t>record_path chooses the array that supplies rows. meta repeats parent-level fields beside those rows. sep controls how nested field names appear. The result has four rows, one per station-hour reading. pandas represents the null in this numeric column as a missing value, commonly NaN with the default floating dtype. The displayed table uses missing as a human-readable label. Check the chosen grain and row count instead of trusting a DataFrame merely because it appears tabular. More than one repeated array can create accidental row multiplication if expanded carelessly.</a:t>
            </a:r>
          </a:p>
          <a:p>
            <a:endParaRPr/>
          </a:p>
          <a:p>
            <a:r>
              <a:t>Code</a:t>
            </a:r>
          </a:p>
          <a:p>
            <a:r>
              <a:t>import pandas as pd</a:t>
            </a:r>
          </a:p>
          <a:p>
            <a:endParaRPr/>
          </a:p>
          <a:p>
            <a:r>
              <a:t>df = pd.json_normalize(</a:t>
            </a:r>
          </a:p>
          <a:p>
            <a:r>
              <a:t>    data["stations"], record_path="readings",</a:t>
            </a:r>
          </a:p>
          <a:p>
            <a:r>
              <a:t>    meta=["station_id", ["site", "name"]], sep="."</a:t>
            </a:r>
          </a:p>
          <a:p>
            <a:r>
              <a:t>)</a:t>
            </a:r>
          </a:p>
          <a:p>
            <a:r>
              <a:t>print(df)</a:t>
            </a:r>
          </a:p>
          <a:p>
            <a:endParaRPr/>
          </a:p>
          <a:p>
            <a:r>
              <a:t>Sources</a:t>
            </a:r>
          </a:p>
          <a:p>
            <a:r>
              <a:t>pandas. pandas.json_normalize. https://pandas.pydata.org/docs/reference/api/pandas.json_normalize.html</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Analysis walkthrough, 3 minutes</a:t>
            </a:r>
          </a:p>
          <a:p>
            <a:r>
              <a:t>The default mean skips missing values and count counts nonmissing measurements. A1 therefore has one observation and a mean of 8.1. B2 has two observations: (12.4 + 10.8) / 2 = 11.6. B2 has the highest observed mean in this tiny fictional sample. The unequal counts and short observation window prevent a strong general claim about the sites. Replacing A1’s missing value with zero would change its mean to 4.05, which is a new assumption rather than neutral cleaning. State the denominator explicitly.</a:t>
            </a:r>
          </a:p>
          <a:p>
            <a:endParaRPr/>
          </a:p>
          <a:p>
            <a:r>
              <a:t>Code</a:t>
            </a:r>
          </a:p>
          <a:p>
            <a:r>
              <a:t>summary = df.groupby("station_id")["pm25"].agg(</a:t>
            </a:r>
          </a:p>
          <a:p>
            <a:r>
              <a:t>    mean_pm25="mean", n_observed="count"</a:t>
            </a:r>
          </a:p>
          <a:p>
            <a:r>
              <a:t>)</a:t>
            </a:r>
          </a:p>
          <a:p>
            <a:r>
              <a:t>print(summary.round(1))</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Serialization walkthrough, 3 minutes</a:t>
            </a:r>
          </a:p>
          <a:p>
            <a:r>
              <a:t>Continue with summary from slide 25. reset_index restores station_id as a column before to_dict creates ordinary record dictionaries. Keep the units and campaign context alongside the output. indent improves readability. ensure_ascii=False lets Unicode characters such as the unit symbol appear directly in the UTF-8 file. allow_nan=False makes the encoder reject non-finite values instead of emitting Python’s permissive NaN or Infinity tokens. If a column contains missing values, explicitly map them to None under the output contract. Do not silently substitute zero. The current summary has no missing means, but an all-null station would create one.</a:t>
            </a:r>
          </a:p>
          <a:p>
            <a:endParaRPr/>
          </a:p>
          <a:p>
            <a:r>
              <a:t>Code</a:t>
            </a:r>
          </a:p>
          <a:p>
            <a:r>
              <a:t>result = {</a:t>
            </a:r>
          </a:p>
          <a:p>
            <a:r>
              <a:t>    "campaign": data["campaign"],</a:t>
            </a:r>
          </a:p>
          <a:p>
            <a:r>
              <a:t>    "units": data["units"],</a:t>
            </a:r>
          </a:p>
          <a:p>
            <a:r>
              <a:t>    "summary": summary.reset_index().to_dict("records")</a:t>
            </a:r>
          </a:p>
          <a:p>
            <a:r>
              <a:t>}</a:t>
            </a:r>
          </a:p>
          <a:p>
            <a:r>
              <a:t>with open("summary.json", "w", encoding="utf-8") as f:</a:t>
            </a:r>
          </a:p>
          <a:p>
            <a:r>
              <a:t>    json.dump(result, f, indent=2,</a:t>
            </a:r>
          </a:p>
          <a:p>
            <a:r>
              <a:t>              ensure_ascii=False, allow_nan=False)</a:t>
            </a:r>
          </a:p>
          <a:p>
            <a:endParaRPr/>
          </a:p>
          <a:p>
            <a:r>
              <a:t>Sources</a:t>
            </a:r>
          </a:p>
          <a:p>
            <a:r>
              <a:t>Python Software Foundation. json: JSON encoder and decoder. https://docs.python.org/3/library/json.html</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Interoperability, 3 minutes</a:t>
            </a:r>
          </a:p>
          <a:p>
            <a:r>
              <a:t>Repeated object names are permitted by the bare grammar but strongly discouraged for interoperability. Python’s default decoder retains the last value, while other parsers may behave differently. Python also accepts NaN by default even though it is outside JSON number syntax. Large integers may survive Python parsing yet lose precision in consumers that use IEEE 754 binary64. Interoperable exact integers generally lie in the range -(2**53)+1 through (2**53)-1. Use strings for opaque IDs. JSON also carries dates only through conventions, and heterogeneous field types can drift between records. Strict parsing complements schema validation but does not make the data semantically correct.</a:t>
            </a:r>
          </a:p>
          <a:p>
            <a:endParaRPr/>
          </a:p>
          <a:p>
            <a:r>
              <a:t>Sources</a:t>
            </a:r>
          </a:p>
          <a:p>
            <a:r>
              <a:t>Bray, T. (Ed.). (2017). RFC 8259: The JavaScript Object Notation (JSON) Data Interchange Format. IETF. https://datatracker.ietf.org/doc/html/rfc8259</a:t>
            </a:r>
          </a:p>
          <a:p>
            <a:r>
              <a:t>Python Software Foundation. json: JSON encoder and decoder. https://docs.python.org/3/library/json.html</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Applied exercise, 6–8 minutes</a:t>
            </a:r>
          </a:p>
          <a:p>
            <a:r>
              <a:t>Ask students to append this station object to the stations array, keeping it inside the surrounding document. Before running code, have them predict the row count, C3’s observed count, and C3’s mean. Then validate, normalize, aggregate, and export. Finally, change 0.0 to the string "0.0" to provoke a schema error and restore the numeric value. Expected answers are six rows, C3 observed count 1, and C3 mean 0.0. B2 remains highest at 11.6. A1 count remains 1, B2 count remains 2. A truthiness filter incorrectly discards C3’s zero. Appendix E has the result and checks.</a:t>
            </a:r>
          </a:p>
          <a:p>
            <a:endParaRPr/>
          </a:p>
          <a:p>
            <a:r>
              <a:t>Station object to insert</a:t>
            </a:r>
          </a:p>
          <a:p>
            <a:r>
              <a:t>{"station_id": "C3", "site": {"name": "Garden"},</a:t>
            </a:r>
          </a:p>
          <a:p>
            <a:r>
              <a:t> "readings": [</a:t>
            </a:r>
          </a:p>
          <a:p>
            <a:r>
              <a:t>   {"hour": 9, "pm25": 0.0},</a:t>
            </a:r>
          </a:p>
          <a:p>
            <a:r>
              <a:t>   {"hour": 10, "pm25": null}</a:t>
            </a:r>
          </a:p>
          <a:p>
            <a:r>
              <a:t> ]}</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discussion, 2–3 minutes</a:t>
            </a:r>
          </a:p>
          <a:p>
            <a:r>
              <a:t>Invite several answers: duplicate observations, mixed units, incorrect timestamps, sample selection, a wrong measurement instrument, imputation choices, or a valid but incomplete record set. Ask which stage of the workflow should own each check. Return to the original question and require students to state the analytical grain and the denominator. The central skill is moving between a representation, a data model, and an analytical meaning without losing information.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Primary references</a:t>
            </a:r>
          </a:p>
          <a:p>
            <a:r>
              <a:t>These references ground the syntax, interoperability, and Python examples. The code and fictional sensor dataset are original teaching examples. Links are clickable in the deck and repeated in notes.</a:t>
            </a:r>
          </a:p>
          <a:p>
            <a:endParaRPr/>
          </a:p>
          <a:p>
            <a:r>
              <a:t>JSON.org. Introducing JSON. https://www.json.org/json-en.html</a:t>
            </a:r>
          </a:p>
          <a:p>
            <a:r>
              <a:t>Bray, T. (Ed.). (2017). RFC 8259: The JavaScript Object Notation (JSON) Data Interchange Format. IETF. https://datatracker.ietf.org/doc/html/rfc8259</a:t>
            </a:r>
          </a:p>
          <a:p>
            <a:r>
              <a:t>Crockford, D. (2006). RFC 4627. IETF. https://www.rfc-editor.org/rfc/rfc4627.html</a:t>
            </a:r>
          </a:p>
          <a:p>
            <a:r>
              <a:t>Ecma International. (2017). ECMA-404, 2nd ed. https://ecma-international.org/publications-and-standards/standards/ecma-404/</a:t>
            </a:r>
          </a:p>
          <a:p>
            <a:r>
              <a:t>Python Software Foundation. json: JSON encoder and decoder. https://docs.python.org/3/library/json.html</a:t>
            </a:r>
          </a:p>
          <a:p>
            <a:r>
              <a:t>JSON Schema. Understanding JSON Schema: Objects. https://json-schema.org/understanding-json-schema/reference/object</a:t>
            </a:r>
          </a:p>
          <a:p>
            <a:r>
              <a:t>python-jsonschema. Schema Validation. https://python-jsonschema.readthedocs.io/en/stable/validate/</a:t>
            </a:r>
          </a:p>
          <a:p>
            <a:r>
              <a:t>pandas. pandas.json_normalize. https://pandas.pydata.org/docs/reference/api/pandas.json_normalize.html</a:t>
            </a:r>
          </a:p>
          <a:p>
            <a:r>
              <a:t>Requests. Quickstart. https://requests.readthedocs.io/en/latest/user/quickstart/</a:t>
            </a:r>
          </a:p>
          <a:p>
            <a:r>
              <a:t>JSON Lines. https://jsonlines.org/</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Solution to slide 16</a:t>
            </a:r>
          </a:p>
          <a:p>
            <a:r>
              <a:t>The four changes are double quotes around station_id, lowercase true, a leading zero on 0.8, and removal of the final array comma. All of these address grammar. They do not prove that the measurement is accurate, that the unit is correct, or that the observation belongs in the study. active is a Boolean describing the station in this independent syntax example. It is not part of the main campaign fixture’s station contract.</a:t>
            </a:r>
          </a:p>
          <a:p>
            <a:endParaRPr/>
          </a:p>
          <a:p>
            <a:r>
              <a:t>Corrected JSON</a:t>
            </a:r>
          </a:p>
          <a:p>
            <a:r>
              <a:t>{</a:t>
            </a:r>
          </a:p>
          <a:p>
            <a:r>
              <a:t>  "station_id": "A1",</a:t>
            </a:r>
          </a:p>
          <a:p>
            <a:r>
              <a:t>  "active": true,</a:t>
            </a:r>
          </a:p>
          <a:p>
            <a:r>
              <a:t>  "readings": [</a:t>
            </a:r>
          </a:p>
          <a:p>
            <a:r>
              <a:t>    {"hour": 9, "pm25": 0.8}</a:t>
            </a:r>
          </a:p>
          <a:p>
            <a:r>
              <a:t>  ]</a:t>
            </a:r>
          </a:p>
          <a:p>
            <a:r>
              <a:t>}</a:t>
            </a:r>
          </a:p>
          <a:p>
            <a:endParaRPr/>
          </a:p>
          <a:p>
            <a:r>
              <a:t>Sources</a:t>
            </a:r>
          </a:p>
          <a:p>
            <a:r>
              <a:t>Ecma International. (2017). ECMA-404, 2nd ed. https://ecma-international.org/publications-and-standards/standards/ecma-404/</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advanced example</a:t>
            </a:r>
          </a:p>
          <a:p>
            <a:r>
              <a:t>parse_constant intercepts the non-standard NaN and infinity tokens that Python normally accepts. object_pairs_hook receives each object’s key-value pairs before conversion to dict and therefore can detect repeated names, including in nested objects. Both callbacks raise ValueError. JSONDecodeError is also a ValueError subclass, but the examples’ custom failures do not provide line and column fields. Catch ValueError around this call when using these callbacks together. This is stricter interoperability checking, not a complete policy for all resource limits or numeric semantics. A syntactically valid magnitude such as 1e400 can overflow binary floating point after parsing; use Decimal with parse_float if your contract needs exact decimal magnitudes. Impose input size and nesting limits appropriate to the application.</a:t>
            </a:r>
          </a:p>
          <a:p>
            <a:endParaRPr/>
          </a:p>
          <a:p>
            <a:r>
              <a:t>Code, after import json</a:t>
            </a:r>
          </a:p>
          <a:p>
            <a:r>
              <a:t>def reject_constant(token):</a:t>
            </a:r>
          </a:p>
          <a:p>
            <a:r>
              <a:t>    raise ValueError(f"Non-JSON token: {token}")</a:t>
            </a:r>
          </a:p>
          <a:p>
            <a:endParaRPr/>
          </a:p>
          <a:p>
            <a:r>
              <a:t>def unique_names(pairs):</a:t>
            </a:r>
          </a:p>
          <a:p>
            <a:r>
              <a:t>    result = {}</a:t>
            </a:r>
          </a:p>
          <a:p>
            <a:r>
              <a:t>    for key, value in pairs:</a:t>
            </a:r>
          </a:p>
          <a:p>
            <a:r>
              <a:t>        if key in result:</a:t>
            </a:r>
          </a:p>
          <a:p>
            <a:r>
              <a:t>            raise ValueError(f"Repeated name: {key}")</a:t>
            </a:r>
          </a:p>
          <a:p>
            <a:r>
              <a:t>        result[key] = value</a:t>
            </a:r>
          </a:p>
          <a:p>
            <a:r>
              <a:t>    return result</a:t>
            </a:r>
          </a:p>
          <a:p>
            <a:endParaRPr/>
          </a:p>
          <a:p>
            <a:r>
              <a:t>data = json.loads(raw_text,</a:t>
            </a:r>
          </a:p>
          <a:p>
            <a:r>
              <a:t>    parse_constant=reject_constant,</a:t>
            </a:r>
          </a:p>
          <a:p>
            <a:r>
              <a:t>    object_pairs_hook=unique_names)</a:t>
            </a:r>
          </a:p>
          <a:p>
            <a:endParaRPr/>
          </a:p>
          <a:p>
            <a:r>
              <a:t>Sources</a:t>
            </a:r>
          </a:p>
          <a:p>
            <a:r>
              <a:t>Python Software Foundation. json: JSON encoder and decoder. https://docs.python.org/3/library/json.html</a:t>
            </a:r>
          </a:p>
          <a:p>
            <a:r>
              <a:t>Bray, T. (Ed.). (2017). RFC 8259: The JavaScript Object Notation (JSON) Data Interchange Format. IETF. https://datatracker.ietf.org/doc/html/rfc8259</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schema composition</a:t>
            </a:r>
          </a:p>
          <a:p>
            <a:r>
              <a:t>This Python example composes reusable JSON Schema dictionaries. reading_schema is the schema from slide 18, loaded from JSON. Draft202012Validator is imported on slide 19. The helper requires every declared property and rejects undeclared properties. A schema’s properties alone do not make fields required. check_schema verifies the schema’s own construction. validate checks the instance and raises ValidationError when it fails. This full schema protects the assumptions behind the nested iteration, including each readings collection being an array. It allows empty arrays, does not require unique station IDs, and cannot by itself ensure unique station-hour observations. Add a separate duplicate check on that composite key. This strict additionalProperties policy is a teaching choice; versioned APIs may need an explicit strategy for accepting new fields.</a:t>
            </a:r>
          </a:p>
          <a:p>
            <a:endParaRPr/>
          </a:p>
          <a:p>
            <a:r>
              <a:t>Python code</a:t>
            </a:r>
          </a:p>
          <a:p>
            <a:r>
              <a:t>def obj(properties):</a:t>
            </a:r>
          </a:p>
          <a:p>
            <a:r>
              <a:t>    return {"type": "object", "properties": properties,</a:t>
            </a:r>
          </a:p>
          <a:p>
            <a:r>
              <a:t>            "required": list(properties),</a:t>
            </a:r>
          </a:p>
          <a:p>
            <a:r>
              <a:t>            "additionalProperties": False}</a:t>
            </a:r>
          </a:p>
          <a:p>
            <a:endParaRPr/>
          </a:p>
          <a:p>
            <a:r>
              <a:t>station_schema = obj({</a:t>
            </a:r>
          </a:p>
          <a:p>
            <a:r>
              <a:t>    "station_id": {"type": "string", "minLength": 1},</a:t>
            </a:r>
          </a:p>
          <a:p>
            <a:r>
              <a:t>    "site": obj({"name": {"type": "string"}}),</a:t>
            </a:r>
          </a:p>
          <a:p>
            <a:r>
              <a:t>    "readings": {"type": "array", "items": reading_schema}</a:t>
            </a:r>
          </a:p>
          <a:p>
            <a:r>
              <a:t>})</a:t>
            </a:r>
          </a:p>
          <a:p>
            <a:r>
              <a:t>campaign_schema = obj({</a:t>
            </a:r>
          </a:p>
          <a:p>
            <a:r>
              <a:t>    "campaign": {"type": "string"},</a:t>
            </a:r>
          </a:p>
          <a:p>
            <a:r>
              <a:t>    "units": obj({"pm25": {"const": "µg/m³"}}),</a:t>
            </a:r>
          </a:p>
          <a:p>
            <a:r>
              <a:t>    "stations": {"type": "array", "items": station_schema}</a:t>
            </a:r>
          </a:p>
          <a:p>
            <a:r>
              <a:t>})</a:t>
            </a:r>
          </a:p>
          <a:p>
            <a:r>
              <a:t>Draft202012Validator.check_schema(campaign_schema)</a:t>
            </a:r>
          </a:p>
          <a:p>
            <a:r>
              <a:t>Draft202012Validator(campaign_schema).validate(data)</a:t>
            </a:r>
          </a:p>
          <a:p>
            <a:endParaRPr/>
          </a:p>
          <a:p>
            <a:r>
              <a:t>Sources</a:t>
            </a:r>
          </a:p>
          <a:p>
            <a:r>
              <a:t>JSON Schema. Understanding JSON Schema: Objects. https://json-schema.org/understanding-json-schema/reference/object</a:t>
            </a:r>
          </a:p>
          <a:p>
            <a:r>
              <a:t>python-jsonschema. Schema Validation. https://python-jsonschema.readthedocs.io/en/stable/validate/</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larger-data format, 2 minutes</a:t>
            </a:r>
          </a:p>
          <a:p>
            <a:r>
              <a:t>JSON Lines stores one complete JSON value per line in UTF-8 text. It is convenient for append-oriented logs and incremental record processing. A blank line is invalid under the convention. Each line may contain an object, array, or another JSON value. This example uses one object per line and keeps station identity on every row. The whole file is not a single JSON document, so json.load on the entire file will raise an extra-data error. Line-by-line parsing limits how much of this file the example holds in memory, but it does not replace record validation. For large analytical scans, evaluate a columnar format such as Parquet based on the workload.</a:t>
            </a:r>
          </a:p>
          <a:p>
            <a:endParaRPr/>
          </a:p>
          <a:p>
            <a:r>
              <a:t>JSON Lines example</a:t>
            </a:r>
          </a:p>
          <a:p>
            <a:r>
              <a:t>{"station_id":"A1","hour":9,"pm25":8.1}</a:t>
            </a:r>
          </a:p>
          <a:p>
            <a:r>
              <a:t>{"station_id":"B2","hour":9,"pm25":12.4}</a:t>
            </a:r>
          </a:p>
          <a:p>
            <a:endParaRPr/>
          </a:p>
          <a:p>
            <a:r>
              <a:t>Python code</a:t>
            </a:r>
          </a:p>
          <a:p>
            <a:r>
              <a:t>with open("readings.jsonl", encoding="utf-8") as f:</a:t>
            </a:r>
          </a:p>
          <a:p>
            <a:r>
              <a:t>    for line_number, line in enumerate(f, start=1):</a:t>
            </a:r>
          </a:p>
          <a:p>
            <a:r>
              <a:t>        record = json.loads(line)</a:t>
            </a:r>
          </a:p>
          <a:p>
            <a:r>
              <a:t>        print(line_number, record["pm25"])</a:t>
            </a:r>
          </a:p>
          <a:p>
            <a:endParaRPr/>
          </a:p>
          <a:p>
            <a:r>
              <a:t>Sources</a:t>
            </a:r>
          </a:p>
          <a:p>
            <a:r>
              <a:t>JSON Lines. https://jsonlines.org/</a:t>
            </a:r>
          </a:p>
          <a:p>
            <a:r>
              <a:t>Python Software Foundation. json: JSON encoder and decoder. https://docs.python.org/3/library/json.html</a:t>
            </a:r>
          </a:p>
          <a:p>
            <a:r>
              <a:t>Accessed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Solution to slide 28</a:t>
            </a:r>
          </a:p>
          <a:p>
            <a:r>
              <a:t>After appending C3, rerun validation, json_normalize, and the groupby aggregation. There are six total reading records and four nonmissing PM2.5 observations. C3’s zero remains a valid observation, so its count is one and its mean is 0.0. A truthiness filter would lose that value. These assertions provide inexpensive checks of the chosen grain and null-handling policy. They are classroom checks, not a complete validation system. If the zero becomes the string "0.0", the reading schema must reject it. Exporting the corrected summary with allow_nan=False succeeds.</a:t>
            </a:r>
          </a:p>
          <a:p>
            <a:endParaRPr/>
          </a:p>
          <a:p>
            <a:r>
              <a:t>Checks</a:t>
            </a:r>
          </a:p>
          <a:p>
            <a:r>
              <a:t>assert len(df) == 6</a:t>
            </a:r>
          </a:p>
          <a:p>
            <a:r>
              <a:t>assert summary.loc["C3", "n_observed"] == 1</a:t>
            </a:r>
          </a:p>
          <a:p>
            <a:r>
              <a:t>assert summary.loc["C3", "mean_pm25"] == 0.0</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40F9-EE47-45E2-8D69-BAF4AF6983A3}"/>
              </a:ext>
            </a:extLst>
          </p:cNvPr>
          <p:cNvSpPr>
            <a:spLocks noGrp="1"/>
          </p:cNvSpPr>
          <p:nvPr>
            <p:ph type="ctrTitle"/>
          </p:nvPr>
        </p:nvSpPr>
        <p:spPr>
          <a:xfrm>
            <a:off x="613457" y="1122363"/>
            <a:ext cx="10949651" cy="2387600"/>
          </a:xfrm>
        </p:spPr>
        <p:txBody>
          <a:bodyPr anchor="b"/>
          <a:lstStyle>
            <a:lvl1pPr algn="ctr">
              <a:buNone/>
              <a:defRPr sz="6000">
                <a:solidFill>
                  <a:srgbClr val="24323E"/>
                </a:solidFill>
                <a:latin typeface="Times New Roman"/>
                <a:ea typeface="Times New Roman"/>
                <a:cs typeface="Times New Roman"/>
              </a:defRPr>
            </a:lvl1pPr>
          </a:lstStyle>
          <a:p>
            <a:r>
              <a:t>Click to edit Master title style</a:t>
            </a:r>
          </a:p>
        </p:txBody>
      </p:sp>
      <p:sp>
        <p:nvSpPr>
          <p:cNvPr id="3" name="Subtitle 2">
            <a:extLst>
              <a:ext uri="{FF2B5EF4-FFF2-40B4-BE49-F238E27FC236}">
                <a16:creationId xmlns:a16="http://schemas.microsoft.com/office/drawing/2014/main" id="{4B1D7E23-A2CC-4BCA-9340-2D6BBC6A756A}"/>
              </a:ext>
            </a:extLst>
          </p:cNvPr>
          <p:cNvSpPr>
            <a:spLocks noGrp="1"/>
          </p:cNvSpPr>
          <p:nvPr>
            <p:ph type="subTitle" idx="1"/>
          </p:nvPr>
        </p:nvSpPr>
        <p:spPr>
          <a:xfrm>
            <a:off x="613457" y="3602038"/>
            <a:ext cx="10949651" cy="1655762"/>
          </a:xfrm>
        </p:spPr>
        <p:txBody>
          <a:bodyPr/>
          <a:lstStyle>
            <a:lvl1pPr marL="0" indent="0" algn="ctr">
              <a:buNone/>
              <a:defRPr sz="2400">
                <a:latin typeface="Times New Roman"/>
                <a:ea typeface="Times New Roman"/>
                <a:cs typeface="Times New Roma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AB521367-D5A3-4D5E-9576-BA2DD8787969}"/>
              </a:ext>
            </a:extLst>
          </p:cNvPr>
          <p:cNvSpPr>
            <a:spLocks noGrp="1"/>
          </p:cNvSpPr>
          <p:nvPr>
            <p:ph type="dt" idx="10"/>
          </p:nvPr>
        </p:nvSpPr>
        <p:spPr/>
        <p:txBody>
          <a:bodyPr/>
          <a:lstStyle/>
          <a:p>
            <a:fld id="{507A6976-490E-4B03-A9C3-CCC3E2FE72FE}" type="datetimeFigureOut">
              <a:t>9/27/26</a:t>
            </a:fld>
            <a:endParaRPr/>
          </a:p>
        </p:txBody>
      </p:sp>
      <p:sp>
        <p:nvSpPr>
          <p:cNvPr id="8" name="Rectangle 7">
            <a:extLst>
              <a:ext uri="{FF2B5EF4-FFF2-40B4-BE49-F238E27FC236}">
                <a16:creationId xmlns:a16="http://schemas.microsoft.com/office/drawing/2014/main" id="{4C8F91D3-C175-4E31-94F8-8954545A1943}"/>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Footer Placeholder 4">
            <a:extLst>
              <a:ext uri="{FF2B5EF4-FFF2-40B4-BE49-F238E27FC236}">
                <a16:creationId xmlns:a16="http://schemas.microsoft.com/office/drawing/2014/main" id="{FA02294C-7E6C-45B8-8A66-9C558CA7B94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5869651-5CF9-4A71-BA2D-52C300D681FD}"/>
              </a:ext>
            </a:extLst>
          </p:cNvPr>
          <p:cNvSpPr>
            <a:spLocks noGrp="1"/>
          </p:cNvSpPr>
          <p:nvPr>
            <p:ph type="sldNum" idx="12"/>
          </p:nvPr>
        </p:nvSpPr>
        <p:spPr/>
        <p:txBody>
          <a:bodyPr/>
          <a:lstStyle/>
          <a:p>
            <a:fld id="{D5D0E0BB-C5BC-4E94-AD2F-C01416FBA9AF}" type="slidenum">
              <a:t>‹#›</a:t>
            </a:fld>
            <a:endParaRPr/>
          </a:p>
        </p:txBody>
      </p:sp>
      <p:pic>
        <p:nvPicPr>
          <p:cNvPr id="16" name="Picture 2"/>
          <p:cNvPicPr>
            <a:picLocks noChangeAspect="1"/>
          </p:cNvPicPr>
          <p:nvPr/>
        </p:nvPicPr>
        <p:blipFill>
          <a:blip r:embed="rId2"/>
          <a:srcRect/>
          <a:stretch>
            <a:fillRect/>
          </a:stretch>
        </p:blipFill>
        <p:spPr>
          <a:xfrm>
            <a:off x="418010" y="6356350"/>
            <a:ext cx="3238500" cy="37147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40F9-EE47-45E2-8D69-BAF4AF6983A3}"/>
              </a:ext>
            </a:extLst>
          </p:cNvPr>
          <p:cNvSpPr>
            <a:spLocks noGrp="1"/>
          </p:cNvSpPr>
          <p:nvPr>
            <p:ph type="ctrTitle"/>
          </p:nvPr>
        </p:nvSpPr>
        <p:spPr>
          <a:xfrm>
            <a:off x="613457" y="1122363"/>
            <a:ext cx="10949651" cy="2387600"/>
          </a:xfrm>
        </p:spPr>
        <p:txBody>
          <a:bodyPr anchor="b"/>
          <a:lstStyle>
            <a:lvl1pPr algn="ctr">
              <a:buNone/>
              <a:defRPr sz="6000">
                <a:solidFill>
                  <a:srgbClr val="24323E"/>
                </a:solidFill>
                <a:latin typeface="Times New Roman"/>
                <a:ea typeface="Times New Roman"/>
                <a:cs typeface="Times New Roman"/>
              </a:defRPr>
            </a:lvl1pPr>
          </a:lstStyle>
          <a:p>
            <a:r>
              <a:t>Click to edit Master title style</a:t>
            </a:r>
          </a:p>
        </p:txBody>
      </p:sp>
      <p:sp>
        <p:nvSpPr>
          <p:cNvPr id="3" name="Subtitle 2">
            <a:extLst>
              <a:ext uri="{FF2B5EF4-FFF2-40B4-BE49-F238E27FC236}">
                <a16:creationId xmlns:a16="http://schemas.microsoft.com/office/drawing/2014/main" id="{4B1D7E23-A2CC-4BCA-9340-2D6BBC6A756A}"/>
              </a:ext>
            </a:extLst>
          </p:cNvPr>
          <p:cNvSpPr>
            <a:spLocks noGrp="1"/>
          </p:cNvSpPr>
          <p:nvPr>
            <p:ph type="subTitle" idx="1"/>
          </p:nvPr>
        </p:nvSpPr>
        <p:spPr>
          <a:xfrm>
            <a:off x="613457" y="3602038"/>
            <a:ext cx="10949651" cy="1655762"/>
          </a:xfrm>
        </p:spPr>
        <p:txBody>
          <a:bodyPr/>
          <a:lstStyle>
            <a:lvl1pPr marL="0" indent="0" algn="ctr">
              <a:buNone/>
              <a:defRPr sz="2400">
                <a:latin typeface="Times New Roman"/>
                <a:ea typeface="Times New Roman"/>
                <a:cs typeface="Times New Roma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AB521367-D5A3-4D5E-9576-BA2DD8787969}"/>
              </a:ext>
            </a:extLst>
          </p:cNvPr>
          <p:cNvSpPr>
            <a:spLocks noGrp="1"/>
          </p:cNvSpPr>
          <p:nvPr>
            <p:ph type="dt" idx="10"/>
          </p:nvPr>
        </p:nvSpPr>
        <p:spPr/>
        <p:txBody>
          <a:bodyPr/>
          <a:lstStyle/>
          <a:p>
            <a:fld id="{507A6976-490E-4B03-A9C3-CCC3E2FE72FE}" type="datetimeFigureOut">
              <a:t>9/27/26</a:t>
            </a:fld>
            <a:endParaRPr/>
          </a:p>
        </p:txBody>
      </p:sp>
      <p:sp>
        <p:nvSpPr>
          <p:cNvPr id="8" name="Rectangle 7">
            <a:extLst>
              <a:ext uri="{FF2B5EF4-FFF2-40B4-BE49-F238E27FC236}">
                <a16:creationId xmlns:a16="http://schemas.microsoft.com/office/drawing/2014/main" id="{4C8F91D3-C175-4E31-94F8-8954545A1943}"/>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4" name="Picture 2"/>
          <p:cNvPicPr>
            <a:picLocks noChangeAspect="1"/>
          </p:cNvPicPr>
          <p:nvPr/>
        </p:nvPicPr>
        <p:blipFill>
          <a:blip r:embed="rId2"/>
          <a:srcRect/>
          <a:stretch>
            <a:fillRect/>
          </a:stretch>
        </p:blipFill>
        <p:spPr>
          <a:xfrm>
            <a:off x="8374463" y="6356350"/>
            <a:ext cx="3238500" cy="37147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8A6A8-583C-4B61-8542-D7C3862AEDAC}"/>
              </a:ext>
            </a:extLst>
          </p:cNvPr>
          <p:cNvSpPr>
            <a:spLocks noGrp="1"/>
          </p:cNvSpPr>
          <p:nvPr>
            <p:ph type="title"/>
          </p:nvPr>
        </p:nvSpPr>
        <p:spPr>
          <a:xfrm>
            <a:off x="425802" y="365126"/>
            <a:ext cx="10269206" cy="568264"/>
          </a:xfrm>
        </p:spPr>
        <p:txBody>
          <a:bodyPr/>
          <a:lstStyle>
            <a:lvl1pPr>
              <a:buNone/>
              <a:defRPr>
                <a:solidFill>
                  <a:srgbClr val="24323E"/>
                </a:solidFill>
                <a:latin typeface="Times New Roman"/>
                <a:ea typeface="Times New Roman"/>
                <a:cs typeface="Times New Roman"/>
              </a:defRPr>
            </a:lvl1pPr>
          </a:lstStyle>
          <a:p>
            <a:r>
              <a:t>Click to edit Master title style</a:t>
            </a:r>
          </a:p>
        </p:txBody>
      </p:sp>
      <p:sp>
        <p:nvSpPr>
          <p:cNvPr id="3" name="Content Placeholder 2">
            <a:extLst>
              <a:ext uri="{FF2B5EF4-FFF2-40B4-BE49-F238E27FC236}">
                <a16:creationId xmlns:a16="http://schemas.microsoft.com/office/drawing/2014/main" id="{BCA15F41-01A7-4EFA-A30D-6156DE46DB72}"/>
              </a:ext>
            </a:extLst>
          </p:cNvPr>
          <p:cNvSpPr>
            <a:spLocks noGrp="1"/>
          </p:cNvSpPr>
          <p:nvPr>
            <p:ph idx="1"/>
          </p:nvPr>
        </p:nvSpPr>
        <p:spPr>
          <a:xfrm>
            <a:off x="425802" y="1551008"/>
            <a:ext cx="11178526" cy="4625955"/>
          </a:xfrm>
        </p:spPr>
        <p:txBody>
          <a:bodyPr/>
          <a:lstStyle>
            <a:lvl1pPr marL="228600" indent="-228600">
              <a:buClr>
                <a:srgbClr val="24323E"/>
              </a:buClr>
              <a:buFont typeface="Wingdings"/>
              <a:buChar char="§"/>
              <a:defRPr>
                <a:solidFill>
                  <a:srgbClr val="24323E"/>
                </a:solidFill>
                <a:latin typeface="Times New Roman"/>
                <a:ea typeface="Times New Roman"/>
                <a:cs typeface="Times New Roman"/>
              </a:defRPr>
            </a:lvl1pPr>
            <a:lvl2pPr marL="685800" indent="-228600">
              <a:buClr>
                <a:srgbClr val="F67132"/>
              </a:buClr>
              <a:buFont typeface="Wingdings"/>
              <a:buChar char="§"/>
              <a:defRPr>
                <a:solidFill>
                  <a:srgbClr val="24323E"/>
                </a:solidFill>
                <a:latin typeface="Times New Roman"/>
                <a:ea typeface="Times New Roman"/>
                <a:cs typeface="Times New Roman"/>
              </a:defRPr>
            </a:lvl2pPr>
            <a:lvl3pPr marL="1143000" indent="-228600">
              <a:buClr>
                <a:srgbClr val="24323E"/>
              </a:buClr>
              <a:buFont typeface="Wingdings"/>
              <a:buChar char="§"/>
              <a:defRPr>
                <a:solidFill>
                  <a:srgbClr val="24323E"/>
                </a:solidFill>
                <a:latin typeface="Times New Roman"/>
                <a:ea typeface="Times New Roman"/>
                <a:cs typeface="Times New Roman"/>
              </a:defRPr>
            </a:lvl3pPr>
            <a:lvl4pPr marL="1600200" indent="-228600">
              <a:buClr>
                <a:srgbClr val="F67132"/>
              </a:buClr>
              <a:buFont typeface="Wingdings"/>
              <a:buChar char="§"/>
              <a:defRPr>
                <a:solidFill>
                  <a:srgbClr val="24323E"/>
                </a:solidFill>
                <a:latin typeface="Times New Roman"/>
                <a:ea typeface="Times New Roman"/>
                <a:cs typeface="Times New Roman"/>
              </a:defRPr>
            </a:lvl4pPr>
            <a:lvl5pPr marL="2057400" indent="-228600">
              <a:buClr>
                <a:srgbClr val="24323E"/>
              </a:buClr>
              <a:buFont typeface="Wingdings"/>
              <a:buChar char="§"/>
              <a:defRPr>
                <a:solidFill>
                  <a:srgbClr val="24323E"/>
                </a:solidFill>
                <a:latin typeface="Times New Roman"/>
                <a:ea typeface="Times New Roman"/>
                <a:cs typeface="Times New Roman"/>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DE138A0-9F3C-4D4E-A5BB-5DB1CA18D5A6}"/>
              </a:ext>
            </a:extLst>
          </p:cNvPr>
          <p:cNvSpPr>
            <a:spLocks noGrp="1"/>
          </p:cNvSpPr>
          <p:nvPr>
            <p:ph type="dt" idx="10"/>
          </p:nvPr>
        </p:nvSpPr>
        <p:spPr/>
        <p:txBody>
          <a:bodyPr/>
          <a:lstStyle/>
          <a:p>
            <a:fld id="{507A6976-490E-4B03-A9C3-CCC3E2FE72FE}" type="datetimeFigureOut">
              <a:t>9/27/26</a:t>
            </a:fld>
            <a:endParaRPr/>
          </a:p>
        </p:txBody>
      </p:sp>
      <p:sp>
        <p:nvSpPr>
          <p:cNvPr id="5" name="Footer Placeholder 4">
            <a:extLst>
              <a:ext uri="{FF2B5EF4-FFF2-40B4-BE49-F238E27FC236}">
                <a16:creationId xmlns:a16="http://schemas.microsoft.com/office/drawing/2014/main" id="{92CBD177-DEE3-487E-963D-9D8E870EE434}"/>
              </a:ext>
            </a:extLst>
          </p:cNvPr>
          <p:cNvSpPr>
            <a:spLocks noGrp="1"/>
          </p:cNvSpPr>
          <p:nvPr>
            <p:ph type="ftr" idx="11"/>
          </p:nvPr>
        </p:nvSpPr>
        <p:spPr/>
        <p:txBody>
          <a:bodyPr/>
          <a:lstStyle/>
          <a:p>
            <a:endParaRPr/>
          </a:p>
        </p:txBody>
      </p:sp>
      <p:sp>
        <p:nvSpPr>
          <p:cNvPr id="8" name="Rectangle 7">
            <a:extLst>
              <a:ext uri="{FF2B5EF4-FFF2-40B4-BE49-F238E27FC236}">
                <a16:creationId xmlns:a16="http://schemas.microsoft.com/office/drawing/2014/main" id="{D05E8E3F-21E7-4D82-AF2E-88E4CEF77843}"/>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Slide Number Placeholder 5">
            <a:extLst>
              <a:ext uri="{FF2B5EF4-FFF2-40B4-BE49-F238E27FC236}">
                <a16:creationId xmlns:a16="http://schemas.microsoft.com/office/drawing/2014/main" id="{AAC36415-0399-430F-A5BD-465C7170F859}"/>
              </a:ext>
            </a:extLst>
          </p:cNvPr>
          <p:cNvSpPr>
            <a:spLocks noGrp="1"/>
          </p:cNvSpPr>
          <p:nvPr>
            <p:ph type="sldNum" idx="12"/>
          </p:nvPr>
        </p:nvSpPr>
        <p:spPr/>
        <p:txBody>
          <a:bodyPr/>
          <a:lstStyle/>
          <a:p>
            <a:fld id="{D5D0E0BB-C5BC-4E94-AD2F-C01416FBA9AF}" type="slidenum">
              <a:t>‹#›</a:t>
            </a:fld>
            <a:endParaRPr/>
          </a:p>
        </p:txBody>
      </p:sp>
      <p:sp>
        <p:nvSpPr>
          <p:cNvPr id="7" name="Rectangle 6">
            <a:extLst>
              <a:ext uri="{FF2B5EF4-FFF2-40B4-BE49-F238E27FC236}">
                <a16:creationId xmlns:a16="http://schemas.microsoft.com/office/drawing/2014/main" id="{A04CB88B-2595-4D36-8F78-87400EF726A3}"/>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0"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1" name="Picture 12"/>
          <p:cNvPicPr>
            <a:picLocks noChangeAspect="1"/>
          </p:cNvPicPr>
          <p:nvPr/>
        </p:nvPicPr>
        <p:blipFill>
          <a:blip r:embed="rId3"/>
          <a:stretch>
            <a:fillRect/>
          </a:stretch>
        </p:blipFill>
        <p:spPr>
          <a:xfrm>
            <a:off x="8632729" y="6356350"/>
            <a:ext cx="3113396" cy="397339"/>
          </a:xfrm>
          <a:prstGeom prst="rect">
            <a:avLst/>
          </a:prstGeom>
        </p:spPr>
      </p:pic>
      <p:sp>
        <p:nvSpPr>
          <p:cNvPr id="19" name="Text Placeholder 1">
            <a:extLst>
              <a:ext uri="{FF2B5EF4-FFF2-40B4-BE49-F238E27FC236}">
                <a16:creationId xmlns:a16="http://schemas.microsoft.com/office/drawing/2014/main" id="{9E59CDD5-C42A-49A7-B529-8E24FDD70315}"/>
              </a:ext>
            </a:extLst>
          </p:cNvPr>
          <p:cNvSpPr>
            <a:spLocks noGrp="1"/>
          </p:cNvSpPr>
          <p:nvPr>
            <p:ph type="body" idx="13"/>
          </p:nvPr>
        </p:nvSpPr>
        <p:spPr>
          <a:xfrm>
            <a:off x="426424" y="939739"/>
            <a:ext cx="10268584" cy="369332"/>
          </a:xfrm>
        </p:spPr>
        <p:txBody>
          <a:bodyPr/>
          <a:lstStyle>
            <a:lvl1pPr marL="0" indent="0">
              <a:buFontTx/>
              <a:buNone/>
              <a:defRPr>
                <a:solidFill>
                  <a:srgbClr val="24323E"/>
                </a:solidFill>
                <a:latin typeface="Times New Roman"/>
                <a:ea typeface="Times New Roman"/>
                <a:cs typeface="Times New Roman"/>
              </a:defRPr>
            </a:lvl1pPr>
          </a:lstStyle>
          <a:p>
            <a:r>
              <a:rPr sz="2400"/>
              <a:t>Full DevOps Capability for Machine Learning Development &amp; Operationalization</a:t>
            </a:r>
          </a:p>
        </p:txBody>
      </p:sp>
      <p:sp>
        <p:nvSpPr>
          <p:cNvPr id="18" name="Oval 17">
            <a:extLst>
              <a:ext uri="{FF2B5EF4-FFF2-40B4-BE49-F238E27FC236}">
                <a16:creationId xmlns:a16="http://schemas.microsoft.com/office/drawing/2014/main" id="{90CA6DF7-67F2-4590-8C5E-D082420E6F59}"/>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4"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E9843-407A-43C4-8943-ECDF4278F11F}"/>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751746FA-46B8-40D1-87A2-85412956CF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8BB9FEF9-D3D1-4020-A429-5BE1AE937B6A}"/>
              </a:ext>
            </a:extLst>
          </p:cNvPr>
          <p:cNvSpPr>
            <a:spLocks noGrp="1"/>
          </p:cNvSpPr>
          <p:nvPr>
            <p:ph type="dt" idx="10"/>
          </p:nvPr>
        </p:nvSpPr>
        <p:spPr/>
        <p:txBody>
          <a:bodyPr/>
          <a:lstStyle/>
          <a:p>
            <a:fld id="{507A6976-490E-4B03-A9C3-CCC3E2FE72FE}" type="datetimeFigureOut">
              <a:t>9/27/26</a:t>
            </a:fld>
            <a:endParaRPr/>
          </a:p>
        </p:txBody>
      </p:sp>
      <p:sp>
        <p:nvSpPr>
          <p:cNvPr id="5" name="Footer Placeholder 4">
            <a:extLst>
              <a:ext uri="{FF2B5EF4-FFF2-40B4-BE49-F238E27FC236}">
                <a16:creationId xmlns:a16="http://schemas.microsoft.com/office/drawing/2014/main" id="{FE8D5D15-1BF4-49C1-8A7A-416D917E596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C98E9D6-4AB0-4D21-812F-CF16AF25C91E}"/>
              </a:ext>
            </a:extLst>
          </p:cNvPr>
          <p:cNvSpPr>
            <a:spLocks noGrp="1"/>
          </p:cNvSpPr>
          <p:nvPr>
            <p:ph type="sldNum" idx="12"/>
          </p:nvPr>
        </p:nvSpPr>
        <p:spPr/>
        <p:txBody>
          <a:bodyPr/>
          <a:lstStyle/>
          <a:p>
            <a:fld id="{D5D0E0BB-C5BC-4E94-AD2F-C01416FBA9AF}" type="slidenum">
              <a:t>‹#›</a:t>
            </a:fld>
            <a:endParaRPr/>
          </a:p>
        </p:txBody>
      </p:sp>
      <p:sp>
        <p:nvSpPr>
          <p:cNvPr id="7" name="Date Placeholder 3">
            <a:extLst>
              <a:ext uri="{FF2B5EF4-FFF2-40B4-BE49-F238E27FC236}">
                <a16:creationId xmlns:a16="http://schemas.microsoft.com/office/drawing/2014/main" id="{39EC3E30-8BF2-4EDC-A69F-038FADBE04F4}"/>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9/27/26</a:t>
            </a:fld>
            <a:endParaRPr/>
          </a:p>
        </p:txBody>
      </p:sp>
      <p:sp>
        <p:nvSpPr>
          <p:cNvPr id="8" name="Rectangle 7">
            <a:extLst>
              <a:ext uri="{FF2B5EF4-FFF2-40B4-BE49-F238E27FC236}">
                <a16:creationId xmlns:a16="http://schemas.microsoft.com/office/drawing/2014/main" id="{829C2C60-7F8D-41AB-904C-3EC1F25F1425}"/>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Slide Number Placeholder 5">
            <a:extLst>
              <a:ext uri="{FF2B5EF4-FFF2-40B4-BE49-F238E27FC236}">
                <a16:creationId xmlns:a16="http://schemas.microsoft.com/office/drawing/2014/main" id="{605D592E-7C96-4AEC-BC7C-8597269C8522}"/>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0" name="Rectangle 9">
            <a:extLst>
              <a:ext uri="{FF2B5EF4-FFF2-40B4-BE49-F238E27FC236}">
                <a16:creationId xmlns:a16="http://schemas.microsoft.com/office/drawing/2014/main" id="{695CC881-5C33-44B1-805F-2F580197382A}"/>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7"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28" name="Picture 11"/>
          <p:cNvPicPr>
            <a:picLocks noChangeAspect="1"/>
          </p:cNvPicPr>
          <p:nvPr/>
        </p:nvPicPr>
        <p:blipFill>
          <a:blip r:embed="rId3"/>
          <a:stretch>
            <a:fillRect/>
          </a:stretch>
        </p:blipFill>
        <p:spPr>
          <a:xfrm>
            <a:off x="8632729" y="6356350"/>
            <a:ext cx="3113396" cy="397339"/>
          </a:xfrm>
          <a:prstGeom prst="rect">
            <a:avLst/>
          </a:prstGeom>
        </p:spPr>
      </p:pic>
      <p:sp>
        <p:nvSpPr>
          <p:cNvPr id="14" name="Oval 13">
            <a:extLst>
              <a:ext uri="{FF2B5EF4-FFF2-40B4-BE49-F238E27FC236}">
                <a16:creationId xmlns:a16="http://schemas.microsoft.com/office/drawing/2014/main" id="{5049CD17-31D1-4801-9664-ED1B9C685CDC}"/>
              </a:ext>
            </a:extLst>
          </p:cNvPr>
          <p:cNvSpPr>
            <a:spLocks noGrp="1"/>
          </p:cNvSpPr>
          <p:nvPr/>
        </p:nvSpPr>
        <p:spPr>
          <a:xfrm>
            <a:off x="11076976" y="377318"/>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0" name="Picture 10"/>
          <p:cNvPicPr>
            <a:picLocks noChangeAspect="1"/>
          </p:cNvPicPr>
          <p:nvPr/>
        </p:nvPicPr>
        <p:blipFill rotWithShape="1">
          <a:blip r:embed="rId4"/>
          <a:srcRect r="62081" b="-3750"/>
          <a:stretch/>
        </p:blipFill>
        <p:spPr>
          <a:xfrm>
            <a:off x="11162074" y="526743"/>
            <a:ext cx="812647" cy="64233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792C1B-E274-4C74-8A5D-D8845646259C}"/>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9D5BE9BE-0665-4DCE-A748-AE68B5E0A3D5}"/>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7F1F7F03-C309-43EB-9987-F81D6D20C085}"/>
              </a:ext>
            </a:extLst>
          </p:cNvPr>
          <p:cNvSpPr>
            <a:spLocks noGrp="1"/>
          </p:cNvSpPr>
          <p:nvPr>
            <p:ph type="dt" idx="10"/>
          </p:nvPr>
        </p:nvSpPr>
        <p:spPr/>
        <p:txBody>
          <a:bodyPr/>
          <a:lstStyle/>
          <a:p>
            <a:fld id="{507A6976-490E-4B03-A9C3-CCC3E2FE72FE}" type="datetimeFigureOut">
              <a:t>9/27/26</a:t>
            </a:fld>
            <a:endParaRPr/>
          </a:p>
        </p:txBody>
      </p:sp>
      <p:sp>
        <p:nvSpPr>
          <p:cNvPr id="6" name="Footer Placeholder 5">
            <a:extLst>
              <a:ext uri="{FF2B5EF4-FFF2-40B4-BE49-F238E27FC236}">
                <a16:creationId xmlns:a16="http://schemas.microsoft.com/office/drawing/2014/main" id="{788CB655-6BAB-4C80-9E6D-7AB4B6F3CC4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C0512FCB-42C4-443A-B165-E55BFEB58486}"/>
              </a:ext>
            </a:extLst>
          </p:cNvPr>
          <p:cNvSpPr>
            <a:spLocks noGrp="1"/>
          </p:cNvSpPr>
          <p:nvPr>
            <p:ph type="sldNum" idx="12"/>
          </p:nvPr>
        </p:nvSpPr>
        <p:spPr/>
        <p:txBody>
          <a:bodyPr/>
          <a:lstStyle/>
          <a:p>
            <a:fld id="{D5D0E0BB-C5BC-4E94-AD2F-C01416FBA9AF}" type="slidenum">
              <a:t>‹#›</a:t>
            </a:fld>
            <a:endParaRPr/>
          </a:p>
        </p:txBody>
      </p:sp>
      <p:sp>
        <p:nvSpPr>
          <p:cNvPr id="8" name="Date Placeholder 3">
            <a:extLst>
              <a:ext uri="{FF2B5EF4-FFF2-40B4-BE49-F238E27FC236}">
                <a16:creationId xmlns:a16="http://schemas.microsoft.com/office/drawing/2014/main" id="{85064EE2-38C1-45C1-B913-7210E0504085}"/>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9/27/26</a:t>
            </a:fld>
            <a:endParaRPr/>
          </a:p>
        </p:txBody>
      </p:sp>
      <p:sp>
        <p:nvSpPr>
          <p:cNvPr id="9" name="Rectangle 8">
            <a:extLst>
              <a:ext uri="{FF2B5EF4-FFF2-40B4-BE49-F238E27FC236}">
                <a16:creationId xmlns:a16="http://schemas.microsoft.com/office/drawing/2014/main" id="{4B69941A-AE8B-48D6-BC41-092F90C7EDFF}"/>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Slide Number Placeholder 5">
            <a:extLst>
              <a:ext uri="{FF2B5EF4-FFF2-40B4-BE49-F238E27FC236}">
                <a16:creationId xmlns:a16="http://schemas.microsoft.com/office/drawing/2014/main" id="{5EDBD34F-3EA6-4631-95FB-C7ABE8356313}"/>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1" name="Rectangle 10">
            <a:extLst>
              <a:ext uri="{FF2B5EF4-FFF2-40B4-BE49-F238E27FC236}">
                <a16:creationId xmlns:a16="http://schemas.microsoft.com/office/drawing/2014/main" id="{BCB19452-6632-4D41-9309-9BCB6C3758AF}"/>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2"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3" name="Picture 12"/>
          <p:cNvPicPr>
            <a:picLocks noChangeAspect="1"/>
          </p:cNvPicPr>
          <p:nvPr/>
        </p:nvPicPr>
        <p:blipFill>
          <a:blip r:embed="rId3"/>
          <a:stretch>
            <a:fillRect/>
          </a:stretch>
        </p:blipFill>
        <p:spPr>
          <a:xfrm>
            <a:off x="8632729" y="6356350"/>
            <a:ext cx="3113396" cy="397339"/>
          </a:xfrm>
          <a:prstGeom prst="rect">
            <a:avLst/>
          </a:prstGeom>
        </p:spPr>
      </p:pic>
      <p:sp>
        <p:nvSpPr>
          <p:cNvPr id="17" name="Title 1">
            <a:extLst>
              <a:ext uri="{FF2B5EF4-FFF2-40B4-BE49-F238E27FC236}">
                <a16:creationId xmlns:a16="http://schemas.microsoft.com/office/drawing/2014/main" id="{B56D442A-5B6F-4AE6-AB1B-9E146EB7024E}"/>
              </a:ext>
            </a:extLst>
          </p:cNvPr>
          <p:cNvSpPr>
            <a:spLocks noGrp="1"/>
          </p:cNvSpPr>
          <p:nvPr>
            <p:ph type="title"/>
          </p:nvPr>
        </p:nvSpPr>
        <p:spPr>
          <a:xfrm>
            <a:off x="425802" y="365126"/>
            <a:ext cx="10269206" cy="568264"/>
          </a:xfrm>
        </p:spPr>
        <p:txBody>
          <a:bodyPr/>
          <a:lstStyle>
            <a:lvl1pPr>
              <a:buNone/>
              <a:defRPr>
                <a:solidFill>
                  <a:srgbClr val="24323E"/>
                </a:solidFill>
                <a:latin typeface="Times New Roman"/>
                <a:ea typeface="Times New Roman"/>
                <a:cs typeface="Times New Roman"/>
              </a:defRPr>
            </a:lvl1pPr>
          </a:lstStyle>
          <a:p>
            <a:r>
              <a:t>Click to edit Master title style</a:t>
            </a:r>
          </a:p>
        </p:txBody>
      </p:sp>
      <p:sp>
        <p:nvSpPr>
          <p:cNvPr id="19" name="Oval 18">
            <a:extLst>
              <a:ext uri="{FF2B5EF4-FFF2-40B4-BE49-F238E27FC236}">
                <a16:creationId xmlns:a16="http://schemas.microsoft.com/office/drawing/2014/main" id="{750E0DDE-09DC-4068-BB45-BA6E627017FD}"/>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6"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C0147A-A342-4D7A-A25A-B963012144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97B0977B-26B0-4D55-9C6F-9BDB92C12BD7}"/>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23514942-0798-489E-9803-EB3E32134083}"/>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C04096F4-02D1-411E-B6DD-51BA3FAF6500}"/>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55BFD05A-651E-4DDA-9264-6927716D281F}"/>
              </a:ext>
            </a:extLst>
          </p:cNvPr>
          <p:cNvSpPr>
            <a:spLocks noGrp="1"/>
          </p:cNvSpPr>
          <p:nvPr>
            <p:ph type="dt" idx="10"/>
          </p:nvPr>
        </p:nvSpPr>
        <p:spPr/>
        <p:txBody>
          <a:bodyPr/>
          <a:lstStyle/>
          <a:p>
            <a:fld id="{507A6976-490E-4B03-A9C3-CCC3E2FE72FE}" type="datetimeFigureOut">
              <a:t>9/27/26</a:t>
            </a:fld>
            <a:endParaRPr/>
          </a:p>
        </p:txBody>
      </p:sp>
      <p:sp>
        <p:nvSpPr>
          <p:cNvPr id="8" name="Footer Placeholder 7">
            <a:extLst>
              <a:ext uri="{FF2B5EF4-FFF2-40B4-BE49-F238E27FC236}">
                <a16:creationId xmlns:a16="http://schemas.microsoft.com/office/drawing/2014/main" id="{4464FEC5-13F6-45CA-B72A-E436454517A7}"/>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AA964271-A320-48D6-9C89-EBBAC019F2AC}"/>
              </a:ext>
            </a:extLst>
          </p:cNvPr>
          <p:cNvSpPr>
            <a:spLocks noGrp="1"/>
          </p:cNvSpPr>
          <p:nvPr>
            <p:ph type="sldNum" idx="12"/>
          </p:nvPr>
        </p:nvSpPr>
        <p:spPr/>
        <p:txBody>
          <a:bodyPr/>
          <a:lstStyle/>
          <a:p>
            <a:fld id="{D5D0E0BB-C5BC-4E94-AD2F-C01416FBA9AF}" type="slidenum">
              <a:t>‹#›</a:t>
            </a:fld>
            <a:endParaRPr/>
          </a:p>
        </p:txBody>
      </p:sp>
      <p:sp>
        <p:nvSpPr>
          <p:cNvPr id="10" name="Date Placeholder 3">
            <a:extLst>
              <a:ext uri="{FF2B5EF4-FFF2-40B4-BE49-F238E27FC236}">
                <a16:creationId xmlns:a16="http://schemas.microsoft.com/office/drawing/2014/main" id="{31A71450-5691-476E-AA79-B29C74D17114}"/>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9/27/26</a:t>
            </a:fld>
            <a:endParaRPr/>
          </a:p>
        </p:txBody>
      </p:sp>
      <p:sp>
        <p:nvSpPr>
          <p:cNvPr id="11" name="Rectangle 10">
            <a:extLst>
              <a:ext uri="{FF2B5EF4-FFF2-40B4-BE49-F238E27FC236}">
                <a16:creationId xmlns:a16="http://schemas.microsoft.com/office/drawing/2014/main" id="{06295C27-5AA0-4C19-8FB4-77E5A2F860EB}"/>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Slide Number Placeholder 5">
            <a:extLst>
              <a:ext uri="{FF2B5EF4-FFF2-40B4-BE49-F238E27FC236}">
                <a16:creationId xmlns:a16="http://schemas.microsoft.com/office/drawing/2014/main" id="{A9DDD66B-75FE-469E-9AC1-596F40ADCE9D}"/>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3" name="Rectangle 12">
            <a:extLst>
              <a:ext uri="{FF2B5EF4-FFF2-40B4-BE49-F238E27FC236}">
                <a16:creationId xmlns:a16="http://schemas.microsoft.com/office/drawing/2014/main" id="{D8FA27D3-9F6B-4ED3-BB0C-CA5F61ED2350}"/>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6"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7" name="Picture 14"/>
          <p:cNvPicPr>
            <a:picLocks noChangeAspect="1"/>
          </p:cNvPicPr>
          <p:nvPr/>
        </p:nvPicPr>
        <p:blipFill>
          <a:blip r:embed="rId3"/>
          <a:stretch>
            <a:fillRect/>
          </a:stretch>
        </p:blipFill>
        <p:spPr>
          <a:xfrm>
            <a:off x="8632729" y="6356350"/>
            <a:ext cx="3113396" cy="397339"/>
          </a:xfrm>
          <a:prstGeom prst="rect">
            <a:avLst/>
          </a:prstGeom>
        </p:spPr>
      </p:pic>
      <p:sp>
        <p:nvSpPr>
          <p:cNvPr id="19" name="Title 1">
            <a:extLst>
              <a:ext uri="{FF2B5EF4-FFF2-40B4-BE49-F238E27FC236}">
                <a16:creationId xmlns:a16="http://schemas.microsoft.com/office/drawing/2014/main" id="{389D66B7-190D-45DE-8402-B0D014A7D9B9}"/>
              </a:ext>
            </a:extLst>
          </p:cNvPr>
          <p:cNvSpPr>
            <a:spLocks noGrp="1"/>
          </p:cNvSpPr>
          <p:nvPr>
            <p:ph type="title"/>
          </p:nvPr>
        </p:nvSpPr>
        <p:spPr>
          <a:xfrm>
            <a:off x="425802" y="365126"/>
            <a:ext cx="10269206" cy="568264"/>
          </a:xfrm>
        </p:spPr>
        <p:txBody>
          <a:bodyPr/>
          <a:lstStyle>
            <a:lvl1pPr>
              <a:buNone/>
              <a:defRPr>
                <a:solidFill>
                  <a:srgbClr val="24323E"/>
                </a:solidFill>
                <a:latin typeface="Times New Roman"/>
                <a:ea typeface="Times New Roman"/>
                <a:cs typeface="Times New Roman"/>
              </a:defRPr>
            </a:lvl1pPr>
          </a:lstStyle>
          <a:p>
            <a:r>
              <a:t>Click to edit Master title style</a:t>
            </a:r>
          </a:p>
        </p:txBody>
      </p:sp>
      <p:sp>
        <p:nvSpPr>
          <p:cNvPr id="21" name="Oval 20">
            <a:extLst>
              <a:ext uri="{FF2B5EF4-FFF2-40B4-BE49-F238E27FC236}">
                <a16:creationId xmlns:a16="http://schemas.microsoft.com/office/drawing/2014/main" id="{EBD50D10-3A04-4F7E-BCDC-6A340234FE10}"/>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40"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D0C2993-1DD0-4AF3-9263-0787DA4AD704}"/>
              </a:ext>
            </a:extLst>
          </p:cNvPr>
          <p:cNvSpPr>
            <a:spLocks noGrp="1"/>
          </p:cNvSpPr>
          <p:nvPr>
            <p:ph type="dt" idx="10"/>
          </p:nvPr>
        </p:nvSpPr>
        <p:spPr/>
        <p:txBody>
          <a:bodyPr/>
          <a:lstStyle/>
          <a:p>
            <a:fld id="{507A6976-490E-4B03-A9C3-CCC3E2FE72FE}" type="datetimeFigureOut">
              <a:t>9/27/26</a:t>
            </a:fld>
            <a:endParaRPr/>
          </a:p>
        </p:txBody>
      </p:sp>
      <p:sp>
        <p:nvSpPr>
          <p:cNvPr id="4" name="Footer Placeholder 3">
            <a:extLst>
              <a:ext uri="{FF2B5EF4-FFF2-40B4-BE49-F238E27FC236}">
                <a16:creationId xmlns:a16="http://schemas.microsoft.com/office/drawing/2014/main" id="{BD4E353D-8B96-4301-A5EA-AD77E2EBA3B4}"/>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6BB16D0-E6B6-4A0B-AA3C-82E249A56AA3}"/>
              </a:ext>
            </a:extLst>
          </p:cNvPr>
          <p:cNvSpPr>
            <a:spLocks noGrp="1"/>
          </p:cNvSpPr>
          <p:nvPr>
            <p:ph type="sldNum" idx="12"/>
          </p:nvPr>
        </p:nvSpPr>
        <p:spPr/>
        <p:txBody>
          <a:bodyPr/>
          <a:lstStyle/>
          <a:p>
            <a:fld id="{D5D0E0BB-C5BC-4E94-AD2F-C01416FBA9AF}" type="slidenum">
              <a:t>‹#›</a:t>
            </a:fld>
            <a:endParaRPr/>
          </a:p>
        </p:txBody>
      </p:sp>
      <p:sp>
        <p:nvSpPr>
          <p:cNvPr id="6" name="Date Placeholder 3">
            <a:extLst>
              <a:ext uri="{FF2B5EF4-FFF2-40B4-BE49-F238E27FC236}">
                <a16:creationId xmlns:a16="http://schemas.microsoft.com/office/drawing/2014/main" id="{582A38BB-2887-4FD9-86AB-3CB9E7DBEC04}"/>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9/27/26</a:t>
            </a:fld>
            <a:endParaRPr/>
          </a:p>
        </p:txBody>
      </p:sp>
      <p:sp>
        <p:nvSpPr>
          <p:cNvPr id="7" name="Rectangle 6">
            <a:extLst>
              <a:ext uri="{FF2B5EF4-FFF2-40B4-BE49-F238E27FC236}">
                <a16:creationId xmlns:a16="http://schemas.microsoft.com/office/drawing/2014/main" id="{B3CCC56E-2CD0-475A-BB93-F15521069102}"/>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Slide Number Placeholder 5">
            <a:extLst>
              <a:ext uri="{FF2B5EF4-FFF2-40B4-BE49-F238E27FC236}">
                <a16:creationId xmlns:a16="http://schemas.microsoft.com/office/drawing/2014/main" id="{DDC88B74-23A8-45A2-9583-9D8AECF9E8B2}"/>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9" name="Rectangle 8">
            <a:extLst>
              <a:ext uri="{FF2B5EF4-FFF2-40B4-BE49-F238E27FC236}">
                <a16:creationId xmlns:a16="http://schemas.microsoft.com/office/drawing/2014/main" id="{2EC26BE1-B69C-47D5-989E-551682669618}"/>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8"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29" name="Picture 10"/>
          <p:cNvPicPr>
            <a:picLocks noChangeAspect="1"/>
          </p:cNvPicPr>
          <p:nvPr/>
        </p:nvPicPr>
        <p:blipFill>
          <a:blip r:embed="rId3"/>
          <a:stretch>
            <a:fillRect/>
          </a:stretch>
        </p:blipFill>
        <p:spPr>
          <a:xfrm>
            <a:off x="8632729" y="6356350"/>
            <a:ext cx="3113396" cy="397339"/>
          </a:xfrm>
          <a:prstGeom prst="rect">
            <a:avLst/>
          </a:prstGeom>
        </p:spPr>
      </p:pic>
      <p:sp>
        <p:nvSpPr>
          <p:cNvPr id="15" name="Title 1">
            <a:extLst>
              <a:ext uri="{FF2B5EF4-FFF2-40B4-BE49-F238E27FC236}">
                <a16:creationId xmlns:a16="http://schemas.microsoft.com/office/drawing/2014/main" id="{4202D947-59FE-4D6C-AB1F-C647D513DC8A}"/>
              </a:ext>
            </a:extLst>
          </p:cNvPr>
          <p:cNvSpPr>
            <a:spLocks noGrp="1"/>
          </p:cNvSpPr>
          <p:nvPr>
            <p:ph type="title"/>
          </p:nvPr>
        </p:nvSpPr>
        <p:spPr>
          <a:xfrm>
            <a:off x="425802" y="365126"/>
            <a:ext cx="10269206" cy="568264"/>
          </a:xfrm>
        </p:spPr>
        <p:txBody>
          <a:bodyPr/>
          <a:lstStyle>
            <a:lvl1pPr>
              <a:buNone/>
              <a:defRPr>
                <a:solidFill>
                  <a:srgbClr val="24323E"/>
                </a:solidFill>
                <a:latin typeface="Times New Roman"/>
                <a:ea typeface="Times New Roman"/>
                <a:cs typeface="Times New Roman"/>
              </a:defRPr>
            </a:lvl1pPr>
          </a:lstStyle>
          <a:p>
            <a:r>
              <a:t>Click to edit Master title style</a:t>
            </a:r>
          </a:p>
        </p:txBody>
      </p:sp>
      <p:sp>
        <p:nvSpPr>
          <p:cNvPr id="17" name="Oval 16">
            <a:extLst>
              <a:ext uri="{FF2B5EF4-FFF2-40B4-BE49-F238E27FC236}">
                <a16:creationId xmlns:a16="http://schemas.microsoft.com/office/drawing/2014/main" id="{8D81744C-3842-48A6-86F7-416904F7029B}"/>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2"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6713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2D5B1-A08B-4A37-8F6C-E327E3141B59}"/>
              </a:ext>
            </a:extLst>
          </p:cNvPr>
          <p:cNvSpPr>
            <a:spLocks noGrp="1"/>
          </p:cNvSpPr>
          <p:nvPr>
            <p:ph type="dt" idx="10"/>
          </p:nvPr>
        </p:nvSpPr>
        <p:spPr/>
        <p:txBody>
          <a:bodyPr/>
          <a:lstStyle/>
          <a:p>
            <a:fld id="{507A6976-490E-4B03-A9C3-CCC3E2FE72FE}" type="datetimeFigureOut">
              <a:t>9/27/26</a:t>
            </a:fld>
            <a:endParaRPr/>
          </a:p>
        </p:txBody>
      </p:sp>
      <p:sp>
        <p:nvSpPr>
          <p:cNvPr id="3" name="Footer Placeholder 2">
            <a:extLst>
              <a:ext uri="{FF2B5EF4-FFF2-40B4-BE49-F238E27FC236}">
                <a16:creationId xmlns:a16="http://schemas.microsoft.com/office/drawing/2014/main" id="{0AD56057-B8CA-4D3A-AA8F-CB1B714B6C2C}"/>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6284B37-92F5-49A4-8F8F-5D88C2D4635B}"/>
              </a:ext>
            </a:extLst>
          </p:cNvPr>
          <p:cNvSpPr>
            <a:spLocks noGrp="1"/>
          </p:cNvSpPr>
          <p:nvPr>
            <p:ph type="sldNum" idx="12"/>
          </p:nvPr>
        </p:nvSpPr>
        <p:spPr/>
        <p:txBody>
          <a:bodyPr/>
          <a:lstStyle/>
          <a:p>
            <a:fld id="{D5D0E0BB-C5BC-4E94-AD2F-C01416FBA9A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24323E"/>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2D5B1-A08B-4A37-8F6C-E327E3141B59}"/>
              </a:ext>
            </a:extLst>
          </p:cNvPr>
          <p:cNvSpPr>
            <a:spLocks noGrp="1"/>
          </p:cNvSpPr>
          <p:nvPr>
            <p:ph type="dt" idx="10"/>
          </p:nvPr>
        </p:nvSpPr>
        <p:spPr/>
        <p:txBody>
          <a:bodyPr/>
          <a:lstStyle/>
          <a:p>
            <a:fld id="{507A6976-490E-4B03-A9C3-CCC3E2FE72FE}" type="datetimeFigureOut">
              <a:t>9/27/26</a:t>
            </a:fld>
            <a:endParaRPr/>
          </a:p>
        </p:txBody>
      </p:sp>
      <p:sp>
        <p:nvSpPr>
          <p:cNvPr id="3" name="Footer Placeholder 2">
            <a:extLst>
              <a:ext uri="{FF2B5EF4-FFF2-40B4-BE49-F238E27FC236}">
                <a16:creationId xmlns:a16="http://schemas.microsoft.com/office/drawing/2014/main" id="{0AD56057-B8CA-4D3A-AA8F-CB1B714B6C2C}"/>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6284B37-92F5-49A4-8F8F-5D88C2D4635B}"/>
              </a:ext>
            </a:extLst>
          </p:cNvPr>
          <p:cNvSpPr>
            <a:spLocks noGrp="1"/>
          </p:cNvSpPr>
          <p:nvPr>
            <p:ph type="sldNum" idx="12"/>
          </p:nvPr>
        </p:nvSpPr>
        <p:spPr/>
        <p:txBody>
          <a:bodyPr/>
          <a:lstStyle/>
          <a:p>
            <a:fld id="{D5D0E0BB-C5BC-4E94-AD2F-C01416FBA9AF}" type="slidenum">
              <a:t>‹#›</a:t>
            </a:fld>
            <a:endParaRPr/>
          </a:p>
        </p:txBody>
      </p:sp>
      <p:pic>
        <p:nvPicPr>
          <p:cNvPr id="9" name="Picture 2"/>
          <p:cNvPicPr>
            <a:picLocks noChangeAspect="1"/>
          </p:cNvPicPr>
          <p:nvPr/>
        </p:nvPicPr>
        <p:blipFill>
          <a:blip r:embed="rId2"/>
          <a:srcRect/>
          <a:stretch>
            <a:fillRect/>
          </a:stretch>
        </p:blipFill>
        <p:spPr>
          <a:xfrm>
            <a:off x="4476750" y="6359832"/>
            <a:ext cx="3238500" cy="37147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E34D5-7482-4CE6-B180-90A803F6A53E}"/>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9FBBA1A1-080F-4E12-90B8-C54E2FD3F447}"/>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59268D64-3E2B-4344-980C-2BB500AA671A}"/>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91E65543-5D41-4C04-B6CE-015F8B3CFFFC}"/>
              </a:ext>
            </a:extLst>
          </p:cNvPr>
          <p:cNvSpPr>
            <a:spLocks noGrp="1"/>
          </p:cNvSpPr>
          <p:nvPr>
            <p:ph type="dt" idx="10"/>
          </p:nvPr>
        </p:nvSpPr>
        <p:spPr/>
        <p:txBody>
          <a:bodyPr/>
          <a:lstStyle/>
          <a:p>
            <a:fld id="{507A6976-490E-4B03-A9C3-CCC3E2FE72FE}" type="datetimeFigureOut">
              <a:t>9/27/26</a:t>
            </a:fld>
            <a:endParaRPr/>
          </a:p>
        </p:txBody>
      </p:sp>
      <p:sp>
        <p:nvSpPr>
          <p:cNvPr id="6" name="Footer Placeholder 5">
            <a:extLst>
              <a:ext uri="{FF2B5EF4-FFF2-40B4-BE49-F238E27FC236}">
                <a16:creationId xmlns:a16="http://schemas.microsoft.com/office/drawing/2014/main" id="{AE8D89D3-53D3-48C8-947B-BEAE68AF668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FEB3461-3888-4647-B8BB-A0AFFE899668}"/>
              </a:ext>
            </a:extLst>
          </p:cNvPr>
          <p:cNvSpPr>
            <a:spLocks noGrp="1"/>
          </p:cNvSpPr>
          <p:nvPr>
            <p:ph type="sldNum" idx="12"/>
          </p:nvPr>
        </p:nvSpPr>
        <p:spPr/>
        <p:txBody>
          <a:bodyPr/>
          <a:lstStyle/>
          <a:p>
            <a:fld id="{D5D0E0BB-C5BC-4E94-AD2F-C01416FBA9AF}" type="slidenum">
              <a:t>‹#›</a:t>
            </a:fld>
            <a:endParaRPr/>
          </a:p>
        </p:txBody>
      </p:sp>
      <p:sp>
        <p:nvSpPr>
          <p:cNvPr id="8" name="Date Placeholder 3">
            <a:extLst>
              <a:ext uri="{FF2B5EF4-FFF2-40B4-BE49-F238E27FC236}">
                <a16:creationId xmlns:a16="http://schemas.microsoft.com/office/drawing/2014/main" id="{F48070AC-BA60-4FDB-9F03-76DEAE870C96}"/>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9/27/26</a:t>
            </a:fld>
            <a:endParaRPr/>
          </a:p>
        </p:txBody>
      </p:sp>
      <p:sp>
        <p:nvSpPr>
          <p:cNvPr id="9" name="Rectangle 8">
            <a:extLst>
              <a:ext uri="{FF2B5EF4-FFF2-40B4-BE49-F238E27FC236}">
                <a16:creationId xmlns:a16="http://schemas.microsoft.com/office/drawing/2014/main" id="{3FADB978-C6DA-42F6-A6D6-0443AD2721F1}"/>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Slide Number Placeholder 5">
            <a:extLst>
              <a:ext uri="{FF2B5EF4-FFF2-40B4-BE49-F238E27FC236}">
                <a16:creationId xmlns:a16="http://schemas.microsoft.com/office/drawing/2014/main" id="{991605CD-36F4-4F07-8ECA-7E6CCB60F7A9}"/>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1" name="Rectangle 10">
            <a:extLst>
              <a:ext uri="{FF2B5EF4-FFF2-40B4-BE49-F238E27FC236}">
                <a16:creationId xmlns:a16="http://schemas.microsoft.com/office/drawing/2014/main" id="{720E5A2E-745E-465E-84B4-A24161467CBB}"/>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2"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3" name="Picture 12"/>
          <p:cNvPicPr>
            <a:picLocks noChangeAspect="1"/>
          </p:cNvPicPr>
          <p:nvPr/>
        </p:nvPicPr>
        <p:blipFill>
          <a:blip r:embed="rId3"/>
          <a:stretch>
            <a:fillRect/>
          </a:stretch>
        </p:blipFill>
        <p:spPr>
          <a:xfrm>
            <a:off x="8632729" y="6356350"/>
            <a:ext cx="3113396" cy="397339"/>
          </a:xfrm>
          <a:prstGeom prst="rect">
            <a:avLst/>
          </a:prstGeom>
        </p:spPr>
      </p:pic>
      <p:sp>
        <p:nvSpPr>
          <p:cNvPr id="18" name="Oval 17">
            <a:extLst>
              <a:ext uri="{FF2B5EF4-FFF2-40B4-BE49-F238E27FC236}">
                <a16:creationId xmlns:a16="http://schemas.microsoft.com/office/drawing/2014/main" id="{55921EC9-1E1A-47EA-B2C4-250D909B9C57}"/>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5"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7CC13-2ADF-4673-BDF4-8000115F26B4}"/>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12EB7044-A1A9-49F4-ABF4-B746FB0DE5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8FB8E2D-BD3A-493F-9A5F-D77FBBAD2A3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26264559-B16D-4AA6-A577-5BB955F44E92}"/>
              </a:ext>
            </a:extLst>
          </p:cNvPr>
          <p:cNvSpPr>
            <a:spLocks noGrp="1"/>
          </p:cNvSpPr>
          <p:nvPr>
            <p:ph type="dt" idx="10"/>
          </p:nvPr>
        </p:nvSpPr>
        <p:spPr/>
        <p:txBody>
          <a:bodyPr/>
          <a:lstStyle/>
          <a:p>
            <a:fld id="{507A6976-490E-4B03-A9C3-CCC3E2FE72FE}" type="datetimeFigureOut">
              <a:t>9/27/26</a:t>
            </a:fld>
            <a:endParaRPr/>
          </a:p>
        </p:txBody>
      </p:sp>
      <p:sp>
        <p:nvSpPr>
          <p:cNvPr id="6" name="Footer Placeholder 5">
            <a:extLst>
              <a:ext uri="{FF2B5EF4-FFF2-40B4-BE49-F238E27FC236}">
                <a16:creationId xmlns:a16="http://schemas.microsoft.com/office/drawing/2014/main" id="{A61D6D9D-AD31-4D01-8133-54A7360B51F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0A56075-A4E2-46C7-9C2F-8FCA4EBA4CD9}"/>
              </a:ext>
            </a:extLst>
          </p:cNvPr>
          <p:cNvSpPr>
            <a:spLocks noGrp="1"/>
          </p:cNvSpPr>
          <p:nvPr>
            <p:ph type="sldNum" idx="12"/>
          </p:nvPr>
        </p:nvSpPr>
        <p:spPr/>
        <p:txBody>
          <a:bodyPr/>
          <a:lstStyle/>
          <a:p>
            <a:fld id="{D5D0E0BB-C5BC-4E94-AD2F-C01416FBA9AF}" type="slidenum">
              <a:t>‹#›</a:t>
            </a:fld>
            <a:endParaRPr/>
          </a:p>
        </p:txBody>
      </p:sp>
      <p:sp>
        <p:nvSpPr>
          <p:cNvPr id="8" name="Date Placeholder 3">
            <a:extLst>
              <a:ext uri="{FF2B5EF4-FFF2-40B4-BE49-F238E27FC236}">
                <a16:creationId xmlns:a16="http://schemas.microsoft.com/office/drawing/2014/main" id="{F566203F-284C-4271-9538-EF4E7C575832}"/>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9/27/26</a:t>
            </a:fld>
            <a:endParaRPr/>
          </a:p>
        </p:txBody>
      </p:sp>
      <p:sp>
        <p:nvSpPr>
          <p:cNvPr id="9" name="Rectangle 8">
            <a:extLst>
              <a:ext uri="{FF2B5EF4-FFF2-40B4-BE49-F238E27FC236}">
                <a16:creationId xmlns:a16="http://schemas.microsoft.com/office/drawing/2014/main" id="{D2C6E445-DF60-499A-8C48-BCC0D30D7283}"/>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Slide Number Placeholder 5">
            <a:extLst>
              <a:ext uri="{FF2B5EF4-FFF2-40B4-BE49-F238E27FC236}">
                <a16:creationId xmlns:a16="http://schemas.microsoft.com/office/drawing/2014/main" id="{D0A4B937-E142-446F-90F9-C68999624990}"/>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1" name="Rectangle 10">
            <a:extLst>
              <a:ext uri="{FF2B5EF4-FFF2-40B4-BE49-F238E27FC236}">
                <a16:creationId xmlns:a16="http://schemas.microsoft.com/office/drawing/2014/main" id="{9AB07112-7DF7-4628-B876-6B30C4146CDB}"/>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2"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3" name="Picture 12"/>
          <p:cNvPicPr>
            <a:picLocks noChangeAspect="1"/>
          </p:cNvPicPr>
          <p:nvPr/>
        </p:nvPicPr>
        <p:blipFill>
          <a:blip r:embed="rId3"/>
          <a:stretch>
            <a:fillRect/>
          </a:stretch>
        </p:blipFill>
        <p:spPr>
          <a:xfrm>
            <a:off x="8632729" y="6356350"/>
            <a:ext cx="3113396" cy="397339"/>
          </a:xfrm>
          <a:prstGeom prst="rect">
            <a:avLst/>
          </a:prstGeom>
        </p:spPr>
      </p:pic>
      <p:sp>
        <p:nvSpPr>
          <p:cNvPr id="18" name="Oval 17">
            <a:extLst>
              <a:ext uri="{FF2B5EF4-FFF2-40B4-BE49-F238E27FC236}">
                <a16:creationId xmlns:a16="http://schemas.microsoft.com/office/drawing/2014/main" id="{BF7808A0-C14F-4BEA-9CDD-C49E164D8404}"/>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5"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1721FC45-7050-4DC1-BBB5-4EF6A827EE2B}"/>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E11BF11-EDE7-4544-9157-83B81AC72A8D}"/>
              </a:ext>
            </a:extLst>
          </p:cNvPr>
          <p:cNvSpPr>
            <a:spLocks noGrp="1"/>
          </p:cNvSpPr>
          <p:nvPr>
            <p:ph type="dt" idx="10"/>
          </p:nvPr>
        </p:nvSpPr>
        <p:spPr/>
        <p:txBody>
          <a:bodyPr/>
          <a:lstStyle/>
          <a:p>
            <a:fld id="{507A6976-490E-4B03-A9C3-CCC3E2FE72FE}" type="datetimeFigureOut">
              <a:t>9/27/26</a:t>
            </a:fld>
            <a:endParaRPr/>
          </a:p>
        </p:txBody>
      </p:sp>
      <p:sp>
        <p:nvSpPr>
          <p:cNvPr id="5" name="Footer Placeholder 4">
            <a:extLst>
              <a:ext uri="{FF2B5EF4-FFF2-40B4-BE49-F238E27FC236}">
                <a16:creationId xmlns:a16="http://schemas.microsoft.com/office/drawing/2014/main" id="{BEE28599-E346-4E40-8555-70F984232AF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78859DD-ADCA-48ED-8863-E30F2BA32E13}"/>
              </a:ext>
            </a:extLst>
          </p:cNvPr>
          <p:cNvSpPr>
            <a:spLocks noGrp="1"/>
          </p:cNvSpPr>
          <p:nvPr>
            <p:ph type="sldNum" idx="12"/>
          </p:nvPr>
        </p:nvSpPr>
        <p:spPr/>
        <p:txBody>
          <a:bodyPr/>
          <a:lstStyle/>
          <a:p>
            <a:fld id="{D5D0E0BB-C5BC-4E94-AD2F-C01416FBA9AF}" type="slidenum">
              <a:t>‹#›</a:t>
            </a:fld>
            <a:endParaRPr/>
          </a:p>
        </p:txBody>
      </p:sp>
      <p:sp>
        <p:nvSpPr>
          <p:cNvPr id="7" name="Date Placeholder 3">
            <a:extLst>
              <a:ext uri="{FF2B5EF4-FFF2-40B4-BE49-F238E27FC236}">
                <a16:creationId xmlns:a16="http://schemas.microsoft.com/office/drawing/2014/main" id="{564507A5-37BD-44C3-875F-309B2EEC2670}"/>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9/27/26</a:t>
            </a:fld>
            <a:endParaRPr/>
          </a:p>
        </p:txBody>
      </p:sp>
      <p:sp>
        <p:nvSpPr>
          <p:cNvPr id="8" name="Rectangle 7">
            <a:extLst>
              <a:ext uri="{FF2B5EF4-FFF2-40B4-BE49-F238E27FC236}">
                <a16:creationId xmlns:a16="http://schemas.microsoft.com/office/drawing/2014/main" id="{BCCC970A-4E11-464D-9E73-91BF7B16BE35}"/>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Slide Number Placeholder 5">
            <a:extLst>
              <a:ext uri="{FF2B5EF4-FFF2-40B4-BE49-F238E27FC236}">
                <a16:creationId xmlns:a16="http://schemas.microsoft.com/office/drawing/2014/main" id="{C4133C02-13AA-4E0D-8684-3BEF3A909A92}"/>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0" name="Rectangle 9">
            <a:extLst>
              <a:ext uri="{FF2B5EF4-FFF2-40B4-BE49-F238E27FC236}">
                <a16:creationId xmlns:a16="http://schemas.microsoft.com/office/drawing/2014/main" id="{287F7D4B-8021-4E40-881B-58CF4A21C57E}"/>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0"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1" name="Picture 11"/>
          <p:cNvPicPr>
            <a:picLocks noChangeAspect="1"/>
          </p:cNvPicPr>
          <p:nvPr/>
        </p:nvPicPr>
        <p:blipFill>
          <a:blip r:embed="rId3"/>
          <a:stretch>
            <a:fillRect/>
          </a:stretch>
        </p:blipFill>
        <p:spPr>
          <a:xfrm>
            <a:off x="8632729" y="6356350"/>
            <a:ext cx="3113396" cy="397339"/>
          </a:xfrm>
          <a:prstGeom prst="rect">
            <a:avLst/>
          </a:prstGeom>
        </p:spPr>
      </p:pic>
      <p:sp>
        <p:nvSpPr>
          <p:cNvPr id="16" name="Title 1">
            <a:extLst>
              <a:ext uri="{FF2B5EF4-FFF2-40B4-BE49-F238E27FC236}">
                <a16:creationId xmlns:a16="http://schemas.microsoft.com/office/drawing/2014/main" id="{B6EEE38B-5D63-4BA2-8F88-3C264D3CF821}"/>
              </a:ext>
            </a:extLst>
          </p:cNvPr>
          <p:cNvSpPr>
            <a:spLocks noGrp="1"/>
          </p:cNvSpPr>
          <p:nvPr>
            <p:ph type="title"/>
          </p:nvPr>
        </p:nvSpPr>
        <p:spPr>
          <a:xfrm>
            <a:off x="425802" y="365126"/>
            <a:ext cx="10269206" cy="568264"/>
          </a:xfrm>
        </p:spPr>
        <p:txBody>
          <a:bodyPr/>
          <a:lstStyle>
            <a:lvl1pPr>
              <a:buNone/>
              <a:defRPr>
                <a:solidFill>
                  <a:srgbClr val="24323E"/>
                </a:solidFill>
                <a:latin typeface="Times New Roman"/>
                <a:ea typeface="Times New Roman"/>
                <a:cs typeface="Times New Roman"/>
              </a:defRPr>
            </a:lvl1pPr>
          </a:lstStyle>
          <a:p>
            <a:r>
              <a:t>Click to edit Master title style</a:t>
            </a:r>
          </a:p>
        </p:txBody>
      </p:sp>
      <p:sp>
        <p:nvSpPr>
          <p:cNvPr id="18" name="Oval 17">
            <a:extLst>
              <a:ext uri="{FF2B5EF4-FFF2-40B4-BE49-F238E27FC236}">
                <a16:creationId xmlns:a16="http://schemas.microsoft.com/office/drawing/2014/main" id="{C01846D5-932A-410E-B1BA-F40084784FEF}"/>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4"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AF565A-D641-4F97-97FA-76BE4D7E130C}"/>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3B0B5D24-6263-4A80-9414-895E66223A90}"/>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68037AF-BAE3-4BB1-8CF8-7341FC0C9052}"/>
              </a:ext>
            </a:extLst>
          </p:cNvPr>
          <p:cNvSpPr>
            <a:spLocks noGrp="1"/>
          </p:cNvSpPr>
          <p:nvPr>
            <p:ph type="dt" idx="10"/>
          </p:nvPr>
        </p:nvSpPr>
        <p:spPr/>
        <p:txBody>
          <a:bodyPr/>
          <a:lstStyle/>
          <a:p>
            <a:fld id="{507A6976-490E-4B03-A9C3-CCC3E2FE72FE}" type="datetimeFigureOut">
              <a:t>9/27/26</a:t>
            </a:fld>
            <a:endParaRPr/>
          </a:p>
        </p:txBody>
      </p:sp>
      <p:sp>
        <p:nvSpPr>
          <p:cNvPr id="5" name="Footer Placeholder 4">
            <a:extLst>
              <a:ext uri="{FF2B5EF4-FFF2-40B4-BE49-F238E27FC236}">
                <a16:creationId xmlns:a16="http://schemas.microsoft.com/office/drawing/2014/main" id="{5B91810C-95F7-4441-BA87-CFB309551B3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8BD234A-AFB0-4695-A486-2A270860A0A1}"/>
              </a:ext>
            </a:extLst>
          </p:cNvPr>
          <p:cNvSpPr>
            <a:spLocks noGrp="1"/>
          </p:cNvSpPr>
          <p:nvPr>
            <p:ph type="sldNum" idx="12"/>
          </p:nvPr>
        </p:nvSpPr>
        <p:spPr/>
        <p:txBody>
          <a:bodyPr/>
          <a:lstStyle/>
          <a:p>
            <a:fld id="{D5D0E0BB-C5BC-4E94-AD2F-C01416FBA9AF}" type="slidenum">
              <a:t>‹#›</a:t>
            </a:fld>
            <a:endParaRPr/>
          </a:p>
        </p:txBody>
      </p:sp>
      <p:sp>
        <p:nvSpPr>
          <p:cNvPr id="7" name="Date Placeholder 3">
            <a:extLst>
              <a:ext uri="{FF2B5EF4-FFF2-40B4-BE49-F238E27FC236}">
                <a16:creationId xmlns:a16="http://schemas.microsoft.com/office/drawing/2014/main" id="{B4D0ED06-B62E-43BF-B07A-F5AFB8B16F55}"/>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9/27/26</a:t>
            </a:fld>
            <a:endParaRPr/>
          </a:p>
        </p:txBody>
      </p:sp>
      <p:sp>
        <p:nvSpPr>
          <p:cNvPr id="8" name="Rectangle 7">
            <a:extLst>
              <a:ext uri="{FF2B5EF4-FFF2-40B4-BE49-F238E27FC236}">
                <a16:creationId xmlns:a16="http://schemas.microsoft.com/office/drawing/2014/main" id="{9458E507-D487-4955-82CE-74626DB61F3F}"/>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Slide Number Placeholder 5">
            <a:extLst>
              <a:ext uri="{FF2B5EF4-FFF2-40B4-BE49-F238E27FC236}">
                <a16:creationId xmlns:a16="http://schemas.microsoft.com/office/drawing/2014/main" id="{B1C0A531-7B30-4A21-A81B-6C9DEA3E7AA1}"/>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0" name="Rectangle 9">
            <a:extLst>
              <a:ext uri="{FF2B5EF4-FFF2-40B4-BE49-F238E27FC236}">
                <a16:creationId xmlns:a16="http://schemas.microsoft.com/office/drawing/2014/main" id="{C21323BC-D1EA-42FF-9D19-CE416E1EFC7B}"/>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7"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28" name="Picture 11"/>
          <p:cNvPicPr>
            <a:picLocks noChangeAspect="1"/>
          </p:cNvPicPr>
          <p:nvPr/>
        </p:nvPicPr>
        <p:blipFill>
          <a:blip r:embed="rId3"/>
          <a:stretch>
            <a:fillRect/>
          </a:stretch>
        </p:blipFill>
        <p:spPr>
          <a:xfrm>
            <a:off x="8632729" y="6356350"/>
            <a:ext cx="3113396" cy="397339"/>
          </a:xfrm>
          <a:prstGeom prst="rect">
            <a:avLst/>
          </a:prstGeom>
        </p:spPr>
      </p:pic>
      <p:sp>
        <p:nvSpPr>
          <p:cNvPr id="14" name="Oval 13">
            <a:extLst>
              <a:ext uri="{FF2B5EF4-FFF2-40B4-BE49-F238E27FC236}">
                <a16:creationId xmlns:a16="http://schemas.microsoft.com/office/drawing/2014/main" id="{3A178CFE-39AA-4BAF-8E4C-064D7855B869}"/>
              </a:ext>
            </a:extLst>
          </p:cNvPr>
          <p:cNvSpPr>
            <a:spLocks noGrp="1"/>
          </p:cNvSpPr>
          <p:nvPr/>
        </p:nvSpPr>
        <p:spPr>
          <a:xfrm>
            <a:off x="250480"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0" name="Picture 10"/>
          <p:cNvPicPr>
            <a:picLocks noChangeAspect="1"/>
          </p:cNvPicPr>
          <p:nvPr/>
        </p:nvPicPr>
        <p:blipFill rotWithShape="1">
          <a:blip r:embed="rId4"/>
          <a:srcRect r="62081" b="-3750"/>
          <a:stretch/>
        </p:blipFill>
        <p:spPr>
          <a:xfrm>
            <a:off x="335578" y="514551"/>
            <a:ext cx="812647" cy="64233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321925-1424-4D8F-AF7E-1B3B19533939}"/>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9A533325-5FE6-4AB3-A20A-EC02DC2C8C3A}"/>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23AB5E8-1ACB-4ABB-8B65-AC862C347F91}"/>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07A6976-490E-4B03-A9C3-CCC3E2FE72FE}" type="datetimeFigureOut">
              <a:t>9/27/26</a:t>
            </a:fld>
            <a:endParaRPr/>
          </a:p>
        </p:txBody>
      </p:sp>
      <p:sp>
        <p:nvSpPr>
          <p:cNvPr id="5" name="Footer Placeholder 4">
            <a:extLst>
              <a:ext uri="{FF2B5EF4-FFF2-40B4-BE49-F238E27FC236}">
                <a16:creationId xmlns:a16="http://schemas.microsoft.com/office/drawing/2014/main" id="{6826ABD5-7A3E-41B2-B4E2-887CD76836C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E43BBF44-0E73-4652-846C-273B849FE422}"/>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D5D0E0BB-C5BC-4E94-AD2F-C01416FBA9A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8" Type="http://schemas.openxmlformats.org/officeDocument/2006/relationships/hyperlink" Target="https://python-jsonschema.readthedocs.io/en/stable/validate/" TargetMode="External"/><Relationship Id="rId3" Type="http://schemas.openxmlformats.org/officeDocument/2006/relationships/hyperlink" Target="https://www.json.org/json-en.html" TargetMode="External"/><Relationship Id="rId7" Type="http://schemas.openxmlformats.org/officeDocument/2006/relationships/hyperlink" Target="https://json-schema.org/understanding-json-schema/reference/object" TargetMode="External"/><Relationship Id="rId12" Type="http://schemas.openxmlformats.org/officeDocument/2006/relationships/hyperlink" Target="https://jsonlines.org/" TargetMode="External"/><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hyperlink" Target="https://docs.python.org/3/library/json.html" TargetMode="External"/><Relationship Id="rId11" Type="http://schemas.openxmlformats.org/officeDocument/2006/relationships/hyperlink" Target="https://www.rfc-editor.org/rfc/rfc4627.html" TargetMode="External"/><Relationship Id="rId5" Type="http://schemas.openxmlformats.org/officeDocument/2006/relationships/hyperlink" Target="https://ecma-international.org/publications-and-standards/standards/ecma-404/" TargetMode="External"/><Relationship Id="rId10" Type="http://schemas.openxmlformats.org/officeDocument/2006/relationships/hyperlink" Target="https://requests.readthedocs.io/en/latest/user/quickstart/" TargetMode="External"/><Relationship Id="rId4" Type="http://schemas.openxmlformats.org/officeDocument/2006/relationships/hyperlink" Target="https://datatracker.ietf.org/doc/html/rfc8259" TargetMode="External"/><Relationship Id="rId9" Type="http://schemas.openxmlformats.org/officeDocument/2006/relationships/hyperlink" Target="https://pandas.pydata.org/docs/reference/api/pandas.json_normalize.html"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7915C-4793-4D8A-854D-31F5DC15B95B}"/>
              </a:ext>
            </a:extLst>
          </p:cNvPr>
          <p:cNvSpPr>
            <a:spLocks noGrp="1"/>
          </p:cNvSpPr>
          <p:nvPr>
            <p:ph type="ctrTitle"/>
          </p:nvPr>
        </p:nvSpPr>
        <p:spPr>
          <a:xfrm>
            <a:off x="7486650" y="1857375"/>
            <a:ext cx="4191000" cy="1000125"/>
          </a:xfrm>
        </p:spPr>
        <p:txBody>
          <a:bodyPr lIns="0" tIns="0" rIns="0" bIns="0" anchor="b">
            <a:noAutofit/>
          </a:bodyPr>
          <a:lstStyle/>
          <a:p>
            <a:pPr algn="l">
              <a:buNone/>
              <a:defRPr sz="7200">
                <a:solidFill>
                  <a:srgbClr val="24323E"/>
                </a:solidFill>
                <a:latin typeface="Times New Roman"/>
                <a:ea typeface="Times New Roman"/>
                <a:cs typeface="Times New Roman"/>
              </a:defRPr>
            </a:pPr>
            <a:r>
              <a:rPr sz="7200">
                <a:solidFill>
                  <a:srgbClr val="24323E"/>
                </a:solidFill>
                <a:latin typeface="Times New Roman"/>
                <a:ea typeface="Times New Roman"/>
                <a:cs typeface="Times New Roman"/>
              </a:rPr>
              <a:t>JSON</a:t>
            </a:r>
          </a:p>
        </p:txBody>
      </p:sp>
      <p:sp>
        <p:nvSpPr>
          <p:cNvPr id="3" name="Subtitle 2">
            <a:extLst>
              <a:ext uri="{FF2B5EF4-FFF2-40B4-BE49-F238E27FC236}">
                <a16:creationId xmlns:a16="http://schemas.microsoft.com/office/drawing/2014/main" id="{BCDC19E3-847F-4896-92C1-562A61A4DF91}"/>
              </a:ext>
            </a:extLst>
          </p:cNvPr>
          <p:cNvSpPr>
            <a:spLocks noGrp="1"/>
          </p:cNvSpPr>
          <p:nvPr>
            <p:ph type="subTitle" idx="1"/>
          </p:nvPr>
        </p:nvSpPr>
        <p:spPr>
          <a:xfrm>
            <a:off x="7524750" y="3133725"/>
            <a:ext cx="4000500" cy="1276350"/>
          </a:xfrm>
        </p:spPr>
        <p:txBody>
          <a:bodyPr lIns="0" tIns="0" rIns="0" bIns="0" anchor="t">
            <a:noAutofit/>
          </a:bodyPr>
          <a:lstStyle/>
          <a:p>
            <a:pPr algn="l">
              <a:buNone/>
              <a:defRPr sz="3100">
                <a:solidFill>
                  <a:srgbClr val="24323E"/>
                </a:solidFill>
                <a:latin typeface="Times New Roman"/>
                <a:ea typeface="Times New Roman"/>
                <a:cs typeface="Times New Roman"/>
              </a:defRPr>
            </a:pPr>
            <a:r>
              <a:rPr sz="3100">
                <a:solidFill>
                  <a:srgbClr val="24323E"/>
                </a:solidFill>
                <a:latin typeface="Times New Roman"/>
                <a:ea typeface="Times New Roman"/>
                <a:cs typeface="Times New Roman"/>
              </a:rPr>
              <a:t>Data exchange for</a:t>
            </a:r>
          </a:p>
          <a:p>
            <a:pPr algn="l">
              <a:buNone/>
              <a:defRPr sz="3100">
                <a:solidFill>
                  <a:srgbClr val="24323E"/>
                </a:solidFill>
                <a:latin typeface="Times New Roman"/>
                <a:ea typeface="Times New Roman"/>
                <a:cs typeface="Times New Roman"/>
              </a:defRPr>
            </a:pPr>
            <a:r>
              <a:rPr sz="3100">
                <a:solidFill>
                  <a:srgbClr val="24323E"/>
                </a:solidFill>
                <a:latin typeface="Times New Roman"/>
                <a:ea typeface="Times New Roman"/>
                <a:cs typeface="Times New Roman"/>
              </a:rPr>
              <a:t>data science</a:t>
            </a:r>
          </a:p>
        </p:txBody>
      </p:sp>
      <p:sp>
        <p:nvSpPr>
          <p:cNvPr id="10" name="Freeform: Shape 9">
            <a:extLst>
              <a:ext uri="{FF2B5EF4-FFF2-40B4-BE49-F238E27FC236}">
                <a16:creationId xmlns:a16="http://schemas.microsoft.com/office/drawing/2014/main" id="{E49CC64F-7275-4E33-961B-0C5CDC439875}"/>
              </a:ext>
            </a:extLst>
          </p:cNvPr>
          <p:cNvSpPr>
            <a:spLocks noGrp="1"/>
          </p:cNvSpPr>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pic>
        <p:nvPicPr>
          <p:cNvPr id="15" name="Picture 2"/>
          <p:cNvPicPr>
            <a:picLocks noChangeAspect="1"/>
          </p:cNvPicPr>
          <p:nvPr/>
        </p:nvPicPr>
        <p:blipFill rotWithShape="1">
          <a:blip r:embed="rId3"/>
          <a:srcRect l="8064" r="8619" b="1"/>
          <a:stretch/>
        </p:blipFill>
        <p:spPr>
          <a:xfrm>
            <a:off x="1" y="10"/>
            <a:ext cx="7028495" cy="6857990"/>
          </a:xfrm>
        </p:spPr>
      </p:pic>
      <p:sp>
        <p:nvSpPr>
          <p:cNvPr id="9" name="Subtitle 2">
            <a:extLst>
              <a:ext uri="{FF2B5EF4-FFF2-40B4-BE49-F238E27FC236}">
                <a16:creationId xmlns:a16="http://schemas.microsoft.com/office/drawing/2014/main" id="{A48EACD5-346E-4647-A516-131E85C7CD40}"/>
              </a:ext>
            </a:extLst>
          </p:cNvPr>
          <p:cNvSpPr>
            <a:spLocks noGrp="1"/>
          </p:cNvSpPr>
          <p:nvPr/>
        </p:nvSpPr>
        <p:spPr>
          <a:xfrm>
            <a:off x="7524750" y="4886325"/>
            <a:ext cx="4000500" cy="1047750"/>
          </a:xfrm>
          <a:prstGeom prst="rect">
            <a:avLst/>
          </a:prstGeom>
        </p:spPr>
        <p:txBody>
          <a:bodyPr vert="horz" lIns="0" tIns="0" rIns="0" bIns="0" anchor="t">
            <a:noAutofit/>
          </a:bodyPr>
          <a:lstStyle>
            <a:lvl1pPr marL="0" indent="0" algn="ctr" defTabSz="914400">
              <a:lnSpc>
                <a:spcPct val="90000"/>
              </a:lnSpc>
              <a:spcBef>
                <a:spcPts val="1000"/>
              </a:spcBef>
              <a:buFont typeface="Arial"/>
              <a:buNone/>
              <a:defRPr sz="2400" kern="1200">
                <a:solidFill>
                  <a:schemeClr val="tx1"/>
                </a:solidFill>
                <a:latin typeface="Times New Roman"/>
                <a:ea typeface="Times New Roman"/>
                <a:cs typeface="Times New Roman"/>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algn="l">
              <a:buNone/>
              <a:defRPr sz="2000">
                <a:solidFill>
                  <a:srgbClr val="24323E"/>
                </a:solidFill>
                <a:latin typeface="Times New Roman"/>
                <a:ea typeface="Times New Roman"/>
                <a:cs typeface="Times New Roman"/>
              </a:defRPr>
            </a:pPr>
            <a:r>
              <a:rPr sz="2000">
                <a:solidFill>
                  <a:srgbClr val="24323E"/>
                </a:solidFill>
                <a:latin typeface="Times New Roman"/>
                <a:ea typeface="Times New Roman"/>
                <a:cs typeface="Times New Roman"/>
              </a:rPr>
              <a:t>DS-2002</a:t>
            </a:r>
          </a:p>
          <a:p>
            <a:pPr algn="l">
              <a:buNone/>
              <a:defRPr sz="2000">
                <a:solidFill>
                  <a:srgbClr val="24323E"/>
                </a:solidFill>
                <a:latin typeface="Times New Roman"/>
                <a:ea typeface="Times New Roman"/>
                <a:cs typeface="Times New Roman"/>
              </a:defRPr>
            </a:pPr>
            <a:r>
              <a:rPr sz="2000">
                <a:solidFill>
                  <a:srgbClr val="24323E"/>
                </a:solidFill>
                <a:latin typeface="Times New Roman"/>
                <a:ea typeface="Times New Roman"/>
                <a:cs typeface="Times New Roman"/>
              </a:rPr>
              <a:t>Jason Williamson</a:t>
            </a:r>
          </a:p>
          <a:p>
            <a:pPr algn="l">
              <a:buNone/>
              <a:defRPr sz="2000">
                <a:solidFill>
                  <a:srgbClr val="24323E"/>
                </a:solidFill>
                <a:latin typeface="Times New Roman"/>
                <a:ea typeface="Times New Roman"/>
                <a:cs typeface="Times New Roman"/>
              </a:defRPr>
            </a:pPr>
            <a:r>
              <a:rPr sz="2000">
                <a:solidFill>
                  <a:srgbClr val="24323E"/>
                </a:solidFill>
                <a:latin typeface="Times New Roman"/>
                <a:ea typeface="Times New Roman"/>
                <a:cs typeface="Times New Roman"/>
              </a:rPr>
              <a:t>Fall 2026</a:t>
            </a:r>
          </a:p>
        </p:txBody>
      </p:sp>
    </p:spTree>
    <p:extLst>
      <p:ext uri="{BB962C8B-B14F-4D97-AF65-F5344CB8AC3E}">
        <p14:creationId xmlns:p14="http://schemas.microsoft.com/office/powerpoint/2010/main" val="284344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dirty="0">
                <a:solidFill>
                  <a:srgbClr val="24323E"/>
                </a:solidFill>
                <a:latin typeface="Times New Roman"/>
                <a:ea typeface="Times New Roman"/>
                <a:cs typeface="Times New Roman"/>
              </a:rPr>
              <a:t>Today’s investigation: </a:t>
            </a:r>
            <a:r>
              <a:rPr sz="3788" dirty="0">
                <a:solidFill>
                  <a:srgbClr val="F67132"/>
                </a:solidFill>
                <a:latin typeface="Times New Roman"/>
                <a:ea typeface="Times New Roman"/>
                <a:cs typeface="Times New Roman"/>
              </a:rPr>
              <a:t>air readings</a:t>
            </a:r>
            <a:r>
              <a:rPr lang="en-US" sz="3788" dirty="0">
                <a:solidFill>
                  <a:srgbClr val="F67132"/>
                </a:solidFill>
                <a:latin typeface="Times New Roman"/>
                <a:ea typeface="Times New Roman"/>
                <a:cs typeface="Times New Roman"/>
              </a:rPr>
              <a:t> on grounds</a:t>
            </a:r>
            <a:endParaRPr sz="3788" dirty="0">
              <a:solidFill>
                <a:srgbClr val="F67132"/>
              </a:solidFill>
              <a:latin typeface="Times New Roman"/>
              <a:ea typeface="Times New Roman"/>
              <a:cs typeface="Times New Roman"/>
            </a:endParaRPr>
          </a:p>
        </p:txBody>
      </p:sp>
      <p:sp>
        <p:nvSpPr>
          <p:cNvPr id="3" name="02">
            <a:extLst>
              <a:ext uri="{FF2B5EF4-FFF2-40B4-BE49-F238E27FC236}">
                <a16:creationId xmlns:a16="http://schemas.microsoft.com/office/drawing/2014/main" id="{B1218789-9A88-40AA-8A80-EA1C7642FA0A}"/>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02</a:t>
            </a:r>
          </a:p>
        </p:txBody>
      </p:sp>
      <p:sp>
        <p:nvSpPr>
          <p:cNvPr id="4" name="Which station has the highest mean ">
            <a:extLst>
              <a:ext uri="{FF2B5EF4-FFF2-40B4-BE49-F238E27FC236}">
                <a16:creationId xmlns:a16="http://schemas.microsoft.com/office/drawing/2014/main" id="{9B598F9E-4818-4C4E-9AD1-0E9627703DB5}"/>
              </a:ext>
            </a:extLst>
          </p:cNvPr>
          <p:cNvSpPr>
            <a:spLocks noGrp="1"/>
          </p:cNvSpPr>
          <p:nvPr/>
        </p:nvSpPr>
        <p:spPr>
          <a:xfrm>
            <a:off x="600075" y="1304925"/>
            <a:ext cx="10668000" cy="1095375"/>
          </a:xfrm>
          <a:prstGeom prst="rect">
            <a:avLst/>
          </a:prstGeom>
          <a:noFill/>
          <a:ln w="0">
            <a:noFill/>
          </a:ln>
        </p:spPr>
        <p:txBody>
          <a:bodyPr wrap="square" lIns="0" tIns="0" rIns="0" bIns="0" anchor="t">
            <a:noAutofit/>
          </a:bodyPr>
          <a:lstStyle/>
          <a:p>
            <a:pPr algn="l">
              <a:lnSpc>
                <a:spcPct val="105000"/>
              </a:lnSpc>
              <a:buNone/>
              <a:defRPr sz="3300" b="1">
                <a:solidFill>
                  <a:srgbClr val="24323E"/>
                </a:solidFill>
                <a:latin typeface="Times New Roman"/>
                <a:ea typeface="Times New Roman"/>
                <a:cs typeface="Times New Roman"/>
              </a:defRPr>
            </a:pPr>
            <a:r>
              <a:rPr sz="3300" b="1">
                <a:solidFill>
                  <a:srgbClr val="24323E"/>
                </a:solidFill>
                <a:latin typeface="Times New Roman"/>
                <a:ea typeface="Times New Roman"/>
                <a:cs typeface="Times New Roman"/>
              </a:rPr>
              <a:t>Which station has the highest mean PM2.5</a:t>
            </a:r>
          </a:p>
          <a:p>
            <a:pPr algn="l">
              <a:lnSpc>
                <a:spcPct val="105000"/>
              </a:lnSpc>
              <a:buNone/>
              <a:defRPr sz="3300" b="1">
                <a:solidFill>
                  <a:srgbClr val="24323E"/>
                </a:solidFill>
                <a:latin typeface="Times New Roman"/>
                <a:ea typeface="Times New Roman"/>
                <a:cs typeface="Times New Roman"/>
              </a:defRPr>
            </a:pPr>
            <a:r>
              <a:rPr sz="3300" b="1">
                <a:solidFill>
                  <a:srgbClr val="24323E"/>
                </a:solidFill>
                <a:latin typeface="Times New Roman"/>
                <a:ea typeface="Times New Roman"/>
                <a:cs typeface="Times New Roman"/>
              </a:rPr>
              <a:t>among the available readings?</a:t>
            </a:r>
          </a:p>
        </p:txBody>
      </p:sp>
      <p:sp>
        <p:nvSpPr>
          <p:cNvPr id="5" name="The input">
            <a:extLst>
              <a:ext uri="{FF2B5EF4-FFF2-40B4-BE49-F238E27FC236}">
                <a16:creationId xmlns:a16="http://schemas.microsoft.com/office/drawing/2014/main" id="{A107F210-C8D2-4DAD-B1A2-7AE5630E3BAA}"/>
              </a:ext>
            </a:extLst>
          </p:cNvPr>
          <p:cNvSpPr>
            <a:spLocks noGrp="1"/>
          </p:cNvSpPr>
          <p:nvPr/>
        </p:nvSpPr>
        <p:spPr>
          <a:xfrm>
            <a:off x="600075" y="2914650"/>
            <a:ext cx="4810125"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The input</a:t>
            </a:r>
          </a:p>
        </p:txBody>
      </p:sp>
      <p:sp>
        <p:nvSpPr>
          <p:cNvPr id="6" name="One JSON document contains campaign">
            <a:extLst>
              <a:ext uri="{FF2B5EF4-FFF2-40B4-BE49-F238E27FC236}">
                <a16:creationId xmlns:a16="http://schemas.microsoft.com/office/drawing/2014/main" id="{79B68502-F965-4114-BD89-11924C4CB936}"/>
              </a:ext>
            </a:extLst>
          </p:cNvPr>
          <p:cNvSpPr>
            <a:spLocks noGrp="1"/>
          </p:cNvSpPr>
          <p:nvPr/>
        </p:nvSpPr>
        <p:spPr>
          <a:xfrm>
            <a:off x="600075" y="3362325"/>
            <a:ext cx="4810125" cy="1476375"/>
          </a:xfrm>
          <a:prstGeom prst="rect">
            <a:avLst/>
          </a:prstGeom>
          <a:noFill/>
          <a:ln w="0">
            <a:noFill/>
          </a:ln>
        </p:spPr>
        <p:txBody>
          <a:bodyPr wrap="square" lIns="0" tIns="0" rIns="0" bIns="0" anchor="t">
            <a:noAutofit/>
          </a:bodyPr>
          <a:lstStyle/>
          <a:p>
            <a:pPr algn="l">
              <a:lnSpc>
                <a:spcPct val="105000"/>
              </a:lnSpc>
              <a:buNone/>
              <a:defRPr sz="2200" b="0">
                <a:solidFill>
                  <a:srgbClr val="24323E"/>
                </a:solidFill>
                <a:latin typeface="Times New Roman"/>
                <a:ea typeface="Times New Roman"/>
                <a:cs typeface="Times New Roman"/>
              </a:defRPr>
            </a:pPr>
            <a:r>
              <a:rPr sz="2200" b="0">
                <a:solidFill>
                  <a:srgbClr val="24323E"/>
                </a:solidFill>
                <a:latin typeface="Times New Roman"/>
                <a:ea typeface="Times New Roman"/>
                <a:cs typeface="Times New Roman"/>
              </a:rPr>
              <a:t>One JSON document contains campaign metadata, two stations, and four readings.</a:t>
            </a:r>
          </a:p>
        </p:txBody>
      </p:sp>
      <p:sp>
        <p:nvSpPr>
          <p:cNvPr id="7" name="The challenge">
            <a:extLst>
              <a:ext uri="{FF2B5EF4-FFF2-40B4-BE49-F238E27FC236}">
                <a16:creationId xmlns:a16="http://schemas.microsoft.com/office/drawing/2014/main" id="{633F2AD5-918D-4E79-A169-25B2555B3533}"/>
              </a:ext>
            </a:extLst>
          </p:cNvPr>
          <p:cNvSpPr>
            <a:spLocks noGrp="1"/>
          </p:cNvSpPr>
          <p:nvPr/>
        </p:nvSpPr>
        <p:spPr>
          <a:xfrm>
            <a:off x="6381750" y="2914650"/>
            <a:ext cx="4810125"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The challenge</a:t>
            </a:r>
          </a:p>
        </p:txBody>
      </p:sp>
      <p:sp>
        <p:nvSpPr>
          <p:cNvPr id="8" name="Measurements sit inside nested arra">
            <a:extLst>
              <a:ext uri="{FF2B5EF4-FFF2-40B4-BE49-F238E27FC236}">
                <a16:creationId xmlns:a16="http://schemas.microsoft.com/office/drawing/2014/main" id="{A41B06D5-D1FE-4184-AA19-5A44C97E755C}"/>
              </a:ext>
            </a:extLst>
          </p:cNvPr>
          <p:cNvSpPr>
            <a:spLocks noGrp="1"/>
          </p:cNvSpPr>
          <p:nvPr/>
        </p:nvSpPr>
        <p:spPr>
          <a:xfrm>
            <a:off x="6381750" y="3362325"/>
            <a:ext cx="4810125" cy="1476375"/>
          </a:xfrm>
          <a:prstGeom prst="rect">
            <a:avLst/>
          </a:prstGeom>
          <a:noFill/>
          <a:ln w="0">
            <a:noFill/>
          </a:ln>
        </p:spPr>
        <p:txBody>
          <a:bodyPr wrap="square" lIns="0" tIns="0" rIns="0" bIns="0" anchor="t">
            <a:noAutofit/>
          </a:bodyPr>
          <a:lstStyle/>
          <a:p>
            <a:pPr algn="l">
              <a:lnSpc>
                <a:spcPct val="105000"/>
              </a:lnSpc>
              <a:buNone/>
              <a:defRPr sz="2200" b="0">
                <a:solidFill>
                  <a:srgbClr val="24323E"/>
                </a:solidFill>
                <a:latin typeface="Times New Roman"/>
                <a:ea typeface="Times New Roman"/>
                <a:cs typeface="Times New Roman"/>
              </a:defRPr>
            </a:pPr>
            <a:r>
              <a:rPr sz="2200" b="0">
                <a:solidFill>
                  <a:srgbClr val="24323E"/>
                </a:solidFill>
                <a:latin typeface="Times New Roman"/>
                <a:ea typeface="Times New Roman"/>
                <a:cs typeface="Times New Roman"/>
              </a:rPr>
              <a:t>Measurements sit inside nested arrays. One observation is null. We must preserve station identity and units.</a:t>
            </a:r>
          </a:p>
        </p:txBody>
      </p:sp>
      <p:sp>
        <p:nvSpPr>
          <p:cNvPr id="9" name="Fictional teaching data. Target tab">
            <a:extLst>
              <a:ext uri="{FF2B5EF4-FFF2-40B4-BE49-F238E27FC236}">
                <a16:creationId xmlns:a16="http://schemas.microsoft.com/office/drawing/2014/main" id="{0F998FDA-EBED-4CA0-9A9D-32A02D7701E6}"/>
              </a:ext>
            </a:extLst>
          </p:cNvPr>
          <p:cNvSpPr>
            <a:spLocks noGrp="1"/>
          </p:cNvSpPr>
          <p:nvPr/>
        </p:nvSpPr>
        <p:spPr>
          <a:xfrm>
            <a:off x="600075" y="548640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dirty="0">
                <a:solidFill>
                  <a:srgbClr val="24323E"/>
                </a:solidFill>
                <a:latin typeface="Times New Roman"/>
                <a:ea typeface="Times New Roman"/>
                <a:cs typeface="Times New Roman"/>
              </a:rPr>
              <a:t>Fictional data. Target table: one row per station and hour.</a:t>
            </a:r>
          </a:p>
        </p:txBody>
      </p:sp>
    </p:spTree>
    <p:extLst>
      <p:ext uri="{BB962C8B-B14F-4D97-AF65-F5344CB8AC3E}">
        <p14:creationId xmlns:p14="http://schemas.microsoft.com/office/powerpoint/2010/main" val="3723650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Learning outcomes</a:t>
            </a:r>
          </a:p>
        </p:txBody>
      </p:sp>
      <p:sp>
        <p:nvSpPr>
          <p:cNvPr id="3" name="03">
            <a:extLst>
              <a:ext uri="{FF2B5EF4-FFF2-40B4-BE49-F238E27FC236}">
                <a16:creationId xmlns:a16="http://schemas.microsoft.com/office/drawing/2014/main" id="{777273D1-75EC-4F32-90ED-2C4188AE817D}"/>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03</a:t>
            </a:r>
          </a:p>
        </p:txBody>
      </p:sp>
      <p:sp>
        <p:nvSpPr>
          <p:cNvPr id="4" name="01">
            <a:extLst>
              <a:ext uri="{FF2B5EF4-FFF2-40B4-BE49-F238E27FC236}">
                <a16:creationId xmlns:a16="http://schemas.microsoft.com/office/drawing/2014/main" id="{A97A04C0-855B-44CB-8505-C7AD7A8E1BDF}"/>
              </a:ext>
            </a:extLst>
          </p:cNvPr>
          <p:cNvSpPr>
            <a:spLocks noGrp="1"/>
          </p:cNvSpPr>
          <p:nvPr/>
        </p:nvSpPr>
        <p:spPr>
          <a:xfrm>
            <a:off x="600075" y="1381125"/>
            <a:ext cx="733425" cy="561975"/>
          </a:xfrm>
          <a:prstGeom prst="rect">
            <a:avLst/>
          </a:prstGeom>
          <a:noFill/>
          <a:ln w="0">
            <a:noFill/>
          </a:ln>
        </p:spPr>
        <p:txBody>
          <a:bodyPr wrap="square" lIns="0" tIns="0" rIns="0" bIns="0" anchor="t">
            <a:noAutofit/>
          </a:bodyPr>
          <a:lstStyle/>
          <a:p>
            <a:pPr algn="l">
              <a:lnSpc>
                <a:spcPct val="105000"/>
              </a:lnSpc>
              <a:buNone/>
              <a:defRPr sz="3150" b="0">
                <a:solidFill>
                  <a:srgbClr val="F67132"/>
                </a:solidFill>
                <a:latin typeface="Times New Roman"/>
                <a:ea typeface="Times New Roman"/>
                <a:cs typeface="Times New Roman"/>
              </a:defRPr>
            </a:pPr>
            <a:r>
              <a:rPr sz="3150" b="0">
                <a:solidFill>
                  <a:srgbClr val="F67132"/>
                </a:solidFill>
                <a:latin typeface="Times New Roman"/>
                <a:ea typeface="Times New Roman"/>
                <a:cs typeface="Times New Roman"/>
              </a:rPr>
              <a:t>01</a:t>
            </a:r>
          </a:p>
        </p:txBody>
      </p:sp>
      <p:sp>
        <p:nvSpPr>
          <p:cNvPr id="5" name="Explain the format">
            <a:extLst>
              <a:ext uri="{FF2B5EF4-FFF2-40B4-BE49-F238E27FC236}">
                <a16:creationId xmlns:a16="http://schemas.microsoft.com/office/drawing/2014/main" id="{68E06203-26B4-4D5E-9BA6-DF2BFAD22CC1}"/>
              </a:ext>
            </a:extLst>
          </p:cNvPr>
          <p:cNvSpPr>
            <a:spLocks noGrp="1"/>
          </p:cNvSpPr>
          <p:nvPr/>
        </p:nvSpPr>
        <p:spPr>
          <a:xfrm>
            <a:off x="1485900" y="1381125"/>
            <a:ext cx="3190875" cy="495300"/>
          </a:xfrm>
          <a:prstGeom prst="rect">
            <a:avLst/>
          </a:prstGeom>
          <a:noFill/>
          <a:ln w="0">
            <a:noFill/>
          </a:ln>
        </p:spPr>
        <p:txBody>
          <a:bodyPr wrap="square" lIns="0" tIns="0" rIns="0" bIns="0" anchor="t">
            <a:noAutofit/>
          </a:bodyPr>
          <a:lstStyle/>
          <a:p>
            <a:pPr algn="l">
              <a:lnSpc>
                <a:spcPct val="105000"/>
              </a:lnSpc>
              <a:buNone/>
              <a:defRPr sz="2400" b="1">
                <a:solidFill>
                  <a:srgbClr val="24323E"/>
                </a:solidFill>
                <a:latin typeface="Times New Roman"/>
                <a:ea typeface="Times New Roman"/>
                <a:cs typeface="Times New Roman"/>
              </a:defRPr>
            </a:pPr>
            <a:r>
              <a:rPr sz="2400" b="1">
                <a:solidFill>
                  <a:srgbClr val="24323E"/>
                </a:solidFill>
                <a:latin typeface="Times New Roman"/>
                <a:ea typeface="Times New Roman"/>
                <a:cs typeface="Times New Roman"/>
              </a:rPr>
              <a:t>Explain the format</a:t>
            </a:r>
          </a:p>
        </p:txBody>
      </p:sp>
      <p:sp>
        <p:nvSpPr>
          <p:cNvPr id="6" name="Describe JSON’s origins and its rol">
            <a:extLst>
              <a:ext uri="{FF2B5EF4-FFF2-40B4-BE49-F238E27FC236}">
                <a16:creationId xmlns:a16="http://schemas.microsoft.com/office/drawing/2014/main" id="{E8030E7A-4CC0-4D6C-A26E-8AF207103E5F}"/>
              </a:ext>
            </a:extLst>
          </p:cNvPr>
          <p:cNvSpPr>
            <a:spLocks noGrp="1"/>
          </p:cNvSpPr>
          <p:nvPr/>
        </p:nvSpPr>
        <p:spPr>
          <a:xfrm>
            <a:off x="4953000" y="1381125"/>
            <a:ext cx="6248400" cy="781050"/>
          </a:xfrm>
          <a:prstGeom prst="rect">
            <a:avLst/>
          </a:prstGeom>
          <a:noFill/>
          <a:ln w="0">
            <a:noFill/>
          </a:ln>
        </p:spPr>
        <p:txBody>
          <a:bodyPr wrap="square" lIns="0" tIns="0" rIns="0" bIns="0" anchor="t">
            <a:noAutofit/>
          </a:bodyPr>
          <a:lstStyle/>
          <a:p>
            <a:pPr algn="l">
              <a:lnSpc>
                <a:spcPct val="105000"/>
              </a:lnSpc>
              <a:buNone/>
              <a:defRPr sz="2200" b="0">
                <a:solidFill>
                  <a:srgbClr val="24323E"/>
                </a:solidFill>
                <a:latin typeface="Times New Roman"/>
                <a:ea typeface="Times New Roman"/>
                <a:cs typeface="Times New Roman"/>
              </a:defRPr>
            </a:pPr>
            <a:r>
              <a:rPr sz="2200" b="0">
                <a:solidFill>
                  <a:srgbClr val="24323E"/>
                </a:solidFill>
                <a:latin typeface="Times New Roman"/>
                <a:ea typeface="Times New Roman"/>
                <a:cs typeface="Times New Roman"/>
              </a:rPr>
              <a:t>Describe JSON’s origins and its role in exchanging data.</a:t>
            </a:r>
          </a:p>
        </p:txBody>
      </p:sp>
      <p:sp>
        <p:nvSpPr>
          <p:cNvPr id="7" name="02">
            <a:extLst>
              <a:ext uri="{FF2B5EF4-FFF2-40B4-BE49-F238E27FC236}">
                <a16:creationId xmlns:a16="http://schemas.microsoft.com/office/drawing/2014/main" id="{CBC922AE-18AA-4880-B109-ACB319AECC29}"/>
              </a:ext>
            </a:extLst>
          </p:cNvPr>
          <p:cNvSpPr>
            <a:spLocks noGrp="1"/>
          </p:cNvSpPr>
          <p:nvPr/>
        </p:nvSpPr>
        <p:spPr>
          <a:xfrm>
            <a:off x="600075" y="2486025"/>
            <a:ext cx="733425" cy="561975"/>
          </a:xfrm>
          <a:prstGeom prst="rect">
            <a:avLst/>
          </a:prstGeom>
          <a:noFill/>
          <a:ln w="0">
            <a:noFill/>
          </a:ln>
        </p:spPr>
        <p:txBody>
          <a:bodyPr wrap="square" lIns="0" tIns="0" rIns="0" bIns="0" anchor="t">
            <a:noAutofit/>
          </a:bodyPr>
          <a:lstStyle/>
          <a:p>
            <a:pPr algn="l">
              <a:lnSpc>
                <a:spcPct val="105000"/>
              </a:lnSpc>
              <a:buNone/>
              <a:defRPr sz="3150" b="0">
                <a:solidFill>
                  <a:srgbClr val="F67132"/>
                </a:solidFill>
                <a:latin typeface="Times New Roman"/>
                <a:ea typeface="Times New Roman"/>
                <a:cs typeface="Times New Roman"/>
              </a:defRPr>
            </a:pPr>
            <a:r>
              <a:rPr sz="3150" b="0">
                <a:solidFill>
                  <a:srgbClr val="F67132"/>
                </a:solidFill>
                <a:latin typeface="Times New Roman"/>
                <a:ea typeface="Times New Roman"/>
                <a:cs typeface="Times New Roman"/>
              </a:rPr>
              <a:t>02</a:t>
            </a:r>
          </a:p>
        </p:txBody>
      </p:sp>
      <p:sp>
        <p:nvSpPr>
          <p:cNvPr id="8" name="Read the structure">
            <a:extLst>
              <a:ext uri="{FF2B5EF4-FFF2-40B4-BE49-F238E27FC236}">
                <a16:creationId xmlns:a16="http://schemas.microsoft.com/office/drawing/2014/main" id="{58AE017B-FE54-4E9E-98E8-24115E3A55A8}"/>
              </a:ext>
            </a:extLst>
          </p:cNvPr>
          <p:cNvSpPr>
            <a:spLocks noGrp="1"/>
          </p:cNvSpPr>
          <p:nvPr/>
        </p:nvSpPr>
        <p:spPr>
          <a:xfrm>
            <a:off x="1485900" y="2486025"/>
            <a:ext cx="3190875" cy="495300"/>
          </a:xfrm>
          <a:prstGeom prst="rect">
            <a:avLst/>
          </a:prstGeom>
          <a:noFill/>
          <a:ln w="0">
            <a:noFill/>
          </a:ln>
        </p:spPr>
        <p:txBody>
          <a:bodyPr wrap="square" lIns="0" tIns="0" rIns="0" bIns="0" anchor="t">
            <a:noAutofit/>
          </a:bodyPr>
          <a:lstStyle/>
          <a:p>
            <a:pPr algn="l">
              <a:lnSpc>
                <a:spcPct val="105000"/>
              </a:lnSpc>
              <a:buNone/>
              <a:defRPr sz="2400" b="1">
                <a:solidFill>
                  <a:srgbClr val="24323E"/>
                </a:solidFill>
                <a:latin typeface="Times New Roman"/>
                <a:ea typeface="Times New Roman"/>
                <a:cs typeface="Times New Roman"/>
              </a:defRPr>
            </a:pPr>
            <a:r>
              <a:rPr sz="2400" b="1">
                <a:solidFill>
                  <a:srgbClr val="24323E"/>
                </a:solidFill>
                <a:latin typeface="Times New Roman"/>
                <a:ea typeface="Times New Roman"/>
                <a:cs typeface="Times New Roman"/>
              </a:rPr>
              <a:t>Read the structure</a:t>
            </a:r>
          </a:p>
        </p:txBody>
      </p:sp>
      <p:sp>
        <p:nvSpPr>
          <p:cNvPr id="9" name="Identify value types and trace path">
            <a:extLst>
              <a:ext uri="{FF2B5EF4-FFF2-40B4-BE49-F238E27FC236}">
                <a16:creationId xmlns:a16="http://schemas.microsoft.com/office/drawing/2014/main" id="{CC8B817B-7BB7-4BE7-9F47-3515A1AA4592}"/>
              </a:ext>
            </a:extLst>
          </p:cNvPr>
          <p:cNvSpPr>
            <a:spLocks noGrp="1"/>
          </p:cNvSpPr>
          <p:nvPr/>
        </p:nvSpPr>
        <p:spPr>
          <a:xfrm>
            <a:off x="4953000" y="2486025"/>
            <a:ext cx="6248400" cy="781050"/>
          </a:xfrm>
          <a:prstGeom prst="rect">
            <a:avLst/>
          </a:prstGeom>
          <a:noFill/>
          <a:ln w="0">
            <a:noFill/>
          </a:ln>
        </p:spPr>
        <p:txBody>
          <a:bodyPr wrap="square" lIns="0" tIns="0" rIns="0" bIns="0" anchor="t">
            <a:noAutofit/>
          </a:bodyPr>
          <a:lstStyle/>
          <a:p>
            <a:pPr algn="l">
              <a:lnSpc>
                <a:spcPct val="105000"/>
              </a:lnSpc>
              <a:buNone/>
              <a:defRPr sz="2200" b="0">
                <a:solidFill>
                  <a:srgbClr val="24323E"/>
                </a:solidFill>
                <a:latin typeface="Times New Roman"/>
                <a:ea typeface="Times New Roman"/>
                <a:cs typeface="Times New Roman"/>
              </a:defRPr>
            </a:pPr>
            <a:r>
              <a:rPr sz="2200" b="0">
                <a:solidFill>
                  <a:srgbClr val="24323E"/>
                </a:solidFill>
                <a:latin typeface="Times New Roman"/>
                <a:ea typeface="Times New Roman"/>
                <a:cs typeface="Times New Roman"/>
              </a:rPr>
              <a:t>Identify value types and trace paths through nested data.</a:t>
            </a:r>
          </a:p>
        </p:txBody>
      </p:sp>
      <p:sp>
        <p:nvSpPr>
          <p:cNvPr id="10" name="03">
            <a:extLst>
              <a:ext uri="{FF2B5EF4-FFF2-40B4-BE49-F238E27FC236}">
                <a16:creationId xmlns:a16="http://schemas.microsoft.com/office/drawing/2014/main" id="{71609AEF-A3AC-489A-9B1C-5F04C3EA9569}"/>
              </a:ext>
            </a:extLst>
          </p:cNvPr>
          <p:cNvSpPr>
            <a:spLocks noGrp="1"/>
          </p:cNvSpPr>
          <p:nvPr/>
        </p:nvSpPr>
        <p:spPr>
          <a:xfrm>
            <a:off x="600075" y="3590925"/>
            <a:ext cx="733425" cy="561975"/>
          </a:xfrm>
          <a:prstGeom prst="rect">
            <a:avLst/>
          </a:prstGeom>
          <a:noFill/>
          <a:ln w="0">
            <a:noFill/>
          </a:ln>
        </p:spPr>
        <p:txBody>
          <a:bodyPr wrap="square" lIns="0" tIns="0" rIns="0" bIns="0" anchor="t">
            <a:noAutofit/>
          </a:bodyPr>
          <a:lstStyle/>
          <a:p>
            <a:pPr algn="l">
              <a:lnSpc>
                <a:spcPct val="105000"/>
              </a:lnSpc>
              <a:buNone/>
              <a:defRPr sz="3150" b="0">
                <a:solidFill>
                  <a:srgbClr val="F67132"/>
                </a:solidFill>
                <a:latin typeface="Times New Roman"/>
                <a:ea typeface="Times New Roman"/>
                <a:cs typeface="Times New Roman"/>
              </a:defRPr>
            </a:pPr>
            <a:r>
              <a:rPr sz="3150" b="0">
                <a:solidFill>
                  <a:srgbClr val="F67132"/>
                </a:solidFill>
                <a:latin typeface="Times New Roman"/>
                <a:ea typeface="Times New Roman"/>
                <a:cs typeface="Times New Roman"/>
              </a:rPr>
              <a:t>03</a:t>
            </a:r>
          </a:p>
        </p:txBody>
      </p:sp>
      <p:sp>
        <p:nvSpPr>
          <p:cNvPr id="11" name="Check the contract">
            <a:extLst>
              <a:ext uri="{FF2B5EF4-FFF2-40B4-BE49-F238E27FC236}">
                <a16:creationId xmlns:a16="http://schemas.microsoft.com/office/drawing/2014/main" id="{9B3572FC-3BAC-48BD-9004-F4FD43CF4930}"/>
              </a:ext>
            </a:extLst>
          </p:cNvPr>
          <p:cNvSpPr>
            <a:spLocks noGrp="1"/>
          </p:cNvSpPr>
          <p:nvPr/>
        </p:nvSpPr>
        <p:spPr>
          <a:xfrm>
            <a:off x="1485900" y="3590925"/>
            <a:ext cx="3190875" cy="495300"/>
          </a:xfrm>
          <a:prstGeom prst="rect">
            <a:avLst/>
          </a:prstGeom>
          <a:noFill/>
          <a:ln w="0">
            <a:noFill/>
          </a:ln>
        </p:spPr>
        <p:txBody>
          <a:bodyPr wrap="square" lIns="0" tIns="0" rIns="0" bIns="0" anchor="t">
            <a:noAutofit/>
          </a:bodyPr>
          <a:lstStyle/>
          <a:p>
            <a:pPr algn="l">
              <a:lnSpc>
                <a:spcPct val="105000"/>
              </a:lnSpc>
              <a:buNone/>
              <a:defRPr sz="2400" b="1">
                <a:solidFill>
                  <a:srgbClr val="24323E"/>
                </a:solidFill>
                <a:latin typeface="Times New Roman"/>
                <a:ea typeface="Times New Roman"/>
                <a:cs typeface="Times New Roman"/>
              </a:defRPr>
            </a:pPr>
            <a:r>
              <a:rPr sz="2400" b="1">
                <a:solidFill>
                  <a:srgbClr val="24323E"/>
                </a:solidFill>
                <a:latin typeface="Times New Roman"/>
                <a:ea typeface="Times New Roman"/>
                <a:cs typeface="Times New Roman"/>
              </a:rPr>
              <a:t>Check the contract</a:t>
            </a:r>
          </a:p>
        </p:txBody>
      </p:sp>
      <p:sp>
        <p:nvSpPr>
          <p:cNvPr id="12" name="Separate parsing, schema validation">
            <a:extLst>
              <a:ext uri="{FF2B5EF4-FFF2-40B4-BE49-F238E27FC236}">
                <a16:creationId xmlns:a16="http://schemas.microsoft.com/office/drawing/2014/main" id="{0A702A94-708A-4AC4-993F-69184E39FED9}"/>
              </a:ext>
            </a:extLst>
          </p:cNvPr>
          <p:cNvSpPr>
            <a:spLocks noGrp="1"/>
          </p:cNvSpPr>
          <p:nvPr/>
        </p:nvSpPr>
        <p:spPr>
          <a:xfrm>
            <a:off x="4953000" y="3590925"/>
            <a:ext cx="6248400" cy="781050"/>
          </a:xfrm>
          <a:prstGeom prst="rect">
            <a:avLst/>
          </a:prstGeom>
          <a:noFill/>
          <a:ln w="0">
            <a:noFill/>
          </a:ln>
        </p:spPr>
        <p:txBody>
          <a:bodyPr wrap="square" lIns="0" tIns="0" rIns="0" bIns="0" anchor="t">
            <a:noAutofit/>
          </a:bodyPr>
          <a:lstStyle/>
          <a:p>
            <a:pPr algn="l">
              <a:lnSpc>
                <a:spcPct val="105000"/>
              </a:lnSpc>
              <a:buNone/>
              <a:defRPr sz="2200" b="0">
                <a:solidFill>
                  <a:srgbClr val="24323E"/>
                </a:solidFill>
                <a:latin typeface="Times New Roman"/>
                <a:ea typeface="Times New Roman"/>
                <a:cs typeface="Times New Roman"/>
              </a:defRPr>
            </a:pPr>
            <a:r>
              <a:rPr sz="2200" b="0">
                <a:solidFill>
                  <a:srgbClr val="24323E"/>
                </a:solidFill>
                <a:latin typeface="Times New Roman"/>
                <a:ea typeface="Times New Roman"/>
                <a:cs typeface="Times New Roman"/>
              </a:rPr>
              <a:t>Separate parsing, schema validation, and data-quality checks.</a:t>
            </a:r>
          </a:p>
        </p:txBody>
      </p:sp>
      <p:sp>
        <p:nvSpPr>
          <p:cNvPr id="13" name="04">
            <a:extLst>
              <a:ext uri="{FF2B5EF4-FFF2-40B4-BE49-F238E27FC236}">
                <a16:creationId xmlns:a16="http://schemas.microsoft.com/office/drawing/2014/main" id="{E4438E77-91CA-443F-BC2D-D272C61016B3}"/>
              </a:ext>
            </a:extLst>
          </p:cNvPr>
          <p:cNvSpPr>
            <a:spLocks noGrp="1"/>
          </p:cNvSpPr>
          <p:nvPr/>
        </p:nvSpPr>
        <p:spPr>
          <a:xfrm>
            <a:off x="600075" y="4695825"/>
            <a:ext cx="733425" cy="561975"/>
          </a:xfrm>
          <a:prstGeom prst="rect">
            <a:avLst/>
          </a:prstGeom>
          <a:noFill/>
          <a:ln w="0">
            <a:noFill/>
          </a:ln>
        </p:spPr>
        <p:txBody>
          <a:bodyPr wrap="square" lIns="0" tIns="0" rIns="0" bIns="0" anchor="t">
            <a:noAutofit/>
          </a:bodyPr>
          <a:lstStyle/>
          <a:p>
            <a:pPr algn="l">
              <a:lnSpc>
                <a:spcPct val="105000"/>
              </a:lnSpc>
              <a:buNone/>
              <a:defRPr sz="3150" b="0">
                <a:solidFill>
                  <a:srgbClr val="F67132"/>
                </a:solidFill>
                <a:latin typeface="Times New Roman"/>
                <a:ea typeface="Times New Roman"/>
                <a:cs typeface="Times New Roman"/>
              </a:defRPr>
            </a:pPr>
            <a:r>
              <a:rPr sz="3150" b="0">
                <a:solidFill>
                  <a:srgbClr val="F67132"/>
                </a:solidFill>
                <a:latin typeface="Times New Roman"/>
                <a:ea typeface="Times New Roman"/>
                <a:cs typeface="Times New Roman"/>
              </a:rPr>
              <a:t>04</a:t>
            </a:r>
          </a:p>
        </p:txBody>
      </p:sp>
      <p:sp>
        <p:nvSpPr>
          <p:cNvPr id="14" name="Produce an analysis">
            <a:extLst>
              <a:ext uri="{FF2B5EF4-FFF2-40B4-BE49-F238E27FC236}">
                <a16:creationId xmlns:a16="http://schemas.microsoft.com/office/drawing/2014/main" id="{C8E8AF16-BA4D-4552-A712-F119E65F8B1A}"/>
              </a:ext>
            </a:extLst>
          </p:cNvPr>
          <p:cNvSpPr>
            <a:spLocks noGrp="1"/>
          </p:cNvSpPr>
          <p:nvPr/>
        </p:nvSpPr>
        <p:spPr>
          <a:xfrm>
            <a:off x="1485900" y="4695825"/>
            <a:ext cx="3190875" cy="495300"/>
          </a:xfrm>
          <a:prstGeom prst="rect">
            <a:avLst/>
          </a:prstGeom>
          <a:noFill/>
          <a:ln w="0">
            <a:noFill/>
          </a:ln>
        </p:spPr>
        <p:txBody>
          <a:bodyPr wrap="square" lIns="0" tIns="0" rIns="0" bIns="0" anchor="t">
            <a:noAutofit/>
          </a:bodyPr>
          <a:lstStyle/>
          <a:p>
            <a:pPr algn="l">
              <a:lnSpc>
                <a:spcPct val="105000"/>
              </a:lnSpc>
              <a:buNone/>
              <a:defRPr sz="2400" b="1">
                <a:solidFill>
                  <a:srgbClr val="24323E"/>
                </a:solidFill>
                <a:latin typeface="Times New Roman"/>
                <a:ea typeface="Times New Roman"/>
                <a:cs typeface="Times New Roman"/>
              </a:defRPr>
            </a:pPr>
            <a:r>
              <a:rPr sz="2400" b="1">
                <a:solidFill>
                  <a:srgbClr val="24323E"/>
                </a:solidFill>
                <a:latin typeface="Times New Roman"/>
                <a:ea typeface="Times New Roman"/>
                <a:cs typeface="Times New Roman"/>
              </a:rPr>
              <a:t>Produce an analysis</a:t>
            </a:r>
          </a:p>
        </p:txBody>
      </p:sp>
      <p:sp>
        <p:nvSpPr>
          <p:cNvPr id="15" name="Load, reshape, summarize, and expor">
            <a:extLst>
              <a:ext uri="{FF2B5EF4-FFF2-40B4-BE49-F238E27FC236}">
                <a16:creationId xmlns:a16="http://schemas.microsoft.com/office/drawing/2014/main" id="{0647CB7B-7437-4EDB-BA0A-A867A2B2C205}"/>
              </a:ext>
            </a:extLst>
          </p:cNvPr>
          <p:cNvSpPr>
            <a:spLocks noGrp="1"/>
          </p:cNvSpPr>
          <p:nvPr/>
        </p:nvSpPr>
        <p:spPr>
          <a:xfrm>
            <a:off x="4953000" y="4695825"/>
            <a:ext cx="6248400" cy="781050"/>
          </a:xfrm>
          <a:prstGeom prst="rect">
            <a:avLst/>
          </a:prstGeom>
          <a:noFill/>
          <a:ln w="0">
            <a:noFill/>
          </a:ln>
        </p:spPr>
        <p:txBody>
          <a:bodyPr wrap="square" lIns="0" tIns="0" rIns="0" bIns="0" anchor="t">
            <a:noAutofit/>
          </a:bodyPr>
          <a:lstStyle/>
          <a:p>
            <a:pPr algn="l">
              <a:lnSpc>
                <a:spcPct val="105000"/>
              </a:lnSpc>
              <a:buNone/>
              <a:defRPr sz="2200" b="0">
                <a:solidFill>
                  <a:srgbClr val="24323E"/>
                </a:solidFill>
                <a:latin typeface="Times New Roman"/>
                <a:ea typeface="Times New Roman"/>
                <a:cs typeface="Times New Roman"/>
              </a:defRPr>
            </a:pPr>
            <a:r>
              <a:rPr sz="2200" b="0">
                <a:solidFill>
                  <a:srgbClr val="24323E"/>
                </a:solidFill>
                <a:latin typeface="Times New Roman"/>
                <a:ea typeface="Times New Roman"/>
                <a:cs typeface="Times New Roman"/>
              </a:rPr>
              <a:t>Load, reshape, summarize, and export JSON with Python.</a:t>
            </a:r>
          </a:p>
        </p:txBody>
      </p:sp>
    </p:spTree>
    <p:extLst>
      <p:ext uri="{BB962C8B-B14F-4D97-AF65-F5344CB8AC3E}">
        <p14:creationId xmlns:p14="http://schemas.microsoft.com/office/powerpoint/2010/main" val="3723650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JSON: </a:t>
            </a:r>
            <a:r>
              <a:rPr sz="3788">
                <a:solidFill>
                  <a:srgbClr val="F67132"/>
                </a:solidFill>
                <a:latin typeface="Times New Roman"/>
                <a:ea typeface="Times New Roman"/>
                <a:cs typeface="Times New Roman"/>
              </a:rPr>
              <a:t>a representation of structured data</a:t>
            </a:r>
          </a:p>
        </p:txBody>
      </p:sp>
      <p:sp>
        <p:nvSpPr>
          <p:cNvPr id="3" name="04">
            <a:extLst>
              <a:ext uri="{FF2B5EF4-FFF2-40B4-BE49-F238E27FC236}">
                <a16:creationId xmlns:a16="http://schemas.microsoft.com/office/drawing/2014/main" id="{BEF068C5-6492-4B7C-9A50-A998BC8C85DC}"/>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04</a:t>
            </a:r>
          </a:p>
        </p:txBody>
      </p:sp>
      <p:sp>
        <p:nvSpPr>
          <p:cNvPr id="4" name="JavaScript Object Notation">
            <a:extLst>
              <a:ext uri="{FF2B5EF4-FFF2-40B4-BE49-F238E27FC236}">
                <a16:creationId xmlns:a16="http://schemas.microsoft.com/office/drawing/2014/main" id="{76F277BE-0E68-4266-BD4E-1BAEA51E851F}"/>
              </a:ext>
            </a:extLst>
          </p:cNvPr>
          <p:cNvSpPr>
            <a:spLocks noGrp="1"/>
          </p:cNvSpPr>
          <p:nvPr/>
        </p:nvSpPr>
        <p:spPr>
          <a:xfrm>
            <a:off x="600075" y="1257300"/>
            <a:ext cx="10477500" cy="476250"/>
          </a:xfrm>
          <a:prstGeom prst="rect">
            <a:avLst/>
          </a:prstGeom>
          <a:noFill/>
          <a:ln w="0">
            <a:noFill/>
          </a:ln>
        </p:spPr>
        <p:txBody>
          <a:bodyPr wrap="square" lIns="0" tIns="0" rIns="0" bIns="0" anchor="t">
            <a:noAutofit/>
          </a:bodyPr>
          <a:lstStyle/>
          <a:p>
            <a:pPr algn="l">
              <a:lnSpc>
                <a:spcPct val="105000"/>
              </a:lnSpc>
              <a:buNone/>
              <a:defRPr sz="2800" b="1">
                <a:solidFill>
                  <a:srgbClr val="24323E"/>
                </a:solidFill>
                <a:latin typeface="Times New Roman"/>
                <a:ea typeface="Times New Roman"/>
                <a:cs typeface="Times New Roman"/>
              </a:defRPr>
            </a:pPr>
            <a:r>
              <a:rPr sz="2800" b="1">
                <a:solidFill>
                  <a:srgbClr val="24323E"/>
                </a:solidFill>
                <a:latin typeface="Times New Roman"/>
                <a:ea typeface="Times New Roman"/>
                <a:cs typeface="Times New Roman"/>
              </a:rPr>
              <a:t>JavaScript Object Notation</a:t>
            </a:r>
          </a:p>
        </p:txBody>
      </p:sp>
      <p:sp>
        <p:nvSpPr>
          <p:cNvPr id="5" name="Editable code example">
            <a:extLst>
              <a:ext uri="{FF2B5EF4-FFF2-40B4-BE49-F238E27FC236}">
                <a16:creationId xmlns:a16="http://schemas.microsoft.com/office/drawing/2014/main" id="{7D1CF859-4FA9-40FF-9DBC-53A49EBFC2D8}"/>
              </a:ext>
            </a:extLst>
          </p:cNvPr>
          <p:cNvSpPr>
            <a:spLocks noGrp="1"/>
          </p:cNvSpPr>
          <p:nvPr/>
        </p:nvSpPr>
        <p:spPr>
          <a:xfrm>
            <a:off x="600075" y="2047875"/>
            <a:ext cx="10906125" cy="754342"/>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2200" b="0">
                <a:solidFill>
                  <a:srgbClr val="24323E"/>
                </a:solidFill>
                <a:latin typeface="Courier New"/>
                <a:ea typeface="Courier New"/>
                <a:cs typeface="Courier New"/>
              </a:defRPr>
            </a:pPr>
            <a:r>
              <a:rPr sz="2200">
                <a:solidFill>
                  <a:srgbClr val="24323E"/>
                </a:solidFill>
                <a:latin typeface="Courier New"/>
                <a:ea typeface="Courier New"/>
                <a:cs typeface="Courier New"/>
              </a:rPr>
              <a:t>{</a:t>
            </a:r>
            <a:r>
              <a:rPr sz="2200">
                <a:solidFill>
                  <a:srgbClr val="A94B23"/>
                </a:solidFill>
                <a:latin typeface="Courier New"/>
                <a:ea typeface="Courier New"/>
                <a:cs typeface="Courier New"/>
              </a:rPr>
              <a:t>"station_id"</a:t>
            </a:r>
            <a:r>
              <a:rPr sz="2200">
                <a:solidFill>
                  <a:srgbClr val="24323E"/>
                </a:solidFill>
                <a:latin typeface="Courier New"/>
                <a:ea typeface="Courier New"/>
                <a:cs typeface="Courier New"/>
              </a:rPr>
              <a:t>: </a:t>
            </a:r>
            <a:r>
              <a:rPr sz="2200">
                <a:solidFill>
                  <a:srgbClr val="A94B23"/>
                </a:solidFill>
                <a:latin typeface="Courier New"/>
                <a:ea typeface="Courier New"/>
                <a:cs typeface="Courier New"/>
              </a:rPr>
              <a:t>"A1"</a:t>
            </a:r>
            <a:r>
              <a:rPr sz="2200">
                <a:solidFill>
                  <a:srgbClr val="24323E"/>
                </a:solidFill>
                <a:latin typeface="Courier New"/>
                <a:ea typeface="Courier New"/>
                <a:cs typeface="Courier New"/>
              </a:rPr>
              <a:t>, </a:t>
            </a:r>
            <a:r>
              <a:rPr sz="2200">
                <a:solidFill>
                  <a:srgbClr val="A94B23"/>
                </a:solidFill>
                <a:latin typeface="Courier New"/>
                <a:ea typeface="Courier New"/>
                <a:cs typeface="Courier New"/>
              </a:rPr>
              <a:t>"active"</a:t>
            </a:r>
            <a:r>
              <a:rPr sz="2200">
                <a:solidFill>
                  <a:srgbClr val="24323E"/>
                </a:solidFill>
                <a:latin typeface="Courier New"/>
                <a:ea typeface="Courier New"/>
                <a:cs typeface="Courier New"/>
              </a:rPr>
              <a:t>: </a:t>
            </a:r>
            <a:r>
              <a:rPr sz="2200">
                <a:solidFill>
                  <a:srgbClr val="21688D"/>
                </a:solidFill>
                <a:latin typeface="Courier New"/>
                <a:ea typeface="Courier New"/>
                <a:cs typeface="Courier New"/>
              </a:rPr>
              <a:t>true</a:t>
            </a:r>
            <a:r>
              <a:rPr sz="2200">
                <a:solidFill>
                  <a:srgbClr val="24323E"/>
                </a:solidFill>
                <a:latin typeface="Courier New"/>
                <a:ea typeface="Courier New"/>
                <a:cs typeface="Courier New"/>
              </a:rPr>
              <a:t>}</a:t>
            </a:r>
          </a:p>
        </p:txBody>
      </p:sp>
      <p:sp>
        <p:nvSpPr>
          <p:cNvPr id="6" name="JSON text">
            <a:extLst>
              <a:ext uri="{FF2B5EF4-FFF2-40B4-BE49-F238E27FC236}">
                <a16:creationId xmlns:a16="http://schemas.microsoft.com/office/drawing/2014/main" id="{1E19CC34-933C-4D8A-9CF6-E3BF542937BE}"/>
              </a:ext>
            </a:extLst>
          </p:cNvPr>
          <p:cNvSpPr>
            <a:spLocks noGrp="1"/>
          </p:cNvSpPr>
          <p:nvPr/>
        </p:nvSpPr>
        <p:spPr>
          <a:xfrm>
            <a:off x="600075" y="3381375"/>
            <a:ext cx="4800600"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JSON text</a:t>
            </a:r>
          </a:p>
        </p:txBody>
      </p:sp>
      <p:sp>
        <p:nvSpPr>
          <p:cNvPr id="7" name="A portable sequence of characters t">
            <a:extLst>
              <a:ext uri="{FF2B5EF4-FFF2-40B4-BE49-F238E27FC236}">
                <a16:creationId xmlns:a16="http://schemas.microsoft.com/office/drawing/2014/main" id="{2849E502-CD0B-4F46-9A0A-C071B2FF75AF}"/>
              </a:ext>
            </a:extLst>
          </p:cNvPr>
          <p:cNvSpPr>
            <a:spLocks noGrp="1"/>
          </p:cNvSpPr>
          <p:nvPr/>
        </p:nvSpPr>
        <p:spPr>
          <a:xfrm>
            <a:off x="600075" y="3829050"/>
            <a:ext cx="4800600" cy="1200150"/>
          </a:xfrm>
          <a:prstGeom prst="rect">
            <a:avLst/>
          </a:prstGeom>
          <a:noFill/>
          <a:ln w="0">
            <a:noFill/>
          </a:ln>
        </p:spPr>
        <p:txBody>
          <a:bodyPr wrap="square" lIns="0" tIns="0" rIns="0" bIns="0" anchor="t">
            <a:noAutofit/>
          </a:bodyPr>
          <a:lstStyle/>
          <a:p>
            <a:pPr algn="l">
              <a:lnSpc>
                <a:spcPct val="105000"/>
              </a:lnSpc>
              <a:buNone/>
              <a:defRPr sz="2200" b="0">
                <a:solidFill>
                  <a:srgbClr val="24323E"/>
                </a:solidFill>
                <a:latin typeface="Times New Roman"/>
                <a:ea typeface="Times New Roman"/>
                <a:cs typeface="Times New Roman"/>
              </a:defRPr>
            </a:pPr>
            <a:r>
              <a:rPr sz="2200" b="0">
                <a:solidFill>
                  <a:srgbClr val="24323E"/>
                </a:solidFill>
                <a:latin typeface="Times New Roman"/>
                <a:ea typeface="Times New Roman"/>
                <a:cs typeface="Times New Roman"/>
              </a:rPr>
              <a:t>A portable sequence of characters that a file or message can carry.</a:t>
            </a:r>
          </a:p>
        </p:txBody>
      </p:sp>
      <p:sp>
        <p:nvSpPr>
          <p:cNvPr id="8" name="A parsed Python object">
            <a:extLst>
              <a:ext uri="{FF2B5EF4-FFF2-40B4-BE49-F238E27FC236}">
                <a16:creationId xmlns:a16="http://schemas.microsoft.com/office/drawing/2014/main" id="{3C132A74-797C-41DE-A5D2-960206F8D3F5}"/>
              </a:ext>
            </a:extLst>
          </p:cNvPr>
          <p:cNvSpPr>
            <a:spLocks noGrp="1"/>
          </p:cNvSpPr>
          <p:nvPr/>
        </p:nvSpPr>
        <p:spPr>
          <a:xfrm>
            <a:off x="6381750" y="3381375"/>
            <a:ext cx="4800600"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A parsed Python object</a:t>
            </a:r>
          </a:p>
        </p:txBody>
      </p:sp>
      <p:sp>
        <p:nvSpPr>
          <p:cNvPr id="9" name="A dict in memory, containing a stri">
            <a:extLst>
              <a:ext uri="{FF2B5EF4-FFF2-40B4-BE49-F238E27FC236}">
                <a16:creationId xmlns:a16="http://schemas.microsoft.com/office/drawing/2014/main" id="{1692EAB2-EA6F-4856-825D-CB51CB997223}"/>
              </a:ext>
            </a:extLst>
          </p:cNvPr>
          <p:cNvSpPr>
            <a:spLocks noGrp="1"/>
          </p:cNvSpPr>
          <p:nvPr/>
        </p:nvSpPr>
        <p:spPr>
          <a:xfrm>
            <a:off x="6381750" y="3829050"/>
            <a:ext cx="4800600" cy="1200150"/>
          </a:xfrm>
          <a:prstGeom prst="rect">
            <a:avLst/>
          </a:prstGeom>
          <a:noFill/>
          <a:ln w="0">
            <a:noFill/>
          </a:ln>
        </p:spPr>
        <p:txBody>
          <a:bodyPr wrap="square" lIns="0" tIns="0" rIns="0" bIns="0" anchor="t">
            <a:noAutofit/>
          </a:bodyPr>
          <a:lstStyle/>
          <a:p>
            <a:pPr algn="l">
              <a:lnSpc>
                <a:spcPct val="105000"/>
              </a:lnSpc>
              <a:buNone/>
              <a:defRPr sz="2200" b="0">
                <a:solidFill>
                  <a:srgbClr val="24323E"/>
                </a:solidFill>
                <a:latin typeface="Times New Roman"/>
                <a:ea typeface="Times New Roman"/>
                <a:cs typeface="Times New Roman"/>
              </a:defRPr>
            </a:pPr>
            <a:r>
              <a:rPr sz="2200" b="0">
                <a:solidFill>
                  <a:srgbClr val="24323E"/>
                </a:solidFill>
                <a:latin typeface="Times New Roman"/>
                <a:ea typeface="Times New Roman"/>
                <a:cs typeface="Times New Roman"/>
              </a:rPr>
              <a:t>A dict in memory, containing a string and a bool.</a:t>
            </a:r>
          </a:p>
        </p:txBody>
      </p:sp>
      <p:sp>
        <p:nvSpPr>
          <p:cNvPr id="10" name="Serialization writes the representa">
            <a:extLst>
              <a:ext uri="{FF2B5EF4-FFF2-40B4-BE49-F238E27FC236}">
                <a16:creationId xmlns:a16="http://schemas.microsoft.com/office/drawing/2014/main" id="{0B46D75D-B929-45CC-9778-20A2E5E6D26D}"/>
              </a:ext>
            </a:extLst>
          </p:cNvPr>
          <p:cNvSpPr>
            <a:spLocks noGrp="1"/>
          </p:cNvSpPr>
          <p:nvPr/>
        </p:nvSpPr>
        <p:spPr>
          <a:xfrm>
            <a:off x="600075" y="552450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Serialization writes the representation. Parsing reconstructs the values.</a:t>
            </a:r>
          </a:p>
        </p:txBody>
      </p:sp>
    </p:spTree>
    <p:extLst>
      <p:ext uri="{BB962C8B-B14F-4D97-AF65-F5344CB8AC3E}">
        <p14:creationId xmlns:p14="http://schemas.microsoft.com/office/powerpoint/2010/main" val="3723650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Where JSON came from</a:t>
            </a:r>
          </a:p>
        </p:txBody>
      </p:sp>
      <p:sp>
        <p:nvSpPr>
          <p:cNvPr id="3" name="05">
            <a:extLst>
              <a:ext uri="{FF2B5EF4-FFF2-40B4-BE49-F238E27FC236}">
                <a16:creationId xmlns:a16="http://schemas.microsoft.com/office/drawing/2014/main" id="{A33D7F55-EE35-4462-AE79-F00671C6F943}"/>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05</a:t>
            </a:r>
          </a:p>
        </p:txBody>
      </p:sp>
      <p:graphicFrame>
        <p:nvGraphicFramePr>
          <p:cNvPr id="8" name="Table 7"/>
          <p:cNvGraphicFramePr/>
          <p:nvPr/>
        </p:nvGraphicFramePr>
        <p:xfrm>
          <a:off x="600075" y="1285875"/>
          <a:ext cx="10953750" cy="3585210"/>
        </p:xfrm>
        <a:graphic>
          <a:graphicData uri="http://schemas.openxmlformats.org/drawingml/2006/table">
            <a:tbl>
              <a:tblPr/>
              <a:tblGrid>
                <a:gridCol w="200025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95325">
                <a:tc>
                  <a:txBody>
                    <a:bodyPr/>
                    <a:lstStyle/>
                    <a:p>
                      <a:r>
                        <a:rPr sz="2100" b="1">
                          <a:solidFill>
                            <a:srgbClr val="FFFFFF"/>
                          </a:solidFill>
                          <a:latin typeface="Times New Roman"/>
                          <a:ea typeface="Times New Roman"/>
                          <a:cs typeface="Times New Roman"/>
                        </a:rPr>
                        <a:t>Period</a:t>
                      </a:r>
                    </a:p>
                  </a:txBody>
                  <a:tcPr anchor="ctr">
                    <a:solidFill>
                      <a:srgbClr val="24323E"/>
                    </a:solidFill>
                  </a:tcPr>
                </a:tc>
                <a:tc>
                  <a:txBody>
                    <a:bodyPr/>
                    <a:lstStyle/>
                    <a:p>
                      <a:r>
                        <a:rPr sz="2100" b="1">
                          <a:solidFill>
                            <a:srgbClr val="FFFFFF"/>
                          </a:solidFill>
                          <a:latin typeface="Times New Roman"/>
                          <a:ea typeface="Times New Roman"/>
                          <a:cs typeface="Times New Roman"/>
                        </a:rPr>
                        <a:t>Development</a:t>
                      </a:r>
                    </a:p>
                  </a:txBody>
                  <a:tcPr anchor="ctr">
                    <a:solidFill>
                      <a:srgbClr val="24323E"/>
                    </a:solidFill>
                  </a:tcPr>
                </a:tc>
                <a:tc>
                  <a:txBody>
                    <a:bodyPr/>
                    <a:lstStyle/>
                    <a:p>
                      <a:r>
                        <a:rPr sz="2100" b="1">
                          <a:solidFill>
                            <a:srgbClr val="FFFFFF"/>
                          </a:solidFill>
                          <a:latin typeface="Times New Roman"/>
                          <a:ea typeface="Times New Roman"/>
                          <a:cs typeface="Times New Roman"/>
                        </a:rPr>
                        <a:t>Why it matters</a:t>
                      </a:r>
                    </a:p>
                  </a:txBody>
                  <a:tcPr anchor="ctr">
                    <a:solidFill>
                      <a:srgbClr val="24323E"/>
                    </a:solidFill>
                  </a:tcPr>
                </a:tc>
                <a:extLst>
                  <a:ext uri="{0D108BD9-81ED-4DB2-BD59-A6C34878D82A}">
                    <a16:rowId xmlns:a16="http://schemas.microsoft.com/office/drawing/2014/main" val="10000"/>
                  </a:ext>
                </a:extLst>
              </a:tr>
              <a:tr h="695325">
                <a:tc>
                  <a:txBody>
                    <a:bodyPr/>
                    <a:lstStyle/>
                    <a:p>
                      <a:r>
                        <a:rPr sz="2100" b="0">
                          <a:solidFill>
                            <a:srgbClr val="24323E"/>
                          </a:solidFill>
                          <a:latin typeface="Times New Roman"/>
                          <a:ea typeface="Times New Roman"/>
                          <a:cs typeface="Times New Roman"/>
                        </a:rPr>
                        <a:t>1999</a:t>
                      </a:r>
                    </a:p>
                  </a:txBody>
                  <a:tcPr anchor="ctr">
                    <a:solidFill>
                      <a:srgbClr val="FFFFFF"/>
                    </a:solidFill>
                  </a:tcPr>
                </a:tc>
                <a:tc>
                  <a:txBody>
                    <a:bodyPr/>
                    <a:lstStyle/>
                    <a:p>
                      <a:r>
                        <a:rPr sz="2100" b="0">
                          <a:solidFill>
                            <a:srgbClr val="24323E"/>
                          </a:solidFill>
                          <a:latin typeface="Times New Roman"/>
                          <a:ea typeface="Times New Roman"/>
                          <a:cs typeface="Times New Roman"/>
                        </a:rPr>
                        <a:t>ECMAScript, 3rd edition</a:t>
                      </a:r>
                    </a:p>
                  </a:txBody>
                  <a:tcPr anchor="ctr">
                    <a:solidFill>
                      <a:srgbClr val="FFFFFF"/>
                    </a:solidFill>
                  </a:tcPr>
                </a:tc>
                <a:tc>
                  <a:txBody>
                    <a:bodyPr/>
                    <a:lstStyle/>
                    <a:p>
                      <a:r>
                        <a:rPr sz="2100" b="0">
                          <a:solidFill>
                            <a:srgbClr val="24323E"/>
                          </a:solidFill>
                          <a:latin typeface="Times New Roman"/>
                          <a:ea typeface="Times New Roman"/>
                          <a:cs typeface="Times New Roman"/>
                        </a:rPr>
                        <a:t>A familiar notation for objects and arrays</a:t>
                      </a:r>
                    </a:p>
                  </a:txBody>
                  <a:tcPr anchor="ctr">
                    <a:solidFill>
                      <a:srgbClr val="FFFFFF"/>
                    </a:solidFill>
                  </a:tcPr>
                </a:tc>
                <a:extLst>
                  <a:ext uri="{0D108BD9-81ED-4DB2-BD59-A6C34878D82A}">
                    <a16:rowId xmlns:a16="http://schemas.microsoft.com/office/drawing/2014/main" val="10001"/>
                  </a:ext>
                </a:extLst>
              </a:tr>
              <a:tr h="695325">
                <a:tc>
                  <a:txBody>
                    <a:bodyPr/>
                    <a:lstStyle/>
                    <a:p>
                      <a:r>
                        <a:rPr sz="2100" b="0">
                          <a:solidFill>
                            <a:srgbClr val="24323E"/>
                          </a:solidFill>
                          <a:latin typeface="Times New Roman"/>
                          <a:ea typeface="Times New Roman"/>
                          <a:cs typeface="Times New Roman"/>
                        </a:rPr>
                        <a:t>Early 2000s</a:t>
                      </a:r>
                    </a:p>
                  </a:txBody>
                  <a:tcPr anchor="ctr">
                    <a:solidFill>
                      <a:srgbClr val="FFF4EB"/>
                    </a:solidFill>
                  </a:tcPr>
                </a:tc>
                <a:tc>
                  <a:txBody>
                    <a:bodyPr/>
                    <a:lstStyle/>
                    <a:p>
                      <a:r>
                        <a:rPr sz="2100" b="0">
                          <a:solidFill>
                            <a:srgbClr val="24323E"/>
                          </a:solidFill>
                          <a:latin typeface="Times New Roman"/>
                          <a:ea typeface="Times New Roman"/>
                          <a:cs typeface="Times New Roman"/>
                        </a:rPr>
                        <a:t>Douglas Crockford promotes JSON</a:t>
                      </a:r>
                    </a:p>
                  </a:txBody>
                  <a:tcPr anchor="ctr">
                    <a:solidFill>
                      <a:srgbClr val="FFF4EB"/>
                    </a:solidFill>
                  </a:tcPr>
                </a:tc>
                <a:tc>
                  <a:txBody>
                    <a:bodyPr/>
                    <a:lstStyle/>
                    <a:p>
                      <a:r>
                        <a:rPr sz="2100" b="0">
                          <a:solidFill>
                            <a:srgbClr val="24323E"/>
                          </a:solidFill>
                          <a:latin typeface="Times New Roman"/>
                          <a:ea typeface="Times New Roman"/>
                          <a:cs typeface="Times New Roman"/>
                        </a:rPr>
                        <a:t>A small format for web data exchange</a:t>
                      </a:r>
                    </a:p>
                  </a:txBody>
                  <a:tcPr anchor="ctr">
                    <a:solidFill>
                      <a:srgbClr val="FFF4EB"/>
                    </a:solidFill>
                  </a:tcPr>
                </a:tc>
                <a:extLst>
                  <a:ext uri="{0D108BD9-81ED-4DB2-BD59-A6C34878D82A}">
                    <a16:rowId xmlns:a16="http://schemas.microsoft.com/office/drawing/2014/main" val="10002"/>
                  </a:ext>
                </a:extLst>
              </a:tr>
              <a:tr h="695325">
                <a:tc>
                  <a:txBody>
                    <a:bodyPr/>
                    <a:lstStyle/>
                    <a:p>
                      <a:r>
                        <a:rPr sz="2100" b="0">
                          <a:solidFill>
                            <a:srgbClr val="24323E"/>
                          </a:solidFill>
                          <a:latin typeface="Times New Roman"/>
                          <a:ea typeface="Times New Roman"/>
                          <a:cs typeface="Times New Roman"/>
                        </a:rPr>
                        <a:t>2006</a:t>
                      </a:r>
                    </a:p>
                  </a:txBody>
                  <a:tcPr anchor="ctr">
                    <a:solidFill>
                      <a:srgbClr val="FFFFFF"/>
                    </a:solidFill>
                  </a:tcPr>
                </a:tc>
                <a:tc>
                  <a:txBody>
                    <a:bodyPr/>
                    <a:lstStyle/>
                    <a:p>
                      <a:r>
                        <a:rPr sz="2100" b="0">
                          <a:solidFill>
                            <a:srgbClr val="24323E"/>
                          </a:solidFill>
                          <a:latin typeface="Times New Roman"/>
                          <a:ea typeface="Times New Roman"/>
                          <a:cs typeface="Times New Roman"/>
                        </a:rPr>
                        <a:t>RFC 4627</a:t>
                      </a:r>
                    </a:p>
                  </a:txBody>
                  <a:tcPr anchor="ctr">
                    <a:solidFill>
                      <a:srgbClr val="FFFFFF"/>
                    </a:solidFill>
                  </a:tcPr>
                </a:tc>
                <a:tc>
                  <a:txBody>
                    <a:bodyPr/>
                    <a:lstStyle/>
                    <a:p>
                      <a:r>
                        <a:rPr sz="2100" b="0">
                          <a:solidFill>
                            <a:srgbClr val="24323E"/>
                          </a:solidFill>
                          <a:latin typeface="Times New Roman"/>
                          <a:ea typeface="Times New Roman"/>
                          <a:cs typeface="Times New Roman"/>
                        </a:rPr>
                        <a:t>An IETF description and application/json</a:t>
                      </a:r>
                    </a:p>
                  </a:txBody>
                  <a:tcPr anchor="ctr">
                    <a:solidFill>
                      <a:srgbClr val="FFFFFF"/>
                    </a:solidFill>
                  </a:tcPr>
                </a:tc>
                <a:extLst>
                  <a:ext uri="{0D108BD9-81ED-4DB2-BD59-A6C34878D82A}">
                    <a16:rowId xmlns:a16="http://schemas.microsoft.com/office/drawing/2014/main" val="10003"/>
                  </a:ext>
                </a:extLst>
              </a:tr>
              <a:tr h="695325">
                <a:tc>
                  <a:txBody>
                    <a:bodyPr/>
                    <a:lstStyle/>
                    <a:p>
                      <a:r>
                        <a:rPr sz="2100" b="0">
                          <a:solidFill>
                            <a:srgbClr val="24323E"/>
                          </a:solidFill>
                          <a:latin typeface="Times New Roman"/>
                          <a:ea typeface="Times New Roman"/>
                          <a:cs typeface="Times New Roman"/>
                        </a:rPr>
                        <a:t>2013 / 2017</a:t>
                      </a:r>
                    </a:p>
                  </a:txBody>
                  <a:tcPr anchor="ctr">
                    <a:solidFill>
                      <a:srgbClr val="FFF4EB"/>
                    </a:solidFill>
                  </a:tcPr>
                </a:tc>
                <a:tc>
                  <a:txBody>
                    <a:bodyPr/>
                    <a:lstStyle/>
                    <a:p>
                      <a:r>
                        <a:rPr sz="2100" b="0">
                          <a:solidFill>
                            <a:srgbClr val="24323E"/>
                          </a:solidFill>
                          <a:latin typeface="Times New Roman"/>
                          <a:ea typeface="Times New Roman"/>
                          <a:cs typeface="Times New Roman"/>
                        </a:rPr>
                        <a:t>ECMA-404; RFC 8259 in 2017</a:t>
                      </a:r>
                    </a:p>
                  </a:txBody>
                  <a:tcPr anchor="ctr">
                    <a:solidFill>
                      <a:srgbClr val="FFF4EB"/>
                    </a:solidFill>
                  </a:tcPr>
                </a:tc>
                <a:tc>
                  <a:txBody>
                    <a:bodyPr/>
                    <a:lstStyle/>
                    <a:p>
                      <a:r>
                        <a:rPr sz="2100" b="0">
                          <a:solidFill>
                            <a:srgbClr val="24323E"/>
                          </a:solidFill>
                          <a:latin typeface="Times New Roman"/>
                          <a:ea typeface="Times New Roman"/>
                          <a:cs typeface="Times New Roman"/>
                        </a:rPr>
                        <a:t>Shared syntax and Internet interoperability</a:t>
                      </a:r>
                    </a:p>
                  </a:txBody>
                  <a:tcPr anchor="ctr">
                    <a:solidFill>
                      <a:srgbClr val="FFF4EB"/>
                    </a:solidFill>
                  </a:tcPr>
                </a:tc>
                <a:extLst>
                  <a:ext uri="{0D108BD9-81ED-4DB2-BD59-A6C34878D82A}">
                    <a16:rowId xmlns:a16="http://schemas.microsoft.com/office/drawing/2014/main" val="10004"/>
                  </a:ext>
                </a:extLst>
              </a:tr>
            </a:tbl>
          </a:graphicData>
        </a:graphic>
      </p:graphicFrame>
      <p:sp>
        <p:nvSpPr>
          <p:cNvPr id="5" name="The JavaScript ancestry explains th">
            <a:extLst>
              <a:ext uri="{FF2B5EF4-FFF2-40B4-BE49-F238E27FC236}">
                <a16:creationId xmlns:a16="http://schemas.microsoft.com/office/drawing/2014/main" id="{ABB5AE6A-B52A-4435-B6A3-60FD02B77FB6}"/>
              </a:ext>
            </a:extLst>
          </p:cNvPr>
          <p:cNvSpPr>
            <a:spLocks noGrp="1"/>
          </p:cNvSpPr>
          <p:nvPr/>
        </p:nvSpPr>
        <p:spPr>
          <a:xfrm>
            <a:off x="600075" y="552450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The JavaScript ancestry explains the name. Many languages can read and write JSON.</a:t>
            </a:r>
          </a:p>
        </p:txBody>
      </p:sp>
    </p:spTree>
    <p:extLst>
      <p:ext uri="{BB962C8B-B14F-4D97-AF65-F5344CB8AC3E}">
        <p14:creationId xmlns:p14="http://schemas.microsoft.com/office/powerpoint/2010/main" val="3723650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Why call it the “language of the internet”?</a:t>
            </a:r>
          </a:p>
        </p:txBody>
      </p:sp>
      <p:sp>
        <p:nvSpPr>
          <p:cNvPr id="3" name="06">
            <a:extLst>
              <a:ext uri="{FF2B5EF4-FFF2-40B4-BE49-F238E27FC236}">
                <a16:creationId xmlns:a16="http://schemas.microsoft.com/office/drawing/2014/main" id="{A71A3DE2-18FF-4BF2-82B3-60F0177567B8}"/>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06</a:t>
            </a:r>
          </a:p>
        </p:txBody>
      </p:sp>
      <p:sp>
        <p:nvSpPr>
          <p:cNvPr id="4" name="Editable code example">
            <a:extLst>
              <a:ext uri="{FF2B5EF4-FFF2-40B4-BE49-F238E27FC236}">
                <a16:creationId xmlns:a16="http://schemas.microsoft.com/office/drawing/2014/main" id="{4EA95388-FD82-43D5-B19E-F5B59C5FE4E9}"/>
              </a:ext>
            </a:extLst>
          </p:cNvPr>
          <p:cNvSpPr>
            <a:spLocks noGrp="1"/>
          </p:cNvSpPr>
          <p:nvPr/>
        </p:nvSpPr>
        <p:spPr>
          <a:xfrm>
            <a:off x="600075" y="1333500"/>
            <a:ext cx="6591300" cy="1653540"/>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2025" b="0">
                <a:solidFill>
                  <a:srgbClr val="24323E"/>
                </a:solidFill>
                <a:latin typeface="Courier New"/>
                <a:ea typeface="Courier New"/>
                <a:cs typeface="Courier New"/>
              </a:defRPr>
            </a:pPr>
            <a:r>
              <a:rPr sz="2025">
                <a:solidFill>
                  <a:srgbClr val="24323E"/>
                </a:solidFill>
                <a:latin typeface="Courier New"/>
                <a:ea typeface="Courier New"/>
                <a:cs typeface="Courier New"/>
              </a:rPr>
              <a:t>HTTP/</a:t>
            </a:r>
            <a:r>
              <a:rPr sz="2025">
                <a:solidFill>
                  <a:srgbClr val="21688D"/>
                </a:solidFill>
                <a:latin typeface="Courier New"/>
                <a:ea typeface="Courier New"/>
                <a:cs typeface="Courier New"/>
              </a:rPr>
              <a:t>1.1</a:t>
            </a:r>
            <a:r>
              <a:rPr sz="2025">
                <a:solidFill>
                  <a:srgbClr val="24323E"/>
                </a:solidFill>
                <a:latin typeface="Courier New"/>
                <a:ea typeface="Courier New"/>
                <a:cs typeface="Courier New"/>
              </a:rPr>
              <a:t> </a:t>
            </a:r>
            <a:r>
              <a:rPr sz="2025">
                <a:solidFill>
                  <a:srgbClr val="21688D"/>
                </a:solidFill>
                <a:latin typeface="Courier New"/>
                <a:ea typeface="Courier New"/>
                <a:cs typeface="Courier New"/>
              </a:rPr>
              <a:t>200</a:t>
            </a:r>
            <a:r>
              <a:rPr sz="2025">
                <a:solidFill>
                  <a:srgbClr val="24323E"/>
                </a:solidFill>
                <a:latin typeface="Courier New"/>
                <a:ea typeface="Courier New"/>
                <a:cs typeface="Courier New"/>
              </a:rPr>
              <a:t> OK</a:t>
            </a:r>
          </a:p>
          <a:p>
            <a:pPr algn="l">
              <a:spcBef>
                <a:spcPts val="0"/>
              </a:spcBef>
              <a:spcAft>
                <a:spcPts val="0"/>
              </a:spcAft>
              <a:buNone/>
              <a:defRPr sz="2025" b="0">
                <a:solidFill>
                  <a:srgbClr val="24323E"/>
                </a:solidFill>
                <a:latin typeface="Courier New"/>
                <a:ea typeface="Courier New"/>
                <a:cs typeface="Courier New"/>
              </a:defRPr>
            </a:pPr>
            <a:r>
              <a:rPr sz="2025">
                <a:solidFill>
                  <a:srgbClr val="24323E"/>
                </a:solidFill>
                <a:latin typeface="Courier New"/>
                <a:ea typeface="Courier New"/>
                <a:cs typeface="Courier New"/>
              </a:rPr>
              <a:t>Content-Type: application/json</a:t>
            </a:r>
          </a:p>
          <a:p>
            <a:pPr algn="l">
              <a:spcBef>
                <a:spcPts val="0"/>
              </a:spcBef>
              <a:spcAft>
                <a:spcPts val="0"/>
              </a:spcAft>
              <a:buNone/>
              <a:defRPr sz="2025" b="0">
                <a:solidFill>
                  <a:srgbClr val="24323E"/>
                </a:solidFill>
                <a:latin typeface="Courier New"/>
                <a:ea typeface="Courier New"/>
                <a:cs typeface="Courier New"/>
              </a:defRPr>
            </a:pPr>
            <a:endParaRPr sz="2025">
              <a:solidFill>
                <a:srgbClr val="24323E"/>
              </a:solidFill>
              <a:latin typeface="Courier New"/>
              <a:ea typeface="Courier New"/>
              <a:cs typeface="Courier New"/>
            </a:endParaRPr>
          </a:p>
          <a:p>
            <a:pPr algn="l">
              <a:spcBef>
                <a:spcPts val="0"/>
              </a:spcBef>
              <a:spcAft>
                <a:spcPts val="0"/>
              </a:spcAft>
              <a:buNone/>
              <a:defRPr sz="2025" b="0">
                <a:solidFill>
                  <a:srgbClr val="24323E"/>
                </a:solidFill>
                <a:latin typeface="Courier New"/>
                <a:ea typeface="Courier New"/>
                <a:cs typeface="Courier New"/>
              </a:defRPr>
            </a:pPr>
            <a:r>
              <a:rPr sz="2025">
                <a:solidFill>
                  <a:srgbClr val="24323E"/>
                </a:solidFill>
                <a:latin typeface="Courier New"/>
                <a:ea typeface="Courier New"/>
                <a:cs typeface="Courier New"/>
              </a:rPr>
              <a:t>{</a:t>
            </a:r>
            <a:r>
              <a:rPr sz="2025">
                <a:solidFill>
                  <a:srgbClr val="A94B23"/>
                </a:solidFill>
                <a:latin typeface="Courier New"/>
                <a:ea typeface="Courier New"/>
                <a:cs typeface="Courier New"/>
              </a:rPr>
              <a:t>"station_id"</a:t>
            </a:r>
            <a:r>
              <a:rPr sz="2025">
                <a:solidFill>
                  <a:srgbClr val="24323E"/>
                </a:solidFill>
                <a:latin typeface="Courier New"/>
                <a:ea typeface="Courier New"/>
                <a:cs typeface="Courier New"/>
              </a:rPr>
              <a:t>: </a:t>
            </a:r>
            <a:r>
              <a:rPr sz="2025">
                <a:solidFill>
                  <a:srgbClr val="A94B23"/>
                </a:solidFill>
                <a:latin typeface="Courier New"/>
                <a:ea typeface="Courier New"/>
                <a:cs typeface="Courier New"/>
              </a:rPr>
              <a:t>"A1"</a:t>
            </a:r>
            <a:r>
              <a:rPr sz="2025">
                <a:solidFill>
                  <a:srgbClr val="24323E"/>
                </a:solidFill>
                <a:latin typeface="Courier New"/>
                <a:ea typeface="Courier New"/>
                <a:cs typeface="Courier New"/>
              </a:rPr>
              <a:t>, </a:t>
            </a:r>
            <a:r>
              <a:rPr sz="2025">
                <a:solidFill>
                  <a:srgbClr val="A94B23"/>
                </a:solidFill>
                <a:latin typeface="Courier New"/>
                <a:ea typeface="Courier New"/>
                <a:cs typeface="Courier New"/>
              </a:rPr>
              <a:t>"pm25"</a:t>
            </a:r>
            <a:r>
              <a:rPr sz="2025">
                <a:solidFill>
                  <a:srgbClr val="24323E"/>
                </a:solidFill>
                <a:latin typeface="Courier New"/>
                <a:ea typeface="Courier New"/>
                <a:cs typeface="Courier New"/>
              </a:rPr>
              <a:t>: </a:t>
            </a:r>
            <a:r>
              <a:rPr sz="2025">
                <a:solidFill>
                  <a:srgbClr val="21688D"/>
                </a:solidFill>
                <a:latin typeface="Courier New"/>
                <a:ea typeface="Courier New"/>
                <a:cs typeface="Courier New"/>
              </a:rPr>
              <a:t>8.1</a:t>
            </a:r>
            <a:r>
              <a:rPr sz="2025">
                <a:solidFill>
                  <a:srgbClr val="24323E"/>
                </a:solidFill>
                <a:latin typeface="Courier New"/>
                <a:ea typeface="Courier New"/>
                <a:cs typeface="Courier New"/>
              </a:rPr>
              <a:t>}</a:t>
            </a:r>
          </a:p>
        </p:txBody>
      </p:sp>
      <p:sp>
        <p:nvSpPr>
          <p:cNvPr id="5" name="Why it works">
            <a:extLst>
              <a:ext uri="{FF2B5EF4-FFF2-40B4-BE49-F238E27FC236}">
                <a16:creationId xmlns:a16="http://schemas.microsoft.com/office/drawing/2014/main" id="{9E1AD4BD-3BC7-47F3-B6DB-0C901AEE0209}"/>
              </a:ext>
            </a:extLst>
          </p:cNvPr>
          <p:cNvSpPr>
            <a:spLocks noGrp="1"/>
          </p:cNvSpPr>
          <p:nvPr/>
        </p:nvSpPr>
        <p:spPr>
          <a:xfrm>
            <a:off x="7896225" y="1371600"/>
            <a:ext cx="3457575"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Why it works</a:t>
            </a:r>
          </a:p>
        </p:txBody>
      </p:sp>
      <p:sp>
        <p:nvSpPr>
          <p:cNvPr id="6" name="Compact syntax, readable text, nest">
            <a:extLst>
              <a:ext uri="{FF2B5EF4-FFF2-40B4-BE49-F238E27FC236}">
                <a16:creationId xmlns:a16="http://schemas.microsoft.com/office/drawing/2014/main" id="{D5F8C508-D61F-4E0F-9058-A1D44A47C7BA}"/>
              </a:ext>
            </a:extLst>
          </p:cNvPr>
          <p:cNvSpPr>
            <a:spLocks noGrp="1"/>
          </p:cNvSpPr>
          <p:nvPr/>
        </p:nvSpPr>
        <p:spPr>
          <a:xfrm>
            <a:off x="7896225" y="1819275"/>
            <a:ext cx="3457575" cy="1924050"/>
          </a:xfrm>
          <a:prstGeom prst="rect">
            <a:avLst/>
          </a:prstGeom>
          <a:noFill/>
          <a:ln w="0">
            <a:noFill/>
          </a:ln>
        </p:spPr>
        <p:txBody>
          <a:bodyPr wrap="square" lIns="0" tIns="0" rIns="0" bIns="0" anchor="t">
            <a:noAutofit/>
          </a:bodyPr>
          <a:lstStyle/>
          <a:p>
            <a:pPr algn="l">
              <a:lnSpc>
                <a:spcPct val="105000"/>
              </a:lnSpc>
              <a:buNone/>
              <a:defRPr sz="2200" b="0">
                <a:solidFill>
                  <a:srgbClr val="24323E"/>
                </a:solidFill>
                <a:latin typeface="Times New Roman"/>
                <a:ea typeface="Times New Roman"/>
                <a:cs typeface="Times New Roman"/>
              </a:defRPr>
            </a:pPr>
            <a:r>
              <a:rPr sz="2200" b="0">
                <a:solidFill>
                  <a:srgbClr val="24323E"/>
                </a:solidFill>
                <a:latin typeface="Times New Roman"/>
                <a:ea typeface="Times New Roman"/>
                <a:cs typeface="Times New Roman"/>
              </a:rPr>
              <a:t>Compact syntax, readable text, nested records, and broad language support.</a:t>
            </a:r>
          </a:p>
        </p:txBody>
      </p:sp>
      <p:sp>
        <p:nvSpPr>
          <p:cNvPr id="7" name="HTTP carries the message. JSON repr">
            <a:extLst>
              <a:ext uri="{FF2B5EF4-FFF2-40B4-BE49-F238E27FC236}">
                <a16:creationId xmlns:a16="http://schemas.microsoft.com/office/drawing/2014/main" id="{63286BB9-EE8E-420E-B658-93761E0F3BC1}"/>
              </a:ext>
            </a:extLst>
          </p:cNvPr>
          <p:cNvSpPr>
            <a:spLocks noGrp="1"/>
          </p:cNvSpPr>
          <p:nvPr/>
        </p:nvSpPr>
        <p:spPr>
          <a:xfrm>
            <a:off x="600075" y="3857625"/>
            <a:ext cx="10572750" cy="695325"/>
          </a:xfrm>
          <a:prstGeom prst="rect">
            <a:avLst/>
          </a:prstGeom>
          <a:noFill/>
          <a:ln w="0">
            <a:noFill/>
          </a:ln>
        </p:spPr>
        <p:txBody>
          <a:bodyPr wrap="square" lIns="0" tIns="0" rIns="0" bIns="0" anchor="t">
            <a:noAutofit/>
          </a:bodyPr>
          <a:lstStyle/>
          <a:p>
            <a:pPr algn="l">
              <a:lnSpc>
                <a:spcPct val="105000"/>
              </a:lnSpc>
              <a:buNone/>
              <a:defRPr sz="2625" b="1">
                <a:solidFill>
                  <a:srgbClr val="24323E"/>
                </a:solidFill>
                <a:latin typeface="Times New Roman"/>
                <a:ea typeface="Times New Roman"/>
                <a:cs typeface="Times New Roman"/>
              </a:defRPr>
            </a:pPr>
            <a:r>
              <a:rPr sz="2625" b="1">
                <a:solidFill>
                  <a:srgbClr val="24323E"/>
                </a:solidFill>
                <a:latin typeface="Times New Roman"/>
                <a:ea typeface="Times New Roman"/>
                <a:cs typeface="Times New Roman"/>
              </a:rPr>
              <a:t>HTTP carries the message. JSON represents its data.</a:t>
            </a:r>
          </a:p>
        </p:txBody>
      </p:sp>
      <p:sp>
        <p:nvSpPr>
          <p:cNvPr id="8" name="A common interchange format. Intern">
            <a:extLst>
              <a:ext uri="{FF2B5EF4-FFF2-40B4-BE49-F238E27FC236}">
                <a16:creationId xmlns:a16="http://schemas.microsoft.com/office/drawing/2014/main" id="{8DAE1A08-94B7-41FB-8231-DF5E05FC57AE}"/>
              </a:ext>
            </a:extLst>
          </p:cNvPr>
          <p:cNvSpPr>
            <a:spLocks noGrp="1"/>
          </p:cNvSpPr>
          <p:nvPr/>
        </p:nvSpPr>
        <p:spPr>
          <a:xfrm>
            <a:off x="600075" y="539115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A common interchange format. Internet protocols and programming languages do other jobs.</a:t>
            </a:r>
          </a:p>
        </p:txBody>
      </p:sp>
    </p:spTree>
    <p:extLst>
      <p:ext uri="{BB962C8B-B14F-4D97-AF65-F5344CB8AC3E}">
        <p14:creationId xmlns:p14="http://schemas.microsoft.com/office/powerpoint/2010/main" val="3723650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JSON in a data scientist’s workflow</a:t>
            </a:r>
          </a:p>
        </p:txBody>
      </p:sp>
      <p:sp>
        <p:nvSpPr>
          <p:cNvPr id="3" name="07">
            <a:extLst>
              <a:ext uri="{FF2B5EF4-FFF2-40B4-BE49-F238E27FC236}">
                <a16:creationId xmlns:a16="http://schemas.microsoft.com/office/drawing/2014/main" id="{DDD7CD53-0858-4D2D-A980-4F84D4AAAF67}"/>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07</a:t>
            </a:r>
          </a:p>
        </p:txBody>
      </p:sp>
      <p:graphicFrame>
        <p:nvGraphicFramePr>
          <p:cNvPr id="8" name="Table 7"/>
          <p:cNvGraphicFramePr/>
          <p:nvPr/>
        </p:nvGraphicFramePr>
        <p:xfrm>
          <a:off x="600075" y="1285875"/>
          <a:ext cx="10953750" cy="3619500"/>
        </p:xfrm>
        <a:graphic>
          <a:graphicData uri="http://schemas.openxmlformats.org/drawingml/2006/table">
            <a:tbl>
              <a:tblPr/>
              <a:tblGrid>
                <a:gridCol w="1762125">
                  <a:extLst>
                    <a:ext uri="{9D8B030D-6E8A-4147-A177-3AD203B41FA5}">
                      <a16:colId xmlns:a16="http://schemas.microsoft.com/office/drawing/2014/main" val="20000"/>
                    </a:ext>
                  </a:extLst>
                </a:gridCol>
                <a:gridCol w="3905250">
                  <a:extLst>
                    <a:ext uri="{9D8B030D-6E8A-4147-A177-3AD203B41FA5}">
                      <a16:colId xmlns:a16="http://schemas.microsoft.com/office/drawing/2014/main" val="20001"/>
                    </a:ext>
                  </a:extLst>
                </a:gridCol>
                <a:gridCol w="5286375">
                  <a:extLst>
                    <a:ext uri="{9D8B030D-6E8A-4147-A177-3AD203B41FA5}">
                      <a16:colId xmlns:a16="http://schemas.microsoft.com/office/drawing/2014/main" val="20002"/>
                    </a:ext>
                  </a:extLst>
                </a:gridCol>
              </a:tblGrid>
              <a:tr h="723900">
                <a:tc>
                  <a:txBody>
                    <a:bodyPr/>
                    <a:lstStyle/>
                    <a:p>
                      <a:r>
                        <a:rPr sz="2025" b="1">
                          <a:solidFill>
                            <a:srgbClr val="FFFFFF"/>
                          </a:solidFill>
                          <a:latin typeface="Times New Roman"/>
                          <a:ea typeface="Times New Roman"/>
                          <a:cs typeface="Times New Roman"/>
                        </a:rPr>
                        <a:t>Work stage</a:t>
                      </a:r>
                    </a:p>
                  </a:txBody>
                  <a:tcPr anchor="ctr">
                    <a:solidFill>
                      <a:srgbClr val="24323E"/>
                    </a:solidFill>
                  </a:tcPr>
                </a:tc>
                <a:tc>
                  <a:txBody>
                    <a:bodyPr/>
                    <a:lstStyle/>
                    <a:p>
                      <a:r>
                        <a:rPr sz="2025" b="1">
                          <a:solidFill>
                            <a:srgbClr val="FFFFFF"/>
                          </a:solidFill>
                          <a:latin typeface="Times New Roman"/>
                          <a:ea typeface="Times New Roman"/>
                          <a:cs typeface="Times New Roman"/>
                        </a:rPr>
                        <a:t>JSON you might encounter</a:t>
                      </a:r>
                    </a:p>
                  </a:txBody>
                  <a:tcPr anchor="ctr">
                    <a:solidFill>
                      <a:srgbClr val="24323E"/>
                    </a:solidFill>
                  </a:tcPr>
                </a:tc>
                <a:tc>
                  <a:txBody>
                    <a:bodyPr/>
                    <a:lstStyle/>
                    <a:p>
                      <a:r>
                        <a:rPr sz="2025" b="1">
                          <a:solidFill>
                            <a:srgbClr val="FFFFFF"/>
                          </a:solidFill>
                          <a:latin typeface="Times New Roman"/>
                          <a:ea typeface="Times New Roman"/>
                          <a:cs typeface="Times New Roman"/>
                        </a:rPr>
                        <a:t>Judgment required</a:t>
                      </a:r>
                    </a:p>
                  </a:txBody>
                  <a:tcPr anchor="ctr">
                    <a:solidFill>
                      <a:srgbClr val="24323E"/>
                    </a:solidFill>
                  </a:tcPr>
                </a:tc>
                <a:extLst>
                  <a:ext uri="{0D108BD9-81ED-4DB2-BD59-A6C34878D82A}">
                    <a16:rowId xmlns:a16="http://schemas.microsoft.com/office/drawing/2014/main" val="10000"/>
                  </a:ext>
                </a:extLst>
              </a:tr>
              <a:tr h="723900">
                <a:tc>
                  <a:txBody>
                    <a:bodyPr/>
                    <a:lstStyle/>
                    <a:p>
                      <a:r>
                        <a:rPr sz="2025" b="0">
                          <a:solidFill>
                            <a:srgbClr val="24323E"/>
                          </a:solidFill>
                          <a:latin typeface="Times New Roman"/>
                          <a:ea typeface="Times New Roman"/>
                          <a:cs typeface="Times New Roman"/>
                        </a:rPr>
                        <a:t>Acquire</a:t>
                      </a:r>
                    </a:p>
                  </a:txBody>
                  <a:tcPr anchor="ctr">
                    <a:solidFill>
                      <a:srgbClr val="FFFFFF"/>
                    </a:solidFill>
                  </a:tcPr>
                </a:tc>
                <a:tc>
                  <a:txBody>
                    <a:bodyPr/>
                    <a:lstStyle/>
                    <a:p>
                      <a:r>
                        <a:rPr sz="2025" b="0">
                          <a:solidFill>
                            <a:srgbClr val="24323E"/>
                          </a:solidFill>
                          <a:latin typeface="Times New Roman"/>
                          <a:ea typeface="Times New Roman"/>
                          <a:cs typeface="Times New Roman"/>
                        </a:rPr>
                        <a:t>API responses and sensor events</a:t>
                      </a:r>
                    </a:p>
                  </a:txBody>
                  <a:tcPr anchor="ctr">
                    <a:solidFill>
                      <a:srgbClr val="FFFFFF"/>
                    </a:solidFill>
                  </a:tcPr>
                </a:tc>
                <a:tc>
                  <a:txBody>
                    <a:bodyPr/>
                    <a:lstStyle/>
                    <a:p>
                      <a:r>
                        <a:rPr sz="2025" b="0">
                          <a:solidFill>
                            <a:srgbClr val="24323E"/>
                          </a:solidFill>
                          <a:latin typeface="Times New Roman"/>
                          <a:ea typeface="Times New Roman"/>
                          <a:cs typeface="Times New Roman"/>
                        </a:rPr>
                        <a:t>What was collected, when, and in what units?</a:t>
                      </a:r>
                    </a:p>
                  </a:txBody>
                  <a:tcPr anchor="ctr">
                    <a:solidFill>
                      <a:srgbClr val="FFFFFF"/>
                    </a:solidFill>
                  </a:tcPr>
                </a:tc>
                <a:extLst>
                  <a:ext uri="{0D108BD9-81ED-4DB2-BD59-A6C34878D82A}">
                    <a16:rowId xmlns:a16="http://schemas.microsoft.com/office/drawing/2014/main" val="10001"/>
                  </a:ext>
                </a:extLst>
              </a:tr>
              <a:tr h="723900">
                <a:tc>
                  <a:txBody>
                    <a:bodyPr/>
                    <a:lstStyle/>
                    <a:p>
                      <a:r>
                        <a:rPr sz="2025" b="0">
                          <a:solidFill>
                            <a:srgbClr val="24323E"/>
                          </a:solidFill>
                          <a:latin typeface="Times New Roman"/>
                          <a:ea typeface="Times New Roman"/>
                          <a:cs typeface="Times New Roman"/>
                        </a:rPr>
                        <a:t>Understand</a:t>
                      </a:r>
                    </a:p>
                  </a:txBody>
                  <a:tcPr anchor="ctr">
                    <a:solidFill>
                      <a:srgbClr val="FFF4EB"/>
                    </a:solidFill>
                  </a:tcPr>
                </a:tc>
                <a:tc>
                  <a:txBody>
                    <a:bodyPr/>
                    <a:lstStyle/>
                    <a:p>
                      <a:r>
                        <a:rPr sz="2025" b="0">
                          <a:solidFill>
                            <a:srgbClr val="24323E"/>
                          </a:solidFill>
                          <a:latin typeface="Times New Roman"/>
                          <a:ea typeface="Times New Roman"/>
                          <a:cs typeface="Times New Roman"/>
                        </a:rPr>
                        <a:t>Nested records and metadata</a:t>
                      </a:r>
                    </a:p>
                  </a:txBody>
                  <a:tcPr anchor="ctr">
                    <a:solidFill>
                      <a:srgbClr val="FFF4EB"/>
                    </a:solidFill>
                  </a:tcPr>
                </a:tc>
                <a:tc>
                  <a:txBody>
                    <a:bodyPr/>
                    <a:lstStyle/>
                    <a:p>
                      <a:r>
                        <a:rPr sz="2025" b="0">
                          <a:solidFill>
                            <a:srgbClr val="24323E"/>
                          </a:solidFill>
                          <a:latin typeface="Times New Roman"/>
                          <a:ea typeface="Times New Roman"/>
                          <a:cs typeface="Times New Roman"/>
                        </a:rPr>
                        <a:t>What does one row in the analysis represent?</a:t>
                      </a:r>
                    </a:p>
                  </a:txBody>
                  <a:tcPr anchor="ctr">
                    <a:solidFill>
                      <a:srgbClr val="FFF4EB"/>
                    </a:solidFill>
                  </a:tcPr>
                </a:tc>
                <a:extLst>
                  <a:ext uri="{0D108BD9-81ED-4DB2-BD59-A6C34878D82A}">
                    <a16:rowId xmlns:a16="http://schemas.microsoft.com/office/drawing/2014/main" val="10002"/>
                  </a:ext>
                </a:extLst>
              </a:tr>
              <a:tr h="723900">
                <a:tc>
                  <a:txBody>
                    <a:bodyPr/>
                    <a:lstStyle/>
                    <a:p>
                      <a:r>
                        <a:rPr sz="2025" b="0">
                          <a:solidFill>
                            <a:srgbClr val="24323E"/>
                          </a:solidFill>
                          <a:latin typeface="Times New Roman"/>
                          <a:ea typeface="Times New Roman"/>
                          <a:cs typeface="Times New Roman"/>
                        </a:rPr>
                        <a:t>Prepare</a:t>
                      </a:r>
                    </a:p>
                  </a:txBody>
                  <a:tcPr anchor="ctr">
                    <a:solidFill>
                      <a:srgbClr val="FFFFFF"/>
                    </a:solidFill>
                  </a:tcPr>
                </a:tc>
                <a:tc>
                  <a:txBody>
                    <a:bodyPr/>
                    <a:lstStyle/>
                    <a:p>
                      <a:r>
                        <a:rPr sz="2025" b="0">
                          <a:solidFill>
                            <a:srgbClr val="24323E"/>
                          </a:solidFill>
                          <a:latin typeface="Times New Roman"/>
                          <a:ea typeface="Times New Roman"/>
                          <a:cs typeface="Times New Roman"/>
                        </a:rPr>
                        <a:t>Missing fields and changing types</a:t>
                      </a:r>
                    </a:p>
                  </a:txBody>
                  <a:tcPr anchor="ctr">
                    <a:solidFill>
                      <a:srgbClr val="FFFFFF"/>
                    </a:solidFill>
                  </a:tcPr>
                </a:tc>
                <a:tc>
                  <a:txBody>
                    <a:bodyPr/>
                    <a:lstStyle/>
                    <a:p>
                      <a:r>
                        <a:rPr sz="2025" b="0">
                          <a:solidFill>
                            <a:srgbClr val="24323E"/>
                          </a:solidFill>
                          <a:latin typeface="Times New Roman"/>
                          <a:ea typeface="Times New Roman"/>
                          <a:cs typeface="Times New Roman"/>
                        </a:rPr>
                        <a:t>Which rules define acceptable records?</a:t>
                      </a:r>
                    </a:p>
                  </a:txBody>
                  <a:tcPr anchor="ctr">
                    <a:solidFill>
                      <a:srgbClr val="FFFFFF"/>
                    </a:solidFill>
                  </a:tcPr>
                </a:tc>
                <a:extLst>
                  <a:ext uri="{0D108BD9-81ED-4DB2-BD59-A6C34878D82A}">
                    <a16:rowId xmlns:a16="http://schemas.microsoft.com/office/drawing/2014/main" val="10003"/>
                  </a:ext>
                </a:extLst>
              </a:tr>
              <a:tr h="723900">
                <a:tc>
                  <a:txBody>
                    <a:bodyPr/>
                    <a:lstStyle/>
                    <a:p>
                      <a:r>
                        <a:rPr sz="2025" b="0">
                          <a:solidFill>
                            <a:srgbClr val="24323E"/>
                          </a:solidFill>
                          <a:latin typeface="Times New Roman"/>
                          <a:ea typeface="Times New Roman"/>
                          <a:cs typeface="Times New Roman"/>
                        </a:rPr>
                        <a:t>Publish</a:t>
                      </a:r>
                    </a:p>
                  </a:txBody>
                  <a:tcPr anchor="ctr">
                    <a:solidFill>
                      <a:srgbClr val="FFF4EB"/>
                    </a:solidFill>
                  </a:tcPr>
                </a:tc>
                <a:tc>
                  <a:txBody>
                    <a:bodyPr/>
                    <a:lstStyle/>
                    <a:p>
                      <a:r>
                        <a:rPr sz="2025" b="0">
                          <a:solidFill>
                            <a:srgbClr val="24323E"/>
                          </a:solidFill>
                          <a:latin typeface="Times New Roman"/>
                          <a:ea typeface="Times New Roman"/>
                          <a:cs typeface="Times New Roman"/>
                        </a:rPr>
                        <a:t>Results for a service or dashboard</a:t>
                      </a:r>
                    </a:p>
                  </a:txBody>
                  <a:tcPr anchor="ctr">
                    <a:solidFill>
                      <a:srgbClr val="FFF4EB"/>
                    </a:solidFill>
                  </a:tcPr>
                </a:tc>
                <a:tc>
                  <a:txBody>
                    <a:bodyPr/>
                    <a:lstStyle/>
                    <a:p>
                      <a:r>
                        <a:rPr sz="2025" b="0">
                          <a:solidFill>
                            <a:srgbClr val="24323E"/>
                          </a:solidFill>
                          <a:latin typeface="Times New Roman"/>
                          <a:ea typeface="Times New Roman"/>
                          <a:cs typeface="Times New Roman"/>
                        </a:rPr>
                        <a:t>Can another program interpret the output?</a:t>
                      </a:r>
                    </a:p>
                  </a:txBody>
                  <a:tcPr anchor="ctr">
                    <a:solidFill>
                      <a:srgbClr val="FFF4EB"/>
                    </a:solidFill>
                  </a:tcPr>
                </a:tc>
                <a:extLst>
                  <a:ext uri="{0D108BD9-81ED-4DB2-BD59-A6C34878D82A}">
                    <a16:rowId xmlns:a16="http://schemas.microsoft.com/office/drawing/2014/main" val="10004"/>
                  </a:ext>
                </a:extLst>
              </a:tr>
            </a:tbl>
          </a:graphicData>
        </a:graphic>
      </p:graphicFrame>
      <p:sp>
        <p:nvSpPr>
          <p:cNvPr id="5" name="Semi-structured does not mean struc">
            <a:extLst>
              <a:ext uri="{FF2B5EF4-FFF2-40B4-BE49-F238E27FC236}">
                <a16:creationId xmlns:a16="http://schemas.microsoft.com/office/drawing/2014/main" id="{ED17F42A-292F-4AB1-A431-AA57481F241A}"/>
              </a:ext>
            </a:extLst>
          </p:cNvPr>
          <p:cNvSpPr>
            <a:spLocks noGrp="1"/>
          </p:cNvSpPr>
          <p:nvPr/>
        </p:nvSpPr>
        <p:spPr>
          <a:xfrm>
            <a:off x="600075" y="552450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Semi-structured does not mean structure-free. The schema may be implicit.</a:t>
            </a:r>
          </a:p>
        </p:txBody>
      </p:sp>
    </p:spTree>
    <p:extLst>
      <p:ext uri="{BB962C8B-B14F-4D97-AF65-F5344CB8AC3E}">
        <p14:creationId xmlns:p14="http://schemas.microsoft.com/office/powerpoint/2010/main" val="3723650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The six JSON value types</a:t>
            </a:r>
          </a:p>
        </p:txBody>
      </p:sp>
      <p:sp>
        <p:nvSpPr>
          <p:cNvPr id="3" name="08">
            <a:extLst>
              <a:ext uri="{FF2B5EF4-FFF2-40B4-BE49-F238E27FC236}">
                <a16:creationId xmlns:a16="http://schemas.microsoft.com/office/drawing/2014/main" id="{D8558E3E-0AD1-4328-B702-637166745F08}"/>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08</a:t>
            </a:r>
          </a:p>
        </p:txBody>
      </p:sp>
      <p:graphicFrame>
        <p:nvGraphicFramePr>
          <p:cNvPr id="8" name="Table 7"/>
          <p:cNvGraphicFramePr/>
          <p:nvPr/>
        </p:nvGraphicFramePr>
        <p:xfrm>
          <a:off x="600075" y="1285875"/>
          <a:ext cx="10953750" cy="4257673"/>
        </p:xfrm>
        <a:graphic>
          <a:graphicData uri="http://schemas.openxmlformats.org/drawingml/2006/table">
            <a:tbl>
              <a:tblPr/>
              <a:tblGrid>
                <a:gridCol w="2333625">
                  <a:extLst>
                    <a:ext uri="{9D8B030D-6E8A-4147-A177-3AD203B41FA5}">
                      <a16:colId xmlns:a16="http://schemas.microsoft.com/office/drawing/2014/main" val="20000"/>
                    </a:ext>
                  </a:extLst>
                </a:gridCol>
                <a:gridCol w="5048250">
                  <a:extLst>
                    <a:ext uri="{9D8B030D-6E8A-4147-A177-3AD203B41FA5}">
                      <a16:colId xmlns:a16="http://schemas.microsoft.com/office/drawing/2014/main" val="20001"/>
                    </a:ext>
                  </a:extLst>
                </a:gridCol>
                <a:gridCol w="3571875">
                  <a:extLst>
                    <a:ext uri="{9D8B030D-6E8A-4147-A177-3AD203B41FA5}">
                      <a16:colId xmlns:a16="http://schemas.microsoft.com/office/drawing/2014/main" val="20002"/>
                    </a:ext>
                  </a:extLst>
                </a:gridCol>
              </a:tblGrid>
              <a:tr h="608239">
                <a:tc>
                  <a:txBody>
                    <a:bodyPr/>
                    <a:lstStyle/>
                    <a:p>
                      <a:r>
                        <a:rPr sz="2025" b="1">
                          <a:solidFill>
                            <a:srgbClr val="FFFFFF"/>
                          </a:solidFill>
                          <a:latin typeface="Times New Roman"/>
                          <a:ea typeface="Times New Roman"/>
                          <a:cs typeface="Times New Roman"/>
                        </a:rPr>
                        <a:t>JSON type</a:t>
                      </a:r>
                    </a:p>
                  </a:txBody>
                  <a:tcPr anchor="ctr">
                    <a:solidFill>
                      <a:srgbClr val="24323E"/>
                    </a:solidFill>
                  </a:tcPr>
                </a:tc>
                <a:tc>
                  <a:txBody>
                    <a:bodyPr/>
                    <a:lstStyle/>
                    <a:p>
                      <a:r>
                        <a:rPr sz="2025" b="1">
                          <a:solidFill>
                            <a:srgbClr val="FFFFFF"/>
                          </a:solidFill>
                          <a:latin typeface="Times New Roman"/>
                          <a:ea typeface="Times New Roman"/>
                          <a:cs typeface="Times New Roman"/>
                        </a:rPr>
                        <a:t>Example</a:t>
                      </a:r>
                    </a:p>
                  </a:txBody>
                  <a:tcPr anchor="ctr">
                    <a:solidFill>
                      <a:srgbClr val="24323E"/>
                    </a:solidFill>
                  </a:tcPr>
                </a:tc>
                <a:tc>
                  <a:txBody>
                    <a:bodyPr/>
                    <a:lstStyle/>
                    <a:p>
                      <a:r>
                        <a:rPr sz="2025" b="1">
                          <a:solidFill>
                            <a:srgbClr val="FFFFFF"/>
                          </a:solidFill>
                          <a:latin typeface="Times New Roman"/>
                          <a:ea typeface="Times New Roman"/>
                          <a:cs typeface="Times New Roman"/>
                        </a:rPr>
                        <a:t>Default Python value</a:t>
                      </a:r>
                    </a:p>
                  </a:txBody>
                  <a:tcPr anchor="ctr">
                    <a:solidFill>
                      <a:srgbClr val="24323E"/>
                    </a:solidFill>
                  </a:tcPr>
                </a:tc>
                <a:extLst>
                  <a:ext uri="{0D108BD9-81ED-4DB2-BD59-A6C34878D82A}">
                    <a16:rowId xmlns:a16="http://schemas.microsoft.com/office/drawing/2014/main" val="10000"/>
                  </a:ext>
                </a:extLst>
              </a:tr>
              <a:tr h="608239">
                <a:tc>
                  <a:txBody>
                    <a:bodyPr/>
                    <a:lstStyle/>
                    <a:p>
                      <a:r>
                        <a:rPr sz="2025" b="0">
                          <a:solidFill>
                            <a:srgbClr val="24323E"/>
                          </a:solidFill>
                          <a:latin typeface="Times New Roman"/>
                          <a:ea typeface="Times New Roman"/>
                          <a:cs typeface="Times New Roman"/>
                        </a:rPr>
                        <a:t>object</a:t>
                      </a:r>
                    </a:p>
                  </a:txBody>
                  <a:tcPr anchor="ctr">
                    <a:solidFill>
                      <a:srgbClr val="FFFFFF"/>
                    </a:solidFill>
                  </a:tcPr>
                </a:tc>
                <a:tc>
                  <a:txBody>
                    <a:bodyPr/>
                    <a:lstStyle/>
                    <a:p>
                      <a:r>
                        <a:rPr sz="2025" b="0">
                          <a:solidFill>
                            <a:srgbClr val="24323E"/>
                          </a:solidFill>
                          <a:latin typeface="Courier New"/>
                          <a:ea typeface="Courier New"/>
                          <a:cs typeface="Courier New"/>
                        </a:rPr>
                        <a:t>{"station_id": "A1"}</a:t>
                      </a:r>
                    </a:p>
                  </a:txBody>
                  <a:tcPr anchor="ctr">
                    <a:solidFill>
                      <a:srgbClr val="FFFFFF"/>
                    </a:solidFill>
                  </a:tcPr>
                </a:tc>
                <a:tc>
                  <a:txBody>
                    <a:bodyPr/>
                    <a:lstStyle/>
                    <a:p>
                      <a:r>
                        <a:rPr sz="2025" b="0">
                          <a:solidFill>
                            <a:srgbClr val="24323E"/>
                          </a:solidFill>
                          <a:latin typeface="Courier New"/>
                          <a:ea typeface="Courier New"/>
                          <a:cs typeface="Courier New"/>
                        </a:rPr>
                        <a:t>dict</a:t>
                      </a:r>
                    </a:p>
                  </a:txBody>
                  <a:tcPr anchor="ctr">
                    <a:solidFill>
                      <a:srgbClr val="FFFFFF"/>
                    </a:solidFill>
                  </a:tcPr>
                </a:tc>
                <a:extLst>
                  <a:ext uri="{0D108BD9-81ED-4DB2-BD59-A6C34878D82A}">
                    <a16:rowId xmlns:a16="http://schemas.microsoft.com/office/drawing/2014/main" val="10001"/>
                  </a:ext>
                </a:extLst>
              </a:tr>
              <a:tr h="608239">
                <a:tc>
                  <a:txBody>
                    <a:bodyPr/>
                    <a:lstStyle/>
                    <a:p>
                      <a:r>
                        <a:rPr sz="2025" b="0">
                          <a:solidFill>
                            <a:srgbClr val="24323E"/>
                          </a:solidFill>
                          <a:latin typeface="Times New Roman"/>
                          <a:ea typeface="Times New Roman"/>
                          <a:cs typeface="Times New Roman"/>
                        </a:rPr>
                        <a:t>array</a:t>
                      </a:r>
                    </a:p>
                  </a:txBody>
                  <a:tcPr anchor="ctr">
                    <a:solidFill>
                      <a:srgbClr val="FFF4EB"/>
                    </a:solidFill>
                  </a:tcPr>
                </a:tc>
                <a:tc>
                  <a:txBody>
                    <a:bodyPr/>
                    <a:lstStyle/>
                    <a:p>
                      <a:r>
                        <a:rPr sz="2025" b="0">
                          <a:solidFill>
                            <a:srgbClr val="24323E"/>
                          </a:solidFill>
                          <a:latin typeface="Courier New"/>
                          <a:ea typeface="Courier New"/>
                          <a:cs typeface="Courier New"/>
                        </a:rPr>
                        <a:t>[8.1, 12.4, null]</a:t>
                      </a:r>
                    </a:p>
                  </a:txBody>
                  <a:tcPr anchor="ctr">
                    <a:solidFill>
                      <a:srgbClr val="FFF4EB"/>
                    </a:solidFill>
                  </a:tcPr>
                </a:tc>
                <a:tc>
                  <a:txBody>
                    <a:bodyPr/>
                    <a:lstStyle/>
                    <a:p>
                      <a:r>
                        <a:rPr sz="2025" b="0">
                          <a:solidFill>
                            <a:srgbClr val="24323E"/>
                          </a:solidFill>
                          <a:latin typeface="Courier New"/>
                          <a:ea typeface="Courier New"/>
                          <a:cs typeface="Courier New"/>
                        </a:rPr>
                        <a:t>list</a:t>
                      </a:r>
                    </a:p>
                  </a:txBody>
                  <a:tcPr anchor="ctr">
                    <a:solidFill>
                      <a:srgbClr val="FFF4EB"/>
                    </a:solidFill>
                  </a:tcPr>
                </a:tc>
                <a:extLst>
                  <a:ext uri="{0D108BD9-81ED-4DB2-BD59-A6C34878D82A}">
                    <a16:rowId xmlns:a16="http://schemas.microsoft.com/office/drawing/2014/main" val="10002"/>
                  </a:ext>
                </a:extLst>
              </a:tr>
              <a:tr h="608239">
                <a:tc>
                  <a:txBody>
                    <a:bodyPr/>
                    <a:lstStyle/>
                    <a:p>
                      <a:r>
                        <a:rPr sz="2025" b="0">
                          <a:solidFill>
                            <a:srgbClr val="24323E"/>
                          </a:solidFill>
                          <a:latin typeface="Times New Roman"/>
                          <a:ea typeface="Times New Roman"/>
                          <a:cs typeface="Times New Roman"/>
                        </a:rPr>
                        <a:t>string</a:t>
                      </a:r>
                    </a:p>
                  </a:txBody>
                  <a:tcPr anchor="ctr">
                    <a:solidFill>
                      <a:srgbClr val="FFFFFF"/>
                    </a:solidFill>
                  </a:tcPr>
                </a:tc>
                <a:tc>
                  <a:txBody>
                    <a:bodyPr/>
                    <a:lstStyle/>
                    <a:p>
                      <a:r>
                        <a:rPr sz="2025" b="0">
                          <a:solidFill>
                            <a:srgbClr val="24323E"/>
                          </a:solidFill>
                          <a:latin typeface="Courier New"/>
                          <a:ea typeface="Courier New"/>
                          <a:cs typeface="Courier New"/>
                        </a:rPr>
                        <a:t>"A1"</a:t>
                      </a:r>
                    </a:p>
                  </a:txBody>
                  <a:tcPr anchor="ctr">
                    <a:solidFill>
                      <a:srgbClr val="FFFFFF"/>
                    </a:solidFill>
                  </a:tcPr>
                </a:tc>
                <a:tc>
                  <a:txBody>
                    <a:bodyPr/>
                    <a:lstStyle/>
                    <a:p>
                      <a:r>
                        <a:rPr sz="2025" b="0">
                          <a:solidFill>
                            <a:srgbClr val="24323E"/>
                          </a:solidFill>
                          <a:latin typeface="Courier New"/>
                          <a:ea typeface="Courier New"/>
                          <a:cs typeface="Courier New"/>
                        </a:rPr>
                        <a:t>str</a:t>
                      </a:r>
                    </a:p>
                  </a:txBody>
                  <a:tcPr anchor="ctr">
                    <a:solidFill>
                      <a:srgbClr val="FFFFFF"/>
                    </a:solidFill>
                  </a:tcPr>
                </a:tc>
                <a:extLst>
                  <a:ext uri="{0D108BD9-81ED-4DB2-BD59-A6C34878D82A}">
                    <a16:rowId xmlns:a16="http://schemas.microsoft.com/office/drawing/2014/main" val="10003"/>
                  </a:ext>
                </a:extLst>
              </a:tr>
              <a:tr h="608239">
                <a:tc>
                  <a:txBody>
                    <a:bodyPr/>
                    <a:lstStyle/>
                    <a:p>
                      <a:r>
                        <a:rPr sz="2025" b="0">
                          <a:solidFill>
                            <a:srgbClr val="24323E"/>
                          </a:solidFill>
                          <a:latin typeface="Times New Roman"/>
                          <a:ea typeface="Times New Roman"/>
                          <a:cs typeface="Times New Roman"/>
                        </a:rPr>
                        <a:t>number</a:t>
                      </a:r>
                    </a:p>
                  </a:txBody>
                  <a:tcPr anchor="ctr">
                    <a:solidFill>
                      <a:srgbClr val="FFF4EB"/>
                    </a:solidFill>
                  </a:tcPr>
                </a:tc>
                <a:tc>
                  <a:txBody>
                    <a:bodyPr/>
                    <a:lstStyle/>
                    <a:p>
                      <a:r>
                        <a:rPr sz="2025" b="0">
                          <a:solidFill>
                            <a:srgbClr val="24323E"/>
                          </a:solidFill>
                          <a:latin typeface="Courier New"/>
                          <a:ea typeface="Courier New"/>
                          <a:cs typeface="Courier New"/>
                        </a:rPr>
                        <a:t>8.1   9   -2   1.2e3</a:t>
                      </a:r>
                    </a:p>
                  </a:txBody>
                  <a:tcPr anchor="ctr">
                    <a:solidFill>
                      <a:srgbClr val="FFF4EB"/>
                    </a:solidFill>
                  </a:tcPr>
                </a:tc>
                <a:tc>
                  <a:txBody>
                    <a:bodyPr/>
                    <a:lstStyle/>
                    <a:p>
                      <a:r>
                        <a:rPr sz="2025" b="0">
                          <a:solidFill>
                            <a:srgbClr val="24323E"/>
                          </a:solidFill>
                          <a:latin typeface="Courier New"/>
                          <a:ea typeface="Courier New"/>
                          <a:cs typeface="Courier New"/>
                        </a:rPr>
                        <a:t>float or int</a:t>
                      </a:r>
                    </a:p>
                  </a:txBody>
                  <a:tcPr anchor="ctr">
                    <a:solidFill>
                      <a:srgbClr val="FFF4EB"/>
                    </a:solidFill>
                  </a:tcPr>
                </a:tc>
                <a:extLst>
                  <a:ext uri="{0D108BD9-81ED-4DB2-BD59-A6C34878D82A}">
                    <a16:rowId xmlns:a16="http://schemas.microsoft.com/office/drawing/2014/main" val="10004"/>
                  </a:ext>
                </a:extLst>
              </a:tr>
              <a:tr h="608239">
                <a:tc>
                  <a:txBody>
                    <a:bodyPr/>
                    <a:lstStyle/>
                    <a:p>
                      <a:r>
                        <a:rPr sz="2025" b="0">
                          <a:solidFill>
                            <a:srgbClr val="24323E"/>
                          </a:solidFill>
                          <a:latin typeface="Times New Roman"/>
                          <a:ea typeface="Times New Roman"/>
                          <a:cs typeface="Times New Roman"/>
                        </a:rPr>
                        <a:t>boolean</a:t>
                      </a:r>
                    </a:p>
                  </a:txBody>
                  <a:tcPr anchor="ctr">
                    <a:solidFill>
                      <a:srgbClr val="FFFFFF"/>
                    </a:solidFill>
                  </a:tcPr>
                </a:tc>
                <a:tc>
                  <a:txBody>
                    <a:bodyPr/>
                    <a:lstStyle/>
                    <a:p>
                      <a:r>
                        <a:rPr sz="2025" b="0">
                          <a:solidFill>
                            <a:srgbClr val="24323E"/>
                          </a:solidFill>
                          <a:latin typeface="Courier New"/>
                          <a:ea typeface="Courier New"/>
                          <a:cs typeface="Courier New"/>
                        </a:rPr>
                        <a:t>true   false</a:t>
                      </a:r>
                    </a:p>
                  </a:txBody>
                  <a:tcPr anchor="ctr">
                    <a:solidFill>
                      <a:srgbClr val="FFFFFF"/>
                    </a:solidFill>
                  </a:tcPr>
                </a:tc>
                <a:tc>
                  <a:txBody>
                    <a:bodyPr/>
                    <a:lstStyle/>
                    <a:p>
                      <a:r>
                        <a:rPr sz="2025" b="0">
                          <a:solidFill>
                            <a:srgbClr val="24323E"/>
                          </a:solidFill>
                          <a:latin typeface="Courier New"/>
                          <a:ea typeface="Courier New"/>
                          <a:cs typeface="Courier New"/>
                        </a:rPr>
                        <a:t>True or False</a:t>
                      </a:r>
                    </a:p>
                  </a:txBody>
                  <a:tcPr anchor="ctr">
                    <a:solidFill>
                      <a:srgbClr val="FFFFFF"/>
                    </a:solidFill>
                  </a:tcPr>
                </a:tc>
                <a:extLst>
                  <a:ext uri="{0D108BD9-81ED-4DB2-BD59-A6C34878D82A}">
                    <a16:rowId xmlns:a16="http://schemas.microsoft.com/office/drawing/2014/main" val="10005"/>
                  </a:ext>
                </a:extLst>
              </a:tr>
              <a:tr h="608239">
                <a:tc>
                  <a:txBody>
                    <a:bodyPr/>
                    <a:lstStyle/>
                    <a:p>
                      <a:r>
                        <a:rPr sz="2025" b="0">
                          <a:solidFill>
                            <a:srgbClr val="24323E"/>
                          </a:solidFill>
                          <a:latin typeface="Times New Roman"/>
                          <a:ea typeface="Times New Roman"/>
                          <a:cs typeface="Times New Roman"/>
                        </a:rPr>
                        <a:t>null</a:t>
                      </a:r>
                    </a:p>
                  </a:txBody>
                  <a:tcPr anchor="ctr">
                    <a:solidFill>
                      <a:srgbClr val="FFF4EB"/>
                    </a:solidFill>
                  </a:tcPr>
                </a:tc>
                <a:tc>
                  <a:txBody>
                    <a:bodyPr/>
                    <a:lstStyle/>
                    <a:p>
                      <a:r>
                        <a:rPr sz="2025" b="0">
                          <a:solidFill>
                            <a:srgbClr val="24323E"/>
                          </a:solidFill>
                          <a:latin typeface="Courier New"/>
                          <a:ea typeface="Courier New"/>
                          <a:cs typeface="Courier New"/>
                        </a:rPr>
                        <a:t>null</a:t>
                      </a:r>
                    </a:p>
                  </a:txBody>
                  <a:tcPr anchor="ctr">
                    <a:solidFill>
                      <a:srgbClr val="FFF4EB"/>
                    </a:solidFill>
                  </a:tcPr>
                </a:tc>
                <a:tc>
                  <a:txBody>
                    <a:bodyPr/>
                    <a:lstStyle/>
                    <a:p>
                      <a:r>
                        <a:rPr sz="2025" b="0">
                          <a:solidFill>
                            <a:srgbClr val="24323E"/>
                          </a:solidFill>
                          <a:latin typeface="Courier New"/>
                          <a:ea typeface="Courier New"/>
                          <a:cs typeface="Courier New"/>
                        </a:rPr>
                        <a:t>None</a:t>
                      </a:r>
                    </a:p>
                  </a:txBody>
                  <a:tcPr anchor="ctr">
                    <a:solidFill>
                      <a:srgbClr val="FFF4EB"/>
                    </a:solidFill>
                  </a:tcPr>
                </a:tc>
                <a:extLst>
                  <a:ext uri="{0D108BD9-81ED-4DB2-BD59-A6C34878D82A}">
                    <a16:rowId xmlns:a16="http://schemas.microsoft.com/office/drawing/2014/main" val="10006"/>
                  </a:ext>
                </a:extLst>
              </a:tr>
            </a:tbl>
          </a:graphicData>
        </a:graphic>
      </p:graphicFrame>
      <p:sp>
        <p:nvSpPr>
          <p:cNvPr id="5" name="A complete JSON document contains o">
            <a:extLst>
              <a:ext uri="{FF2B5EF4-FFF2-40B4-BE49-F238E27FC236}">
                <a16:creationId xmlns:a16="http://schemas.microsoft.com/office/drawing/2014/main" id="{397C4A9D-11DF-4351-9C08-E4BFAE398F38}"/>
              </a:ext>
            </a:extLst>
          </p:cNvPr>
          <p:cNvSpPr>
            <a:spLocks noGrp="1"/>
          </p:cNvSpPr>
          <p:nvPr/>
        </p:nvSpPr>
        <p:spPr>
          <a:xfrm>
            <a:off x="600075" y="573405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A complete JSON document contains one root value, which can be any of these types.</a:t>
            </a:r>
          </a:p>
        </p:txBody>
      </p:sp>
    </p:spTree>
    <p:extLst>
      <p:ext uri="{BB962C8B-B14F-4D97-AF65-F5344CB8AC3E}">
        <p14:creationId xmlns:p14="http://schemas.microsoft.com/office/powerpoint/2010/main" val="3723650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Objects and arrays: </a:t>
            </a:r>
            <a:r>
              <a:rPr sz="3788">
                <a:solidFill>
                  <a:srgbClr val="F67132"/>
                </a:solidFill>
                <a:latin typeface="Times New Roman"/>
                <a:ea typeface="Times New Roman"/>
                <a:cs typeface="Times New Roman"/>
              </a:rPr>
              <a:t>names versus positions</a:t>
            </a:r>
          </a:p>
        </p:txBody>
      </p:sp>
      <p:sp>
        <p:nvSpPr>
          <p:cNvPr id="3" name="09">
            <a:extLst>
              <a:ext uri="{FF2B5EF4-FFF2-40B4-BE49-F238E27FC236}">
                <a16:creationId xmlns:a16="http://schemas.microsoft.com/office/drawing/2014/main" id="{53C3B485-DFC0-4A45-B52D-35D8DF7CFD98}"/>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09</a:t>
            </a:r>
          </a:p>
        </p:txBody>
      </p:sp>
      <p:sp>
        <p:nvSpPr>
          <p:cNvPr id="4" name="Editable code example">
            <a:extLst>
              <a:ext uri="{FF2B5EF4-FFF2-40B4-BE49-F238E27FC236}">
                <a16:creationId xmlns:a16="http://schemas.microsoft.com/office/drawing/2014/main" id="{0BE57759-0301-4B83-9F73-F968BC726142}"/>
              </a:ext>
            </a:extLst>
          </p:cNvPr>
          <p:cNvSpPr>
            <a:spLocks noGrp="1"/>
          </p:cNvSpPr>
          <p:nvPr/>
        </p:nvSpPr>
        <p:spPr>
          <a:xfrm>
            <a:off x="600075" y="1428750"/>
            <a:ext cx="4810125" cy="1790700"/>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2250" b="0">
                <a:solidFill>
                  <a:srgbClr val="24323E"/>
                </a:solidFill>
                <a:latin typeface="Courier New"/>
                <a:ea typeface="Courier New"/>
                <a:cs typeface="Courier New"/>
              </a:defRPr>
            </a:pPr>
            <a:r>
              <a:rPr sz="2250">
                <a:solidFill>
                  <a:srgbClr val="24323E"/>
                </a:solidFill>
                <a:latin typeface="Courier New"/>
                <a:ea typeface="Courier New"/>
                <a:cs typeface="Courier New"/>
              </a:rPr>
              <a:t>{</a:t>
            </a:r>
          </a:p>
          <a:p>
            <a:pPr algn="l">
              <a:spcBef>
                <a:spcPts val="0"/>
              </a:spcBef>
              <a:spcAft>
                <a:spcPts val="0"/>
              </a:spcAft>
              <a:buNone/>
              <a:defRPr sz="2250" b="0">
                <a:solidFill>
                  <a:srgbClr val="24323E"/>
                </a:solidFill>
                <a:latin typeface="Courier New"/>
                <a:ea typeface="Courier New"/>
                <a:cs typeface="Courier New"/>
              </a:defRPr>
            </a:pPr>
            <a:r>
              <a:rPr sz="2250">
                <a:solidFill>
                  <a:srgbClr val="24323E"/>
                </a:solidFill>
                <a:latin typeface="Courier New"/>
                <a:ea typeface="Courier New"/>
                <a:cs typeface="Courier New"/>
              </a:rPr>
              <a:t>  </a:t>
            </a:r>
            <a:r>
              <a:rPr sz="2250">
                <a:solidFill>
                  <a:srgbClr val="A94B23"/>
                </a:solidFill>
                <a:latin typeface="Courier New"/>
                <a:ea typeface="Courier New"/>
                <a:cs typeface="Courier New"/>
              </a:rPr>
              <a:t>"station_id"</a:t>
            </a:r>
            <a:r>
              <a:rPr sz="2250">
                <a:solidFill>
                  <a:srgbClr val="24323E"/>
                </a:solidFill>
                <a:latin typeface="Courier New"/>
                <a:ea typeface="Courier New"/>
                <a:cs typeface="Courier New"/>
              </a:rPr>
              <a:t>: </a:t>
            </a:r>
            <a:r>
              <a:rPr sz="2250">
                <a:solidFill>
                  <a:srgbClr val="A94B23"/>
                </a:solidFill>
                <a:latin typeface="Courier New"/>
                <a:ea typeface="Courier New"/>
                <a:cs typeface="Courier New"/>
              </a:rPr>
              <a:t>"A1"</a:t>
            </a:r>
            <a:r>
              <a:rPr sz="2250">
                <a:solidFill>
                  <a:srgbClr val="24323E"/>
                </a:solidFill>
                <a:latin typeface="Courier New"/>
                <a:ea typeface="Courier New"/>
                <a:cs typeface="Courier New"/>
              </a:rPr>
              <a:t>,</a:t>
            </a:r>
          </a:p>
          <a:p>
            <a:pPr algn="l">
              <a:spcBef>
                <a:spcPts val="0"/>
              </a:spcBef>
              <a:spcAft>
                <a:spcPts val="0"/>
              </a:spcAft>
              <a:buNone/>
              <a:defRPr sz="2250" b="0">
                <a:solidFill>
                  <a:srgbClr val="24323E"/>
                </a:solidFill>
                <a:latin typeface="Courier New"/>
                <a:ea typeface="Courier New"/>
                <a:cs typeface="Courier New"/>
              </a:defRPr>
            </a:pPr>
            <a:r>
              <a:rPr sz="2250">
                <a:solidFill>
                  <a:srgbClr val="24323E"/>
                </a:solidFill>
                <a:latin typeface="Courier New"/>
                <a:ea typeface="Courier New"/>
                <a:cs typeface="Courier New"/>
              </a:rPr>
              <a:t>  </a:t>
            </a:r>
            <a:r>
              <a:rPr sz="2250">
                <a:solidFill>
                  <a:srgbClr val="A94B23"/>
                </a:solidFill>
                <a:latin typeface="Courier New"/>
                <a:ea typeface="Courier New"/>
                <a:cs typeface="Courier New"/>
              </a:rPr>
              <a:t>"pm25"</a:t>
            </a:r>
            <a:r>
              <a:rPr sz="2250">
                <a:solidFill>
                  <a:srgbClr val="24323E"/>
                </a:solidFill>
                <a:latin typeface="Courier New"/>
                <a:ea typeface="Courier New"/>
                <a:cs typeface="Courier New"/>
              </a:rPr>
              <a:t>: </a:t>
            </a:r>
            <a:r>
              <a:rPr sz="2250">
                <a:solidFill>
                  <a:srgbClr val="21688D"/>
                </a:solidFill>
                <a:latin typeface="Courier New"/>
                <a:ea typeface="Courier New"/>
                <a:cs typeface="Courier New"/>
              </a:rPr>
              <a:t>8.1</a:t>
            </a:r>
          </a:p>
          <a:p>
            <a:pPr algn="l">
              <a:spcBef>
                <a:spcPts val="0"/>
              </a:spcBef>
              <a:spcAft>
                <a:spcPts val="0"/>
              </a:spcAft>
              <a:buNone/>
              <a:defRPr sz="2250" b="0">
                <a:solidFill>
                  <a:srgbClr val="24323E"/>
                </a:solidFill>
                <a:latin typeface="Courier New"/>
                <a:ea typeface="Courier New"/>
                <a:cs typeface="Courier New"/>
              </a:defRPr>
            </a:pPr>
            <a:r>
              <a:rPr sz="2250">
                <a:solidFill>
                  <a:srgbClr val="24323E"/>
                </a:solidFill>
                <a:latin typeface="Courier New"/>
                <a:ea typeface="Courier New"/>
                <a:cs typeface="Courier New"/>
              </a:rPr>
              <a:t>}</a:t>
            </a:r>
          </a:p>
        </p:txBody>
      </p:sp>
      <p:sp>
        <p:nvSpPr>
          <p:cNvPr id="5" name="Editable code example">
            <a:extLst>
              <a:ext uri="{FF2B5EF4-FFF2-40B4-BE49-F238E27FC236}">
                <a16:creationId xmlns:a16="http://schemas.microsoft.com/office/drawing/2014/main" id="{D12BC95D-F3D6-4410-90C2-1F2CEC15D924}"/>
              </a:ext>
            </a:extLst>
          </p:cNvPr>
          <p:cNvSpPr>
            <a:spLocks noGrp="1"/>
          </p:cNvSpPr>
          <p:nvPr/>
        </p:nvSpPr>
        <p:spPr>
          <a:xfrm>
            <a:off x="6381750" y="1428750"/>
            <a:ext cx="5172075" cy="1607820"/>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950" b="0">
                <a:solidFill>
                  <a:srgbClr val="24323E"/>
                </a:solidFill>
                <a:latin typeface="Courier New"/>
                <a:ea typeface="Courier New"/>
                <a:cs typeface="Courier New"/>
              </a:defRPr>
            </a:pPr>
            <a:r>
              <a:rPr sz="1950">
                <a:solidFill>
                  <a:srgbClr val="24323E"/>
                </a:solidFill>
                <a:latin typeface="Courier New"/>
                <a:ea typeface="Courier New"/>
                <a:cs typeface="Courier New"/>
              </a:rPr>
              <a:t>[</a:t>
            </a:r>
          </a:p>
          <a:p>
            <a:pPr algn="l">
              <a:spcBef>
                <a:spcPts val="0"/>
              </a:spcBef>
              <a:spcAft>
                <a:spcPts val="0"/>
              </a:spcAft>
              <a:buNone/>
              <a:defRPr sz="1950" b="0">
                <a:solidFill>
                  <a:srgbClr val="24323E"/>
                </a:solidFill>
                <a:latin typeface="Courier New"/>
                <a:ea typeface="Courier New"/>
                <a:cs typeface="Courier New"/>
              </a:defRPr>
            </a:pPr>
            <a:r>
              <a:rPr sz="1950">
                <a:solidFill>
                  <a:srgbClr val="24323E"/>
                </a:solidFill>
                <a:latin typeface="Courier New"/>
                <a:ea typeface="Courier New"/>
                <a:cs typeface="Courier New"/>
              </a:rPr>
              <a:t>  {</a:t>
            </a:r>
            <a:r>
              <a:rPr sz="1950">
                <a:solidFill>
                  <a:srgbClr val="A94B23"/>
                </a:solidFill>
                <a:latin typeface="Courier New"/>
                <a:ea typeface="Courier New"/>
                <a:cs typeface="Courier New"/>
              </a:rPr>
              <a:t>"hour"</a:t>
            </a:r>
            <a:r>
              <a:rPr sz="1950">
                <a:solidFill>
                  <a:srgbClr val="24323E"/>
                </a:solidFill>
                <a:latin typeface="Courier New"/>
                <a:ea typeface="Courier New"/>
                <a:cs typeface="Courier New"/>
              </a:rPr>
              <a:t>: </a:t>
            </a:r>
            <a:r>
              <a:rPr sz="1950">
                <a:solidFill>
                  <a:srgbClr val="21688D"/>
                </a:solidFill>
                <a:latin typeface="Courier New"/>
                <a:ea typeface="Courier New"/>
                <a:cs typeface="Courier New"/>
              </a:rPr>
              <a:t>9</a:t>
            </a:r>
            <a:r>
              <a:rPr sz="1950">
                <a:solidFill>
                  <a:srgbClr val="24323E"/>
                </a:solidFill>
                <a:latin typeface="Courier New"/>
                <a:ea typeface="Courier New"/>
                <a:cs typeface="Courier New"/>
              </a:rPr>
              <a:t>, </a:t>
            </a:r>
            <a:r>
              <a:rPr sz="1950">
                <a:solidFill>
                  <a:srgbClr val="A94B23"/>
                </a:solidFill>
                <a:latin typeface="Courier New"/>
                <a:ea typeface="Courier New"/>
                <a:cs typeface="Courier New"/>
              </a:rPr>
              <a:t>"pm25"</a:t>
            </a:r>
            <a:r>
              <a:rPr sz="1950">
                <a:solidFill>
                  <a:srgbClr val="24323E"/>
                </a:solidFill>
                <a:latin typeface="Courier New"/>
                <a:ea typeface="Courier New"/>
                <a:cs typeface="Courier New"/>
              </a:rPr>
              <a:t>: </a:t>
            </a:r>
            <a:r>
              <a:rPr sz="1950">
                <a:solidFill>
                  <a:srgbClr val="21688D"/>
                </a:solidFill>
                <a:latin typeface="Courier New"/>
                <a:ea typeface="Courier New"/>
                <a:cs typeface="Courier New"/>
              </a:rPr>
              <a:t>8.1</a:t>
            </a:r>
            <a:r>
              <a:rPr sz="1950">
                <a:solidFill>
                  <a:srgbClr val="24323E"/>
                </a:solidFill>
                <a:latin typeface="Courier New"/>
                <a:ea typeface="Courier New"/>
                <a:cs typeface="Courier New"/>
              </a:rPr>
              <a:t>},</a:t>
            </a:r>
          </a:p>
          <a:p>
            <a:pPr algn="l">
              <a:spcBef>
                <a:spcPts val="0"/>
              </a:spcBef>
              <a:spcAft>
                <a:spcPts val="0"/>
              </a:spcAft>
              <a:buNone/>
              <a:defRPr sz="1950" b="0">
                <a:solidFill>
                  <a:srgbClr val="24323E"/>
                </a:solidFill>
                <a:latin typeface="Courier New"/>
                <a:ea typeface="Courier New"/>
                <a:cs typeface="Courier New"/>
              </a:defRPr>
            </a:pPr>
            <a:r>
              <a:rPr sz="1950">
                <a:solidFill>
                  <a:srgbClr val="24323E"/>
                </a:solidFill>
                <a:latin typeface="Courier New"/>
                <a:ea typeface="Courier New"/>
                <a:cs typeface="Courier New"/>
              </a:rPr>
              <a:t>  {</a:t>
            </a:r>
            <a:r>
              <a:rPr sz="1950">
                <a:solidFill>
                  <a:srgbClr val="A94B23"/>
                </a:solidFill>
                <a:latin typeface="Courier New"/>
                <a:ea typeface="Courier New"/>
                <a:cs typeface="Courier New"/>
              </a:rPr>
              <a:t>"hour"</a:t>
            </a:r>
            <a:r>
              <a:rPr sz="1950">
                <a:solidFill>
                  <a:srgbClr val="24323E"/>
                </a:solidFill>
                <a:latin typeface="Courier New"/>
                <a:ea typeface="Courier New"/>
                <a:cs typeface="Courier New"/>
              </a:rPr>
              <a:t>: </a:t>
            </a:r>
            <a:r>
              <a:rPr sz="1950">
                <a:solidFill>
                  <a:srgbClr val="21688D"/>
                </a:solidFill>
                <a:latin typeface="Courier New"/>
                <a:ea typeface="Courier New"/>
                <a:cs typeface="Courier New"/>
              </a:rPr>
              <a:t>10</a:t>
            </a:r>
            <a:r>
              <a:rPr sz="1950">
                <a:solidFill>
                  <a:srgbClr val="24323E"/>
                </a:solidFill>
                <a:latin typeface="Courier New"/>
                <a:ea typeface="Courier New"/>
                <a:cs typeface="Courier New"/>
              </a:rPr>
              <a:t>, </a:t>
            </a:r>
            <a:r>
              <a:rPr sz="1950">
                <a:solidFill>
                  <a:srgbClr val="A94B23"/>
                </a:solidFill>
                <a:latin typeface="Courier New"/>
                <a:ea typeface="Courier New"/>
                <a:cs typeface="Courier New"/>
              </a:rPr>
              <a:t>"pm25"</a:t>
            </a:r>
            <a:r>
              <a:rPr sz="1950">
                <a:solidFill>
                  <a:srgbClr val="24323E"/>
                </a:solidFill>
                <a:latin typeface="Courier New"/>
                <a:ea typeface="Courier New"/>
                <a:cs typeface="Courier New"/>
              </a:rPr>
              <a:t>: </a:t>
            </a:r>
            <a:r>
              <a:rPr sz="1950">
                <a:solidFill>
                  <a:srgbClr val="21688D"/>
                </a:solidFill>
                <a:latin typeface="Courier New"/>
                <a:ea typeface="Courier New"/>
                <a:cs typeface="Courier New"/>
              </a:rPr>
              <a:t>null</a:t>
            </a:r>
            <a:r>
              <a:rPr sz="1950">
                <a:solidFill>
                  <a:srgbClr val="24323E"/>
                </a:solidFill>
                <a:latin typeface="Courier New"/>
                <a:ea typeface="Courier New"/>
                <a:cs typeface="Courier New"/>
              </a:rPr>
              <a:t>}</a:t>
            </a:r>
          </a:p>
          <a:p>
            <a:pPr algn="l">
              <a:spcBef>
                <a:spcPts val="0"/>
              </a:spcBef>
              <a:spcAft>
                <a:spcPts val="0"/>
              </a:spcAft>
              <a:buNone/>
              <a:defRPr sz="1950" b="0">
                <a:solidFill>
                  <a:srgbClr val="24323E"/>
                </a:solidFill>
                <a:latin typeface="Courier New"/>
                <a:ea typeface="Courier New"/>
                <a:cs typeface="Courier New"/>
              </a:defRPr>
            </a:pPr>
            <a:r>
              <a:rPr sz="1950">
                <a:solidFill>
                  <a:srgbClr val="24323E"/>
                </a:solidFill>
                <a:latin typeface="Courier New"/>
                <a:ea typeface="Courier New"/>
                <a:cs typeface="Courier New"/>
              </a:rPr>
              <a:t>]</a:t>
            </a:r>
          </a:p>
        </p:txBody>
      </p:sp>
      <p:sp>
        <p:nvSpPr>
          <p:cNvPr id="6" name="Object">
            <a:extLst>
              <a:ext uri="{FF2B5EF4-FFF2-40B4-BE49-F238E27FC236}">
                <a16:creationId xmlns:a16="http://schemas.microsoft.com/office/drawing/2014/main" id="{B00BADEE-A44A-473F-BE93-F362DEDB46EF}"/>
              </a:ext>
            </a:extLst>
          </p:cNvPr>
          <p:cNvSpPr>
            <a:spLocks noGrp="1"/>
          </p:cNvSpPr>
          <p:nvPr/>
        </p:nvSpPr>
        <p:spPr>
          <a:xfrm>
            <a:off x="600075" y="3533775"/>
            <a:ext cx="4810125"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Object</a:t>
            </a:r>
          </a:p>
        </p:txBody>
      </p:sp>
      <p:sp>
        <p:nvSpPr>
          <p:cNvPr id="7" name="Names identify values.&#10;Use a key su">
            <a:extLst>
              <a:ext uri="{FF2B5EF4-FFF2-40B4-BE49-F238E27FC236}">
                <a16:creationId xmlns:a16="http://schemas.microsoft.com/office/drawing/2014/main" id="{7D8DAE0A-9F54-4ED5-A710-0EF8C984030F}"/>
              </a:ext>
            </a:extLst>
          </p:cNvPr>
          <p:cNvSpPr>
            <a:spLocks noGrp="1"/>
          </p:cNvSpPr>
          <p:nvPr/>
        </p:nvSpPr>
        <p:spPr>
          <a:xfrm>
            <a:off x="600075" y="3981450"/>
            <a:ext cx="4810125" cy="1333500"/>
          </a:xfrm>
          <a:prstGeom prst="rect">
            <a:avLst/>
          </a:prstGeom>
          <a:noFill/>
          <a:ln w="0">
            <a:noFill/>
          </a:ln>
        </p:spPr>
        <p:txBody>
          <a:bodyPr wrap="square" lIns="0" tIns="0" rIns="0" bIns="0" anchor="t">
            <a:noAutofit/>
          </a:bodyPr>
          <a:lstStyle/>
          <a:p>
            <a:pPr algn="l">
              <a:lnSpc>
                <a:spcPct val="105000"/>
              </a:lnSpc>
              <a:buNone/>
              <a:defRPr sz="2200" b="0">
                <a:solidFill>
                  <a:srgbClr val="24323E"/>
                </a:solidFill>
                <a:latin typeface="Times New Roman"/>
                <a:ea typeface="Times New Roman"/>
                <a:cs typeface="Times New Roman"/>
              </a:defRPr>
            </a:pPr>
            <a:r>
              <a:rPr sz="2200" b="0">
                <a:solidFill>
                  <a:srgbClr val="24323E"/>
                </a:solidFill>
                <a:latin typeface="Times New Roman"/>
                <a:ea typeface="Times New Roman"/>
                <a:cs typeface="Times New Roman"/>
              </a:rPr>
              <a:t>Names identify values.</a:t>
            </a:r>
          </a:p>
          <a:p>
            <a:pPr algn="l">
              <a:lnSpc>
                <a:spcPct val="105000"/>
              </a:lnSpc>
              <a:buNone/>
              <a:defRPr sz="2200" b="0">
                <a:solidFill>
                  <a:srgbClr val="24323E"/>
                </a:solidFill>
                <a:latin typeface="Times New Roman"/>
                <a:ea typeface="Times New Roman"/>
                <a:cs typeface="Times New Roman"/>
              </a:defRPr>
            </a:pPr>
            <a:r>
              <a:rPr sz="2200" b="0">
                <a:solidFill>
                  <a:srgbClr val="24323E"/>
                </a:solidFill>
                <a:latin typeface="Times New Roman"/>
                <a:ea typeface="Times New Roman"/>
                <a:cs typeface="Times New Roman"/>
              </a:rPr>
              <a:t>Use a key such as "station_id".</a:t>
            </a:r>
          </a:p>
        </p:txBody>
      </p:sp>
      <p:sp>
        <p:nvSpPr>
          <p:cNvPr id="8" name="Array">
            <a:extLst>
              <a:ext uri="{FF2B5EF4-FFF2-40B4-BE49-F238E27FC236}">
                <a16:creationId xmlns:a16="http://schemas.microsoft.com/office/drawing/2014/main" id="{852E56AA-8C3C-44FE-BE67-772B9B1275FA}"/>
              </a:ext>
            </a:extLst>
          </p:cNvPr>
          <p:cNvSpPr>
            <a:spLocks noGrp="1"/>
          </p:cNvSpPr>
          <p:nvPr/>
        </p:nvSpPr>
        <p:spPr>
          <a:xfrm>
            <a:off x="6381750" y="3533775"/>
            <a:ext cx="4857750"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Array</a:t>
            </a:r>
          </a:p>
        </p:txBody>
      </p:sp>
      <p:sp>
        <p:nvSpPr>
          <p:cNvPr id="9" name="Positions identify values.&#10;Python s">
            <a:extLst>
              <a:ext uri="{FF2B5EF4-FFF2-40B4-BE49-F238E27FC236}">
                <a16:creationId xmlns:a16="http://schemas.microsoft.com/office/drawing/2014/main" id="{551C6680-3C58-4D18-B215-AE88D1074803}"/>
              </a:ext>
            </a:extLst>
          </p:cNvPr>
          <p:cNvSpPr>
            <a:spLocks noGrp="1"/>
          </p:cNvSpPr>
          <p:nvPr/>
        </p:nvSpPr>
        <p:spPr>
          <a:xfrm>
            <a:off x="6381750" y="3981450"/>
            <a:ext cx="4857750" cy="1333500"/>
          </a:xfrm>
          <a:prstGeom prst="rect">
            <a:avLst/>
          </a:prstGeom>
          <a:noFill/>
          <a:ln w="0">
            <a:noFill/>
          </a:ln>
        </p:spPr>
        <p:txBody>
          <a:bodyPr wrap="square" lIns="0" tIns="0" rIns="0" bIns="0" anchor="t">
            <a:noAutofit/>
          </a:bodyPr>
          <a:lstStyle/>
          <a:p>
            <a:pPr algn="l">
              <a:lnSpc>
                <a:spcPct val="105000"/>
              </a:lnSpc>
              <a:buNone/>
              <a:defRPr sz="2200" b="0">
                <a:solidFill>
                  <a:srgbClr val="24323E"/>
                </a:solidFill>
                <a:latin typeface="Times New Roman"/>
                <a:ea typeface="Times New Roman"/>
                <a:cs typeface="Times New Roman"/>
              </a:defRPr>
            </a:pPr>
            <a:r>
              <a:rPr sz="2200" b="0">
                <a:solidFill>
                  <a:srgbClr val="24323E"/>
                </a:solidFill>
                <a:latin typeface="Times New Roman"/>
                <a:ea typeface="Times New Roman"/>
                <a:cs typeface="Times New Roman"/>
              </a:rPr>
              <a:t>Positions identify values.</a:t>
            </a:r>
          </a:p>
          <a:p>
            <a:pPr algn="l">
              <a:lnSpc>
                <a:spcPct val="105000"/>
              </a:lnSpc>
              <a:buNone/>
              <a:defRPr sz="2200" b="0">
                <a:solidFill>
                  <a:srgbClr val="24323E"/>
                </a:solidFill>
                <a:latin typeface="Times New Roman"/>
                <a:ea typeface="Times New Roman"/>
                <a:cs typeface="Times New Roman"/>
              </a:defRPr>
            </a:pPr>
            <a:r>
              <a:rPr sz="2200" b="0">
                <a:solidFill>
                  <a:srgbClr val="24323E"/>
                </a:solidFill>
                <a:latin typeface="Times New Roman"/>
                <a:ea typeface="Times New Roman"/>
                <a:cs typeface="Times New Roman"/>
              </a:rPr>
              <a:t>Python starts indexing at 0.</a:t>
            </a:r>
          </a:p>
        </p:txBody>
      </p:sp>
      <p:sp>
        <p:nvSpPr>
          <p:cNvPr id="10" name="Object member order carries no mean">
            <a:extLst>
              <a:ext uri="{FF2B5EF4-FFF2-40B4-BE49-F238E27FC236}">
                <a16:creationId xmlns:a16="http://schemas.microsoft.com/office/drawing/2014/main" id="{8BA8D9DF-1E2F-4F88-ADC6-199D71D58764}"/>
              </a:ext>
            </a:extLst>
          </p:cNvPr>
          <p:cNvSpPr>
            <a:spLocks noGrp="1"/>
          </p:cNvSpPr>
          <p:nvPr/>
        </p:nvSpPr>
        <p:spPr>
          <a:xfrm>
            <a:off x="600075" y="5610225"/>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Object member order carries no meaning. Array order does.</a:t>
            </a:r>
          </a:p>
        </p:txBody>
      </p:sp>
    </p:spTree>
    <p:extLst>
      <p:ext uri="{BB962C8B-B14F-4D97-AF65-F5344CB8AC3E}">
        <p14:creationId xmlns:p14="http://schemas.microsoft.com/office/powerpoint/2010/main" val="3723650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The syntax rules</a:t>
            </a:r>
          </a:p>
        </p:txBody>
      </p:sp>
      <p:sp>
        <p:nvSpPr>
          <p:cNvPr id="3" name="10">
            <a:extLst>
              <a:ext uri="{FF2B5EF4-FFF2-40B4-BE49-F238E27FC236}">
                <a16:creationId xmlns:a16="http://schemas.microsoft.com/office/drawing/2014/main" id="{759E4535-3320-49E2-AE1D-206097C38281}"/>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10</a:t>
            </a:r>
          </a:p>
        </p:txBody>
      </p:sp>
      <p:sp>
        <p:nvSpPr>
          <p:cNvPr id="4" name="Editable code example">
            <a:extLst>
              <a:ext uri="{FF2B5EF4-FFF2-40B4-BE49-F238E27FC236}">
                <a16:creationId xmlns:a16="http://schemas.microsoft.com/office/drawing/2014/main" id="{830CEB88-9F82-4295-A6B1-58A56616F735}"/>
              </a:ext>
            </a:extLst>
          </p:cNvPr>
          <p:cNvSpPr>
            <a:spLocks noGrp="1"/>
          </p:cNvSpPr>
          <p:nvPr/>
        </p:nvSpPr>
        <p:spPr>
          <a:xfrm>
            <a:off x="600075" y="1428750"/>
            <a:ext cx="5524500" cy="2190750"/>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2325" b="0">
                <a:solidFill>
                  <a:srgbClr val="24323E"/>
                </a:solidFill>
                <a:latin typeface="Courier New"/>
                <a:ea typeface="Courier New"/>
                <a:cs typeface="Courier New"/>
              </a:defRPr>
            </a:pPr>
            <a:r>
              <a:rPr sz="2325">
                <a:solidFill>
                  <a:srgbClr val="24323E"/>
                </a:solidFill>
                <a:latin typeface="Courier New"/>
                <a:ea typeface="Courier New"/>
                <a:cs typeface="Courier New"/>
              </a:rPr>
              <a:t>{</a:t>
            </a:r>
          </a:p>
          <a:p>
            <a:pPr algn="l">
              <a:spcBef>
                <a:spcPts val="0"/>
              </a:spcBef>
              <a:spcAft>
                <a:spcPts val="0"/>
              </a:spcAft>
              <a:buNone/>
              <a:defRPr sz="2325" b="0">
                <a:solidFill>
                  <a:srgbClr val="24323E"/>
                </a:solidFill>
                <a:latin typeface="Courier New"/>
                <a:ea typeface="Courier New"/>
                <a:cs typeface="Courier New"/>
              </a:defRPr>
            </a:pPr>
            <a:r>
              <a:rPr sz="2325">
                <a:solidFill>
                  <a:srgbClr val="24323E"/>
                </a:solidFill>
                <a:latin typeface="Courier New"/>
                <a:ea typeface="Courier New"/>
                <a:cs typeface="Courier New"/>
              </a:rPr>
              <a:t>  </a:t>
            </a:r>
            <a:r>
              <a:rPr sz="2325">
                <a:solidFill>
                  <a:srgbClr val="A94B23"/>
                </a:solidFill>
                <a:latin typeface="Courier New"/>
                <a:ea typeface="Courier New"/>
                <a:cs typeface="Courier New"/>
              </a:rPr>
              <a:t>"station_id"</a:t>
            </a:r>
            <a:r>
              <a:rPr sz="2325">
                <a:solidFill>
                  <a:srgbClr val="24323E"/>
                </a:solidFill>
                <a:latin typeface="Courier New"/>
                <a:ea typeface="Courier New"/>
                <a:cs typeface="Courier New"/>
              </a:rPr>
              <a:t>: </a:t>
            </a:r>
            <a:r>
              <a:rPr sz="2325">
                <a:solidFill>
                  <a:srgbClr val="A94B23"/>
                </a:solidFill>
                <a:latin typeface="Courier New"/>
                <a:ea typeface="Courier New"/>
                <a:cs typeface="Courier New"/>
              </a:rPr>
              <a:t>"A1"</a:t>
            </a:r>
            <a:r>
              <a:rPr sz="2325">
                <a:solidFill>
                  <a:srgbClr val="24323E"/>
                </a:solidFill>
                <a:latin typeface="Courier New"/>
                <a:ea typeface="Courier New"/>
                <a:cs typeface="Courier New"/>
              </a:rPr>
              <a:t>,</a:t>
            </a:r>
          </a:p>
          <a:p>
            <a:pPr algn="l">
              <a:spcBef>
                <a:spcPts val="0"/>
              </a:spcBef>
              <a:spcAft>
                <a:spcPts val="0"/>
              </a:spcAft>
              <a:buNone/>
              <a:defRPr sz="2325" b="0">
                <a:solidFill>
                  <a:srgbClr val="24323E"/>
                </a:solidFill>
                <a:latin typeface="Courier New"/>
                <a:ea typeface="Courier New"/>
                <a:cs typeface="Courier New"/>
              </a:defRPr>
            </a:pPr>
            <a:r>
              <a:rPr sz="2325">
                <a:solidFill>
                  <a:srgbClr val="24323E"/>
                </a:solidFill>
                <a:latin typeface="Courier New"/>
                <a:ea typeface="Courier New"/>
                <a:cs typeface="Courier New"/>
              </a:rPr>
              <a:t>  </a:t>
            </a:r>
            <a:r>
              <a:rPr sz="2325">
                <a:solidFill>
                  <a:srgbClr val="A94B23"/>
                </a:solidFill>
                <a:latin typeface="Courier New"/>
                <a:ea typeface="Courier New"/>
                <a:cs typeface="Courier New"/>
              </a:rPr>
              <a:t>"active"</a:t>
            </a:r>
            <a:r>
              <a:rPr sz="2325">
                <a:solidFill>
                  <a:srgbClr val="24323E"/>
                </a:solidFill>
                <a:latin typeface="Courier New"/>
                <a:ea typeface="Courier New"/>
                <a:cs typeface="Courier New"/>
              </a:rPr>
              <a:t>: </a:t>
            </a:r>
            <a:r>
              <a:rPr sz="2325">
                <a:solidFill>
                  <a:srgbClr val="21688D"/>
                </a:solidFill>
                <a:latin typeface="Courier New"/>
                <a:ea typeface="Courier New"/>
                <a:cs typeface="Courier New"/>
              </a:rPr>
              <a:t>true</a:t>
            </a:r>
            <a:r>
              <a:rPr sz="2325">
                <a:solidFill>
                  <a:srgbClr val="24323E"/>
                </a:solidFill>
                <a:latin typeface="Courier New"/>
                <a:ea typeface="Courier New"/>
                <a:cs typeface="Courier New"/>
              </a:rPr>
              <a:t>,</a:t>
            </a:r>
          </a:p>
          <a:p>
            <a:pPr algn="l">
              <a:spcBef>
                <a:spcPts val="0"/>
              </a:spcBef>
              <a:spcAft>
                <a:spcPts val="0"/>
              </a:spcAft>
              <a:buNone/>
              <a:defRPr sz="2325" b="0">
                <a:solidFill>
                  <a:srgbClr val="24323E"/>
                </a:solidFill>
                <a:latin typeface="Courier New"/>
                <a:ea typeface="Courier New"/>
                <a:cs typeface="Courier New"/>
              </a:defRPr>
            </a:pPr>
            <a:r>
              <a:rPr sz="2325">
                <a:solidFill>
                  <a:srgbClr val="24323E"/>
                </a:solidFill>
                <a:latin typeface="Courier New"/>
                <a:ea typeface="Courier New"/>
                <a:cs typeface="Courier New"/>
              </a:rPr>
              <a:t>  </a:t>
            </a:r>
            <a:r>
              <a:rPr sz="2325">
                <a:solidFill>
                  <a:srgbClr val="A94B23"/>
                </a:solidFill>
                <a:latin typeface="Courier New"/>
                <a:ea typeface="Courier New"/>
                <a:cs typeface="Courier New"/>
              </a:rPr>
              <a:t>"readings"</a:t>
            </a:r>
            <a:r>
              <a:rPr sz="2325">
                <a:solidFill>
                  <a:srgbClr val="24323E"/>
                </a:solidFill>
                <a:latin typeface="Courier New"/>
                <a:ea typeface="Courier New"/>
                <a:cs typeface="Courier New"/>
              </a:rPr>
              <a:t>: [</a:t>
            </a:r>
            <a:r>
              <a:rPr sz="2325">
                <a:solidFill>
                  <a:srgbClr val="21688D"/>
                </a:solidFill>
                <a:latin typeface="Courier New"/>
                <a:ea typeface="Courier New"/>
                <a:cs typeface="Courier New"/>
              </a:rPr>
              <a:t>8.1</a:t>
            </a:r>
            <a:r>
              <a:rPr sz="2325">
                <a:solidFill>
                  <a:srgbClr val="24323E"/>
                </a:solidFill>
                <a:latin typeface="Courier New"/>
                <a:ea typeface="Courier New"/>
                <a:cs typeface="Courier New"/>
              </a:rPr>
              <a:t>, </a:t>
            </a:r>
            <a:r>
              <a:rPr sz="2325">
                <a:solidFill>
                  <a:srgbClr val="21688D"/>
                </a:solidFill>
                <a:latin typeface="Courier New"/>
                <a:ea typeface="Courier New"/>
                <a:cs typeface="Courier New"/>
              </a:rPr>
              <a:t>null</a:t>
            </a:r>
            <a:r>
              <a:rPr sz="2325">
                <a:solidFill>
                  <a:srgbClr val="24323E"/>
                </a:solidFill>
                <a:latin typeface="Courier New"/>
                <a:ea typeface="Courier New"/>
                <a:cs typeface="Courier New"/>
              </a:rPr>
              <a:t>]</a:t>
            </a:r>
          </a:p>
          <a:p>
            <a:pPr algn="l">
              <a:spcBef>
                <a:spcPts val="0"/>
              </a:spcBef>
              <a:spcAft>
                <a:spcPts val="0"/>
              </a:spcAft>
              <a:buNone/>
              <a:defRPr sz="2325" b="0">
                <a:solidFill>
                  <a:srgbClr val="24323E"/>
                </a:solidFill>
                <a:latin typeface="Courier New"/>
                <a:ea typeface="Courier New"/>
                <a:cs typeface="Courier New"/>
              </a:defRPr>
            </a:pPr>
            <a:r>
              <a:rPr sz="2325">
                <a:solidFill>
                  <a:srgbClr val="24323E"/>
                </a:solidFill>
                <a:latin typeface="Courier New"/>
                <a:ea typeface="Courier New"/>
                <a:cs typeface="Courier New"/>
              </a:rPr>
              <a:t>}</a:t>
            </a:r>
          </a:p>
        </p:txBody>
      </p:sp>
      <p:sp>
        <p:nvSpPr>
          <p:cNvPr id="5" name="Names and strings">
            <a:extLst>
              <a:ext uri="{FF2B5EF4-FFF2-40B4-BE49-F238E27FC236}">
                <a16:creationId xmlns:a16="http://schemas.microsoft.com/office/drawing/2014/main" id="{341D9578-8D23-423B-A05C-514C0D042D2A}"/>
              </a:ext>
            </a:extLst>
          </p:cNvPr>
          <p:cNvSpPr>
            <a:spLocks noGrp="1"/>
          </p:cNvSpPr>
          <p:nvPr/>
        </p:nvSpPr>
        <p:spPr>
          <a:xfrm>
            <a:off x="6772275" y="1409700"/>
            <a:ext cx="4457700" cy="342900"/>
          </a:xfrm>
          <a:prstGeom prst="rect">
            <a:avLst/>
          </a:prstGeom>
          <a:noFill/>
          <a:ln w="0">
            <a:noFill/>
          </a:ln>
        </p:spPr>
        <p:txBody>
          <a:bodyPr wrap="square" lIns="0" tIns="0" rIns="0" bIns="0" anchor="t">
            <a:noAutofit/>
          </a:bodyPr>
          <a:lstStyle/>
          <a:p>
            <a:pPr algn="l">
              <a:lnSpc>
                <a:spcPct val="105000"/>
              </a:lnSpc>
              <a:buNone/>
              <a:defRPr sz="2100" b="1">
                <a:solidFill>
                  <a:srgbClr val="F67132"/>
                </a:solidFill>
                <a:latin typeface="Times New Roman"/>
                <a:ea typeface="Times New Roman"/>
                <a:cs typeface="Times New Roman"/>
              </a:defRPr>
            </a:pPr>
            <a:r>
              <a:rPr sz="2100" b="1">
                <a:solidFill>
                  <a:srgbClr val="F67132"/>
                </a:solidFill>
                <a:latin typeface="Times New Roman"/>
                <a:ea typeface="Times New Roman"/>
                <a:cs typeface="Times New Roman"/>
              </a:rPr>
              <a:t>Names and strings</a:t>
            </a:r>
          </a:p>
        </p:txBody>
      </p:sp>
      <p:sp>
        <p:nvSpPr>
          <p:cNvPr id="6" name="Double quotes: &quot;station_id&quot;">
            <a:extLst>
              <a:ext uri="{FF2B5EF4-FFF2-40B4-BE49-F238E27FC236}">
                <a16:creationId xmlns:a16="http://schemas.microsoft.com/office/drawing/2014/main" id="{F5AAACB5-E629-4568-AD4E-CA3948D71260}"/>
              </a:ext>
            </a:extLst>
          </p:cNvPr>
          <p:cNvSpPr>
            <a:spLocks noGrp="1"/>
          </p:cNvSpPr>
          <p:nvPr/>
        </p:nvSpPr>
        <p:spPr>
          <a:xfrm>
            <a:off x="6772275" y="1771650"/>
            <a:ext cx="4457700" cy="5524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Double quotes: "station_id"</a:t>
            </a:r>
          </a:p>
        </p:txBody>
      </p:sp>
      <p:sp>
        <p:nvSpPr>
          <p:cNvPr id="7" name="Separators">
            <a:extLst>
              <a:ext uri="{FF2B5EF4-FFF2-40B4-BE49-F238E27FC236}">
                <a16:creationId xmlns:a16="http://schemas.microsoft.com/office/drawing/2014/main" id="{5BEDE9A8-75E2-4154-9697-8DE5DE54F012}"/>
              </a:ext>
            </a:extLst>
          </p:cNvPr>
          <p:cNvSpPr>
            <a:spLocks noGrp="1"/>
          </p:cNvSpPr>
          <p:nvPr/>
        </p:nvSpPr>
        <p:spPr>
          <a:xfrm>
            <a:off x="6772275" y="2343150"/>
            <a:ext cx="4457700" cy="342900"/>
          </a:xfrm>
          <a:prstGeom prst="rect">
            <a:avLst/>
          </a:prstGeom>
          <a:noFill/>
          <a:ln w="0">
            <a:noFill/>
          </a:ln>
        </p:spPr>
        <p:txBody>
          <a:bodyPr wrap="square" lIns="0" tIns="0" rIns="0" bIns="0" anchor="t">
            <a:noAutofit/>
          </a:bodyPr>
          <a:lstStyle/>
          <a:p>
            <a:pPr algn="l">
              <a:lnSpc>
                <a:spcPct val="105000"/>
              </a:lnSpc>
              <a:buNone/>
              <a:defRPr sz="2100" b="1">
                <a:solidFill>
                  <a:srgbClr val="F67132"/>
                </a:solidFill>
                <a:latin typeface="Times New Roman"/>
                <a:ea typeface="Times New Roman"/>
                <a:cs typeface="Times New Roman"/>
              </a:defRPr>
            </a:pPr>
            <a:r>
              <a:rPr sz="2100" b="1">
                <a:solidFill>
                  <a:srgbClr val="F67132"/>
                </a:solidFill>
                <a:latin typeface="Times New Roman"/>
                <a:ea typeface="Times New Roman"/>
                <a:cs typeface="Times New Roman"/>
              </a:rPr>
              <a:t>Separators</a:t>
            </a:r>
          </a:p>
        </p:txBody>
      </p:sp>
      <p:sp>
        <p:nvSpPr>
          <p:cNvPr id="8" name="Colon for a pair; commas between it">
            <a:extLst>
              <a:ext uri="{FF2B5EF4-FFF2-40B4-BE49-F238E27FC236}">
                <a16:creationId xmlns:a16="http://schemas.microsoft.com/office/drawing/2014/main" id="{08D5CD0B-24F7-46EA-8811-622F18A5895C}"/>
              </a:ext>
            </a:extLst>
          </p:cNvPr>
          <p:cNvSpPr>
            <a:spLocks noGrp="1"/>
          </p:cNvSpPr>
          <p:nvPr/>
        </p:nvSpPr>
        <p:spPr>
          <a:xfrm>
            <a:off x="6772275" y="2705100"/>
            <a:ext cx="4457700" cy="5524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Colon for a pair; commas between items</a:t>
            </a:r>
          </a:p>
        </p:txBody>
      </p:sp>
      <p:sp>
        <p:nvSpPr>
          <p:cNvPr id="9" name="Containers">
            <a:extLst>
              <a:ext uri="{FF2B5EF4-FFF2-40B4-BE49-F238E27FC236}">
                <a16:creationId xmlns:a16="http://schemas.microsoft.com/office/drawing/2014/main" id="{3E84756F-F31E-4D8D-B338-4C5830F0B351}"/>
              </a:ext>
            </a:extLst>
          </p:cNvPr>
          <p:cNvSpPr>
            <a:spLocks noGrp="1"/>
          </p:cNvSpPr>
          <p:nvPr/>
        </p:nvSpPr>
        <p:spPr>
          <a:xfrm>
            <a:off x="6772275" y="3276600"/>
            <a:ext cx="4457700" cy="342900"/>
          </a:xfrm>
          <a:prstGeom prst="rect">
            <a:avLst/>
          </a:prstGeom>
          <a:noFill/>
          <a:ln w="0">
            <a:noFill/>
          </a:ln>
        </p:spPr>
        <p:txBody>
          <a:bodyPr wrap="square" lIns="0" tIns="0" rIns="0" bIns="0" anchor="t">
            <a:noAutofit/>
          </a:bodyPr>
          <a:lstStyle/>
          <a:p>
            <a:pPr algn="l">
              <a:lnSpc>
                <a:spcPct val="105000"/>
              </a:lnSpc>
              <a:buNone/>
              <a:defRPr sz="2100" b="1">
                <a:solidFill>
                  <a:srgbClr val="F67132"/>
                </a:solidFill>
                <a:latin typeface="Times New Roman"/>
                <a:ea typeface="Times New Roman"/>
                <a:cs typeface="Times New Roman"/>
              </a:defRPr>
            </a:pPr>
            <a:r>
              <a:rPr sz="2100" b="1">
                <a:solidFill>
                  <a:srgbClr val="F67132"/>
                </a:solidFill>
                <a:latin typeface="Times New Roman"/>
                <a:ea typeface="Times New Roman"/>
                <a:cs typeface="Times New Roman"/>
              </a:rPr>
              <a:t>Containers</a:t>
            </a:r>
          </a:p>
        </p:txBody>
      </p:sp>
      <p:sp>
        <p:nvSpPr>
          <p:cNvPr id="10" name="Matched { } and [ ] at every level">
            <a:extLst>
              <a:ext uri="{FF2B5EF4-FFF2-40B4-BE49-F238E27FC236}">
                <a16:creationId xmlns:a16="http://schemas.microsoft.com/office/drawing/2014/main" id="{08ED697C-F232-440D-A478-B91E796F7281}"/>
              </a:ext>
            </a:extLst>
          </p:cNvPr>
          <p:cNvSpPr>
            <a:spLocks noGrp="1"/>
          </p:cNvSpPr>
          <p:nvPr/>
        </p:nvSpPr>
        <p:spPr>
          <a:xfrm>
            <a:off x="6772275" y="3638550"/>
            <a:ext cx="4457700" cy="5524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Matched { } and [ ] at every level</a:t>
            </a:r>
          </a:p>
        </p:txBody>
      </p:sp>
      <p:sp>
        <p:nvSpPr>
          <p:cNvPr id="11" name="Literals">
            <a:extLst>
              <a:ext uri="{FF2B5EF4-FFF2-40B4-BE49-F238E27FC236}">
                <a16:creationId xmlns:a16="http://schemas.microsoft.com/office/drawing/2014/main" id="{3754849F-A9D3-4598-B734-08F4F19D4502}"/>
              </a:ext>
            </a:extLst>
          </p:cNvPr>
          <p:cNvSpPr>
            <a:spLocks noGrp="1"/>
          </p:cNvSpPr>
          <p:nvPr/>
        </p:nvSpPr>
        <p:spPr>
          <a:xfrm>
            <a:off x="6772275" y="4210050"/>
            <a:ext cx="4457700" cy="342900"/>
          </a:xfrm>
          <a:prstGeom prst="rect">
            <a:avLst/>
          </a:prstGeom>
          <a:noFill/>
          <a:ln w="0">
            <a:noFill/>
          </a:ln>
        </p:spPr>
        <p:txBody>
          <a:bodyPr wrap="square" lIns="0" tIns="0" rIns="0" bIns="0" anchor="t">
            <a:noAutofit/>
          </a:bodyPr>
          <a:lstStyle/>
          <a:p>
            <a:pPr algn="l">
              <a:lnSpc>
                <a:spcPct val="105000"/>
              </a:lnSpc>
              <a:buNone/>
              <a:defRPr sz="2100" b="1">
                <a:solidFill>
                  <a:srgbClr val="F67132"/>
                </a:solidFill>
                <a:latin typeface="Times New Roman"/>
                <a:ea typeface="Times New Roman"/>
                <a:cs typeface="Times New Roman"/>
              </a:defRPr>
            </a:pPr>
            <a:r>
              <a:rPr sz="2100" b="1">
                <a:solidFill>
                  <a:srgbClr val="F67132"/>
                </a:solidFill>
                <a:latin typeface="Times New Roman"/>
                <a:ea typeface="Times New Roman"/>
                <a:cs typeface="Times New Roman"/>
              </a:rPr>
              <a:t>Literals</a:t>
            </a:r>
          </a:p>
        </p:txBody>
      </p:sp>
      <p:sp>
        <p:nvSpPr>
          <p:cNvPr id="12" name="true, false, null in lowercase">
            <a:extLst>
              <a:ext uri="{FF2B5EF4-FFF2-40B4-BE49-F238E27FC236}">
                <a16:creationId xmlns:a16="http://schemas.microsoft.com/office/drawing/2014/main" id="{19BB4908-BE4B-42A7-93D3-4C62D023D380}"/>
              </a:ext>
            </a:extLst>
          </p:cNvPr>
          <p:cNvSpPr>
            <a:spLocks noGrp="1"/>
          </p:cNvSpPr>
          <p:nvPr/>
        </p:nvSpPr>
        <p:spPr>
          <a:xfrm>
            <a:off x="6772275" y="4572000"/>
            <a:ext cx="4457700" cy="5524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true, false, null in lowercase</a:t>
            </a:r>
          </a:p>
        </p:txBody>
      </p:sp>
      <p:sp>
        <p:nvSpPr>
          <p:cNvPr id="13" name="No comments or trailing commas. Whi">
            <a:extLst>
              <a:ext uri="{FF2B5EF4-FFF2-40B4-BE49-F238E27FC236}">
                <a16:creationId xmlns:a16="http://schemas.microsoft.com/office/drawing/2014/main" id="{976FA630-2E93-46FE-8C77-DF78D1EE3F5A}"/>
              </a:ext>
            </a:extLst>
          </p:cNvPr>
          <p:cNvSpPr>
            <a:spLocks noGrp="1"/>
          </p:cNvSpPr>
          <p:nvPr/>
        </p:nvSpPr>
        <p:spPr>
          <a:xfrm>
            <a:off x="600075" y="569595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No comments or trailing commas. Whitespace between tokens is optional.</a:t>
            </a:r>
          </a:p>
        </p:txBody>
      </p:sp>
    </p:spTree>
    <p:extLst>
      <p:ext uri="{BB962C8B-B14F-4D97-AF65-F5344CB8AC3E}">
        <p14:creationId xmlns:p14="http://schemas.microsoft.com/office/powerpoint/2010/main" val="3723650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Strings and numbers: </a:t>
            </a:r>
            <a:r>
              <a:rPr sz="3788">
                <a:solidFill>
                  <a:srgbClr val="F67132"/>
                </a:solidFill>
                <a:latin typeface="Times New Roman"/>
                <a:ea typeface="Times New Roman"/>
                <a:cs typeface="Times New Roman"/>
              </a:rPr>
              <a:t>common edge cases</a:t>
            </a:r>
          </a:p>
        </p:txBody>
      </p:sp>
      <p:sp>
        <p:nvSpPr>
          <p:cNvPr id="3" name="11">
            <a:extLst>
              <a:ext uri="{FF2B5EF4-FFF2-40B4-BE49-F238E27FC236}">
                <a16:creationId xmlns:a16="http://schemas.microsoft.com/office/drawing/2014/main" id="{26322B86-536A-41CC-80EB-DEF31F2C68E6}"/>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11</a:t>
            </a:r>
          </a:p>
        </p:txBody>
      </p:sp>
      <p:graphicFrame>
        <p:nvGraphicFramePr>
          <p:cNvPr id="8" name="Table 7"/>
          <p:cNvGraphicFramePr/>
          <p:nvPr/>
        </p:nvGraphicFramePr>
        <p:xfrm>
          <a:off x="600075" y="1285875"/>
          <a:ext cx="10953750" cy="3971928"/>
        </p:xfrm>
        <a:graphic>
          <a:graphicData uri="http://schemas.openxmlformats.org/drawingml/2006/table">
            <a:tbl>
              <a:tblPr/>
              <a:tblGrid>
                <a:gridCol w="2219325">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733925">
                  <a:extLst>
                    <a:ext uri="{9D8B030D-6E8A-4147-A177-3AD203B41FA5}">
                      <a16:colId xmlns:a16="http://schemas.microsoft.com/office/drawing/2014/main" val="20002"/>
                    </a:ext>
                  </a:extLst>
                </a:gridCol>
              </a:tblGrid>
              <a:tr h="661988">
                <a:tc>
                  <a:txBody>
                    <a:bodyPr/>
                    <a:lstStyle/>
                    <a:p>
                      <a:r>
                        <a:rPr sz="1900" b="1">
                          <a:solidFill>
                            <a:srgbClr val="FFFFFF"/>
                          </a:solidFill>
                          <a:latin typeface="Times New Roman"/>
                          <a:ea typeface="Times New Roman"/>
                          <a:cs typeface="Times New Roman"/>
                        </a:rPr>
                        <a:t>Case</a:t>
                      </a:r>
                    </a:p>
                  </a:txBody>
                  <a:tcPr anchor="ctr">
                    <a:solidFill>
                      <a:srgbClr val="24323E"/>
                    </a:solidFill>
                  </a:tcPr>
                </a:tc>
                <a:tc>
                  <a:txBody>
                    <a:bodyPr/>
                    <a:lstStyle/>
                    <a:p>
                      <a:r>
                        <a:rPr sz="1900" b="1">
                          <a:solidFill>
                            <a:srgbClr val="FFFFFF"/>
                          </a:solidFill>
                          <a:latin typeface="Times New Roman"/>
                          <a:ea typeface="Times New Roman"/>
                          <a:cs typeface="Times New Roman"/>
                        </a:rPr>
                        <a:t>Valid JSON value</a:t>
                      </a:r>
                    </a:p>
                  </a:txBody>
                  <a:tcPr anchor="ctr">
                    <a:solidFill>
                      <a:srgbClr val="24323E"/>
                    </a:solidFill>
                  </a:tcPr>
                </a:tc>
                <a:tc>
                  <a:txBody>
                    <a:bodyPr/>
                    <a:lstStyle/>
                    <a:p>
                      <a:r>
                        <a:rPr sz="1900" b="1">
                          <a:solidFill>
                            <a:srgbClr val="FFFFFF"/>
                          </a:solidFill>
                          <a:latin typeface="Times New Roman"/>
                          <a:ea typeface="Times New Roman"/>
                          <a:cs typeface="Times New Roman"/>
                        </a:rPr>
                        <a:t>What to watch for</a:t>
                      </a:r>
                    </a:p>
                  </a:txBody>
                  <a:tcPr anchor="ctr">
                    <a:solidFill>
                      <a:srgbClr val="24323E"/>
                    </a:solidFill>
                  </a:tcPr>
                </a:tc>
                <a:extLst>
                  <a:ext uri="{0D108BD9-81ED-4DB2-BD59-A6C34878D82A}">
                    <a16:rowId xmlns:a16="http://schemas.microsoft.com/office/drawing/2014/main" val="10000"/>
                  </a:ext>
                </a:extLst>
              </a:tr>
              <a:tr h="661988">
                <a:tc>
                  <a:txBody>
                    <a:bodyPr/>
                    <a:lstStyle/>
                    <a:p>
                      <a:r>
                        <a:rPr sz="1900" b="0">
                          <a:solidFill>
                            <a:srgbClr val="24323E"/>
                          </a:solidFill>
                          <a:latin typeface="Times New Roman"/>
                          <a:ea typeface="Times New Roman"/>
                          <a:cs typeface="Times New Roman"/>
                        </a:rPr>
                        <a:t>Embedded quote</a:t>
                      </a:r>
                    </a:p>
                  </a:txBody>
                  <a:tcPr anchor="ctr">
                    <a:solidFill>
                      <a:srgbClr val="FFFFFF"/>
                    </a:solidFill>
                  </a:tcPr>
                </a:tc>
                <a:tc>
                  <a:txBody>
                    <a:bodyPr/>
                    <a:lstStyle/>
                    <a:p>
                      <a:r>
                        <a:rPr sz="1900" b="0">
                          <a:solidFill>
                            <a:srgbClr val="24323E"/>
                          </a:solidFill>
                          <a:latin typeface="Courier New"/>
                          <a:ea typeface="Courier New"/>
                          <a:cs typeface="Courier New"/>
                        </a:rPr>
                        <a:t>"He said \"yes\""</a:t>
                      </a:r>
                    </a:p>
                  </a:txBody>
                  <a:tcPr anchor="ctr">
                    <a:solidFill>
                      <a:srgbClr val="FFFFFF"/>
                    </a:solidFill>
                  </a:tcPr>
                </a:tc>
                <a:tc>
                  <a:txBody>
                    <a:bodyPr/>
                    <a:lstStyle/>
                    <a:p>
                      <a:r>
                        <a:rPr sz="1900" b="0">
                          <a:solidFill>
                            <a:srgbClr val="24323E"/>
                          </a:solidFill>
                          <a:latin typeface="Times New Roman"/>
                          <a:ea typeface="Times New Roman"/>
                          <a:cs typeface="Times New Roman"/>
                        </a:rPr>
                        <a:t>Escape quotation marks within strings</a:t>
                      </a:r>
                    </a:p>
                  </a:txBody>
                  <a:tcPr anchor="ctr">
                    <a:solidFill>
                      <a:srgbClr val="FFFFFF"/>
                    </a:solidFill>
                  </a:tcPr>
                </a:tc>
                <a:extLst>
                  <a:ext uri="{0D108BD9-81ED-4DB2-BD59-A6C34878D82A}">
                    <a16:rowId xmlns:a16="http://schemas.microsoft.com/office/drawing/2014/main" val="10001"/>
                  </a:ext>
                </a:extLst>
              </a:tr>
              <a:tr h="661988">
                <a:tc>
                  <a:txBody>
                    <a:bodyPr/>
                    <a:lstStyle/>
                    <a:p>
                      <a:r>
                        <a:rPr sz="1900" b="0">
                          <a:solidFill>
                            <a:srgbClr val="24323E"/>
                          </a:solidFill>
                          <a:latin typeface="Times New Roman"/>
                          <a:ea typeface="Times New Roman"/>
                          <a:cs typeface="Times New Roman"/>
                        </a:rPr>
                        <a:t>Line break</a:t>
                      </a:r>
                    </a:p>
                  </a:txBody>
                  <a:tcPr anchor="ctr">
                    <a:solidFill>
                      <a:srgbClr val="FFF4EB"/>
                    </a:solidFill>
                  </a:tcPr>
                </a:tc>
                <a:tc>
                  <a:txBody>
                    <a:bodyPr/>
                    <a:lstStyle/>
                    <a:p>
                      <a:r>
                        <a:rPr sz="1900" b="0">
                          <a:solidFill>
                            <a:srgbClr val="24323E"/>
                          </a:solidFill>
                          <a:latin typeface="Courier New"/>
                          <a:ea typeface="Courier New"/>
                          <a:cs typeface="Courier New"/>
                        </a:rPr>
                        <a:t>"line 1\nline 2"</a:t>
                      </a:r>
                    </a:p>
                  </a:txBody>
                  <a:tcPr anchor="ctr">
                    <a:solidFill>
                      <a:srgbClr val="FFF4EB"/>
                    </a:solidFill>
                  </a:tcPr>
                </a:tc>
                <a:tc>
                  <a:txBody>
                    <a:bodyPr/>
                    <a:lstStyle/>
                    <a:p>
                      <a:r>
                        <a:rPr sz="1900" b="0">
                          <a:solidFill>
                            <a:srgbClr val="24323E"/>
                          </a:solidFill>
                          <a:latin typeface="Times New Roman"/>
                          <a:ea typeface="Times New Roman"/>
                          <a:cs typeface="Times New Roman"/>
                        </a:rPr>
                        <a:t>Use an escape inside the quoted string</a:t>
                      </a:r>
                    </a:p>
                  </a:txBody>
                  <a:tcPr anchor="ctr">
                    <a:solidFill>
                      <a:srgbClr val="FFF4EB"/>
                    </a:solidFill>
                  </a:tcPr>
                </a:tc>
                <a:extLst>
                  <a:ext uri="{0D108BD9-81ED-4DB2-BD59-A6C34878D82A}">
                    <a16:rowId xmlns:a16="http://schemas.microsoft.com/office/drawing/2014/main" val="10002"/>
                  </a:ext>
                </a:extLst>
              </a:tr>
              <a:tr h="661988">
                <a:tc>
                  <a:txBody>
                    <a:bodyPr/>
                    <a:lstStyle/>
                    <a:p>
                      <a:r>
                        <a:rPr sz="1900" b="0">
                          <a:solidFill>
                            <a:srgbClr val="24323E"/>
                          </a:solidFill>
                          <a:latin typeface="Times New Roman"/>
                          <a:ea typeface="Times New Roman"/>
                          <a:cs typeface="Times New Roman"/>
                        </a:rPr>
                        <a:t>Number</a:t>
                      </a:r>
                    </a:p>
                  </a:txBody>
                  <a:tcPr anchor="ctr">
                    <a:solidFill>
                      <a:srgbClr val="FFFFFF"/>
                    </a:solidFill>
                  </a:tcPr>
                </a:tc>
                <a:tc>
                  <a:txBody>
                    <a:bodyPr/>
                    <a:lstStyle/>
                    <a:p>
                      <a:r>
                        <a:rPr sz="1900" b="0">
                          <a:solidFill>
                            <a:srgbClr val="24323E"/>
                          </a:solidFill>
                          <a:latin typeface="Courier New"/>
                          <a:ea typeface="Courier New"/>
                          <a:cs typeface="Courier New"/>
                        </a:rPr>
                        <a:t>-0.25   1.2e3</a:t>
                      </a:r>
                    </a:p>
                  </a:txBody>
                  <a:tcPr anchor="ctr">
                    <a:solidFill>
                      <a:srgbClr val="FFFFFF"/>
                    </a:solidFill>
                  </a:tcPr>
                </a:tc>
                <a:tc>
                  <a:txBody>
                    <a:bodyPr/>
                    <a:lstStyle/>
                    <a:p>
                      <a:r>
                        <a:rPr sz="1900" b="0">
                          <a:solidFill>
                            <a:srgbClr val="24323E"/>
                          </a:solidFill>
                          <a:latin typeface="Times New Roman"/>
                          <a:ea typeface="Times New Roman"/>
                          <a:cs typeface="Times New Roman"/>
                        </a:rPr>
                        <a:t>No +8, .25, 01, NaN, or Infinity</a:t>
                      </a:r>
                    </a:p>
                  </a:txBody>
                  <a:tcPr anchor="ctr">
                    <a:solidFill>
                      <a:srgbClr val="FFFFFF"/>
                    </a:solidFill>
                  </a:tcPr>
                </a:tc>
                <a:extLst>
                  <a:ext uri="{0D108BD9-81ED-4DB2-BD59-A6C34878D82A}">
                    <a16:rowId xmlns:a16="http://schemas.microsoft.com/office/drawing/2014/main" val="10003"/>
                  </a:ext>
                </a:extLst>
              </a:tr>
              <a:tr h="661988">
                <a:tc>
                  <a:txBody>
                    <a:bodyPr/>
                    <a:lstStyle/>
                    <a:p>
                      <a:r>
                        <a:rPr sz="1900" b="0">
                          <a:solidFill>
                            <a:srgbClr val="24323E"/>
                          </a:solidFill>
                          <a:latin typeface="Times New Roman"/>
                          <a:ea typeface="Times New Roman"/>
                          <a:cs typeface="Times New Roman"/>
                        </a:rPr>
                        <a:t>Identifier</a:t>
                      </a:r>
                    </a:p>
                  </a:txBody>
                  <a:tcPr anchor="ctr">
                    <a:solidFill>
                      <a:srgbClr val="FFF4EB"/>
                    </a:solidFill>
                  </a:tcPr>
                </a:tc>
                <a:tc>
                  <a:txBody>
                    <a:bodyPr/>
                    <a:lstStyle/>
                    <a:p>
                      <a:r>
                        <a:rPr sz="1900" b="0">
                          <a:solidFill>
                            <a:srgbClr val="24323E"/>
                          </a:solidFill>
                          <a:latin typeface="Courier New"/>
                          <a:ea typeface="Courier New"/>
                          <a:cs typeface="Courier New"/>
                        </a:rPr>
                        <a:t>"00127"</a:t>
                      </a:r>
                    </a:p>
                  </a:txBody>
                  <a:tcPr anchor="ctr">
                    <a:solidFill>
                      <a:srgbClr val="FFF4EB"/>
                    </a:solidFill>
                  </a:tcPr>
                </a:tc>
                <a:tc>
                  <a:txBody>
                    <a:bodyPr/>
                    <a:lstStyle/>
                    <a:p>
                      <a:r>
                        <a:rPr sz="1900" b="0">
                          <a:solidFill>
                            <a:srgbClr val="24323E"/>
                          </a:solidFill>
                          <a:latin typeface="Times New Roman"/>
                          <a:ea typeface="Times New Roman"/>
                          <a:cs typeface="Times New Roman"/>
                        </a:rPr>
                        <a:t>A string preserves leading zeros</a:t>
                      </a:r>
                    </a:p>
                  </a:txBody>
                  <a:tcPr anchor="ctr">
                    <a:solidFill>
                      <a:srgbClr val="FFF4EB"/>
                    </a:solidFill>
                  </a:tcPr>
                </a:tc>
                <a:extLst>
                  <a:ext uri="{0D108BD9-81ED-4DB2-BD59-A6C34878D82A}">
                    <a16:rowId xmlns:a16="http://schemas.microsoft.com/office/drawing/2014/main" val="10004"/>
                  </a:ext>
                </a:extLst>
              </a:tr>
              <a:tr h="661988">
                <a:tc>
                  <a:txBody>
                    <a:bodyPr/>
                    <a:lstStyle/>
                    <a:p>
                      <a:r>
                        <a:rPr sz="1900" b="0">
                          <a:solidFill>
                            <a:srgbClr val="24323E"/>
                          </a:solidFill>
                          <a:latin typeface="Times New Roman"/>
                          <a:ea typeface="Times New Roman"/>
                          <a:cs typeface="Times New Roman"/>
                        </a:rPr>
                        <a:t>Date / time</a:t>
                      </a:r>
                    </a:p>
                  </a:txBody>
                  <a:tcPr anchor="ctr">
                    <a:solidFill>
                      <a:srgbClr val="FFFFFF"/>
                    </a:solidFill>
                  </a:tcPr>
                </a:tc>
                <a:tc>
                  <a:txBody>
                    <a:bodyPr/>
                    <a:lstStyle/>
                    <a:p>
                      <a:r>
                        <a:rPr sz="1900" b="0">
                          <a:solidFill>
                            <a:srgbClr val="24323E"/>
                          </a:solidFill>
                          <a:latin typeface="Courier New"/>
                          <a:ea typeface="Courier New"/>
                          <a:cs typeface="Courier New"/>
                        </a:rPr>
                        <a:t>"2026-09-27T09:00:00Z"</a:t>
                      </a:r>
                    </a:p>
                  </a:txBody>
                  <a:tcPr anchor="ctr">
                    <a:solidFill>
                      <a:srgbClr val="FFFFFF"/>
                    </a:solidFill>
                  </a:tcPr>
                </a:tc>
                <a:tc>
                  <a:txBody>
                    <a:bodyPr/>
                    <a:lstStyle/>
                    <a:p>
                      <a:r>
                        <a:rPr sz="1900" b="0">
                          <a:solidFill>
                            <a:srgbClr val="24323E"/>
                          </a:solidFill>
                          <a:latin typeface="Times New Roman"/>
                          <a:ea typeface="Times New Roman"/>
                          <a:cs typeface="Times New Roman"/>
                        </a:rPr>
                        <a:t>A string until the application interprets it</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5" name="Use UTF-8 for JSON exchanged across">
            <a:extLst>
              <a:ext uri="{FF2B5EF4-FFF2-40B4-BE49-F238E27FC236}">
                <a16:creationId xmlns:a16="http://schemas.microsoft.com/office/drawing/2014/main" id="{2EFF42B2-715A-4FD3-BEF7-E7FF39B7C2CF}"/>
              </a:ext>
            </a:extLst>
          </p:cNvPr>
          <p:cNvSpPr>
            <a:spLocks noGrp="1"/>
          </p:cNvSpPr>
          <p:nvPr/>
        </p:nvSpPr>
        <p:spPr>
          <a:xfrm>
            <a:off x="600075" y="565785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Use UTF-8 for JSON exchanged across systems.</a:t>
            </a:r>
          </a:p>
        </p:txBody>
      </p:sp>
    </p:spTree>
    <p:extLst>
      <p:ext uri="{BB962C8B-B14F-4D97-AF65-F5344CB8AC3E}">
        <p14:creationId xmlns:p14="http://schemas.microsoft.com/office/powerpoint/2010/main" val="3723650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Our nested dataset</a:t>
            </a:r>
          </a:p>
        </p:txBody>
      </p:sp>
      <p:sp>
        <p:nvSpPr>
          <p:cNvPr id="3" name="12">
            <a:extLst>
              <a:ext uri="{FF2B5EF4-FFF2-40B4-BE49-F238E27FC236}">
                <a16:creationId xmlns:a16="http://schemas.microsoft.com/office/drawing/2014/main" id="{25D8B1DC-8376-4445-9D7C-50D6EED2D2F9}"/>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12</a:t>
            </a:r>
          </a:p>
        </p:txBody>
      </p:sp>
      <p:sp>
        <p:nvSpPr>
          <p:cNvPr id="4" name="Editable code example">
            <a:extLst>
              <a:ext uri="{FF2B5EF4-FFF2-40B4-BE49-F238E27FC236}">
                <a16:creationId xmlns:a16="http://schemas.microsoft.com/office/drawing/2014/main" id="{620C617D-F321-42C5-AD5D-2D52F4A5CF1A}"/>
              </a:ext>
            </a:extLst>
          </p:cNvPr>
          <p:cNvSpPr>
            <a:spLocks noGrp="1"/>
          </p:cNvSpPr>
          <p:nvPr/>
        </p:nvSpPr>
        <p:spPr>
          <a:xfrm>
            <a:off x="600075" y="1200150"/>
            <a:ext cx="7781925" cy="4131564"/>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"campaign"</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"grounds-air"</a:t>
            </a: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"units"</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"pm25"</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"µg/m³"</a:t>
            </a: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"stations"</a:t>
            </a:r>
            <a:r>
              <a:rPr sz="1740">
                <a:solidFill>
                  <a:srgbClr val="24323E"/>
                </a:solidFill>
                <a:latin typeface="Courier New"/>
                <a:ea typeface="Courier New"/>
                <a:cs typeface="Courier New"/>
              </a:rPr>
              <a:t>: [</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"station_id"</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"A1"</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"site"</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"name"</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"North"</a:t>
            </a: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"readings"</a:t>
            </a:r>
            <a:r>
              <a:rPr sz="1740">
                <a:solidFill>
                  <a:srgbClr val="24323E"/>
                </a:solidFill>
                <a:latin typeface="Courier New"/>
                <a:ea typeface="Courier New"/>
                <a:cs typeface="Courier New"/>
              </a:rPr>
              <a:t>: [</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"hour"</a:t>
            </a:r>
            <a:r>
              <a:rPr sz="1740">
                <a:solidFill>
                  <a:srgbClr val="24323E"/>
                </a:solidFill>
                <a:latin typeface="Courier New"/>
                <a:ea typeface="Courier New"/>
                <a:cs typeface="Courier New"/>
              </a:rPr>
              <a:t>: </a:t>
            </a:r>
            <a:r>
              <a:rPr sz="1740">
                <a:solidFill>
                  <a:srgbClr val="21688D"/>
                </a:solidFill>
                <a:latin typeface="Courier New"/>
                <a:ea typeface="Courier New"/>
                <a:cs typeface="Courier New"/>
              </a:rPr>
              <a:t>9</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"pm25"</a:t>
            </a:r>
            <a:r>
              <a:rPr sz="1740">
                <a:solidFill>
                  <a:srgbClr val="24323E"/>
                </a:solidFill>
                <a:latin typeface="Courier New"/>
                <a:ea typeface="Courier New"/>
                <a:cs typeface="Courier New"/>
              </a:rPr>
              <a:t>: </a:t>
            </a:r>
            <a:r>
              <a:rPr sz="1740">
                <a:solidFill>
                  <a:srgbClr val="21688D"/>
                </a:solidFill>
                <a:latin typeface="Courier New"/>
                <a:ea typeface="Courier New"/>
                <a:cs typeface="Courier New"/>
              </a:rPr>
              <a:t>8.1</a:t>
            </a: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"hour"</a:t>
            </a:r>
            <a:r>
              <a:rPr sz="1740">
                <a:solidFill>
                  <a:srgbClr val="24323E"/>
                </a:solidFill>
                <a:latin typeface="Courier New"/>
                <a:ea typeface="Courier New"/>
                <a:cs typeface="Courier New"/>
              </a:rPr>
              <a:t>: </a:t>
            </a:r>
            <a:r>
              <a:rPr sz="1740">
                <a:solidFill>
                  <a:srgbClr val="21688D"/>
                </a:solidFill>
                <a:latin typeface="Courier New"/>
                <a:ea typeface="Courier New"/>
                <a:cs typeface="Courier New"/>
              </a:rPr>
              <a:t>10</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"pm25"</a:t>
            </a:r>
            <a:r>
              <a:rPr sz="1740">
                <a:solidFill>
                  <a:srgbClr val="24323E"/>
                </a:solidFill>
                <a:latin typeface="Courier New"/>
                <a:ea typeface="Courier New"/>
                <a:cs typeface="Courier New"/>
              </a:rPr>
              <a:t>: </a:t>
            </a:r>
            <a:r>
              <a:rPr sz="1740">
                <a:solidFill>
                  <a:srgbClr val="21688D"/>
                </a:solidFill>
                <a:latin typeface="Courier New"/>
                <a:ea typeface="Courier New"/>
                <a:cs typeface="Courier New"/>
              </a:rPr>
              <a:t>null</a:t>
            </a: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"station_id"</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"B2"</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"site"</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"name"</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"South"</a:t>
            </a: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"readings"</a:t>
            </a:r>
            <a:r>
              <a:rPr sz="1740">
                <a:solidFill>
                  <a:srgbClr val="24323E"/>
                </a:solidFill>
                <a:latin typeface="Courier New"/>
                <a:ea typeface="Courier New"/>
                <a:cs typeface="Courier New"/>
              </a:rPr>
              <a:t>: [</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"hour"</a:t>
            </a:r>
            <a:r>
              <a:rPr sz="1740">
                <a:solidFill>
                  <a:srgbClr val="24323E"/>
                </a:solidFill>
                <a:latin typeface="Courier New"/>
                <a:ea typeface="Courier New"/>
                <a:cs typeface="Courier New"/>
              </a:rPr>
              <a:t>: </a:t>
            </a:r>
            <a:r>
              <a:rPr sz="1740">
                <a:solidFill>
                  <a:srgbClr val="21688D"/>
                </a:solidFill>
                <a:latin typeface="Courier New"/>
                <a:ea typeface="Courier New"/>
                <a:cs typeface="Courier New"/>
              </a:rPr>
              <a:t>9</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"pm25"</a:t>
            </a:r>
            <a:r>
              <a:rPr sz="1740">
                <a:solidFill>
                  <a:srgbClr val="24323E"/>
                </a:solidFill>
                <a:latin typeface="Courier New"/>
                <a:ea typeface="Courier New"/>
                <a:cs typeface="Courier New"/>
              </a:rPr>
              <a:t>: </a:t>
            </a:r>
            <a:r>
              <a:rPr sz="1740">
                <a:solidFill>
                  <a:srgbClr val="21688D"/>
                </a:solidFill>
                <a:latin typeface="Courier New"/>
                <a:ea typeface="Courier New"/>
                <a:cs typeface="Courier New"/>
              </a:rPr>
              <a:t>12.4</a:t>
            </a: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"hour"</a:t>
            </a:r>
            <a:r>
              <a:rPr sz="1740">
                <a:solidFill>
                  <a:srgbClr val="24323E"/>
                </a:solidFill>
                <a:latin typeface="Courier New"/>
                <a:ea typeface="Courier New"/>
                <a:cs typeface="Courier New"/>
              </a:rPr>
              <a:t>: </a:t>
            </a:r>
            <a:r>
              <a:rPr sz="1740">
                <a:solidFill>
                  <a:srgbClr val="21688D"/>
                </a:solidFill>
                <a:latin typeface="Courier New"/>
                <a:ea typeface="Courier New"/>
                <a:cs typeface="Courier New"/>
              </a:rPr>
              <a:t>10</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"pm25"</a:t>
            </a:r>
            <a:r>
              <a:rPr sz="1740">
                <a:solidFill>
                  <a:srgbClr val="24323E"/>
                </a:solidFill>
                <a:latin typeface="Courier New"/>
                <a:ea typeface="Courier New"/>
                <a:cs typeface="Courier New"/>
              </a:rPr>
              <a:t>: </a:t>
            </a:r>
            <a:r>
              <a:rPr sz="1740">
                <a:solidFill>
                  <a:srgbClr val="21688D"/>
                </a:solidFill>
                <a:latin typeface="Courier New"/>
                <a:ea typeface="Courier New"/>
                <a:cs typeface="Courier New"/>
              </a:rPr>
              <a:t>10.8</a:t>
            </a: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a:t>
            </a:r>
          </a:p>
        </p:txBody>
      </p:sp>
      <p:sp>
        <p:nvSpPr>
          <p:cNvPr id="5" name="Campaign">
            <a:extLst>
              <a:ext uri="{FF2B5EF4-FFF2-40B4-BE49-F238E27FC236}">
                <a16:creationId xmlns:a16="http://schemas.microsoft.com/office/drawing/2014/main" id="{E3772F9C-8817-4C7D-B743-E46AF22C5BB0}"/>
              </a:ext>
            </a:extLst>
          </p:cNvPr>
          <p:cNvSpPr>
            <a:spLocks noGrp="1"/>
          </p:cNvSpPr>
          <p:nvPr/>
        </p:nvSpPr>
        <p:spPr>
          <a:xfrm>
            <a:off x="8810625" y="1438275"/>
            <a:ext cx="2762250"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Campaign</a:t>
            </a:r>
          </a:p>
        </p:txBody>
      </p:sp>
      <p:sp>
        <p:nvSpPr>
          <p:cNvPr id="6" name="Shared name and units">
            <a:extLst>
              <a:ext uri="{FF2B5EF4-FFF2-40B4-BE49-F238E27FC236}">
                <a16:creationId xmlns:a16="http://schemas.microsoft.com/office/drawing/2014/main" id="{4160A1E0-ECCC-4CC2-82E1-9CD2B7B717F5}"/>
              </a:ext>
            </a:extLst>
          </p:cNvPr>
          <p:cNvSpPr>
            <a:spLocks noGrp="1"/>
          </p:cNvSpPr>
          <p:nvPr/>
        </p:nvSpPr>
        <p:spPr>
          <a:xfrm>
            <a:off x="8810625" y="1885950"/>
            <a:ext cx="2762250" cy="857250"/>
          </a:xfrm>
          <a:prstGeom prst="rect">
            <a:avLst/>
          </a:prstGeom>
          <a:noFill/>
          <a:ln w="0">
            <a:noFill/>
          </a:ln>
        </p:spPr>
        <p:txBody>
          <a:bodyPr wrap="square" lIns="0" tIns="0" rIns="0" bIns="0" anchor="t">
            <a:noAutofit/>
          </a:bodyPr>
          <a:lstStyle/>
          <a:p>
            <a:pPr algn="l">
              <a:lnSpc>
                <a:spcPct val="105000"/>
              </a:lnSpc>
              <a:buNone/>
              <a:defRPr sz="2025" b="0">
                <a:solidFill>
                  <a:srgbClr val="24323E"/>
                </a:solidFill>
                <a:latin typeface="Times New Roman"/>
                <a:ea typeface="Times New Roman"/>
                <a:cs typeface="Times New Roman"/>
              </a:defRPr>
            </a:pPr>
            <a:r>
              <a:rPr sz="2025" b="0">
                <a:solidFill>
                  <a:srgbClr val="24323E"/>
                </a:solidFill>
                <a:latin typeface="Times New Roman"/>
                <a:ea typeface="Times New Roman"/>
                <a:cs typeface="Times New Roman"/>
              </a:rPr>
              <a:t>Shared name and units</a:t>
            </a:r>
          </a:p>
        </p:txBody>
      </p:sp>
      <p:sp>
        <p:nvSpPr>
          <p:cNvPr id="7" name="Station">
            <a:extLst>
              <a:ext uri="{FF2B5EF4-FFF2-40B4-BE49-F238E27FC236}">
                <a16:creationId xmlns:a16="http://schemas.microsoft.com/office/drawing/2014/main" id="{9BDA0C79-172D-4D7C-834E-F17BEC628742}"/>
              </a:ext>
            </a:extLst>
          </p:cNvPr>
          <p:cNvSpPr>
            <a:spLocks noGrp="1"/>
          </p:cNvSpPr>
          <p:nvPr/>
        </p:nvSpPr>
        <p:spPr>
          <a:xfrm>
            <a:off x="8810625" y="2790825"/>
            <a:ext cx="2762250"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Station</a:t>
            </a:r>
          </a:p>
        </p:txBody>
      </p:sp>
      <p:sp>
        <p:nvSpPr>
          <p:cNvPr id="8" name="An ID, a site object, and an array ">
            <a:extLst>
              <a:ext uri="{FF2B5EF4-FFF2-40B4-BE49-F238E27FC236}">
                <a16:creationId xmlns:a16="http://schemas.microsoft.com/office/drawing/2014/main" id="{B56EDC87-9D12-4B30-BAA1-8564BCE420A9}"/>
              </a:ext>
            </a:extLst>
          </p:cNvPr>
          <p:cNvSpPr>
            <a:spLocks noGrp="1"/>
          </p:cNvSpPr>
          <p:nvPr/>
        </p:nvSpPr>
        <p:spPr>
          <a:xfrm>
            <a:off x="8810625" y="3238500"/>
            <a:ext cx="2762250" cy="1381125"/>
          </a:xfrm>
          <a:prstGeom prst="rect">
            <a:avLst/>
          </a:prstGeom>
          <a:noFill/>
          <a:ln w="0">
            <a:noFill/>
          </a:ln>
        </p:spPr>
        <p:txBody>
          <a:bodyPr wrap="square" lIns="0" tIns="0" rIns="0" bIns="0" anchor="t">
            <a:noAutofit/>
          </a:bodyPr>
          <a:lstStyle/>
          <a:p>
            <a:pPr algn="l">
              <a:lnSpc>
                <a:spcPct val="105000"/>
              </a:lnSpc>
              <a:buNone/>
              <a:defRPr sz="2025" b="0">
                <a:solidFill>
                  <a:srgbClr val="24323E"/>
                </a:solidFill>
                <a:latin typeface="Times New Roman"/>
                <a:ea typeface="Times New Roman"/>
                <a:cs typeface="Times New Roman"/>
              </a:defRPr>
            </a:pPr>
            <a:r>
              <a:rPr sz="2025" b="0">
                <a:solidFill>
                  <a:srgbClr val="24323E"/>
                </a:solidFill>
                <a:latin typeface="Times New Roman"/>
                <a:ea typeface="Times New Roman"/>
                <a:cs typeface="Times New Roman"/>
              </a:rPr>
              <a:t>An ID, a site object, and an array of readings</a:t>
            </a:r>
          </a:p>
        </p:txBody>
      </p:sp>
      <p:sp>
        <p:nvSpPr>
          <p:cNvPr id="9" name="Reading">
            <a:extLst>
              <a:ext uri="{FF2B5EF4-FFF2-40B4-BE49-F238E27FC236}">
                <a16:creationId xmlns:a16="http://schemas.microsoft.com/office/drawing/2014/main" id="{26730DE8-16BE-4FB1-9AC0-7F3585738F54}"/>
              </a:ext>
            </a:extLst>
          </p:cNvPr>
          <p:cNvSpPr>
            <a:spLocks noGrp="1"/>
          </p:cNvSpPr>
          <p:nvPr/>
        </p:nvSpPr>
        <p:spPr>
          <a:xfrm>
            <a:off x="8810625" y="4505325"/>
            <a:ext cx="2762250"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Reading</a:t>
            </a:r>
          </a:p>
        </p:txBody>
      </p:sp>
      <p:sp>
        <p:nvSpPr>
          <p:cNvPr id="10" name="One hour and one PM2.5 value">
            <a:extLst>
              <a:ext uri="{FF2B5EF4-FFF2-40B4-BE49-F238E27FC236}">
                <a16:creationId xmlns:a16="http://schemas.microsoft.com/office/drawing/2014/main" id="{563823E2-BCEE-4226-8432-F9006B2DB28E}"/>
              </a:ext>
            </a:extLst>
          </p:cNvPr>
          <p:cNvSpPr>
            <a:spLocks noGrp="1"/>
          </p:cNvSpPr>
          <p:nvPr/>
        </p:nvSpPr>
        <p:spPr>
          <a:xfrm>
            <a:off x="8810625" y="4953000"/>
            <a:ext cx="2762250" cy="1028700"/>
          </a:xfrm>
          <a:prstGeom prst="rect">
            <a:avLst/>
          </a:prstGeom>
          <a:noFill/>
          <a:ln w="0">
            <a:noFill/>
          </a:ln>
        </p:spPr>
        <p:txBody>
          <a:bodyPr wrap="square" lIns="0" tIns="0" rIns="0" bIns="0" anchor="t">
            <a:noAutofit/>
          </a:bodyPr>
          <a:lstStyle/>
          <a:p>
            <a:pPr algn="l">
              <a:lnSpc>
                <a:spcPct val="105000"/>
              </a:lnSpc>
              <a:buNone/>
              <a:defRPr sz="2025" b="0">
                <a:solidFill>
                  <a:srgbClr val="24323E"/>
                </a:solidFill>
                <a:latin typeface="Times New Roman"/>
                <a:ea typeface="Times New Roman"/>
                <a:cs typeface="Times New Roman"/>
              </a:defRPr>
            </a:pPr>
            <a:r>
              <a:rPr sz="2025" b="0">
                <a:solidFill>
                  <a:srgbClr val="24323E"/>
                </a:solidFill>
                <a:latin typeface="Times New Roman"/>
                <a:ea typeface="Times New Roman"/>
                <a:cs typeface="Times New Roman"/>
              </a:rPr>
              <a:t>One hour and one PM2.5 value</a:t>
            </a:r>
          </a:p>
        </p:txBody>
      </p:sp>
    </p:spTree>
    <p:extLst>
      <p:ext uri="{BB962C8B-B14F-4D97-AF65-F5344CB8AC3E}">
        <p14:creationId xmlns:p14="http://schemas.microsoft.com/office/powerpoint/2010/main" val="3723650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Reading a path through nested data</a:t>
            </a:r>
          </a:p>
        </p:txBody>
      </p:sp>
      <p:sp>
        <p:nvSpPr>
          <p:cNvPr id="3" name="13">
            <a:extLst>
              <a:ext uri="{FF2B5EF4-FFF2-40B4-BE49-F238E27FC236}">
                <a16:creationId xmlns:a16="http://schemas.microsoft.com/office/drawing/2014/main" id="{BEE0FCA8-0092-4519-94EA-4790D5198061}"/>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13</a:t>
            </a:r>
          </a:p>
        </p:txBody>
      </p:sp>
      <p:graphicFrame>
        <p:nvGraphicFramePr>
          <p:cNvPr id="8" name="Table 7"/>
          <p:cNvGraphicFramePr/>
          <p:nvPr/>
        </p:nvGraphicFramePr>
        <p:xfrm>
          <a:off x="600075" y="1285875"/>
          <a:ext cx="10953750" cy="3657600"/>
        </p:xfrm>
        <a:graphic>
          <a:graphicData uri="http://schemas.openxmlformats.org/drawingml/2006/table">
            <a:tbl>
              <a:tblPr/>
              <a:tblGrid>
                <a:gridCol w="70485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tblGrid>
              <a:tr h="731520">
                <a:tc>
                  <a:txBody>
                    <a:bodyPr/>
                    <a:lstStyle/>
                    <a:p>
                      <a:r>
                        <a:rPr sz="1900" b="1">
                          <a:solidFill>
                            <a:srgbClr val="FFFFFF"/>
                          </a:solidFill>
                          <a:latin typeface="Times New Roman"/>
                          <a:ea typeface="Times New Roman"/>
                          <a:cs typeface="Times New Roman"/>
                        </a:rPr>
                        <a:t>Python expression</a:t>
                      </a:r>
                    </a:p>
                  </a:txBody>
                  <a:tcPr anchor="ctr">
                    <a:solidFill>
                      <a:srgbClr val="24323E"/>
                    </a:solidFill>
                  </a:tcPr>
                </a:tc>
                <a:tc>
                  <a:txBody>
                    <a:bodyPr/>
                    <a:lstStyle/>
                    <a:p>
                      <a:r>
                        <a:rPr sz="1900" b="1">
                          <a:solidFill>
                            <a:srgbClr val="FFFFFF"/>
                          </a:solidFill>
                          <a:latin typeface="Times New Roman"/>
                          <a:ea typeface="Times New Roman"/>
                          <a:cs typeface="Times New Roman"/>
                        </a:rPr>
                        <a:t>Value / shape</a:t>
                      </a:r>
                    </a:p>
                  </a:txBody>
                  <a:tcPr anchor="ctr">
                    <a:solidFill>
                      <a:srgbClr val="24323E"/>
                    </a:solidFill>
                  </a:tcPr>
                </a:tc>
                <a:tc>
                  <a:txBody>
                    <a:bodyPr/>
                    <a:lstStyle/>
                    <a:p>
                      <a:r>
                        <a:rPr sz="1900" b="1">
                          <a:solidFill>
                            <a:srgbClr val="FFFFFF"/>
                          </a:solidFill>
                          <a:latin typeface="Times New Roman"/>
                          <a:ea typeface="Times New Roman"/>
                          <a:cs typeface="Times New Roman"/>
                        </a:rPr>
                        <a:t>Type</a:t>
                      </a:r>
                    </a:p>
                  </a:txBody>
                  <a:tcPr anchor="ctr">
                    <a:solidFill>
                      <a:srgbClr val="24323E"/>
                    </a:solidFill>
                  </a:tcPr>
                </a:tc>
                <a:extLst>
                  <a:ext uri="{0D108BD9-81ED-4DB2-BD59-A6C34878D82A}">
                    <a16:rowId xmlns:a16="http://schemas.microsoft.com/office/drawing/2014/main" val="10000"/>
                  </a:ext>
                </a:extLst>
              </a:tr>
              <a:tr h="731520">
                <a:tc>
                  <a:txBody>
                    <a:bodyPr/>
                    <a:lstStyle/>
                    <a:p>
                      <a:r>
                        <a:rPr sz="1900" b="0">
                          <a:solidFill>
                            <a:srgbClr val="24323E"/>
                          </a:solidFill>
                          <a:latin typeface="Courier New"/>
                          <a:ea typeface="Courier New"/>
                          <a:cs typeface="Courier New"/>
                        </a:rPr>
                        <a:t>data["stations"]</a:t>
                      </a:r>
                    </a:p>
                  </a:txBody>
                  <a:tcPr anchor="ctr">
                    <a:solidFill>
                      <a:srgbClr val="FFFFFF"/>
                    </a:solidFill>
                  </a:tcPr>
                </a:tc>
                <a:tc>
                  <a:txBody>
                    <a:bodyPr/>
                    <a:lstStyle/>
                    <a:p>
                      <a:r>
                        <a:rPr sz="1900" b="0">
                          <a:solidFill>
                            <a:srgbClr val="24323E"/>
                          </a:solidFill>
                          <a:latin typeface="Times New Roman"/>
                          <a:ea typeface="Times New Roman"/>
                          <a:cs typeface="Times New Roman"/>
                        </a:rPr>
                        <a:t>Two station records</a:t>
                      </a:r>
                    </a:p>
                  </a:txBody>
                  <a:tcPr anchor="ctr">
                    <a:solidFill>
                      <a:srgbClr val="FFFFFF"/>
                    </a:solidFill>
                  </a:tcPr>
                </a:tc>
                <a:tc>
                  <a:txBody>
                    <a:bodyPr/>
                    <a:lstStyle/>
                    <a:p>
                      <a:r>
                        <a:rPr sz="1900" b="0">
                          <a:solidFill>
                            <a:srgbClr val="24323E"/>
                          </a:solidFill>
                          <a:latin typeface="Courier New"/>
                          <a:ea typeface="Courier New"/>
                          <a:cs typeface="Courier New"/>
                        </a:rPr>
                        <a:t>list</a:t>
                      </a:r>
                    </a:p>
                  </a:txBody>
                  <a:tcPr anchor="ctr">
                    <a:solidFill>
                      <a:srgbClr val="FFFFFF"/>
                    </a:solidFill>
                  </a:tcPr>
                </a:tc>
                <a:extLst>
                  <a:ext uri="{0D108BD9-81ED-4DB2-BD59-A6C34878D82A}">
                    <a16:rowId xmlns:a16="http://schemas.microsoft.com/office/drawing/2014/main" val="10001"/>
                  </a:ext>
                </a:extLst>
              </a:tr>
              <a:tr h="731520">
                <a:tc>
                  <a:txBody>
                    <a:bodyPr/>
                    <a:lstStyle/>
                    <a:p>
                      <a:r>
                        <a:rPr sz="1900" b="0">
                          <a:solidFill>
                            <a:srgbClr val="24323E"/>
                          </a:solidFill>
                          <a:latin typeface="Courier New"/>
                          <a:ea typeface="Courier New"/>
                          <a:cs typeface="Courier New"/>
                        </a:rPr>
                        <a:t>data["stations"][0]</a:t>
                      </a:r>
                    </a:p>
                  </a:txBody>
                  <a:tcPr anchor="ctr">
                    <a:solidFill>
                      <a:srgbClr val="FFF4EB"/>
                    </a:solidFill>
                  </a:tcPr>
                </a:tc>
                <a:tc>
                  <a:txBody>
                    <a:bodyPr/>
                    <a:lstStyle/>
                    <a:p>
                      <a:r>
                        <a:rPr sz="1900" b="0">
                          <a:solidFill>
                            <a:srgbClr val="24323E"/>
                          </a:solidFill>
                          <a:latin typeface="Times New Roman"/>
                          <a:ea typeface="Times New Roman"/>
                          <a:cs typeface="Times New Roman"/>
                        </a:rPr>
                        <a:t>The A1 station record</a:t>
                      </a:r>
                    </a:p>
                  </a:txBody>
                  <a:tcPr anchor="ctr">
                    <a:solidFill>
                      <a:srgbClr val="FFF4EB"/>
                    </a:solidFill>
                  </a:tcPr>
                </a:tc>
                <a:tc>
                  <a:txBody>
                    <a:bodyPr/>
                    <a:lstStyle/>
                    <a:p>
                      <a:r>
                        <a:rPr sz="1900" b="0">
                          <a:solidFill>
                            <a:srgbClr val="24323E"/>
                          </a:solidFill>
                          <a:latin typeface="Courier New"/>
                          <a:ea typeface="Courier New"/>
                          <a:cs typeface="Courier New"/>
                        </a:rPr>
                        <a:t>dict</a:t>
                      </a:r>
                    </a:p>
                  </a:txBody>
                  <a:tcPr anchor="ctr">
                    <a:solidFill>
                      <a:srgbClr val="FFF4EB"/>
                    </a:solidFill>
                  </a:tcPr>
                </a:tc>
                <a:extLst>
                  <a:ext uri="{0D108BD9-81ED-4DB2-BD59-A6C34878D82A}">
                    <a16:rowId xmlns:a16="http://schemas.microsoft.com/office/drawing/2014/main" val="10002"/>
                  </a:ext>
                </a:extLst>
              </a:tr>
              <a:tr h="731520">
                <a:tc>
                  <a:txBody>
                    <a:bodyPr/>
                    <a:lstStyle/>
                    <a:p>
                      <a:r>
                        <a:rPr sz="1900" b="0">
                          <a:solidFill>
                            <a:srgbClr val="24323E"/>
                          </a:solidFill>
                          <a:latin typeface="Courier New"/>
                          <a:ea typeface="Courier New"/>
                          <a:cs typeface="Courier New"/>
                        </a:rPr>
                        <a:t>data["stations"][0]["site"]["name"]</a:t>
                      </a:r>
                    </a:p>
                  </a:txBody>
                  <a:tcPr anchor="ctr">
                    <a:solidFill>
                      <a:srgbClr val="FFFFFF"/>
                    </a:solidFill>
                  </a:tcPr>
                </a:tc>
                <a:tc>
                  <a:txBody>
                    <a:bodyPr/>
                    <a:lstStyle/>
                    <a:p>
                      <a:r>
                        <a:rPr sz="1900" b="0">
                          <a:solidFill>
                            <a:srgbClr val="24323E"/>
                          </a:solidFill>
                          <a:latin typeface="Times New Roman"/>
                          <a:ea typeface="Times New Roman"/>
                          <a:cs typeface="Times New Roman"/>
                        </a:rPr>
                        <a:t>"North"</a:t>
                      </a:r>
                    </a:p>
                  </a:txBody>
                  <a:tcPr anchor="ctr">
                    <a:solidFill>
                      <a:srgbClr val="FFFFFF"/>
                    </a:solidFill>
                  </a:tcPr>
                </a:tc>
                <a:tc>
                  <a:txBody>
                    <a:bodyPr/>
                    <a:lstStyle/>
                    <a:p>
                      <a:r>
                        <a:rPr sz="1900" b="0">
                          <a:solidFill>
                            <a:srgbClr val="24323E"/>
                          </a:solidFill>
                          <a:latin typeface="Courier New"/>
                          <a:ea typeface="Courier New"/>
                          <a:cs typeface="Courier New"/>
                        </a:rPr>
                        <a:t>str</a:t>
                      </a:r>
                    </a:p>
                  </a:txBody>
                  <a:tcPr anchor="ctr">
                    <a:solidFill>
                      <a:srgbClr val="FFFFFF"/>
                    </a:solidFill>
                  </a:tcPr>
                </a:tc>
                <a:extLst>
                  <a:ext uri="{0D108BD9-81ED-4DB2-BD59-A6C34878D82A}">
                    <a16:rowId xmlns:a16="http://schemas.microsoft.com/office/drawing/2014/main" val="10003"/>
                  </a:ext>
                </a:extLst>
              </a:tr>
              <a:tr h="731520">
                <a:tc>
                  <a:txBody>
                    <a:bodyPr/>
                    <a:lstStyle/>
                    <a:p>
                      <a:r>
                        <a:rPr sz="1900" b="0">
                          <a:solidFill>
                            <a:srgbClr val="24323E"/>
                          </a:solidFill>
                          <a:latin typeface="Courier New"/>
                          <a:ea typeface="Courier New"/>
                          <a:cs typeface="Courier New"/>
                        </a:rPr>
                        <a:t>data["stations"][0]["readings"][1]["pm25"]</a:t>
                      </a:r>
                    </a:p>
                  </a:txBody>
                  <a:tcPr anchor="ctr">
                    <a:solidFill>
                      <a:srgbClr val="FFF4EB"/>
                    </a:solidFill>
                  </a:tcPr>
                </a:tc>
                <a:tc>
                  <a:txBody>
                    <a:bodyPr/>
                    <a:lstStyle/>
                    <a:p>
                      <a:r>
                        <a:rPr sz="1900" b="0">
                          <a:solidFill>
                            <a:srgbClr val="24323E"/>
                          </a:solidFill>
                          <a:latin typeface="Times New Roman"/>
                          <a:ea typeface="Times New Roman"/>
                          <a:cs typeface="Times New Roman"/>
                        </a:rPr>
                        <a:t>None</a:t>
                      </a:r>
                    </a:p>
                  </a:txBody>
                  <a:tcPr anchor="ctr">
                    <a:solidFill>
                      <a:srgbClr val="FFF4EB"/>
                    </a:solidFill>
                  </a:tcPr>
                </a:tc>
                <a:tc>
                  <a:txBody>
                    <a:bodyPr/>
                    <a:lstStyle/>
                    <a:p>
                      <a:r>
                        <a:rPr sz="1900" b="0">
                          <a:solidFill>
                            <a:srgbClr val="24323E"/>
                          </a:solidFill>
                          <a:latin typeface="Courier New"/>
                          <a:ea typeface="Courier New"/>
                          <a:cs typeface="Courier New"/>
                        </a:rPr>
                        <a:t>NoneType</a:t>
                      </a:r>
                    </a:p>
                  </a:txBody>
                  <a:tcPr anchor="ctr">
                    <a:solidFill>
                      <a:srgbClr val="FFF4EB"/>
                    </a:solidFill>
                  </a:tcPr>
                </a:tc>
                <a:extLst>
                  <a:ext uri="{0D108BD9-81ED-4DB2-BD59-A6C34878D82A}">
                    <a16:rowId xmlns:a16="http://schemas.microsoft.com/office/drawing/2014/main" val="10004"/>
                  </a:ext>
                </a:extLst>
              </a:tr>
            </a:tbl>
          </a:graphicData>
        </a:graphic>
      </p:graphicFrame>
      <p:sp>
        <p:nvSpPr>
          <p:cNvPr id="5" name="At each step, identify the current ">
            <a:extLst>
              <a:ext uri="{FF2B5EF4-FFF2-40B4-BE49-F238E27FC236}">
                <a16:creationId xmlns:a16="http://schemas.microsoft.com/office/drawing/2014/main" id="{EC2596F9-B8C0-4054-8772-0546D8D52B8D}"/>
              </a:ext>
            </a:extLst>
          </p:cNvPr>
          <p:cNvSpPr>
            <a:spLocks noGrp="1"/>
          </p:cNvSpPr>
          <p:nvPr/>
        </p:nvSpPr>
        <p:spPr>
          <a:xfrm>
            <a:off x="600075" y="552450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At each step, identify the current container before selecting the next value.</a:t>
            </a:r>
          </a:p>
        </p:txBody>
      </p:sp>
    </p:spTree>
    <p:extLst>
      <p:ext uri="{BB962C8B-B14F-4D97-AF65-F5344CB8AC3E}">
        <p14:creationId xmlns:p14="http://schemas.microsoft.com/office/powerpoint/2010/main" val="3723650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Missing, null, empty, and zero</a:t>
            </a:r>
          </a:p>
        </p:txBody>
      </p:sp>
      <p:sp>
        <p:nvSpPr>
          <p:cNvPr id="3" name="14">
            <a:extLst>
              <a:ext uri="{FF2B5EF4-FFF2-40B4-BE49-F238E27FC236}">
                <a16:creationId xmlns:a16="http://schemas.microsoft.com/office/drawing/2014/main" id="{A3473884-30D1-4C4A-851D-D43950837E3E}"/>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14</a:t>
            </a:r>
          </a:p>
        </p:txBody>
      </p:sp>
      <p:graphicFrame>
        <p:nvGraphicFramePr>
          <p:cNvPr id="8" name="Table 7"/>
          <p:cNvGraphicFramePr/>
          <p:nvPr/>
        </p:nvGraphicFramePr>
        <p:xfrm>
          <a:off x="600075" y="1285875"/>
          <a:ext cx="10953750" cy="3933828"/>
        </p:xfrm>
        <a:graphic>
          <a:graphicData uri="http://schemas.openxmlformats.org/drawingml/2006/table">
            <a:tbl>
              <a:tblPr/>
              <a:tblGrid>
                <a:gridCol w="3295650">
                  <a:extLst>
                    <a:ext uri="{9D8B030D-6E8A-4147-A177-3AD203B41FA5}">
                      <a16:colId xmlns:a16="http://schemas.microsoft.com/office/drawing/2014/main" val="20000"/>
                    </a:ext>
                  </a:extLst>
                </a:gridCol>
                <a:gridCol w="4238625">
                  <a:extLst>
                    <a:ext uri="{9D8B030D-6E8A-4147-A177-3AD203B41FA5}">
                      <a16:colId xmlns:a16="http://schemas.microsoft.com/office/drawing/2014/main" val="20001"/>
                    </a:ext>
                  </a:extLst>
                </a:gridCol>
                <a:gridCol w="3419475">
                  <a:extLst>
                    <a:ext uri="{9D8B030D-6E8A-4147-A177-3AD203B41FA5}">
                      <a16:colId xmlns:a16="http://schemas.microsoft.com/office/drawing/2014/main" val="20002"/>
                    </a:ext>
                  </a:extLst>
                </a:gridCol>
              </a:tblGrid>
              <a:tr h="655638">
                <a:tc>
                  <a:txBody>
                    <a:bodyPr/>
                    <a:lstStyle/>
                    <a:p>
                      <a:r>
                        <a:rPr sz="1900" b="1">
                          <a:solidFill>
                            <a:srgbClr val="FFFFFF"/>
                          </a:solidFill>
                          <a:latin typeface="Times New Roman"/>
                          <a:ea typeface="Times New Roman"/>
                          <a:cs typeface="Times New Roman"/>
                        </a:rPr>
                        <a:t>JSON fragment</a:t>
                      </a:r>
                    </a:p>
                  </a:txBody>
                  <a:tcPr anchor="ctr">
                    <a:solidFill>
                      <a:srgbClr val="24323E"/>
                    </a:solidFill>
                  </a:tcPr>
                </a:tc>
                <a:tc>
                  <a:txBody>
                    <a:bodyPr/>
                    <a:lstStyle/>
                    <a:p>
                      <a:r>
                        <a:rPr sz="1900" b="1">
                          <a:solidFill>
                            <a:srgbClr val="FFFFFF"/>
                          </a:solidFill>
                          <a:latin typeface="Times New Roman"/>
                          <a:ea typeface="Times New Roman"/>
                          <a:cs typeface="Times New Roman"/>
                        </a:rPr>
                        <a:t>Meaning under our contract</a:t>
                      </a:r>
                    </a:p>
                  </a:txBody>
                  <a:tcPr anchor="ctr">
                    <a:solidFill>
                      <a:srgbClr val="24323E"/>
                    </a:solidFill>
                  </a:tcPr>
                </a:tc>
                <a:tc>
                  <a:txBody>
                    <a:bodyPr/>
                    <a:lstStyle/>
                    <a:p>
                      <a:r>
                        <a:rPr sz="1900" b="1">
                          <a:solidFill>
                            <a:srgbClr val="FFFFFF"/>
                          </a:solidFill>
                          <a:latin typeface="Times New Roman"/>
                          <a:ea typeface="Times New Roman"/>
                          <a:cs typeface="Times New Roman"/>
                        </a:rPr>
                        <a:t>Python check</a:t>
                      </a:r>
                    </a:p>
                  </a:txBody>
                  <a:tcPr anchor="ctr">
                    <a:solidFill>
                      <a:srgbClr val="24323E"/>
                    </a:solidFill>
                  </a:tcPr>
                </a:tc>
                <a:extLst>
                  <a:ext uri="{0D108BD9-81ED-4DB2-BD59-A6C34878D82A}">
                    <a16:rowId xmlns:a16="http://schemas.microsoft.com/office/drawing/2014/main" val="10000"/>
                  </a:ext>
                </a:extLst>
              </a:tr>
              <a:tr h="655638">
                <a:tc>
                  <a:txBody>
                    <a:bodyPr/>
                    <a:lstStyle/>
                    <a:p>
                      <a:r>
                        <a:rPr sz="1900" b="0">
                          <a:solidFill>
                            <a:srgbClr val="24323E"/>
                          </a:solidFill>
                          <a:latin typeface="Courier New"/>
                          <a:ea typeface="Courier New"/>
                          <a:cs typeface="Courier New"/>
                        </a:rPr>
                        <a:t>{}</a:t>
                      </a:r>
                    </a:p>
                  </a:txBody>
                  <a:tcPr anchor="ctr">
                    <a:solidFill>
                      <a:srgbClr val="FFFFFF"/>
                    </a:solidFill>
                  </a:tcPr>
                </a:tc>
                <a:tc>
                  <a:txBody>
                    <a:bodyPr/>
                    <a:lstStyle/>
                    <a:p>
                      <a:r>
                        <a:rPr sz="1900" b="0">
                          <a:solidFill>
                            <a:srgbClr val="24323E"/>
                          </a:solidFill>
                          <a:latin typeface="Times New Roman"/>
                          <a:ea typeface="Times New Roman"/>
                          <a:cs typeface="Times New Roman"/>
                        </a:rPr>
                        <a:t>The required field is absent</a:t>
                      </a:r>
                    </a:p>
                  </a:txBody>
                  <a:tcPr anchor="ctr">
                    <a:solidFill>
                      <a:srgbClr val="FFFFFF"/>
                    </a:solidFill>
                  </a:tcPr>
                </a:tc>
                <a:tc>
                  <a:txBody>
                    <a:bodyPr/>
                    <a:lstStyle/>
                    <a:p>
                      <a:r>
                        <a:rPr sz="1769" b="0">
                          <a:solidFill>
                            <a:srgbClr val="24323E"/>
                          </a:solidFill>
                          <a:latin typeface="Courier New"/>
                          <a:ea typeface="Courier New"/>
                          <a:cs typeface="Courier New"/>
                        </a:rPr>
                        <a:t>"pm25" not in r</a:t>
                      </a:r>
                    </a:p>
                  </a:txBody>
                  <a:tcPr anchor="ctr">
                    <a:solidFill>
                      <a:srgbClr val="FFFFFF"/>
                    </a:solidFill>
                  </a:tcPr>
                </a:tc>
                <a:extLst>
                  <a:ext uri="{0D108BD9-81ED-4DB2-BD59-A6C34878D82A}">
                    <a16:rowId xmlns:a16="http://schemas.microsoft.com/office/drawing/2014/main" val="10001"/>
                  </a:ext>
                </a:extLst>
              </a:tr>
              <a:tr h="655638">
                <a:tc>
                  <a:txBody>
                    <a:bodyPr/>
                    <a:lstStyle/>
                    <a:p>
                      <a:r>
                        <a:rPr sz="1900" b="0">
                          <a:solidFill>
                            <a:srgbClr val="24323E"/>
                          </a:solidFill>
                          <a:latin typeface="Courier New"/>
                          <a:ea typeface="Courier New"/>
                          <a:cs typeface="Courier New"/>
                        </a:rPr>
                        <a:t>{"pm25": null}</a:t>
                      </a:r>
                    </a:p>
                  </a:txBody>
                  <a:tcPr anchor="ctr">
                    <a:solidFill>
                      <a:srgbClr val="FFF4EB"/>
                    </a:solidFill>
                  </a:tcPr>
                </a:tc>
                <a:tc>
                  <a:txBody>
                    <a:bodyPr/>
                    <a:lstStyle/>
                    <a:p>
                      <a:r>
                        <a:rPr sz="1900" b="0">
                          <a:solidFill>
                            <a:srgbClr val="24323E"/>
                          </a:solidFill>
                          <a:latin typeface="Times New Roman"/>
                          <a:ea typeface="Times New Roman"/>
                          <a:cs typeface="Times New Roman"/>
                        </a:rPr>
                        <a:t>The measurement is unavailable</a:t>
                      </a:r>
                    </a:p>
                  </a:txBody>
                  <a:tcPr anchor="ctr">
                    <a:solidFill>
                      <a:srgbClr val="FFF4EB"/>
                    </a:solidFill>
                  </a:tcPr>
                </a:tc>
                <a:tc>
                  <a:txBody>
                    <a:bodyPr/>
                    <a:lstStyle/>
                    <a:p>
                      <a:r>
                        <a:rPr sz="1769" b="0">
                          <a:solidFill>
                            <a:srgbClr val="24323E"/>
                          </a:solidFill>
                          <a:latin typeface="Courier New"/>
                          <a:ea typeface="Courier New"/>
                          <a:cs typeface="Courier New"/>
                        </a:rPr>
                        <a:t>r["pm25"] is None</a:t>
                      </a:r>
                    </a:p>
                  </a:txBody>
                  <a:tcPr anchor="ctr">
                    <a:solidFill>
                      <a:srgbClr val="FFF4EB"/>
                    </a:solidFill>
                  </a:tcPr>
                </a:tc>
                <a:extLst>
                  <a:ext uri="{0D108BD9-81ED-4DB2-BD59-A6C34878D82A}">
                    <a16:rowId xmlns:a16="http://schemas.microsoft.com/office/drawing/2014/main" val="10002"/>
                  </a:ext>
                </a:extLst>
              </a:tr>
              <a:tr h="655638">
                <a:tc>
                  <a:txBody>
                    <a:bodyPr/>
                    <a:lstStyle/>
                    <a:p>
                      <a:r>
                        <a:rPr sz="1900" b="0">
                          <a:solidFill>
                            <a:srgbClr val="24323E"/>
                          </a:solidFill>
                          <a:latin typeface="Courier New"/>
                          <a:ea typeface="Courier New"/>
                          <a:cs typeface="Courier New"/>
                        </a:rPr>
                        <a:t>{"pm25": 0}</a:t>
                      </a:r>
                    </a:p>
                  </a:txBody>
                  <a:tcPr anchor="ctr">
                    <a:solidFill>
                      <a:srgbClr val="FFFFFF"/>
                    </a:solidFill>
                  </a:tcPr>
                </a:tc>
                <a:tc>
                  <a:txBody>
                    <a:bodyPr/>
                    <a:lstStyle/>
                    <a:p>
                      <a:r>
                        <a:rPr sz="1900" b="0">
                          <a:solidFill>
                            <a:srgbClr val="24323E"/>
                          </a:solidFill>
                          <a:latin typeface="Times New Roman"/>
                          <a:ea typeface="Times New Roman"/>
                          <a:cs typeface="Times New Roman"/>
                        </a:rPr>
                        <a:t>A measured value of zero</a:t>
                      </a:r>
                    </a:p>
                  </a:txBody>
                  <a:tcPr anchor="ctr">
                    <a:solidFill>
                      <a:srgbClr val="FFFFFF"/>
                    </a:solidFill>
                  </a:tcPr>
                </a:tc>
                <a:tc>
                  <a:txBody>
                    <a:bodyPr/>
                    <a:lstStyle/>
                    <a:p>
                      <a:r>
                        <a:rPr sz="1769" b="0">
                          <a:solidFill>
                            <a:srgbClr val="24323E"/>
                          </a:solidFill>
                          <a:latin typeface="Courier New"/>
                          <a:ea typeface="Courier New"/>
                          <a:cs typeface="Courier New"/>
                        </a:rPr>
                        <a:t>r["pm25"] == 0</a:t>
                      </a:r>
                    </a:p>
                  </a:txBody>
                  <a:tcPr anchor="ctr">
                    <a:solidFill>
                      <a:srgbClr val="FFFFFF"/>
                    </a:solidFill>
                  </a:tcPr>
                </a:tc>
                <a:extLst>
                  <a:ext uri="{0D108BD9-81ED-4DB2-BD59-A6C34878D82A}">
                    <a16:rowId xmlns:a16="http://schemas.microsoft.com/office/drawing/2014/main" val="10003"/>
                  </a:ext>
                </a:extLst>
              </a:tr>
              <a:tr h="655638">
                <a:tc>
                  <a:txBody>
                    <a:bodyPr/>
                    <a:lstStyle/>
                    <a:p>
                      <a:r>
                        <a:rPr sz="1900" b="0">
                          <a:solidFill>
                            <a:srgbClr val="24323E"/>
                          </a:solidFill>
                          <a:latin typeface="Courier New"/>
                          <a:ea typeface="Courier New"/>
                          <a:cs typeface="Courier New"/>
                        </a:rPr>
                        <a:t>{"readings": []}</a:t>
                      </a:r>
                    </a:p>
                  </a:txBody>
                  <a:tcPr anchor="ctr">
                    <a:solidFill>
                      <a:srgbClr val="FFF4EB"/>
                    </a:solidFill>
                  </a:tcPr>
                </a:tc>
                <a:tc>
                  <a:txBody>
                    <a:bodyPr/>
                    <a:lstStyle/>
                    <a:p>
                      <a:r>
                        <a:rPr sz="1900" b="0">
                          <a:solidFill>
                            <a:srgbClr val="24323E"/>
                          </a:solidFill>
                          <a:latin typeface="Times New Roman"/>
                          <a:ea typeface="Times New Roman"/>
                          <a:cs typeface="Times New Roman"/>
                        </a:rPr>
                        <a:t>No reading records</a:t>
                      </a:r>
                    </a:p>
                  </a:txBody>
                  <a:tcPr anchor="ctr">
                    <a:solidFill>
                      <a:srgbClr val="FFF4EB"/>
                    </a:solidFill>
                  </a:tcPr>
                </a:tc>
                <a:tc>
                  <a:txBody>
                    <a:bodyPr/>
                    <a:lstStyle/>
                    <a:p>
                      <a:r>
                        <a:rPr sz="1769" b="0">
                          <a:solidFill>
                            <a:srgbClr val="24323E"/>
                          </a:solidFill>
                          <a:latin typeface="Courier New"/>
                          <a:ea typeface="Courier New"/>
                          <a:cs typeface="Courier New"/>
                        </a:rPr>
                        <a:t>len(r["readings"]) == 0</a:t>
                      </a:r>
                    </a:p>
                  </a:txBody>
                  <a:tcPr anchor="ctr">
                    <a:solidFill>
                      <a:srgbClr val="FFF4EB"/>
                    </a:solidFill>
                  </a:tcPr>
                </a:tc>
                <a:extLst>
                  <a:ext uri="{0D108BD9-81ED-4DB2-BD59-A6C34878D82A}">
                    <a16:rowId xmlns:a16="http://schemas.microsoft.com/office/drawing/2014/main" val="10004"/>
                  </a:ext>
                </a:extLst>
              </a:tr>
              <a:tr h="655638">
                <a:tc>
                  <a:txBody>
                    <a:bodyPr/>
                    <a:lstStyle/>
                    <a:p>
                      <a:r>
                        <a:rPr sz="1900" b="0">
                          <a:solidFill>
                            <a:srgbClr val="24323E"/>
                          </a:solidFill>
                          <a:latin typeface="Courier New"/>
                          <a:ea typeface="Courier New"/>
                          <a:cs typeface="Courier New"/>
                        </a:rPr>
                        <a:t>{"label": ""}</a:t>
                      </a:r>
                    </a:p>
                  </a:txBody>
                  <a:tcPr anchor="ctr">
                    <a:solidFill>
                      <a:srgbClr val="FFFFFF"/>
                    </a:solidFill>
                  </a:tcPr>
                </a:tc>
                <a:tc>
                  <a:txBody>
                    <a:bodyPr/>
                    <a:lstStyle/>
                    <a:p>
                      <a:r>
                        <a:rPr sz="1900" b="0">
                          <a:solidFill>
                            <a:srgbClr val="24323E"/>
                          </a:solidFill>
                          <a:latin typeface="Times New Roman"/>
                          <a:ea typeface="Times New Roman"/>
                          <a:cs typeface="Times New Roman"/>
                        </a:rPr>
                        <a:t>A present, empty string</a:t>
                      </a:r>
                    </a:p>
                  </a:txBody>
                  <a:tcPr anchor="ctr">
                    <a:solidFill>
                      <a:srgbClr val="FFFFFF"/>
                    </a:solidFill>
                  </a:tcPr>
                </a:tc>
                <a:tc>
                  <a:txBody>
                    <a:bodyPr/>
                    <a:lstStyle/>
                    <a:p>
                      <a:r>
                        <a:rPr sz="1769" b="0">
                          <a:solidFill>
                            <a:srgbClr val="24323E"/>
                          </a:solidFill>
                          <a:latin typeface="Courier New"/>
                          <a:ea typeface="Courier New"/>
                          <a:cs typeface="Courier New"/>
                        </a:rPr>
                        <a:t>r["label"] == ""</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5" name="“if value” can discard valid zeros.">
            <a:extLst>
              <a:ext uri="{FF2B5EF4-FFF2-40B4-BE49-F238E27FC236}">
                <a16:creationId xmlns:a16="http://schemas.microsoft.com/office/drawing/2014/main" id="{06F59B9B-4A3E-4F2E-8F9A-0D4D1059E511}"/>
              </a:ext>
            </a:extLst>
          </p:cNvPr>
          <p:cNvSpPr>
            <a:spLocks noGrp="1"/>
          </p:cNvSpPr>
          <p:nvPr/>
        </p:nvSpPr>
        <p:spPr>
          <a:xfrm>
            <a:off x="600075" y="561975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“if value” can discard valid zeros. Missingness needs an explicit rule.</a:t>
            </a:r>
          </a:p>
        </p:txBody>
      </p:sp>
    </p:spTree>
    <p:extLst>
      <p:ext uri="{BB962C8B-B14F-4D97-AF65-F5344CB8AC3E}">
        <p14:creationId xmlns:p14="http://schemas.microsoft.com/office/powerpoint/2010/main" val="3723650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Four checks before analysis</a:t>
            </a:r>
          </a:p>
        </p:txBody>
      </p:sp>
      <p:sp>
        <p:nvSpPr>
          <p:cNvPr id="3" name="15">
            <a:extLst>
              <a:ext uri="{FF2B5EF4-FFF2-40B4-BE49-F238E27FC236}">
                <a16:creationId xmlns:a16="http://schemas.microsoft.com/office/drawing/2014/main" id="{0EDC4BD5-3E5B-42B0-8F38-B204554D1BAB}"/>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15</a:t>
            </a:r>
          </a:p>
        </p:txBody>
      </p:sp>
      <p:graphicFrame>
        <p:nvGraphicFramePr>
          <p:cNvPr id="8" name="Table 7"/>
          <p:cNvGraphicFramePr/>
          <p:nvPr/>
        </p:nvGraphicFramePr>
        <p:xfrm>
          <a:off x="600075" y="1285875"/>
          <a:ext cx="10953750" cy="3705225"/>
        </p:xfrm>
        <a:graphic>
          <a:graphicData uri="http://schemas.openxmlformats.org/drawingml/2006/table">
            <a:tbl>
              <a:tblPr/>
              <a:tblGrid>
                <a:gridCol w="2143125">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4429125">
                  <a:extLst>
                    <a:ext uri="{9D8B030D-6E8A-4147-A177-3AD203B41FA5}">
                      <a16:colId xmlns:a16="http://schemas.microsoft.com/office/drawing/2014/main" val="20002"/>
                    </a:ext>
                  </a:extLst>
                </a:gridCol>
              </a:tblGrid>
              <a:tr h="741045">
                <a:tc>
                  <a:txBody>
                    <a:bodyPr/>
                    <a:lstStyle/>
                    <a:p>
                      <a:r>
                        <a:rPr sz="2025" b="1">
                          <a:solidFill>
                            <a:srgbClr val="FFFFFF"/>
                          </a:solidFill>
                          <a:latin typeface="Times New Roman"/>
                          <a:ea typeface="Times New Roman"/>
                          <a:cs typeface="Times New Roman"/>
                        </a:rPr>
                        <a:t>Check</a:t>
                      </a:r>
                    </a:p>
                  </a:txBody>
                  <a:tcPr anchor="ctr">
                    <a:solidFill>
                      <a:srgbClr val="24323E"/>
                    </a:solidFill>
                  </a:tcPr>
                </a:tc>
                <a:tc>
                  <a:txBody>
                    <a:bodyPr/>
                    <a:lstStyle/>
                    <a:p>
                      <a:r>
                        <a:rPr sz="2025" b="1">
                          <a:solidFill>
                            <a:srgbClr val="FFFFFF"/>
                          </a:solidFill>
                          <a:latin typeface="Times New Roman"/>
                          <a:ea typeface="Times New Roman"/>
                          <a:cs typeface="Times New Roman"/>
                        </a:rPr>
                        <a:t>Question</a:t>
                      </a:r>
                    </a:p>
                  </a:txBody>
                  <a:tcPr anchor="ctr">
                    <a:solidFill>
                      <a:srgbClr val="24323E"/>
                    </a:solidFill>
                  </a:tcPr>
                </a:tc>
                <a:tc>
                  <a:txBody>
                    <a:bodyPr/>
                    <a:lstStyle/>
                    <a:p>
                      <a:r>
                        <a:rPr sz="2025" b="1">
                          <a:solidFill>
                            <a:srgbClr val="FFFFFF"/>
                          </a:solidFill>
                          <a:latin typeface="Times New Roman"/>
                          <a:ea typeface="Times New Roman"/>
                          <a:cs typeface="Times New Roman"/>
                        </a:rPr>
                        <a:t>Example failure</a:t>
                      </a:r>
                    </a:p>
                  </a:txBody>
                  <a:tcPr anchor="ctr">
                    <a:solidFill>
                      <a:srgbClr val="24323E"/>
                    </a:solidFill>
                  </a:tcPr>
                </a:tc>
                <a:extLst>
                  <a:ext uri="{0D108BD9-81ED-4DB2-BD59-A6C34878D82A}">
                    <a16:rowId xmlns:a16="http://schemas.microsoft.com/office/drawing/2014/main" val="10000"/>
                  </a:ext>
                </a:extLst>
              </a:tr>
              <a:tr h="741045">
                <a:tc>
                  <a:txBody>
                    <a:bodyPr/>
                    <a:lstStyle/>
                    <a:p>
                      <a:r>
                        <a:rPr sz="2025" b="0">
                          <a:solidFill>
                            <a:srgbClr val="24323E"/>
                          </a:solidFill>
                          <a:latin typeface="Times New Roman"/>
                          <a:ea typeface="Times New Roman"/>
                          <a:cs typeface="Times New Roman"/>
                        </a:rPr>
                        <a:t>1. Decode</a:t>
                      </a:r>
                    </a:p>
                  </a:txBody>
                  <a:tcPr anchor="ctr">
                    <a:solidFill>
                      <a:srgbClr val="FFFFFF"/>
                    </a:solidFill>
                  </a:tcPr>
                </a:tc>
                <a:tc>
                  <a:txBody>
                    <a:bodyPr/>
                    <a:lstStyle/>
                    <a:p>
                      <a:r>
                        <a:rPr sz="2025" b="0">
                          <a:solidFill>
                            <a:srgbClr val="24323E"/>
                          </a:solidFill>
                          <a:latin typeface="Times New Roman"/>
                          <a:ea typeface="Times New Roman"/>
                          <a:cs typeface="Times New Roman"/>
                        </a:rPr>
                        <a:t>Can we read the bytes?</a:t>
                      </a:r>
                    </a:p>
                  </a:txBody>
                  <a:tcPr anchor="ctr">
                    <a:solidFill>
                      <a:srgbClr val="FFFFFF"/>
                    </a:solidFill>
                  </a:tcPr>
                </a:tc>
                <a:tc>
                  <a:txBody>
                    <a:bodyPr/>
                    <a:lstStyle/>
                    <a:p>
                      <a:r>
                        <a:rPr sz="2025" b="0">
                          <a:solidFill>
                            <a:srgbClr val="24323E"/>
                          </a:solidFill>
                          <a:latin typeface="Times New Roman"/>
                          <a:ea typeface="Times New Roman"/>
                          <a:cs typeface="Times New Roman"/>
                        </a:rPr>
                        <a:t>Incorrect character encoding</a:t>
                      </a:r>
                    </a:p>
                  </a:txBody>
                  <a:tcPr anchor="ctr">
                    <a:solidFill>
                      <a:srgbClr val="FFFFFF"/>
                    </a:solidFill>
                  </a:tcPr>
                </a:tc>
                <a:extLst>
                  <a:ext uri="{0D108BD9-81ED-4DB2-BD59-A6C34878D82A}">
                    <a16:rowId xmlns:a16="http://schemas.microsoft.com/office/drawing/2014/main" val="10001"/>
                  </a:ext>
                </a:extLst>
              </a:tr>
              <a:tr h="741045">
                <a:tc>
                  <a:txBody>
                    <a:bodyPr/>
                    <a:lstStyle/>
                    <a:p>
                      <a:r>
                        <a:rPr sz="2025" b="0">
                          <a:solidFill>
                            <a:srgbClr val="24323E"/>
                          </a:solidFill>
                          <a:latin typeface="Times New Roman"/>
                          <a:ea typeface="Times New Roman"/>
                          <a:cs typeface="Times New Roman"/>
                        </a:rPr>
                        <a:t>2. Parse</a:t>
                      </a:r>
                    </a:p>
                  </a:txBody>
                  <a:tcPr anchor="ctr">
                    <a:solidFill>
                      <a:srgbClr val="FFF4EB"/>
                    </a:solidFill>
                  </a:tcPr>
                </a:tc>
                <a:tc>
                  <a:txBody>
                    <a:bodyPr/>
                    <a:lstStyle/>
                    <a:p>
                      <a:r>
                        <a:rPr sz="2025" b="0">
                          <a:solidFill>
                            <a:srgbClr val="24323E"/>
                          </a:solidFill>
                          <a:latin typeface="Times New Roman"/>
                          <a:ea typeface="Times New Roman"/>
                          <a:cs typeface="Times New Roman"/>
                        </a:rPr>
                        <a:t>Does the text follow JSON grammar?</a:t>
                      </a:r>
                    </a:p>
                  </a:txBody>
                  <a:tcPr anchor="ctr">
                    <a:solidFill>
                      <a:srgbClr val="FFF4EB"/>
                    </a:solidFill>
                  </a:tcPr>
                </a:tc>
                <a:tc>
                  <a:txBody>
                    <a:bodyPr/>
                    <a:lstStyle/>
                    <a:p>
                      <a:r>
                        <a:rPr sz="2025" b="0">
                          <a:solidFill>
                            <a:srgbClr val="24323E"/>
                          </a:solidFill>
                          <a:latin typeface="Times New Roman"/>
                          <a:ea typeface="Times New Roman"/>
                          <a:cs typeface="Times New Roman"/>
                        </a:rPr>
                        <a:t>A trailing comma or unmatched brace</a:t>
                      </a:r>
                    </a:p>
                  </a:txBody>
                  <a:tcPr anchor="ctr">
                    <a:solidFill>
                      <a:srgbClr val="FFF4EB"/>
                    </a:solidFill>
                  </a:tcPr>
                </a:tc>
                <a:extLst>
                  <a:ext uri="{0D108BD9-81ED-4DB2-BD59-A6C34878D82A}">
                    <a16:rowId xmlns:a16="http://schemas.microsoft.com/office/drawing/2014/main" val="10002"/>
                  </a:ext>
                </a:extLst>
              </a:tr>
              <a:tr h="741045">
                <a:tc>
                  <a:txBody>
                    <a:bodyPr/>
                    <a:lstStyle/>
                    <a:p>
                      <a:r>
                        <a:rPr sz="2025" b="0">
                          <a:solidFill>
                            <a:srgbClr val="24323E"/>
                          </a:solidFill>
                          <a:latin typeface="Times New Roman"/>
                          <a:ea typeface="Times New Roman"/>
                          <a:cs typeface="Times New Roman"/>
                        </a:rPr>
                        <a:t>3. Validate a schema</a:t>
                      </a:r>
                    </a:p>
                  </a:txBody>
                  <a:tcPr anchor="ctr">
                    <a:solidFill>
                      <a:srgbClr val="FFFFFF"/>
                    </a:solidFill>
                  </a:tcPr>
                </a:tc>
                <a:tc>
                  <a:txBody>
                    <a:bodyPr/>
                    <a:lstStyle/>
                    <a:p>
                      <a:r>
                        <a:rPr sz="2025" b="0">
                          <a:solidFill>
                            <a:srgbClr val="24323E"/>
                          </a:solidFill>
                          <a:latin typeface="Times New Roman"/>
                          <a:ea typeface="Times New Roman"/>
                          <a:cs typeface="Times New Roman"/>
                        </a:rPr>
                        <a:t>Does the record match the contract?</a:t>
                      </a:r>
                    </a:p>
                  </a:txBody>
                  <a:tcPr anchor="ctr">
                    <a:solidFill>
                      <a:srgbClr val="FFFFFF"/>
                    </a:solidFill>
                  </a:tcPr>
                </a:tc>
                <a:tc>
                  <a:txBody>
                    <a:bodyPr/>
                    <a:lstStyle/>
                    <a:p>
                      <a:r>
                        <a:rPr sz="2025" b="0">
                          <a:solidFill>
                            <a:srgbClr val="24323E"/>
                          </a:solidFill>
                          <a:latin typeface="Times New Roman"/>
                          <a:ea typeface="Times New Roman"/>
                          <a:cs typeface="Times New Roman"/>
                        </a:rPr>
                        <a:t>"pm25": "12.4" where a number is required</a:t>
                      </a:r>
                    </a:p>
                  </a:txBody>
                  <a:tcPr anchor="ctr">
                    <a:solidFill>
                      <a:srgbClr val="FFFFFF"/>
                    </a:solidFill>
                  </a:tcPr>
                </a:tc>
                <a:extLst>
                  <a:ext uri="{0D108BD9-81ED-4DB2-BD59-A6C34878D82A}">
                    <a16:rowId xmlns:a16="http://schemas.microsoft.com/office/drawing/2014/main" val="10003"/>
                  </a:ext>
                </a:extLst>
              </a:tr>
              <a:tr h="741045">
                <a:tc>
                  <a:txBody>
                    <a:bodyPr/>
                    <a:lstStyle/>
                    <a:p>
                      <a:r>
                        <a:rPr sz="2025" b="0">
                          <a:solidFill>
                            <a:srgbClr val="24323E"/>
                          </a:solidFill>
                          <a:latin typeface="Times New Roman"/>
                          <a:ea typeface="Times New Roman"/>
                          <a:cs typeface="Times New Roman"/>
                        </a:rPr>
                        <a:t>4. Check meaning</a:t>
                      </a:r>
                    </a:p>
                  </a:txBody>
                  <a:tcPr anchor="ctr">
                    <a:solidFill>
                      <a:srgbClr val="FFF4EB"/>
                    </a:solidFill>
                  </a:tcPr>
                </a:tc>
                <a:tc>
                  <a:txBody>
                    <a:bodyPr/>
                    <a:lstStyle/>
                    <a:p>
                      <a:r>
                        <a:rPr sz="2025" b="0">
                          <a:solidFill>
                            <a:srgbClr val="24323E"/>
                          </a:solidFill>
                          <a:latin typeface="Times New Roman"/>
                          <a:ea typeface="Times New Roman"/>
                          <a:cs typeface="Times New Roman"/>
                        </a:rPr>
                        <a:t>Is the observation fit for this analysis?</a:t>
                      </a:r>
                    </a:p>
                  </a:txBody>
                  <a:tcPr anchor="ctr">
                    <a:solidFill>
                      <a:srgbClr val="FFF4EB"/>
                    </a:solidFill>
                  </a:tcPr>
                </a:tc>
                <a:tc>
                  <a:txBody>
                    <a:bodyPr/>
                    <a:lstStyle/>
                    <a:p>
                      <a:r>
                        <a:rPr sz="2025" b="0">
                          <a:solidFill>
                            <a:srgbClr val="24323E"/>
                          </a:solidFill>
                          <a:latin typeface="Times New Roman"/>
                          <a:ea typeface="Times New Roman"/>
                          <a:cs typeface="Times New Roman"/>
                        </a:rPr>
                        <a:t>Duplicate station-hour records or mixed units</a:t>
                      </a:r>
                    </a:p>
                  </a:txBody>
                  <a:tcPr anchor="ctr">
                    <a:solidFill>
                      <a:srgbClr val="FFF4EB"/>
                    </a:solidFill>
                  </a:tcPr>
                </a:tc>
                <a:extLst>
                  <a:ext uri="{0D108BD9-81ED-4DB2-BD59-A6C34878D82A}">
                    <a16:rowId xmlns:a16="http://schemas.microsoft.com/office/drawing/2014/main" val="10004"/>
                  </a:ext>
                </a:extLst>
              </a:tr>
            </a:tbl>
          </a:graphicData>
        </a:graphic>
      </p:graphicFrame>
      <p:sp>
        <p:nvSpPr>
          <p:cNvPr id="5" name="Well-formed JSON can still contain ">
            <a:extLst>
              <a:ext uri="{FF2B5EF4-FFF2-40B4-BE49-F238E27FC236}">
                <a16:creationId xmlns:a16="http://schemas.microsoft.com/office/drawing/2014/main" id="{2FDB97DA-2D7E-496E-80AE-88713978E3B8}"/>
              </a:ext>
            </a:extLst>
          </p:cNvPr>
          <p:cNvSpPr>
            <a:spLocks noGrp="1"/>
          </p:cNvSpPr>
          <p:nvPr/>
        </p:nvSpPr>
        <p:spPr>
          <a:xfrm>
            <a:off x="600075" y="552450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Well-formed JSON can still contain incorrect, incomplete, or misleading data.</a:t>
            </a:r>
          </a:p>
        </p:txBody>
      </p:sp>
    </p:spTree>
    <p:extLst>
      <p:ext uri="{BB962C8B-B14F-4D97-AF65-F5344CB8AC3E}">
        <p14:creationId xmlns:p14="http://schemas.microsoft.com/office/powerpoint/2010/main" val="3723650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Discussion: </a:t>
            </a:r>
            <a:r>
              <a:rPr sz="3788">
                <a:solidFill>
                  <a:srgbClr val="F67132"/>
                </a:solidFill>
                <a:latin typeface="Times New Roman"/>
                <a:ea typeface="Times New Roman"/>
                <a:cs typeface="Times New Roman"/>
              </a:rPr>
              <a:t>repair this JSON</a:t>
            </a:r>
          </a:p>
        </p:txBody>
      </p:sp>
      <p:sp>
        <p:nvSpPr>
          <p:cNvPr id="3" name="16">
            <a:extLst>
              <a:ext uri="{FF2B5EF4-FFF2-40B4-BE49-F238E27FC236}">
                <a16:creationId xmlns:a16="http://schemas.microsoft.com/office/drawing/2014/main" id="{0A87E39C-D085-42C4-8C6C-A38BC91BFD99}"/>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16</a:t>
            </a:r>
          </a:p>
        </p:txBody>
      </p:sp>
      <p:sp>
        <p:nvSpPr>
          <p:cNvPr id="4" name="Editable code example">
            <a:extLst>
              <a:ext uri="{FF2B5EF4-FFF2-40B4-BE49-F238E27FC236}">
                <a16:creationId xmlns:a16="http://schemas.microsoft.com/office/drawing/2014/main" id="{E8F54B37-5372-4C3F-AEBA-D4FAB0FB9CF2}"/>
              </a:ext>
            </a:extLst>
          </p:cNvPr>
          <p:cNvSpPr>
            <a:spLocks noGrp="1"/>
          </p:cNvSpPr>
          <p:nvPr/>
        </p:nvSpPr>
        <p:spPr>
          <a:xfrm>
            <a:off x="600075" y="1381125"/>
            <a:ext cx="6572250" cy="2819400"/>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2250" b="0">
                <a:solidFill>
                  <a:srgbClr val="24323E"/>
                </a:solidFill>
                <a:latin typeface="Courier New"/>
                <a:ea typeface="Courier New"/>
                <a:cs typeface="Courier New"/>
              </a:defRPr>
            </a:pPr>
            <a:r>
              <a:rPr sz="2250">
                <a:solidFill>
                  <a:srgbClr val="24323E"/>
                </a:solidFill>
                <a:latin typeface="Courier New"/>
                <a:ea typeface="Courier New"/>
                <a:cs typeface="Courier New"/>
              </a:rPr>
              <a:t>{</a:t>
            </a:r>
          </a:p>
          <a:p>
            <a:pPr algn="l">
              <a:spcBef>
                <a:spcPts val="0"/>
              </a:spcBef>
              <a:spcAft>
                <a:spcPts val="0"/>
              </a:spcAft>
              <a:buNone/>
              <a:defRPr sz="2250" b="0">
                <a:solidFill>
                  <a:srgbClr val="24323E"/>
                </a:solidFill>
                <a:latin typeface="Courier New"/>
                <a:ea typeface="Courier New"/>
                <a:cs typeface="Courier New"/>
              </a:defRPr>
            </a:pPr>
            <a:r>
              <a:rPr sz="2250">
                <a:solidFill>
                  <a:srgbClr val="24323E"/>
                </a:solidFill>
                <a:latin typeface="Courier New"/>
                <a:ea typeface="Courier New"/>
                <a:cs typeface="Courier New"/>
              </a:rPr>
              <a:t>  </a:t>
            </a:r>
            <a:r>
              <a:rPr sz="2250">
                <a:solidFill>
                  <a:srgbClr val="A94B23"/>
                </a:solidFill>
                <a:latin typeface="Courier New"/>
                <a:ea typeface="Courier New"/>
                <a:cs typeface="Courier New"/>
              </a:rPr>
              <a:t>'station_id'</a:t>
            </a:r>
            <a:r>
              <a:rPr sz="2250">
                <a:solidFill>
                  <a:srgbClr val="24323E"/>
                </a:solidFill>
                <a:latin typeface="Courier New"/>
                <a:ea typeface="Courier New"/>
                <a:cs typeface="Courier New"/>
              </a:rPr>
              <a:t>: </a:t>
            </a:r>
            <a:r>
              <a:rPr sz="2250">
                <a:solidFill>
                  <a:srgbClr val="A94B23"/>
                </a:solidFill>
                <a:latin typeface="Courier New"/>
                <a:ea typeface="Courier New"/>
                <a:cs typeface="Courier New"/>
              </a:rPr>
              <a:t>"A1"</a:t>
            </a:r>
            <a:r>
              <a:rPr sz="2250">
                <a:solidFill>
                  <a:srgbClr val="24323E"/>
                </a:solidFill>
                <a:latin typeface="Courier New"/>
                <a:ea typeface="Courier New"/>
                <a:cs typeface="Courier New"/>
              </a:rPr>
              <a:t>,</a:t>
            </a:r>
          </a:p>
          <a:p>
            <a:pPr algn="l">
              <a:spcBef>
                <a:spcPts val="0"/>
              </a:spcBef>
              <a:spcAft>
                <a:spcPts val="0"/>
              </a:spcAft>
              <a:buNone/>
              <a:defRPr sz="2250" b="0">
                <a:solidFill>
                  <a:srgbClr val="24323E"/>
                </a:solidFill>
                <a:latin typeface="Courier New"/>
                <a:ea typeface="Courier New"/>
                <a:cs typeface="Courier New"/>
              </a:defRPr>
            </a:pPr>
            <a:r>
              <a:rPr sz="2250">
                <a:solidFill>
                  <a:srgbClr val="24323E"/>
                </a:solidFill>
                <a:latin typeface="Courier New"/>
                <a:ea typeface="Courier New"/>
                <a:cs typeface="Courier New"/>
              </a:rPr>
              <a:t>  </a:t>
            </a:r>
            <a:r>
              <a:rPr sz="2250">
                <a:solidFill>
                  <a:srgbClr val="A94B23"/>
                </a:solidFill>
                <a:latin typeface="Courier New"/>
                <a:ea typeface="Courier New"/>
                <a:cs typeface="Courier New"/>
              </a:rPr>
              <a:t>"active"</a:t>
            </a:r>
            <a:r>
              <a:rPr sz="2250">
                <a:solidFill>
                  <a:srgbClr val="24323E"/>
                </a:solidFill>
                <a:latin typeface="Courier New"/>
                <a:ea typeface="Courier New"/>
                <a:cs typeface="Courier New"/>
              </a:rPr>
              <a:t>: </a:t>
            </a:r>
            <a:r>
              <a:rPr sz="2250">
                <a:solidFill>
                  <a:srgbClr val="21688D"/>
                </a:solidFill>
                <a:latin typeface="Courier New"/>
                <a:ea typeface="Courier New"/>
                <a:cs typeface="Courier New"/>
              </a:rPr>
              <a:t>True</a:t>
            </a:r>
            <a:r>
              <a:rPr sz="2250">
                <a:solidFill>
                  <a:srgbClr val="24323E"/>
                </a:solidFill>
                <a:latin typeface="Courier New"/>
                <a:ea typeface="Courier New"/>
                <a:cs typeface="Courier New"/>
              </a:rPr>
              <a:t>,</a:t>
            </a:r>
          </a:p>
          <a:p>
            <a:pPr algn="l">
              <a:spcBef>
                <a:spcPts val="0"/>
              </a:spcBef>
              <a:spcAft>
                <a:spcPts val="0"/>
              </a:spcAft>
              <a:buNone/>
              <a:defRPr sz="2250" b="0">
                <a:solidFill>
                  <a:srgbClr val="24323E"/>
                </a:solidFill>
                <a:latin typeface="Courier New"/>
                <a:ea typeface="Courier New"/>
                <a:cs typeface="Courier New"/>
              </a:defRPr>
            </a:pPr>
            <a:r>
              <a:rPr sz="2250">
                <a:solidFill>
                  <a:srgbClr val="24323E"/>
                </a:solidFill>
                <a:latin typeface="Courier New"/>
                <a:ea typeface="Courier New"/>
                <a:cs typeface="Courier New"/>
              </a:rPr>
              <a:t>  </a:t>
            </a:r>
            <a:r>
              <a:rPr sz="2250">
                <a:solidFill>
                  <a:srgbClr val="A94B23"/>
                </a:solidFill>
                <a:latin typeface="Courier New"/>
                <a:ea typeface="Courier New"/>
                <a:cs typeface="Courier New"/>
              </a:rPr>
              <a:t>"readings"</a:t>
            </a:r>
            <a:r>
              <a:rPr sz="2250">
                <a:solidFill>
                  <a:srgbClr val="24323E"/>
                </a:solidFill>
                <a:latin typeface="Courier New"/>
                <a:ea typeface="Courier New"/>
                <a:cs typeface="Courier New"/>
              </a:rPr>
              <a:t>: [</a:t>
            </a:r>
          </a:p>
          <a:p>
            <a:pPr algn="l">
              <a:spcBef>
                <a:spcPts val="0"/>
              </a:spcBef>
              <a:spcAft>
                <a:spcPts val="0"/>
              </a:spcAft>
              <a:buNone/>
              <a:defRPr sz="2250" b="0">
                <a:solidFill>
                  <a:srgbClr val="24323E"/>
                </a:solidFill>
                <a:latin typeface="Courier New"/>
                <a:ea typeface="Courier New"/>
                <a:cs typeface="Courier New"/>
              </a:defRPr>
            </a:pPr>
            <a:r>
              <a:rPr sz="2250">
                <a:solidFill>
                  <a:srgbClr val="24323E"/>
                </a:solidFill>
                <a:latin typeface="Courier New"/>
                <a:ea typeface="Courier New"/>
                <a:cs typeface="Courier New"/>
              </a:rPr>
              <a:t>    {</a:t>
            </a:r>
            <a:r>
              <a:rPr sz="2250">
                <a:solidFill>
                  <a:srgbClr val="A94B23"/>
                </a:solidFill>
                <a:latin typeface="Courier New"/>
                <a:ea typeface="Courier New"/>
                <a:cs typeface="Courier New"/>
              </a:rPr>
              <a:t>"hour"</a:t>
            </a:r>
            <a:r>
              <a:rPr sz="2250">
                <a:solidFill>
                  <a:srgbClr val="24323E"/>
                </a:solidFill>
                <a:latin typeface="Courier New"/>
                <a:ea typeface="Courier New"/>
                <a:cs typeface="Courier New"/>
              </a:rPr>
              <a:t>: </a:t>
            </a:r>
            <a:r>
              <a:rPr sz="2250">
                <a:solidFill>
                  <a:srgbClr val="21688D"/>
                </a:solidFill>
                <a:latin typeface="Courier New"/>
                <a:ea typeface="Courier New"/>
                <a:cs typeface="Courier New"/>
              </a:rPr>
              <a:t>9</a:t>
            </a:r>
            <a:r>
              <a:rPr sz="2250">
                <a:solidFill>
                  <a:srgbClr val="24323E"/>
                </a:solidFill>
                <a:latin typeface="Courier New"/>
                <a:ea typeface="Courier New"/>
                <a:cs typeface="Courier New"/>
              </a:rPr>
              <a:t>, </a:t>
            </a:r>
            <a:r>
              <a:rPr sz="2250">
                <a:solidFill>
                  <a:srgbClr val="A94B23"/>
                </a:solidFill>
                <a:latin typeface="Courier New"/>
                <a:ea typeface="Courier New"/>
                <a:cs typeface="Courier New"/>
              </a:rPr>
              <a:t>"pm25"</a:t>
            </a:r>
            <a:r>
              <a:rPr sz="2250">
                <a:solidFill>
                  <a:srgbClr val="24323E"/>
                </a:solidFill>
                <a:latin typeface="Courier New"/>
                <a:ea typeface="Courier New"/>
                <a:cs typeface="Courier New"/>
              </a:rPr>
              <a:t>: .</a:t>
            </a:r>
            <a:r>
              <a:rPr sz="2250">
                <a:solidFill>
                  <a:srgbClr val="21688D"/>
                </a:solidFill>
                <a:latin typeface="Courier New"/>
                <a:ea typeface="Courier New"/>
                <a:cs typeface="Courier New"/>
              </a:rPr>
              <a:t>8</a:t>
            </a:r>
            <a:r>
              <a:rPr sz="2250">
                <a:solidFill>
                  <a:srgbClr val="24323E"/>
                </a:solidFill>
                <a:latin typeface="Courier New"/>
                <a:ea typeface="Courier New"/>
                <a:cs typeface="Courier New"/>
              </a:rPr>
              <a:t>},</a:t>
            </a:r>
          </a:p>
          <a:p>
            <a:pPr algn="l">
              <a:spcBef>
                <a:spcPts val="0"/>
              </a:spcBef>
              <a:spcAft>
                <a:spcPts val="0"/>
              </a:spcAft>
              <a:buNone/>
              <a:defRPr sz="2250" b="0">
                <a:solidFill>
                  <a:srgbClr val="24323E"/>
                </a:solidFill>
                <a:latin typeface="Courier New"/>
                <a:ea typeface="Courier New"/>
                <a:cs typeface="Courier New"/>
              </a:defRPr>
            </a:pPr>
            <a:r>
              <a:rPr sz="2250">
                <a:solidFill>
                  <a:srgbClr val="24323E"/>
                </a:solidFill>
                <a:latin typeface="Courier New"/>
                <a:ea typeface="Courier New"/>
                <a:cs typeface="Courier New"/>
              </a:rPr>
              <a:t>  ]</a:t>
            </a:r>
          </a:p>
          <a:p>
            <a:pPr algn="l">
              <a:spcBef>
                <a:spcPts val="0"/>
              </a:spcBef>
              <a:spcAft>
                <a:spcPts val="0"/>
              </a:spcAft>
              <a:buNone/>
              <a:defRPr sz="2250" b="0">
                <a:solidFill>
                  <a:srgbClr val="24323E"/>
                </a:solidFill>
                <a:latin typeface="Courier New"/>
                <a:ea typeface="Courier New"/>
                <a:cs typeface="Courier New"/>
              </a:defRPr>
            </a:pPr>
            <a:r>
              <a:rPr sz="2250">
                <a:solidFill>
                  <a:srgbClr val="24323E"/>
                </a:solidFill>
                <a:latin typeface="Courier New"/>
                <a:ea typeface="Courier New"/>
                <a:cs typeface="Courier New"/>
              </a:rPr>
              <a:t>}</a:t>
            </a:r>
          </a:p>
        </p:txBody>
      </p:sp>
      <p:sp>
        <p:nvSpPr>
          <p:cNvPr id="5" name="Pair exercise">
            <a:extLst>
              <a:ext uri="{FF2B5EF4-FFF2-40B4-BE49-F238E27FC236}">
                <a16:creationId xmlns:a16="http://schemas.microsoft.com/office/drawing/2014/main" id="{8650BE34-440A-4DC4-A860-981D92994CC9}"/>
              </a:ext>
            </a:extLst>
          </p:cNvPr>
          <p:cNvSpPr>
            <a:spLocks noGrp="1"/>
          </p:cNvSpPr>
          <p:nvPr/>
        </p:nvSpPr>
        <p:spPr>
          <a:xfrm>
            <a:off x="7896225" y="1438275"/>
            <a:ext cx="3476625"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Pair exercise</a:t>
            </a:r>
          </a:p>
        </p:txBody>
      </p:sp>
      <p:sp>
        <p:nvSpPr>
          <p:cNvPr id="6" name="Find four syntax errors. Explain th">
            <a:extLst>
              <a:ext uri="{FF2B5EF4-FFF2-40B4-BE49-F238E27FC236}">
                <a16:creationId xmlns:a16="http://schemas.microsoft.com/office/drawing/2014/main" id="{B85CEE5B-6D80-4607-ABFE-698CCB37507B}"/>
              </a:ext>
            </a:extLst>
          </p:cNvPr>
          <p:cNvSpPr>
            <a:spLocks noGrp="1"/>
          </p:cNvSpPr>
          <p:nvPr/>
        </p:nvSpPr>
        <p:spPr>
          <a:xfrm>
            <a:off x="7896225" y="1885950"/>
            <a:ext cx="3476625" cy="1762125"/>
          </a:xfrm>
          <a:prstGeom prst="rect">
            <a:avLst/>
          </a:prstGeom>
          <a:noFill/>
          <a:ln w="0">
            <a:noFill/>
          </a:ln>
        </p:spPr>
        <p:txBody>
          <a:bodyPr wrap="square" lIns="0" tIns="0" rIns="0" bIns="0" anchor="t">
            <a:noAutofit/>
          </a:bodyPr>
          <a:lstStyle/>
          <a:p>
            <a:pPr algn="l">
              <a:lnSpc>
                <a:spcPct val="105000"/>
              </a:lnSpc>
              <a:buNone/>
              <a:defRPr sz="2400" b="0">
                <a:solidFill>
                  <a:srgbClr val="24323E"/>
                </a:solidFill>
                <a:latin typeface="Times New Roman"/>
                <a:ea typeface="Times New Roman"/>
                <a:cs typeface="Times New Roman"/>
              </a:defRPr>
            </a:pPr>
            <a:r>
              <a:rPr sz="2400" b="0">
                <a:solidFill>
                  <a:srgbClr val="24323E"/>
                </a:solidFill>
                <a:latin typeface="Times New Roman"/>
                <a:ea typeface="Times New Roman"/>
                <a:cs typeface="Times New Roman"/>
              </a:rPr>
              <a:t>Find four syntax errors. Explain the rule violated by each one.</a:t>
            </a:r>
          </a:p>
        </p:txBody>
      </p:sp>
      <p:sp>
        <p:nvSpPr>
          <p:cNvPr id="7" name="Then ask: what can we still not inf">
            <a:extLst>
              <a:ext uri="{FF2B5EF4-FFF2-40B4-BE49-F238E27FC236}">
                <a16:creationId xmlns:a16="http://schemas.microsoft.com/office/drawing/2014/main" id="{1CB1B7C5-B998-4815-9890-982C2C2B7CA7}"/>
              </a:ext>
            </a:extLst>
          </p:cNvPr>
          <p:cNvSpPr>
            <a:spLocks noGrp="1"/>
          </p:cNvSpPr>
          <p:nvPr/>
        </p:nvSpPr>
        <p:spPr>
          <a:xfrm>
            <a:off x="7896225" y="3800475"/>
            <a:ext cx="3476625" cy="1514475"/>
          </a:xfrm>
          <a:prstGeom prst="rect">
            <a:avLst/>
          </a:prstGeom>
          <a:noFill/>
          <a:ln w="0">
            <a:noFill/>
          </a:ln>
        </p:spPr>
        <p:txBody>
          <a:bodyPr wrap="square" lIns="0" tIns="0" rIns="0" bIns="0" anchor="t">
            <a:noAutofit/>
          </a:bodyPr>
          <a:lstStyle/>
          <a:p>
            <a:pPr algn="l">
              <a:lnSpc>
                <a:spcPct val="105000"/>
              </a:lnSpc>
              <a:buNone/>
              <a:defRPr sz="2200" b="0">
                <a:solidFill>
                  <a:srgbClr val="24323E"/>
                </a:solidFill>
                <a:latin typeface="Times New Roman"/>
                <a:ea typeface="Times New Roman"/>
                <a:cs typeface="Times New Roman"/>
              </a:defRPr>
            </a:pPr>
            <a:r>
              <a:rPr sz="2200" b="0">
                <a:solidFill>
                  <a:srgbClr val="24323E"/>
                </a:solidFill>
                <a:latin typeface="Times New Roman"/>
                <a:ea typeface="Times New Roman"/>
                <a:cs typeface="Times New Roman"/>
              </a:rPr>
              <a:t>Then ask: what can we still not infer about this measurement?</a:t>
            </a:r>
          </a:p>
        </p:txBody>
      </p:sp>
      <p:sp>
        <p:nvSpPr>
          <p:cNvPr id="8" name="Indentation helps the reader. A par">
            <a:extLst>
              <a:ext uri="{FF2B5EF4-FFF2-40B4-BE49-F238E27FC236}">
                <a16:creationId xmlns:a16="http://schemas.microsoft.com/office/drawing/2014/main" id="{947DCA63-79EE-484A-BF89-5B1285AA2428}"/>
              </a:ext>
            </a:extLst>
          </p:cNvPr>
          <p:cNvSpPr>
            <a:spLocks noGrp="1"/>
          </p:cNvSpPr>
          <p:nvPr/>
        </p:nvSpPr>
        <p:spPr>
          <a:xfrm>
            <a:off x="600075" y="571500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Indentation helps the reader. A parser determines whether the grammar is valid.</a:t>
            </a:r>
          </a:p>
        </p:txBody>
      </p:sp>
    </p:spTree>
    <p:extLst>
      <p:ext uri="{BB962C8B-B14F-4D97-AF65-F5344CB8AC3E}">
        <p14:creationId xmlns:p14="http://schemas.microsoft.com/office/powerpoint/2010/main" val="3723650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Checking well-formed JSON in Python</a:t>
            </a:r>
          </a:p>
        </p:txBody>
      </p:sp>
      <p:sp>
        <p:nvSpPr>
          <p:cNvPr id="3" name="17">
            <a:extLst>
              <a:ext uri="{FF2B5EF4-FFF2-40B4-BE49-F238E27FC236}">
                <a16:creationId xmlns:a16="http://schemas.microsoft.com/office/drawing/2014/main" id="{A4BF3146-B049-4121-8452-F265643C7AC1}"/>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17</a:t>
            </a:r>
          </a:p>
        </p:txBody>
      </p:sp>
      <p:sp>
        <p:nvSpPr>
          <p:cNvPr id="4" name="Editable code example">
            <a:extLst>
              <a:ext uri="{FF2B5EF4-FFF2-40B4-BE49-F238E27FC236}">
                <a16:creationId xmlns:a16="http://schemas.microsoft.com/office/drawing/2014/main" id="{3A3E73EE-FBAA-4988-A0FA-BFE3CFA7A075}"/>
              </a:ext>
            </a:extLst>
          </p:cNvPr>
          <p:cNvSpPr>
            <a:spLocks noGrp="1"/>
          </p:cNvSpPr>
          <p:nvPr/>
        </p:nvSpPr>
        <p:spPr>
          <a:xfrm>
            <a:off x="600075" y="1314450"/>
            <a:ext cx="7743825" cy="2445753"/>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import json</a:t>
            </a:r>
          </a:p>
          <a:p>
            <a:pPr algn="l">
              <a:spcBef>
                <a:spcPts val="0"/>
              </a:spcBef>
              <a:spcAft>
                <a:spcPts val="0"/>
              </a:spcAft>
              <a:buNone/>
              <a:defRPr sz="1900" b="0">
                <a:solidFill>
                  <a:srgbClr val="24323E"/>
                </a:solidFill>
                <a:latin typeface="Courier New"/>
                <a:ea typeface="Courier New"/>
                <a:cs typeface="Courier New"/>
              </a:defRPr>
            </a:pPr>
            <a:endParaRPr sz="1900">
              <a:solidFill>
                <a:srgbClr val="24323E"/>
              </a:solidFill>
              <a:latin typeface="Courier New"/>
              <a:ea typeface="Courier New"/>
              <a:cs typeface="Courier New"/>
            </a:endParaRP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try:</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    data = json.loads(raw_text)</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except json.JSONDecodeError as err:</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    print(err.msg)</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    print(err.lineno, err.colno)</a:t>
            </a:r>
          </a:p>
        </p:txBody>
      </p:sp>
      <p:sp>
        <p:nvSpPr>
          <p:cNvPr id="5" name="Useful evidence">
            <a:extLst>
              <a:ext uri="{FF2B5EF4-FFF2-40B4-BE49-F238E27FC236}">
                <a16:creationId xmlns:a16="http://schemas.microsoft.com/office/drawing/2014/main" id="{8AAF775C-933B-41F1-A25B-EB8929EBE431}"/>
              </a:ext>
            </a:extLst>
          </p:cNvPr>
          <p:cNvSpPr>
            <a:spLocks noGrp="1"/>
          </p:cNvSpPr>
          <p:nvPr/>
        </p:nvSpPr>
        <p:spPr>
          <a:xfrm>
            <a:off x="8810625" y="1438275"/>
            <a:ext cx="2714625"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Useful evidence</a:t>
            </a:r>
          </a:p>
        </p:txBody>
      </p:sp>
      <p:sp>
        <p:nvSpPr>
          <p:cNvPr id="6" name="An error message, line number, and ">
            <a:extLst>
              <a:ext uri="{FF2B5EF4-FFF2-40B4-BE49-F238E27FC236}">
                <a16:creationId xmlns:a16="http://schemas.microsoft.com/office/drawing/2014/main" id="{7AE00E41-2CB1-4D1A-BA71-45D96D041F05}"/>
              </a:ext>
            </a:extLst>
          </p:cNvPr>
          <p:cNvSpPr>
            <a:spLocks noGrp="1"/>
          </p:cNvSpPr>
          <p:nvPr/>
        </p:nvSpPr>
        <p:spPr>
          <a:xfrm>
            <a:off x="8810625" y="1885950"/>
            <a:ext cx="2714625" cy="2000250"/>
          </a:xfrm>
          <a:prstGeom prst="rect">
            <a:avLst/>
          </a:prstGeom>
          <a:noFill/>
          <a:ln w="0">
            <a:noFill/>
          </a:ln>
        </p:spPr>
        <p:txBody>
          <a:bodyPr wrap="square" lIns="0" tIns="0" rIns="0" bIns="0" anchor="t">
            <a:noAutofit/>
          </a:bodyPr>
          <a:lstStyle/>
          <a:p>
            <a:pPr algn="l">
              <a:lnSpc>
                <a:spcPct val="105000"/>
              </a:lnSpc>
              <a:buNone/>
              <a:defRPr sz="2100" b="0">
                <a:solidFill>
                  <a:srgbClr val="24323E"/>
                </a:solidFill>
                <a:latin typeface="Times New Roman"/>
                <a:ea typeface="Times New Roman"/>
                <a:cs typeface="Times New Roman"/>
              </a:defRPr>
            </a:pPr>
            <a:r>
              <a:rPr sz="2100" b="0">
                <a:solidFill>
                  <a:srgbClr val="24323E"/>
                </a:solidFill>
                <a:latin typeface="Times New Roman"/>
                <a:ea typeface="Times New Roman"/>
                <a:cs typeface="Times New Roman"/>
              </a:rPr>
              <a:t>An error message, line number, and column number locate the next repair.</a:t>
            </a:r>
          </a:p>
        </p:txBody>
      </p:sp>
      <p:sp>
        <p:nvSpPr>
          <p:cNvPr id="7" name="Editable code example">
            <a:extLst>
              <a:ext uri="{FF2B5EF4-FFF2-40B4-BE49-F238E27FC236}">
                <a16:creationId xmlns:a16="http://schemas.microsoft.com/office/drawing/2014/main" id="{0FD9A2F4-0ACA-4AC6-BCAD-E6FE7CB4353B}"/>
              </a:ext>
            </a:extLst>
          </p:cNvPr>
          <p:cNvSpPr>
            <a:spLocks noGrp="1"/>
          </p:cNvSpPr>
          <p:nvPr/>
        </p:nvSpPr>
        <p:spPr>
          <a:xfrm>
            <a:off x="600075" y="4333875"/>
            <a:ext cx="7743825" cy="708622"/>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python -m json.tool campus_air.json</a:t>
            </a:r>
          </a:p>
        </p:txBody>
      </p:sp>
      <p:sp>
        <p:nvSpPr>
          <p:cNvPr id="8" name="Python’s default parser has permiss">
            <a:extLst>
              <a:ext uri="{FF2B5EF4-FFF2-40B4-BE49-F238E27FC236}">
                <a16:creationId xmlns:a16="http://schemas.microsoft.com/office/drawing/2014/main" id="{70C7B67A-B169-44B9-91D2-174155CC5AE8}"/>
              </a:ext>
            </a:extLst>
          </p:cNvPr>
          <p:cNvSpPr>
            <a:spLocks noGrp="1"/>
          </p:cNvSpPr>
          <p:nvPr/>
        </p:nvSpPr>
        <p:spPr>
          <a:xfrm>
            <a:off x="600075" y="563880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Python’s default parser has permissive cases. Stricter checks appear in Appendix B.</a:t>
            </a:r>
          </a:p>
        </p:txBody>
      </p:sp>
    </p:spTree>
    <p:extLst>
      <p:ext uri="{BB962C8B-B14F-4D97-AF65-F5344CB8AC3E}">
        <p14:creationId xmlns:p14="http://schemas.microsoft.com/office/powerpoint/2010/main" val="3723650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JSON Schema: </a:t>
            </a:r>
            <a:r>
              <a:rPr sz="3788">
                <a:solidFill>
                  <a:srgbClr val="F67132"/>
                </a:solidFill>
                <a:latin typeface="Times New Roman"/>
                <a:ea typeface="Times New Roman"/>
                <a:cs typeface="Times New Roman"/>
              </a:rPr>
              <a:t>an explicit contract</a:t>
            </a:r>
          </a:p>
        </p:txBody>
      </p:sp>
      <p:sp>
        <p:nvSpPr>
          <p:cNvPr id="3" name="18">
            <a:extLst>
              <a:ext uri="{FF2B5EF4-FFF2-40B4-BE49-F238E27FC236}">
                <a16:creationId xmlns:a16="http://schemas.microsoft.com/office/drawing/2014/main" id="{F0FAD8AC-EE3A-49DF-9C0D-6460E187C8C0}"/>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18</a:t>
            </a:r>
          </a:p>
        </p:txBody>
      </p:sp>
      <p:sp>
        <p:nvSpPr>
          <p:cNvPr id="4" name="Editable code example">
            <a:extLst>
              <a:ext uri="{FF2B5EF4-FFF2-40B4-BE49-F238E27FC236}">
                <a16:creationId xmlns:a16="http://schemas.microsoft.com/office/drawing/2014/main" id="{8E5A4601-009B-4697-B134-5B1580440BDF}"/>
              </a:ext>
            </a:extLst>
          </p:cNvPr>
          <p:cNvSpPr>
            <a:spLocks noGrp="1"/>
          </p:cNvSpPr>
          <p:nvPr/>
        </p:nvSpPr>
        <p:spPr>
          <a:xfrm>
            <a:off x="600075" y="1257300"/>
            <a:ext cx="7820025" cy="3436620"/>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a:t>
            </a:r>
          </a:p>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"type"</a:t>
            </a: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"object"</a:t>
            </a:r>
            <a:r>
              <a:rPr sz="1800">
                <a:solidFill>
                  <a:srgbClr val="24323E"/>
                </a:solidFill>
                <a:latin typeface="Courier New"/>
                <a:ea typeface="Courier New"/>
                <a:cs typeface="Courier New"/>
              </a:rPr>
              <a:t>,</a:t>
            </a:r>
          </a:p>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"required"</a:t>
            </a: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"hour"</a:t>
            </a: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"pm25"</a:t>
            </a:r>
            <a:r>
              <a:rPr sz="1800">
                <a:solidFill>
                  <a:srgbClr val="24323E"/>
                </a:solidFill>
                <a:latin typeface="Courier New"/>
                <a:ea typeface="Courier New"/>
                <a:cs typeface="Courier New"/>
              </a:rPr>
              <a:t>],</a:t>
            </a:r>
          </a:p>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"properties"</a:t>
            </a:r>
            <a:r>
              <a:rPr sz="1800">
                <a:solidFill>
                  <a:srgbClr val="24323E"/>
                </a:solidFill>
                <a:latin typeface="Courier New"/>
                <a:ea typeface="Courier New"/>
                <a:cs typeface="Courier New"/>
              </a:rPr>
              <a:t>: {</a:t>
            </a:r>
          </a:p>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"hour"</a:t>
            </a: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"type"</a:t>
            </a: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"integer"</a:t>
            </a:r>
            <a:r>
              <a:rPr sz="1800">
                <a:solidFill>
                  <a:srgbClr val="24323E"/>
                </a:solidFill>
                <a:latin typeface="Courier New"/>
                <a:ea typeface="Courier New"/>
                <a:cs typeface="Courier New"/>
              </a:rPr>
              <a:t>,</a:t>
            </a:r>
          </a:p>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"minimum"</a:t>
            </a:r>
            <a:r>
              <a:rPr sz="1800">
                <a:solidFill>
                  <a:srgbClr val="24323E"/>
                </a:solidFill>
                <a:latin typeface="Courier New"/>
                <a:ea typeface="Courier New"/>
                <a:cs typeface="Courier New"/>
              </a:rPr>
              <a:t>: </a:t>
            </a:r>
            <a:r>
              <a:rPr sz="1800">
                <a:solidFill>
                  <a:srgbClr val="21688D"/>
                </a:solidFill>
                <a:latin typeface="Courier New"/>
                <a:ea typeface="Courier New"/>
                <a:cs typeface="Courier New"/>
              </a:rPr>
              <a:t>0</a:t>
            </a: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"maximum"</a:t>
            </a:r>
            <a:r>
              <a:rPr sz="1800">
                <a:solidFill>
                  <a:srgbClr val="24323E"/>
                </a:solidFill>
                <a:latin typeface="Courier New"/>
                <a:ea typeface="Courier New"/>
                <a:cs typeface="Courier New"/>
              </a:rPr>
              <a:t>: </a:t>
            </a:r>
            <a:r>
              <a:rPr sz="1800">
                <a:solidFill>
                  <a:srgbClr val="21688D"/>
                </a:solidFill>
                <a:latin typeface="Courier New"/>
                <a:ea typeface="Courier New"/>
                <a:cs typeface="Courier New"/>
              </a:rPr>
              <a:t>23</a:t>
            </a:r>
            <a:r>
              <a:rPr sz="1800">
                <a:solidFill>
                  <a:srgbClr val="24323E"/>
                </a:solidFill>
                <a:latin typeface="Courier New"/>
                <a:ea typeface="Courier New"/>
                <a:cs typeface="Courier New"/>
              </a:rPr>
              <a:t>},</a:t>
            </a:r>
          </a:p>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"pm25"</a:t>
            </a: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"type"</a:t>
            </a: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"number"</a:t>
            </a: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"null"</a:t>
            </a:r>
            <a:r>
              <a:rPr sz="1800">
                <a:solidFill>
                  <a:srgbClr val="24323E"/>
                </a:solidFill>
                <a:latin typeface="Courier New"/>
                <a:ea typeface="Courier New"/>
                <a:cs typeface="Courier New"/>
              </a:rPr>
              <a:t>],</a:t>
            </a:r>
          </a:p>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"minimum"</a:t>
            </a:r>
            <a:r>
              <a:rPr sz="1800">
                <a:solidFill>
                  <a:srgbClr val="24323E"/>
                </a:solidFill>
                <a:latin typeface="Courier New"/>
                <a:ea typeface="Courier New"/>
                <a:cs typeface="Courier New"/>
              </a:rPr>
              <a:t>: </a:t>
            </a:r>
            <a:r>
              <a:rPr sz="1800">
                <a:solidFill>
                  <a:srgbClr val="21688D"/>
                </a:solidFill>
                <a:latin typeface="Courier New"/>
                <a:ea typeface="Courier New"/>
                <a:cs typeface="Courier New"/>
              </a:rPr>
              <a:t>0</a:t>
            </a:r>
            <a:r>
              <a:rPr sz="1800">
                <a:solidFill>
                  <a:srgbClr val="24323E"/>
                </a:solidFill>
                <a:latin typeface="Courier New"/>
                <a:ea typeface="Courier New"/>
                <a:cs typeface="Courier New"/>
              </a:rPr>
              <a:t>}</a:t>
            </a:r>
          </a:p>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  },</a:t>
            </a:r>
          </a:p>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  </a:t>
            </a:r>
            <a:r>
              <a:rPr sz="1800">
                <a:solidFill>
                  <a:srgbClr val="A94B23"/>
                </a:solidFill>
                <a:latin typeface="Courier New"/>
                <a:ea typeface="Courier New"/>
                <a:cs typeface="Courier New"/>
              </a:rPr>
              <a:t>"additionalProperties"</a:t>
            </a:r>
            <a:r>
              <a:rPr sz="1800">
                <a:solidFill>
                  <a:srgbClr val="24323E"/>
                </a:solidFill>
                <a:latin typeface="Courier New"/>
                <a:ea typeface="Courier New"/>
                <a:cs typeface="Courier New"/>
              </a:rPr>
              <a:t>: </a:t>
            </a:r>
            <a:r>
              <a:rPr sz="1800">
                <a:solidFill>
                  <a:srgbClr val="21688D"/>
                </a:solidFill>
                <a:latin typeface="Courier New"/>
                <a:ea typeface="Courier New"/>
                <a:cs typeface="Courier New"/>
              </a:rPr>
              <a:t>false</a:t>
            </a:r>
          </a:p>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a:t>
            </a:r>
          </a:p>
        </p:txBody>
      </p:sp>
      <p:sp>
        <p:nvSpPr>
          <p:cNvPr id="5" name="Presence">
            <a:extLst>
              <a:ext uri="{FF2B5EF4-FFF2-40B4-BE49-F238E27FC236}">
                <a16:creationId xmlns:a16="http://schemas.microsoft.com/office/drawing/2014/main" id="{758EA081-0AB1-409D-B6BB-9AFE746B9466}"/>
              </a:ext>
            </a:extLst>
          </p:cNvPr>
          <p:cNvSpPr>
            <a:spLocks noGrp="1"/>
          </p:cNvSpPr>
          <p:nvPr/>
        </p:nvSpPr>
        <p:spPr>
          <a:xfrm>
            <a:off x="8810625" y="1390650"/>
            <a:ext cx="2686050"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Presence</a:t>
            </a:r>
          </a:p>
        </p:txBody>
      </p:sp>
      <p:sp>
        <p:nvSpPr>
          <p:cNvPr id="6" name="required lists fields that must exi">
            <a:extLst>
              <a:ext uri="{FF2B5EF4-FFF2-40B4-BE49-F238E27FC236}">
                <a16:creationId xmlns:a16="http://schemas.microsoft.com/office/drawing/2014/main" id="{98A6347C-E626-496D-98C0-EDCFF7CC21A2}"/>
              </a:ext>
            </a:extLst>
          </p:cNvPr>
          <p:cNvSpPr>
            <a:spLocks noGrp="1"/>
          </p:cNvSpPr>
          <p:nvPr/>
        </p:nvSpPr>
        <p:spPr>
          <a:xfrm>
            <a:off x="8810625" y="1838325"/>
            <a:ext cx="2686050" cy="99060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required lists fields that must exist.</a:t>
            </a:r>
          </a:p>
        </p:txBody>
      </p:sp>
      <p:sp>
        <p:nvSpPr>
          <p:cNvPr id="7" name="Type and range">
            <a:extLst>
              <a:ext uri="{FF2B5EF4-FFF2-40B4-BE49-F238E27FC236}">
                <a16:creationId xmlns:a16="http://schemas.microsoft.com/office/drawing/2014/main" id="{EF220A00-D8D1-486B-A04A-F9E971F345C2}"/>
              </a:ext>
            </a:extLst>
          </p:cNvPr>
          <p:cNvSpPr>
            <a:spLocks noGrp="1"/>
          </p:cNvSpPr>
          <p:nvPr/>
        </p:nvSpPr>
        <p:spPr>
          <a:xfrm>
            <a:off x="8810625" y="2838450"/>
            <a:ext cx="2686050"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Type and range</a:t>
            </a:r>
          </a:p>
        </p:txBody>
      </p:sp>
      <p:sp>
        <p:nvSpPr>
          <p:cNvPr id="8" name="Numbers differ from numeric-looking">
            <a:extLst>
              <a:ext uri="{FF2B5EF4-FFF2-40B4-BE49-F238E27FC236}">
                <a16:creationId xmlns:a16="http://schemas.microsoft.com/office/drawing/2014/main" id="{7AC44499-AE92-4F9E-9B23-8FDF17DF74F1}"/>
              </a:ext>
            </a:extLst>
          </p:cNvPr>
          <p:cNvSpPr>
            <a:spLocks noGrp="1"/>
          </p:cNvSpPr>
          <p:nvPr/>
        </p:nvSpPr>
        <p:spPr>
          <a:xfrm>
            <a:off x="8810625" y="3286125"/>
            <a:ext cx="2686050" cy="114300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Numbers differ from numeric-looking strings.</a:t>
            </a:r>
          </a:p>
        </p:txBody>
      </p:sp>
      <p:sp>
        <p:nvSpPr>
          <p:cNvPr id="9" name="Allowed fields">
            <a:extLst>
              <a:ext uri="{FF2B5EF4-FFF2-40B4-BE49-F238E27FC236}">
                <a16:creationId xmlns:a16="http://schemas.microsoft.com/office/drawing/2014/main" id="{79C438CB-AFAF-4D20-97F8-ACE7B681B9C3}"/>
              </a:ext>
            </a:extLst>
          </p:cNvPr>
          <p:cNvSpPr>
            <a:spLocks noGrp="1"/>
          </p:cNvSpPr>
          <p:nvPr/>
        </p:nvSpPr>
        <p:spPr>
          <a:xfrm>
            <a:off x="8810625" y="4467225"/>
            <a:ext cx="2686050"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Allowed fields</a:t>
            </a:r>
          </a:p>
        </p:txBody>
      </p:sp>
      <p:sp>
        <p:nvSpPr>
          <p:cNvPr id="10" name="Unexpected names can reveal a typo ">
            <a:extLst>
              <a:ext uri="{FF2B5EF4-FFF2-40B4-BE49-F238E27FC236}">
                <a16:creationId xmlns:a16="http://schemas.microsoft.com/office/drawing/2014/main" id="{549B7E3E-E17B-4C79-8232-AF2D871E0AFD}"/>
              </a:ext>
            </a:extLst>
          </p:cNvPr>
          <p:cNvSpPr>
            <a:spLocks noGrp="1"/>
          </p:cNvSpPr>
          <p:nvPr/>
        </p:nvSpPr>
        <p:spPr>
          <a:xfrm>
            <a:off x="8810625" y="4914900"/>
            <a:ext cx="2686050" cy="133350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Unexpected names can reveal a typo or a version change.</a:t>
            </a:r>
          </a:p>
        </p:txBody>
      </p:sp>
    </p:spTree>
    <p:extLst>
      <p:ext uri="{BB962C8B-B14F-4D97-AF65-F5344CB8AC3E}">
        <p14:creationId xmlns:p14="http://schemas.microsoft.com/office/powerpoint/2010/main" val="3723650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Locating errors inside nested records</a:t>
            </a:r>
          </a:p>
        </p:txBody>
      </p:sp>
      <p:sp>
        <p:nvSpPr>
          <p:cNvPr id="3" name="19">
            <a:extLst>
              <a:ext uri="{FF2B5EF4-FFF2-40B4-BE49-F238E27FC236}">
                <a16:creationId xmlns:a16="http://schemas.microsoft.com/office/drawing/2014/main" id="{2EE73635-3304-460F-8D12-F68FFC0B51AA}"/>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19</a:t>
            </a:r>
          </a:p>
        </p:txBody>
      </p:sp>
      <p:sp>
        <p:nvSpPr>
          <p:cNvPr id="4" name="Editable code example">
            <a:extLst>
              <a:ext uri="{FF2B5EF4-FFF2-40B4-BE49-F238E27FC236}">
                <a16:creationId xmlns:a16="http://schemas.microsoft.com/office/drawing/2014/main" id="{C2F19190-9AC3-42FF-817F-FF61BCB02D1B}"/>
              </a:ext>
            </a:extLst>
          </p:cNvPr>
          <p:cNvSpPr>
            <a:spLocks noGrp="1"/>
          </p:cNvSpPr>
          <p:nvPr/>
        </p:nvSpPr>
        <p:spPr>
          <a:xfrm>
            <a:off x="600075" y="1314450"/>
            <a:ext cx="10953750" cy="2613660"/>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from jsonschema import Draft202012Validator</a:t>
            </a:r>
          </a:p>
          <a:p>
            <a:pPr algn="l">
              <a:spcBef>
                <a:spcPts val="0"/>
              </a:spcBef>
              <a:spcAft>
                <a:spcPts val="0"/>
              </a:spcAft>
              <a:buNone/>
              <a:defRPr sz="1800" b="0">
                <a:solidFill>
                  <a:srgbClr val="24323E"/>
                </a:solidFill>
                <a:latin typeface="Courier New"/>
                <a:ea typeface="Courier New"/>
                <a:cs typeface="Courier New"/>
              </a:defRPr>
            </a:pPr>
            <a:endParaRPr sz="1800">
              <a:solidFill>
                <a:srgbClr val="24323E"/>
              </a:solidFill>
              <a:latin typeface="Courier New"/>
              <a:ea typeface="Courier New"/>
              <a:cs typeface="Courier New"/>
            </a:endParaRPr>
          </a:p>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validator = Draft202012Validator(reading_schema)</a:t>
            </a:r>
          </a:p>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for i, station in enumerate(data[</a:t>
            </a:r>
            <a:r>
              <a:rPr sz="1800">
                <a:solidFill>
                  <a:srgbClr val="A94B23"/>
                </a:solidFill>
                <a:latin typeface="Courier New"/>
                <a:ea typeface="Courier New"/>
                <a:cs typeface="Courier New"/>
              </a:rPr>
              <a:t>"stations"</a:t>
            </a:r>
            <a:r>
              <a:rPr sz="1800">
                <a:solidFill>
                  <a:srgbClr val="24323E"/>
                </a:solidFill>
                <a:latin typeface="Courier New"/>
                <a:ea typeface="Courier New"/>
                <a:cs typeface="Courier New"/>
              </a:rPr>
              <a:t>]):</a:t>
            </a:r>
          </a:p>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    for j, reading in enumerate(station[</a:t>
            </a:r>
            <a:r>
              <a:rPr sz="1800">
                <a:solidFill>
                  <a:srgbClr val="A94B23"/>
                </a:solidFill>
                <a:latin typeface="Courier New"/>
                <a:ea typeface="Courier New"/>
                <a:cs typeface="Courier New"/>
              </a:rPr>
              <a:t>"readings"</a:t>
            </a:r>
            <a:r>
              <a:rPr sz="1800">
                <a:solidFill>
                  <a:srgbClr val="24323E"/>
                </a:solidFill>
                <a:latin typeface="Courier New"/>
                <a:ea typeface="Courier New"/>
                <a:cs typeface="Courier New"/>
              </a:rPr>
              <a:t>]):</a:t>
            </a:r>
          </a:p>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        for err in validator.iter_errors(reading):</a:t>
            </a:r>
          </a:p>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            location = [</a:t>
            </a:r>
            <a:r>
              <a:rPr sz="1800">
                <a:solidFill>
                  <a:srgbClr val="A94B23"/>
                </a:solidFill>
                <a:latin typeface="Courier New"/>
                <a:ea typeface="Courier New"/>
                <a:cs typeface="Courier New"/>
              </a:rPr>
              <a:t>"stations"</a:t>
            </a:r>
            <a:r>
              <a:rPr sz="1800">
                <a:solidFill>
                  <a:srgbClr val="24323E"/>
                </a:solidFill>
                <a:latin typeface="Courier New"/>
                <a:ea typeface="Courier New"/>
                <a:cs typeface="Courier New"/>
              </a:rPr>
              <a:t>, i, </a:t>
            </a:r>
            <a:r>
              <a:rPr sz="1800">
                <a:solidFill>
                  <a:srgbClr val="A94B23"/>
                </a:solidFill>
                <a:latin typeface="Courier New"/>
                <a:ea typeface="Courier New"/>
                <a:cs typeface="Courier New"/>
              </a:rPr>
              <a:t>"readings"</a:t>
            </a:r>
            <a:r>
              <a:rPr sz="1800">
                <a:solidFill>
                  <a:srgbClr val="24323E"/>
                </a:solidFill>
                <a:latin typeface="Courier New"/>
                <a:ea typeface="Courier New"/>
                <a:cs typeface="Courier New"/>
              </a:rPr>
              <a:t>, j]</a:t>
            </a:r>
          </a:p>
          <a:p>
            <a:pPr algn="l">
              <a:spcBef>
                <a:spcPts val="0"/>
              </a:spcBef>
              <a:spcAft>
                <a:spcPts val="0"/>
              </a:spcAft>
              <a:buNone/>
              <a:defRPr sz="1800" b="0">
                <a:solidFill>
                  <a:srgbClr val="24323E"/>
                </a:solidFill>
                <a:latin typeface="Courier New"/>
                <a:ea typeface="Courier New"/>
                <a:cs typeface="Courier New"/>
              </a:defRPr>
            </a:pPr>
            <a:r>
              <a:rPr sz="1800">
                <a:solidFill>
                  <a:srgbClr val="24323E"/>
                </a:solidFill>
                <a:latin typeface="Courier New"/>
                <a:ea typeface="Courier New"/>
                <a:cs typeface="Courier New"/>
              </a:rPr>
              <a:t>            print(location + list(err.path), err.message)</a:t>
            </a:r>
          </a:p>
        </p:txBody>
      </p:sp>
      <p:sp>
        <p:nvSpPr>
          <p:cNvPr id="5" name="A numeric-looking string such as &quot;8">
            <a:extLst>
              <a:ext uri="{FF2B5EF4-FFF2-40B4-BE49-F238E27FC236}">
                <a16:creationId xmlns:a16="http://schemas.microsoft.com/office/drawing/2014/main" id="{76755D91-D790-4882-8D5E-9153750C63D6}"/>
              </a:ext>
            </a:extLst>
          </p:cNvPr>
          <p:cNvSpPr>
            <a:spLocks noGrp="1"/>
          </p:cNvSpPr>
          <p:nvPr/>
        </p:nvSpPr>
        <p:spPr>
          <a:xfrm>
            <a:off x="600075" y="4010025"/>
            <a:ext cx="10572750" cy="638175"/>
          </a:xfrm>
          <a:prstGeom prst="rect">
            <a:avLst/>
          </a:prstGeom>
          <a:noFill/>
          <a:ln w="0">
            <a:noFill/>
          </a:ln>
        </p:spPr>
        <p:txBody>
          <a:bodyPr wrap="square" lIns="0" tIns="0" rIns="0" bIns="0" anchor="t">
            <a:noAutofit/>
          </a:bodyPr>
          <a:lstStyle/>
          <a:p>
            <a:pPr algn="l">
              <a:lnSpc>
                <a:spcPct val="105000"/>
              </a:lnSpc>
              <a:buNone/>
              <a:defRPr sz="2325" b="1">
                <a:solidFill>
                  <a:srgbClr val="24323E"/>
                </a:solidFill>
                <a:latin typeface="Times New Roman"/>
                <a:ea typeface="Times New Roman"/>
                <a:cs typeface="Times New Roman"/>
              </a:defRPr>
            </a:pPr>
            <a:r>
              <a:rPr sz="2325" b="1">
                <a:solidFill>
                  <a:srgbClr val="24323E"/>
                </a:solidFill>
                <a:latin typeface="Times New Roman"/>
                <a:ea typeface="Times New Roman"/>
                <a:cs typeface="Times New Roman"/>
              </a:rPr>
              <a:t>A numeric-looking string such as "8.1" fails the reading schema.</a:t>
            </a:r>
          </a:p>
        </p:txBody>
      </p:sp>
      <p:sp>
        <p:nvSpPr>
          <p:cNvPr id="6" name="Editable code example">
            <a:extLst>
              <a:ext uri="{FF2B5EF4-FFF2-40B4-BE49-F238E27FC236}">
                <a16:creationId xmlns:a16="http://schemas.microsoft.com/office/drawing/2014/main" id="{097F99B3-8CE4-41B1-9F07-C9565CEBC3A8}"/>
              </a:ext>
            </a:extLst>
          </p:cNvPr>
          <p:cNvSpPr>
            <a:spLocks noGrp="1"/>
          </p:cNvSpPr>
          <p:nvPr/>
        </p:nvSpPr>
        <p:spPr>
          <a:xfrm>
            <a:off x="600075" y="4724400"/>
            <a:ext cx="7820025" cy="708622"/>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a:t>
            </a:r>
            <a:r>
              <a:rPr sz="1900">
                <a:solidFill>
                  <a:srgbClr val="A94B23"/>
                </a:solidFill>
                <a:latin typeface="Courier New"/>
                <a:ea typeface="Courier New"/>
                <a:cs typeface="Courier New"/>
              </a:rPr>
              <a:t>"stations"</a:t>
            </a:r>
            <a:r>
              <a:rPr sz="1900">
                <a:solidFill>
                  <a:srgbClr val="24323E"/>
                </a:solidFill>
                <a:latin typeface="Courier New"/>
                <a:ea typeface="Courier New"/>
                <a:cs typeface="Courier New"/>
              </a:rPr>
              <a:t>, </a:t>
            </a:r>
            <a:r>
              <a:rPr sz="1900">
                <a:solidFill>
                  <a:srgbClr val="21688D"/>
                </a:solidFill>
                <a:latin typeface="Courier New"/>
                <a:ea typeface="Courier New"/>
                <a:cs typeface="Courier New"/>
              </a:rPr>
              <a:t>0</a:t>
            </a:r>
            <a:r>
              <a:rPr sz="1900">
                <a:solidFill>
                  <a:srgbClr val="24323E"/>
                </a:solidFill>
                <a:latin typeface="Courier New"/>
                <a:ea typeface="Courier New"/>
                <a:cs typeface="Courier New"/>
              </a:rPr>
              <a:t>, </a:t>
            </a:r>
            <a:r>
              <a:rPr sz="1900">
                <a:solidFill>
                  <a:srgbClr val="A94B23"/>
                </a:solidFill>
                <a:latin typeface="Courier New"/>
                <a:ea typeface="Courier New"/>
                <a:cs typeface="Courier New"/>
              </a:rPr>
              <a:t>"readings"</a:t>
            </a:r>
            <a:r>
              <a:rPr sz="1900">
                <a:solidFill>
                  <a:srgbClr val="24323E"/>
                </a:solidFill>
                <a:latin typeface="Courier New"/>
                <a:ea typeface="Courier New"/>
                <a:cs typeface="Courier New"/>
              </a:rPr>
              <a:t>, </a:t>
            </a:r>
            <a:r>
              <a:rPr sz="1900">
                <a:solidFill>
                  <a:srgbClr val="21688D"/>
                </a:solidFill>
                <a:latin typeface="Courier New"/>
                <a:ea typeface="Courier New"/>
                <a:cs typeface="Courier New"/>
              </a:rPr>
              <a:t>0</a:t>
            </a:r>
            <a:r>
              <a:rPr sz="1900">
                <a:solidFill>
                  <a:srgbClr val="24323E"/>
                </a:solidFill>
                <a:latin typeface="Courier New"/>
                <a:ea typeface="Courier New"/>
                <a:cs typeface="Courier New"/>
              </a:rPr>
              <a:t>, </a:t>
            </a:r>
            <a:r>
              <a:rPr sz="1900">
                <a:solidFill>
                  <a:srgbClr val="A94B23"/>
                </a:solidFill>
                <a:latin typeface="Courier New"/>
                <a:ea typeface="Courier New"/>
                <a:cs typeface="Courier New"/>
              </a:rPr>
              <a:t>"pm25"</a:t>
            </a:r>
            <a:r>
              <a:rPr sz="1900">
                <a:solidFill>
                  <a:srgbClr val="24323E"/>
                </a:solidFill>
                <a:latin typeface="Courier New"/>
                <a:ea typeface="Courier New"/>
                <a:cs typeface="Courier New"/>
              </a:rPr>
              <a:t>]</a:t>
            </a:r>
          </a:p>
        </p:txBody>
      </p:sp>
      <p:sp>
        <p:nvSpPr>
          <p:cNvPr id="7" name="Example error path">
            <a:extLst>
              <a:ext uri="{FF2B5EF4-FFF2-40B4-BE49-F238E27FC236}">
                <a16:creationId xmlns:a16="http://schemas.microsoft.com/office/drawing/2014/main" id="{BD0672C8-E194-4233-BE3F-F13B1443C183}"/>
              </a:ext>
            </a:extLst>
          </p:cNvPr>
          <p:cNvSpPr>
            <a:spLocks noGrp="1"/>
          </p:cNvSpPr>
          <p:nvPr/>
        </p:nvSpPr>
        <p:spPr>
          <a:xfrm>
            <a:off x="8810625" y="4791075"/>
            <a:ext cx="2667000" cy="695325"/>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Example error path</a:t>
            </a:r>
          </a:p>
        </p:txBody>
      </p:sp>
    </p:spTree>
    <p:extLst>
      <p:ext uri="{BB962C8B-B14F-4D97-AF65-F5344CB8AC3E}">
        <p14:creationId xmlns:p14="http://schemas.microsoft.com/office/powerpoint/2010/main" val="3723650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Python’s four JSON operations</a:t>
            </a:r>
          </a:p>
        </p:txBody>
      </p:sp>
      <p:sp>
        <p:nvSpPr>
          <p:cNvPr id="3" name="20">
            <a:extLst>
              <a:ext uri="{FF2B5EF4-FFF2-40B4-BE49-F238E27FC236}">
                <a16:creationId xmlns:a16="http://schemas.microsoft.com/office/drawing/2014/main" id="{EBC9A54F-C72D-40E2-B031-BBEB9D3D633A}"/>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20</a:t>
            </a:r>
          </a:p>
        </p:txBody>
      </p:sp>
      <p:graphicFrame>
        <p:nvGraphicFramePr>
          <p:cNvPr id="8" name="Table 7"/>
          <p:cNvGraphicFramePr/>
          <p:nvPr/>
        </p:nvGraphicFramePr>
        <p:xfrm>
          <a:off x="600075" y="1285875"/>
          <a:ext cx="10953750" cy="3495675"/>
        </p:xfrm>
        <a:graphic>
          <a:graphicData uri="http://schemas.openxmlformats.org/drawingml/2006/table">
            <a:tbl>
              <a:tblPr/>
              <a:tblGrid>
                <a:gridCol w="3876675">
                  <a:extLst>
                    <a:ext uri="{9D8B030D-6E8A-4147-A177-3AD203B41FA5}">
                      <a16:colId xmlns:a16="http://schemas.microsoft.com/office/drawing/2014/main" val="20000"/>
                    </a:ext>
                  </a:extLst>
                </a:gridCol>
                <a:gridCol w="3905250">
                  <a:extLst>
                    <a:ext uri="{9D8B030D-6E8A-4147-A177-3AD203B41FA5}">
                      <a16:colId xmlns:a16="http://schemas.microsoft.com/office/drawing/2014/main" val="20001"/>
                    </a:ext>
                  </a:extLst>
                </a:gridCol>
                <a:gridCol w="3171825">
                  <a:extLst>
                    <a:ext uri="{9D8B030D-6E8A-4147-A177-3AD203B41FA5}">
                      <a16:colId xmlns:a16="http://schemas.microsoft.com/office/drawing/2014/main" val="20002"/>
                    </a:ext>
                  </a:extLst>
                </a:gridCol>
              </a:tblGrid>
              <a:tr h="699135">
                <a:tc>
                  <a:txBody>
                    <a:bodyPr/>
                    <a:lstStyle/>
                    <a:p>
                      <a:r>
                        <a:rPr sz="2100" b="1">
                          <a:solidFill>
                            <a:srgbClr val="FFFFFF"/>
                          </a:solidFill>
                          <a:latin typeface="Times New Roman"/>
                          <a:ea typeface="Times New Roman"/>
                          <a:cs typeface="Times New Roman"/>
                        </a:rPr>
                        <a:t>Operation</a:t>
                      </a:r>
                    </a:p>
                  </a:txBody>
                  <a:tcPr anchor="ctr">
                    <a:solidFill>
                      <a:srgbClr val="24323E"/>
                    </a:solidFill>
                  </a:tcPr>
                </a:tc>
                <a:tc>
                  <a:txBody>
                    <a:bodyPr/>
                    <a:lstStyle/>
                    <a:p>
                      <a:r>
                        <a:rPr sz="2100" b="1">
                          <a:solidFill>
                            <a:srgbClr val="FFFFFF"/>
                          </a:solidFill>
                          <a:latin typeface="Times New Roman"/>
                          <a:ea typeface="Times New Roman"/>
                          <a:cs typeface="Times New Roman"/>
                        </a:rPr>
                        <a:t>Input</a:t>
                      </a:r>
                    </a:p>
                  </a:txBody>
                  <a:tcPr anchor="ctr">
                    <a:solidFill>
                      <a:srgbClr val="24323E"/>
                    </a:solidFill>
                  </a:tcPr>
                </a:tc>
                <a:tc>
                  <a:txBody>
                    <a:bodyPr/>
                    <a:lstStyle/>
                    <a:p>
                      <a:r>
                        <a:rPr sz="2100" b="1">
                          <a:solidFill>
                            <a:srgbClr val="FFFFFF"/>
                          </a:solidFill>
                          <a:latin typeface="Times New Roman"/>
                          <a:ea typeface="Times New Roman"/>
                          <a:cs typeface="Times New Roman"/>
                        </a:rPr>
                        <a:t>Result</a:t>
                      </a:r>
                    </a:p>
                  </a:txBody>
                  <a:tcPr anchor="ctr">
                    <a:solidFill>
                      <a:srgbClr val="24323E"/>
                    </a:solidFill>
                  </a:tcPr>
                </a:tc>
                <a:extLst>
                  <a:ext uri="{0D108BD9-81ED-4DB2-BD59-A6C34878D82A}">
                    <a16:rowId xmlns:a16="http://schemas.microsoft.com/office/drawing/2014/main" val="10000"/>
                  </a:ext>
                </a:extLst>
              </a:tr>
              <a:tr h="699135">
                <a:tc>
                  <a:txBody>
                    <a:bodyPr/>
                    <a:lstStyle/>
                    <a:p>
                      <a:r>
                        <a:rPr sz="2100" b="0">
                          <a:solidFill>
                            <a:srgbClr val="24323E"/>
                          </a:solidFill>
                          <a:latin typeface="Courier New"/>
                          <a:ea typeface="Courier New"/>
                          <a:cs typeface="Courier New"/>
                        </a:rPr>
                        <a:t>json.loads(text)</a:t>
                      </a:r>
                    </a:p>
                  </a:txBody>
                  <a:tcPr anchor="ctr">
                    <a:solidFill>
                      <a:srgbClr val="FFFFFF"/>
                    </a:solidFill>
                  </a:tcPr>
                </a:tc>
                <a:tc>
                  <a:txBody>
                    <a:bodyPr/>
                    <a:lstStyle/>
                    <a:p>
                      <a:r>
                        <a:rPr sz="2100" b="0">
                          <a:solidFill>
                            <a:srgbClr val="24323E"/>
                          </a:solidFill>
                          <a:latin typeface="Times New Roman"/>
                          <a:ea typeface="Times New Roman"/>
                          <a:cs typeface="Times New Roman"/>
                        </a:rPr>
                        <a:t>JSON in a string</a:t>
                      </a:r>
                    </a:p>
                  </a:txBody>
                  <a:tcPr anchor="ctr">
                    <a:solidFill>
                      <a:srgbClr val="FFFFFF"/>
                    </a:solidFill>
                  </a:tcPr>
                </a:tc>
                <a:tc>
                  <a:txBody>
                    <a:bodyPr/>
                    <a:lstStyle/>
                    <a:p>
                      <a:r>
                        <a:rPr sz="2100" b="0">
                          <a:solidFill>
                            <a:srgbClr val="24323E"/>
                          </a:solidFill>
                          <a:latin typeface="Times New Roman"/>
                          <a:ea typeface="Times New Roman"/>
                          <a:cs typeface="Times New Roman"/>
                        </a:rPr>
                        <a:t>Python values</a:t>
                      </a:r>
                    </a:p>
                  </a:txBody>
                  <a:tcPr anchor="ctr">
                    <a:solidFill>
                      <a:srgbClr val="FFFFFF"/>
                    </a:solidFill>
                  </a:tcPr>
                </a:tc>
                <a:extLst>
                  <a:ext uri="{0D108BD9-81ED-4DB2-BD59-A6C34878D82A}">
                    <a16:rowId xmlns:a16="http://schemas.microsoft.com/office/drawing/2014/main" val="10001"/>
                  </a:ext>
                </a:extLst>
              </a:tr>
              <a:tr h="699135">
                <a:tc>
                  <a:txBody>
                    <a:bodyPr/>
                    <a:lstStyle/>
                    <a:p>
                      <a:r>
                        <a:rPr sz="2100" b="0">
                          <a:solidFill>
                            <a:srgbClr val="24323E"/>
                          </a:solidFill>
                          <a:latin typeface="Courier New"/>
                          <a:ea typeface="Courier New"/>
                          <a:cs typeface="Courier New"/>
                        </a:rPr>
                        <a:t>json.load(file)</a:t>
                      </a:r>
                    </a:p>
                  </a:txBody>
                  <a:tcPr anchor="ctr">
                    <a:solidFill>
                      <a:srgbClr val="FFF4EB"/>
                    </a:solidFill>
                  </a:tcPr>
                </a:tc>
                <a:tc>
                  <a:txBody>
                    <a:bodyPr/>
                    <a:lstStyle/>
                    <a:p>
                      <a:r>
                        <a:rPr sz="2100" b="0">
                          <a:solidFill>
                            <a:srgbClr val="24323E"/>
                          </a:solidFill>
                          <a:latin typeface="Times New Roman"/>
                          <a:ea typeface="Times New Roman"/>
                          <a:cs typeface="Times New Roman"/>
                        </a:rPr>
                        <a:t>An open JSON file</a:t>
                      </a:r>
                    </a:p>
                  </a:txBody>
                  <a:tcPr anchor="ctr">
                    <a:solidFill>
                      <a:srgbClr val="FFF4EB"/>
                    </a:solidFill>
                  </a:tcPr>
                </a:tc>
                <a:tc>
                  <a:txBody>
                    <a:bodyPr/>
                    <a:lstStyle/>
                    <a:p>
                      <a:r>
                        <a:rPr sz="2100" b="0">
                          <a:solidFill>
                            <a:srgbClr val="24323E"/>
                          </a:solidFill>
                          <a:latin typeface="Times New Roman"/>
                          <a:ea typeface="Times New Roman"/>
                          <a:cs typeface="Times New Roman"/>
                        </a:rPr>
                        <a:t>Python values</a:t>
                      </a:r>
                    </a:p>
                  </a:txBody>
                  <a:tcPr anchor="ctr">
                    <a:solidFill>
                      <a:srgbClr val="FFF4EB"/>
                    </a:solidFill>
                  </a:tcPr>
                </a:tc>
                <a:extLst>
                  <a:ext uri="{0D108BD9-81ED-4DB2-BD59-A6C34878D82A}">
                    <a16:rowId xmlns:a16="http://schemas.microsoft.com/office/drawing/2014/main" val="10002"/>
                  </a:ext>
                </a:extLst>
              </a:tr>
              <a:tr h="699135">
                <a:tc>
                  <a:txBody>
                    <a:bodyPr/>
                    <a:lstStyle/>
                    <a:p>
                      <a:r>
                        <a:rPr sz="2100" b="0">
                          <a:solidFill>
                            <a:srgbClr val="24323E"/>
                          </a:solidFill>
                          <a:latin typeface="Courier New"/>
                          <a:ea typeface="Courier New"/>
                          <a:cs typeface="Courier New"/>
                        </a:rPr>
                        <a:t>json.dumps(obj)</a:t>
                      </a:r>
                    </a:p>
                  </a:txBody>
                  <a:tcPr anchor="ctr">
                    <a:solidFill>
                      <a:srgbClr val="FFFFFF"/>
                    </a:solidFill>
                  </a:tcPr>
                </a:tc>
                <a:tc>
                  <a:txBody>
                    <a:bodyPr/>
                    <a:lstStyle/>
                    <a:p>
                      <a:r>
                        <a:rPr sz="2100" b="0">
                          <a:solidFill>
                            <a:srgbClr val="24323E"/>
                          </a:solidFill>
                          <a:latin typeface="Times New Roman"/>
                          <a:ea typeface="Times New Roman"/>
                          <a:cs typeface="Times New Roman"/>
                        </a:rPr>
                        <a:t>Python values</a:t>
                      </a:r>
                    </a:p>
                  </a:txBody>
                  <a:tcPr anchor="ctr">
                    <a:solidFill>
                      <a:srgbClr val="FFFFFF"/>
                    </a:solidFill>
                  </a:tcPr>
                </a:tc>
                <a:tc>
                  <a:txBody>
                    <a:bodyPr/>
                    <a:lstStyle/>
                    <a:p>
                      <a:r>
                        <a:rPr sz="2100" b="0">
                          <a:solidFill>
                            <a:srgbClr val="24323E"/>
                          </a:solidFill>
                          <a:latin typeface="Times New Roman"/>
                          <a:ea typeface="Times New Roman"/>
                          <a:cs typeface="Times New Roman"/>
                        </a:rPr>
                        <a:t>JSON in a string</a:t>
                      </a:r>
                    </a:p>
                  </a:txBody>
                  <a:tcPr anchor="ctr">
                    <a:solidFill>
                      <a:srgbClr val="FFFFFF"/>
                    </a:solidFill>
                  </a:tcPr>
                </a:tc>
                <a:extLst>
                  <a:ext uri="{0D108BD9-81ED-4DB2-BD59-A6C34878D82A}">
                    <a16:rowId xmlns:a16="http://schemas.microsoft.com/office/drawing/2014/main" val="10003"/>
                  </a:ext>
                </a:extLst>
              </a:tr>
              <a:tr h="699135">
                <a:tc>
                  <a:txBody>
                    <a:bodyPr/>
                    <a:lstStyle/>
                    <a:p>
                      <a:r>
                        <a:rPr sz="2100" b="0">
                          <a:solidFill>
                            <a:srgbClr val="24323E"/>
                          </a:solidFill>
                          <a:latin typeface="Courier New"/>
                          <a:ea typeface="Courier New"/>
                          <a:cs typeface="Courier New"/>
                        </a:rPr>
                        <a:t>json.dump(obj, file)</a:t>
                      </a:r>
                    </a:p>
                  </a:txBody>
                  <a:tcPr anchor="ctr">
                    <a:solidFill>
                      <a:srgbClr val="FFF4EB"/>
                    </a:solidFill>
                  </a:tcPr>
                </a:tc>
                <a:tc>
                  <a:txBody>
                    <a:bodyPr/>
                    <a:lstStyle/>
                    <a:p>
                      <a:r>
                        <a:rPr sz="2100" b="0">
                          <a:solidFill>
                            <a:srgbClr val="24323E"/>
                          </a:solidFill>
                          <a:latin typeface="Times New Roman"/>
                          <a:ea typeface="Times New Roman"/>
                          <a:cs typeface="Times New Roman"/>
                        </a:rPr>
                        <a:t>Python values + an open file</a:t>
                      </a:r>
                    </a:p>
                  </a:txBody>
                  <a:tcPr anchor="ctr">
                    <a:solidFill>
                      <a:srgbClr val="FFF4EB"/>
                    </a:solidFill>
                  </a:tcPr>
                </a:tc>
                <a:tc>
                  <a:txBody>
                    <a:bodyPr/>
                    <a:lstStyle/>
                    <a:p>
                      <a:r>
                        <a:rPr sz="2100" b="0">
                          <a:solidFill>
                            <a:srgbClr val="24323E"/>
                          </a:solidFill>
                          <a:latin typeface="Times New Roman"/>
                          <a:ea typeface="Times New Roman"/>
                          <a:cs typeface="Times New Roman"/>
                        </a:rPr>
                        <a:t>JSON written to the file</a:t>
                      </a:r>
                    </a:p>
                  </a:txBody>
                  <a:tcPr anchor="ctr">
                    <a:solidFill>
                      <a:srgbClr val="FFF4EB"/>
                    </a:solidFill>
                  </a:tcPr>
                </a:tc>
                <a:extLst>
                  <a:ext uri="{0D108BD9-81ED-4DB2-BD59-A6C34878D82A}">
                    <a16:rowId xmlns:a16="http://schemas.microsoft.com/office/drawing/2014/main" val="10004"/>
                  </a:ext>
                </a:extLst>
              </a:tr>
            </a:tbl>
          </a:graphicData>
        </a:graphic>
      </p:graphicFrame>
      <p:sp>
        <p:nvSpPr>
          <p:cNvPr id="5" name="JSON true / false / null become Pyt">
            <a:extLst>
              <a:ext uri="{FF2B5EF4-FFF2-40B4-BE49-F238E27FC236}">
                <a16:creationId xmlns:a16="http://schemas.microsoft.com/office/drawing/2014/main" id="{B9B07852-4F71-4D06-B43C-B0ECA5A6D56A}"/>
              </a:ext>
            </a:extLst>
          </p:cNvPr>
          <p:cNvSpPr>
            <a:spLocks noGrp="1"/>
          </p:cNvSpPr>
          <p:nvPr/>
        </p:nvSpPr>
        <p:spPr>
          <a:xfrm>
            <a:off x="600075" y="552450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JSON true / false / null become Python True / False / None.</a:t>
            </a:r>
          </a:p>
        </p:txBody>
      </p:sp>
    </p:spTree>
    <p:extLst>
      <p:ext uri="{BB962C8B-B14F-4D97-AF65-F5344CB8AC3E}">
        <p14:creationId xmlns:p14="http://schemas.microsoft.com/office/powerpoint/2010/main" val="3723650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Loading the dataset</a:t>
            </a:r>
          </a:p>
        </p:txBody>
      </p:sp>
      <p:sp>
        <p:nvSpPr>
          <p:cNvPr id="3" name="21">
            <a:extLst>
              <a:ext uri="{FF2B5EF4-FFF2-40B4-BE49-F238E27FC236}">
                <a16:creationId xmlns:a16="http://schemas.microsoft.com/office/drawing/2014/main" id="{330159D7-81E1-4EC4-9EA3-2AB0C9039263}"/>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21</a:t>
            </a:r>
          </a:p>
        </p:txBody>
      </p:sp>
      <p:sp>
        <p:nvSpPr>
          <p:cNvPr id="4" name="Editable code example">
            <a:extLst>
              <a:ext uri="{FF2B5EF4-FFF2-40B4-BE49-F238E27FC236}">
                <a16:creationId xmlns:a16="http://schemas.microsoft.com/office/drawing/2014/main" id="{9630FF8F-ADA8-4736-8334-D1119CDB2BA3}"/>
              </a:ext>
            </a:extLst>
          </p:cNvPr>
          <p:cNvSpPr>
            <a:spLocks noGrp="1"/>
          </p:cNvSpPr>
          <p:nvPr/>
        </p:nvSpPr>
        <p:spPr>
          <a:xfrm>
            <a:off x="600075" y="1371600"/>
            <a:ext cx="8181975" cy="2735275"/>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import json</a:t>
            </a:r>
          </a:p>
          <a:p>
            <a:pPr algn="l">
              <a:spcBef>
                <a:spcPts val="0"/>
              </a:spcBef>
              <a:spcAft>
                <a:spcPts val="0"/>
              </a:spcAft>
              <a:buNone/>
              <a:defRPr sz="1900" b="0">
                <a:solidFill>
                  <a:srgbClr val="24323E"/>
                </a:solidFill>
                <a:latin typeface="Courier New"/>
                <a:ea typeface="Courier New"/>
                <a:cs typeface="Courier New"/>
              </a:defRPr>
            </a:pPr>
            <a:endParaRPr sz="1900">
              <a:solidFill>
                <a:srgbClr val="24323E"/>
              </a:solidFill>
              <a:latin typeface="Courier New"/>
              <a:ea typeface="Courier New"/>
              <a:cs typeface="Courier New"/>
            </a:endParaRP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with open(</a:t>
            </a:r>
            <a:r>
              <a:rPr sz="1900">
                <a:solidFill>
                  <a:srgbClr val="A94B23"/>
                </a:solidFill>
                <a:latin typeface="Courier New"/>
                <a:ea typeface="Courier New"/>
                <a:cs typeface="Courier New"/>
              </a:rPr>
              <a:t>"campus_air.json"</a:t>
            </a:r>
            <a:r>
              <a:rPr sz="1900">
                <a:solidFill>
                  <a:srgbClr val="24323E"/>
                </a:solidFill>
                <a:latin typeface="Courier New"/>
                <a:ea typeface="Courier New"/>
                <a:cs typeface="Courier New"/>
              </a:rPr>
              <a:t>, encoding=</a:t>
            </a:r>
            <a:r>
              <a:rPr sz="1900">
                <a:solidFill>
                  <a:srgbClr val="A94B23"/>
                </a:solidFill>
                <a:latin typeface="Courier New"/>
                <a:ea typeface="Courier New"/>
                <a:cs typeface="Courier New"/>
              </a:rPr>
              <a:t>"utf-8"</a:t>
            </a:r>
            <a:r>
              <a:rPr sz="1900">
                <a:solidFill>
                  <a:srgbClr val="24323E"/>
                </a:solidFill>
                <a:latin typeface="Courier New"/>
                <a:ea typeface="Courier New"/>
                <a:cs typeface="Courier New"/>
              </a:rPr>
              <a:t>) as f:</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    data = json.load(f)</a:t>
            </a:r>
          </a:p>
          <a:p>
            <a:pPr algn="l">
              <a:spcBef>
                <a:spcPts val="0"/>
              </a:spcBef>
              <a:spcAft>
                <a:spcPts val="0"/>
              </a:spcAft>
              <a:buNone/>
              <a:defRPr sz="1900" b="0">
                <a:solidFill>
                  <a:srgbClr val="24323E"/>
                </a:solidFill>
                <a:latin typeface="Courier New"/>
                <a:ea typeface="Courier New"/>
                <a:cs typeface="Courier New"/>
              </a:defRPr>
            </a:pPr>
            <a:endParaRPr sz="1900">
              <a:solidFill>
                <a:srgbClr val="24323E"/>
              </a:solidFill>
              <a:latin typeface="Courier New"/>
              <a:ea typeface="Courier New"/>
              <a:cs typeface="Courier New"/>
            </a:endParaRP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print(type(data).__name__)</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print(data[</a:t>
            </a:r>
            <a:r>
              <a:rPr sz="1900">
                <a:solidFill>
                  <a:srgbClr val="A94B23"/>
                </a:solidFill>
                <a:latin typeface="Courier New"/>
                <a:ea typeface="Courier New"/>
                <a:cs typeface="Courier New"/>
              </a:rPr>
              <a:t>"campaign"</a:t>
            </a:r>
            <a:r>
              <a:rPr sz="1900">
                <a:solidFill>
                  <a:srgbClr val="24323E"/>
                </a:solidFill>
                <a:latin typeface="Courier New"/>
                <a:ea typeface="Courier New"/>
                <a:cs typeface="Courier New"/>
              </a:rPr>
              <a:t>])</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print(len(data[</a:t>
            </a:r>
            <a:r>
              <a:rPr sz="1900">
                <a:solidFill>
                  <a:srgbClr val="A94B23"/>
                </a:solidFill>
                <a:latin typeface="Courier New"/>
                <a:ea typeface="Courier New"/>
                <a:cs typeface="Courier New"/>
              </a:rPr>
              <a:t>"stations"</a:t>
            </a:r>
            <a:r>
              <a:rPr sz="1900">
                <a:solidFill>
                  <a:srgbClr val="24323E"/>
                </a:solidFill>
                <a:latin typeface="Courier New"/>
                <a:ea typeface="Courier New"/>
                <a:cs typeface="Courier New"/>
              </a:rPr>
              <a:t>]))</a:t>
            </a:r>
          </a:p>
        </p:txBody>
      </p:sp>
      <p:sp>
        <p:nvSpPr>
          <p:cNvPr id="5" name="Output">
            <a:extLst>
              <a:ext uri="{FF2B5EF4-FFF2-40B4-BE49-F238E27FC236}">
                <a16:creationId xmlns:a16="http://schemas.microsoft.com/office/drawing/2014/main" id="{13D2F410-1FC3-407D-8D20-B4E266848C02}"/>
              </a:ext>
            </a:extLst>
          </p:cNvPr>
          <p:cNvSpPr>
            <a:spLocks noGrp="1"/>
          </p:cNvSpPr>
          <p:nvPr/>
        </p:nvSpPr>
        <p:spPr>
          <a:xfrm>
            <a:off x="9239250" y="1428750"/>
            <a:ext cx="2286000" cy="419100"/>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Output</a:t>
            </a:r>
          </a:p>
        </p:txBody>
      </p:sp>
      <p:sp>
        <p:nvSpPr>
          <p:cNvPr id="6" name="Editable code example">
            <a:extLst>
              <a:ext uri="{FF2B5EF4-FFF2-40B4-BE49-F238E27FC236}">
                <a16:creationId xmlns:a16="http://schemas.microsoft.com/office/drawing/2014/main" id="{7B1A287B-C768-4E8E-944B-2E6EE5CEEB59}"/>
              </a:ext>
            </a:extLst>
          </p:cNvPr>
          <p:cNvSpPr>
            <a:spLocks noGrp="1"/>
          </p:cNvSpPr>
          <p:nvPr/>
        </p:nvSpPr>
        <p:spPr>
          <a:xfrm>
            <a:off x="9105900" y="1990725"/>
            <a:ext cx="2447925" cy="1424826"/>
          </a:xfrm>
          <a:prstGeom prst="rect">
            <a:avLst/>
          </a:prstGeom>
          <a:noFill/>
          <a:ln w="0">
            <a:noFill/>
          </a:ln>
        </p:spPr>
        <p:txBody>
          <a:bodyPr wrap="none" lIns="133350" tIns="114300" rIns="133350" bIns="114300" anchor="t">
            <a:noAutofit/>
          </a:bodyPr>
          <a:lstStyle/>
          <a:p>
            <a:pPr algn="l">
              <a:spcBef>
                <a:spcPts val="0"/>
              </a:spcBef>
              <a:spcAft>
                <a:spcPts val="0"/>
              </a:spcAft>
              <a:buNone/>
              <a:defRPr sz="2200" b="0">
                <a:solidFill>
                  <a:srgbClr val="24323E"/>
                </a:solidFill>
                <a:latin typeface="Courier New"/>
                <a:ea typeface="Courier New"/>
                <a:cs typeface="Courier New"/>
              </a:defRPr>
            </a:pPr>
            <a:r>
              <a:rPr sz="2200">
                <a:solidFill>
                  <a:srgbClr val="24323E"/>
                </a:solidFill>
                <a:latin typeface="Courier New"/>
                <a:ea typeface="Courier New"/>
                <a:cs typeface="Courier New"/>
              </a:rPr>
              <a:t>dict</a:t>
            </a:r>
          </a:p>
          <a:p>
            <a:pPr algn="l">
              <a:spcBef>
                <a:spcPts val="0"/>
              </a:spcBef>
              <a:spcAft>
                <a:spcPts val="0"/>
              </a:spcAft>
              <a:buNone/>
              <a:defRPr sz="2200" b="0">
                <a:solidFill>
                  <a:srgbClr val="24323E"/>
                </a:solidFill>
                <a:latin typeface="Courier New"/>
                <a:ea typeface="Courier New"/>
                <a:cs typeface="Courier New"/>
              </a:defRPr>
            </a:pPr>
            <a:r>
              <a:rPr sz="2200">
                <a:solidFill>
                  <a:srgbClr val="24323E"/>
                </a:solidFill>
                <a:latin typeface="Courier New"/>
                <a:ea typeface="Courier New"/>
                <a:cs typeface="Courier New"/>
              </a:rPr>
              <a:t>grounds-air</a:t>
            </a:r>
          </a:p>
          <a:p>
            <a:pPr algn="l">
              <a:spcBef>
                <a:spcPts val="0"/>
              </a:spcBef>
              <a:spcAft>
                <a:spcPts val="0"/>
              </a:spcAft>
              <a:buNone/>
              <a:defRPr sz="2200" b="0">
                <a:solidFill>
                  <a:srgbClr val="24323E"/>
                </a:solidFill>
                <a:latin typeface="Courier New"/>
                <a:ea typeface="Courier New"/>
                <a:cs typeface="Courier New"/>
              </a:defRPr>
            </a:pPr>
            <a:r>
              <a:rPr sz="2200">
                <a:solidFill>
                  <a:srgbClr val="21688D"/>
                </a:solidFill>
                <a:latin typeface="Courier New"/>
                <a:ea typeface="Courier New"/>
                <a:cs typeface="Courier New"/>
              </a:rPr>
              <a:t>2</a:t>
            </a:r>
          </a:p>
        </p:txBody>
      </p:sp>
      <p:sp>
        <p:nvSpPr>
          <p:cNvPr id="7" name="The result already contains nested ">
            <a:extLst>
              <a:ext uri="{FF2B5EF4-FFF2-40B4-BE49-F238E27FC236}">
                <a16:creationId xmlns:a16="http://schemas.microsoft.com/office/drawing/2014/main" id="{E753FDE5-3DCC-4025-8191-D42E6D1AD92D}"/>
              </a:ext>
            </a:extLst>
          </p:cNvPr>
          <p:cNvSpPr>
            <a:spLocks noGrp="1"/>
          </p:cNvSpPr>
          <p:nvPr/>
        </p:nvSpPr>
        <p:spPr>
          <a:xfrm>
            <a:off x="600075" y="552450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The result already contains nested dicts and lists. No second JSON parse is needed.</a:t>
            </a:r>
          </a:p>
        </p:txBody>
      </p:sp>
    </p:spTree>
    <p:extLst>
      <p:ext uri="{BB962C8B-B14F-4D97-AF65-F5344CB8AC3E}">
        <p14:creationId xmlns:p14="http://schemas.microsoft.com/office/powerpoint/2010/main" val="3723650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Traversing nested arrays</a:t>
            </a:r>
          </a:p>
        </p:txBody>
      </p:sp>
      <p:sp>
        <p:nvSpPr>
          <p:cNvPr id="3" name="22">
            <a:extLst>
              <a:ext uri="{FF2B5EF4-FFF2-40B4-BE49-F238E27FC236}">
                <a16:creationId xmlns:a16="http://schemas.microsoft.com/office/drawing/2014/main" id="{DBCBE009-F29F-4214-8142-F28AAF75A0F7}"/>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22</a:t>
            </a:r>
          </a:p>
        </p:txBody>
      </p:sp>
      <p:sp>
        <p:nvSpPr>
          <p:cNvPr id="4" name="Editable code example">
            <a:extLst>
              <a:ext uri="{FF2B5EF4-FFF2-40B4-BE49-F238E27FC236}">
                <a16:creationId xmlns:a16="http://schemas.microsoft.com/office/drawing/2014/main" id="{03DB3B1B-0218-4ECA-A388-D08CF5B67902}"/>
              </a:ext>
            </a:extLst>
          </p:cNvPr>
          <p:cNvSpPr>
            <a:spLocks noGrp="1"/>
          </p:cNvSpPr>
          <p:nvPr/>
        </p:nvSpPr>
        <p:spPr>
          <a:xfrm>
            <a:off x="600075" y="1362075"/>
            <a:ext cx="8201025" cy="2796540"/>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950" b="0">
                <a:solidFill>
                  <a:srgbClr val="24323E"/>
                </a:solidFill>
                <a:latin typeface="Courier New"/>
                <a:ea typeface="Courier New"/>
                <a:cs typeface="Courier New"/>
              </a:defRPr>
            </a:pPr>
            <a:r>
              <a:rPr sz="1950">
                <a:solidFill>
                  <a:srgbClr val="24323E"/>
                </a:solidFill>
                <a:latin typeface="Courier New"/>
                <a:ea typeface="Courier New"/>
                <a:cs typeface="Courier New"/>
              </a:rPr>
              <a:t>values = []</a:t>
            </a:r>
          </a:p>
          <a:p>
            <a:pPr algn="l">
              <a:spcBef>
                <a:spcPts val="0"/>
              </a:spcBef>
              <a:spcAft>
                <a:spcPts val="0"/>
              </a:spcAft>
              <a:buNone/>
              <a:defRPr sz="1950" b="0">
                <a:solidFill>
                  <a:srgbClr val="24323E"/>
                </a:solidFill>
                <a:latin typeface="Courier New"/>
                <a:ea typeface="Courier New"/>
                <a:cs typeface="Courier New"/>
              </a:defRPr>
            </a:pPr>
            <a:r>
              <a:rPr sz="1950">
                <a:solidFill>
                  <a:srgbClr val="24323E"/>
                </a:solidFill>
                <a:latin typeface="Courier New"/>
                <a:ea typeface="Courier New"/>
                <a:cs typeface="Courier New"/>
              </a:rPr>
              <a:t>for station in data[</a:t>
            </a:r>
            <a:r>
              <a:rPr sz="1950">
                <a:solidFill>
                  <a:srgbClr val="A94B23"/>
                </a:solidFill>
                <a:latin typeface="Courier New"/>
                <a:ea typeface="Courier New"/>
                <a:cs typeface="Courier New"/>
              </a:rPr>
              <a:t>"stations"</a:t>
            </a:r>
            <a:r>
              <a:rPr sz="1950">
                <a:solidFill>
                  <a:srgbClr val="24323E"/>
                </a:solidFill>
                <a:latin typeface="Courier New"/>
                <a:ea typeface="Courier New"/>
                <a:cs typeface="Courier New"/>
              </a:rPr>
              <a:t>]:</a:t>
            </a:r>
          </a:p>
          <a:p>
            <a:pPr algn="l">
              <a:spcBef>
                <a:spcPts val="0"/>
              </a:spcBef>
              <a:spcAft>
                <a:spcPts val="0"/>
              </a:spcAft>
              <a:buNone/>
              <a:defRPr sz="1950" b="0">
                <a:solidFill>
                  <a:srgbClr val="24323E"/>
                </a:solidFill>
                <a:latin typeface="Courier New"/>
                <a:ea typeface="Courier New"/>
                <a:cs typeface="Courier New"/>
              </a:defRPr>
            </a:pPr>
            <a:r>
              <a:rPr sz="1950">
                <a:solidFill>
                  <a:srgbClr val="24323E"/>
                </a:solidFill>
                <a:latin typeface="Courier New"/>
                <a:ea typeface="Courier New"/>
                <a:cs typeface="Courier New"/>
              </a:rPr>
              <a:t>    for reading in station[</a:t>
            </a:r>
            <a:r>
              <a:rPr sz="1950">
                <a:solidFill>
                  <a:srgbClr val="A94B23"/>
                </a:solidFill>
                <a:latin typeface="Courier New"/>
                <a:ea typeface="Courier New"/>
                <a:cs typeface="Courier New"/>
              </a:rPr>
              <a:t>"readings"</a:t>
            </a:r>
            <a:r>
              <a:rPr sz="1950">
                <a:solidFill>
                  <a:srgbClr val="24323E"/>
                </a:solidFill>
                <a:latin typeface="Courier New"/>
                <a:ea typeface="Courier New"/>
                <a:cs typeface="Courier New"/>
              </a:rPr>
              <a:t>]:</a:t>
            </a:r>
          </a:p>
          <a:p>
            <a:pPr algn="l">
              <a:spcBef>
                <a:spcPts val="0"/>
              </a:spcBef>
              <a:spcAft>
                <a:spcPts val="0"/>
              </a:spcAft>
              <a:buNone/>
              <a:defRPr sz="1950" b="0">
                <a:solidFill>
                  <a:srgbClr val="24323E"/>
                </a:solidFill>
                <a:latin typeface="Courier New"/>
                <a:ea typeface="Courier New"/>
                <a:cs typeface="Courier New"/>
              </a:defRPr>
            </a:pPr>
            <a:r>
              <a:rPr sz="1950">
                <a:solidFill>
                  <a:srgbClr val="24323E"/>
                </a:solidFill>
                <a:latin typeface="Courier New"/>
                <a:ea typeface="Courier New"/>
                <a:cs typeface="Courier New"/>
              </a:rPr>
              <a:t>        value = reading[</a:t>
            </a:r>
            <a:r>
              <a:rPr sz="1950">
                <a:solidFill>
                  <a:srgbClr val="A94B23"/>
                </a:solidFill>
                <a:latin typeface="Courier New"/>
                <a:ea typeface="Courier New"/>
                <a:cs typeface="Courier New"/>
              </a:rPr>
              <a:t>"pm25"</a:t>
            </a:r>
            <a:r>
              <a:rPr sz="1950">
                <a:solidFill>
                  <a:srgbClr val="24323E"/>
                </a:solidFill>
                <a:latin typeface="Courier New"/>
                <a:ea typeface="Courier New"/>
                <a:cs typeface="Courier New"/>
              </a:rPr>
              <a:t>]</a:t>
            </a:r>
          </a:p>
          <a:p>
            <a:pPr algn="l">
              <a:spcBef>
                <a:spcPts val="0"/>
              </a:spcBef>
              <a:spcAft>
                <a:spcPts val="0"/>
              </a:spcAft>
              <a:buNone/>
              <a:defRPr sz="1950" b="0">
                <a:solidFill>
                  <a:srgbClr val="24323E"/>
                </a:solidFill>
                <a:latin typeface="Courier New"/>
                <a:ea typeface="Courier New"/>
                <a:cs typeface="Courier New"/>
              </a:defRPr>
            </a:pPr>
            <a:r>
              <a:rPr sz="1950">
                <a:solidFill>
                  <a:srgbClr val="24323E"/>
                </a:solidFill>
                <a:latin typeface="Courier New"/>
                <a:ea typeface="Courier New"/>
                <a:cs typeface="Courier New"/>
              </a:rPr>
              <a:t>        if value is not </a:t>
            </a:r>
            <a:r>
              <a:rPr sz="1950">
                <a:solidFill>
                  <a:srgbClr val="21688D"/>
                </a:solidFill>
                <a:latin typeface="Courier New"/>
                <a:ea typeface="Courier New"/>
                <a:cs typeface="Courier New"/>
              </a:rPr>
              <a:t>None</a:t>
            </a:r>
            <a:r>
              <a:rPr sz="1950">
                <a:solidFill>
                  <a:srgbClr val="24323E"/>
                </a:solidFill>
                <a:latin typeface="Courier New"/>
                <a:ea typeface="Courier New"/>
                <a:cs typeface="Courier New"/>
              </a:rPr>
              <a:t>:</a:t>
            </a:r>
          </a:p>
          <a:p>
            <a:pPr algn="l">
              <a:spcBef>
                <a:spcPts val="0"/>
              </a:spcBef>
              <a:spcAft>
                <a:spcPts val="0"/>
              </a:spcAft>
              <a:buNone/>
              <a:defRPr sz="1950" b="0">
                <a:solidFill>
                  <a:srgbClr val="24323E"/>
                </a:solidFill>
                <a:latin typeface="Courier New"/>
                <a:ea typeface="Courier New"/>
                <a:cs typeface="Courier New"/>
              </a:defRPr>
            </a:pPr>
            <a:r>
              <a:rPr sz="1950">
                <a:solidFill>
                  <a:srgbClr val="24323E"/>
                </a:solidFill>
                <a:latin typeface="Courier New"/>
                <a:ea typeface="Courier New"/>
                <a:cs typeface="Courier New"/>
              </a:rPr>
              <a:t>            values.append(value)</a:t>
            </a:r>
          </a:p>
          <a:p>
            <a:pPr algn="l">
              <a:spcBef>
                <a:spcPts val="0"/>
              </a:spcBef>
              <a:spcAft>
                <a:spcPts val="0"/>
              </a:spcAft>
              <a:buNone/>
              <a:defRPr sz="1950" b="0">
                <a:solidFill>
                  <a:srgbClr val="24323E"/>
                </a:solidFill>
                <a:latin typeface="Courier New"/>
                <a:ea typeface="Courier New"/>
                <a:cs typeface="Courier New"/>
              </a:defRPr>
            </a:pPr>
            <a:endParaRPr sz="1950">
              <a:solidFill>
                <a:srgbClr val="24323E"/>
              </a:solidFill>
              <a:latin typeface="Courier New"/>
              <a:ea typeface="Courier New"/>
              <a:cs typeface="Courier New"/>
            </a:endParaRPr>
          </a:p>
          <a:p>
            <a:pPr algn="l">
              <a:spcBef>
                <a:spcPts val="0"/>
              </a:spcBef>
              <a:spcAft>
                <a:spcPts val="0"/>
              </a:spcAft>
              <a:buNone/>
              <a:defRPr sz="1950" b="0">
                <a:solidFill>
                  <a:srgbClr val="24323E"/>
                </a:solidFill>
                <a:latin typeface="Courier New"/>
                <a:ea typeface="Courier New"/>
                <a:cs typeface="Courier New"/>
              </a:defRPr>
            </a:pPr>
            <a:r>
              <a:rPr sz="1950">
                <a:solidFill>
                  <a:srgbClr val="24323E"/>
                </a:solidFill>
                <a:latin typeface="Courier New"/>
                <a:ea typeface="Courier New"/>
                <a:cs typeface="Courier New"/>
              </a:rPr>
              <a:t>print(values)</a:t>
            </a:r>
          </a:p>
        </p:txBody>
      </p:sp>
      <p:sp>
        <p:nvSpPr>
          <p:cNvPr id="5" name="Null handling">
            <a:extLst>
              <a:ext uri="{FF2B5EF4-FFF2-40B4-BE49-F238E27FC236}">
                <a16:creationId xmlns:a16="http://schemas.microsoft.com/office/drawing/2014/main" id="{3F27FA9A-3C61-4844-B85E-3C6D282454FE}"/>
              </a:ext>
            </a:extLst>
          </p:cNvPr>
          <p:cNvSpPr>
            <a:spLocks noGrp="1"/>
          </p:cNvSpPr>
          <p:nvPr/>
        </p:nvSpPr>
        <p:spPr>
          <a:xfrm>
            <a:off x="9239250" y="1447800"/>
            <a:ext cx="2314575"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Null handling</a:t>
            </a:r>
          </a:p>
        </p:txBody>
      </p:sp>
      <p:sp>
        <p:nvSpPr>
          <p:cNvPr id="6" name="The explicit check keeps 0.0 if a s">
            <a:extLst>
              <a:ext uri="{FF2B5EF4-FFF2-40B4-BE49-F238E27FC236}">
                <a16:creationId xmlns:a16="http://schemas.microsoft.com/office/drawing/2014/main" id="{B27DB95E-C953-4D1E-A1C4-D9F89EFF3818}"/>
              </a:ext>
            </a:extLst>
          </p:cNvPr>
          <p:cNvSpPr>
            <a:spLocks noGrp="1"/>
          </p:cNvSpPr>
          <p:nvPr/>
        </p:nvSpPr>
        <p:spPr>
          <a:xfrm>
            <a:off x="9239250" y="1895475"/>
            <a:ext cx="2314575" cy="1905000"/>
          </a:xfrm>
          <a:prstGeom prst="rect">
            <a:avLst/>
          </a:prstGeom>
          <a:noFill/>
          <a:ln w="0">
            <a:noFill/>
          </a:ln>
        </p:spPr>
        <p:txBody>
          <a:bodyPr wrap="square" lIns="0" tIns="0" rIns="0" bIns="0" anchor="t">
            <a:noAutofit/>
          </a:bodyPr>
          <a:lstStyle/>
          <a:p>
            <a:pPr algn="l">
              <a:lnSpc>
                <a:spcPct val="105000"/>
              </a:lnSpc>
              <a:buNone/>
              <a:defRPr sz="2100" b="0">
                <a:solidFill>
                  <a:srgbClr val="24323E"/>
                </a:solidFill>
                <a:latin typeface="Times New Roman"/>
                <a:ea typeface="Times New Roman"/>
                <a:cs typeface="Times New Roman"/>
              </a:defRPr>
            </a:pPr>
            <a:r>
              <a:rPr sz="2100" b="0">
                <a:solidFill>
                  <a:srgbClr val="24323E"/>
                </a:solidFill>
                <a:latin typeface="Times New Roman"/>
                <a:ea typeface="Times New Roman"/>
                <a:cs typeface="Times New Roman"/>
              </a:rPr>
              <a:t>The explicit check keeps 0.0 if a station reports it.</a:t>
            </a:r>
          </a:p>
        </p:txBody>
      </p:sp>
      <p:sp>
        <p:nvSpPr>
          <p:cNvPr id="7" name="Editable code example">
            <a:extLst>
              <a:ext uri="{FF2B5EF4-FFF2-40B4-BE49-F238E27FC236}">
                <a16:creationId xmlns:a16="http://schemas.microsoft.com/office/drawing/2014/main" id="{5A57BB6A-B1B5-4447-A861-CD5BB11C8CC7}"/>
              </a:ext>
            </a:extLst>
          </p:cNvPr>
          <p:cNvSpPr>
            <a:spLocks noGrp="1"/>
          </p:cNvSpPr>
          <p:nvPr/>
        </p:nvSpPr>
        <p:spPr>
          <a:xfrm>
            <a:off x="600075" y="4543425"/>
            <a:ext cx="5524500" cy="754342"/>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2200" b="0">
                <a:solidFill>
                  <a:srgbClr val="24323E"/>
                </a:solidFill>
                <a:latin typeface="Courier New"/>
                <a:ea typeface="Courier New"/>
                <a:cs typeface="Courier New"/>
              </a:defRPr>
            </a:pPr>
            <a:r>
              <a:rPr sz="2200">
                <a:solidFill>
                  <a:srgbClr val="24323E"/>
                </a:solidFill>
                <a:latin typeface="Courier New"/>
                <a:ea typeface="Courier New"/>
                <a:cs typeface="Courier New"/>
              </a:rPr>
              <a:t>[</a:t>
            </a:r>
            <a:r>
              <a:rPr sz="2200">
                <a:solidFill>
                  <a:srgbClr val="21688D"/>
                </a:solidFill>
                <a:latin typeface="Courier New"/>
                <a:ea typeface="Courier New"/>
                <a:cs typeface="Courier New"/>
              </a:rPr>
              <a:t>8.1</a:t>
            </a:r>
            <a:r>
              <a:rPr sz="2200">
                <a:solidFill>
                  <a:srgbClr val="24323E"/>
                </a:solidFill>
                <a:latin typeface="Courier New"/>
                <a:ea typeface="Courier New"/>
                <a:cs typeface="Courier New"/>
              </a:rPr>
              <a:t>, </a:t>
            </a:r>
            <a:r>
              <a:rPr sz="2200">
                <a:solidFill>
                  <a:srgbClr val="21688D"/>
                </a:solidFill>
                <a:latin typeface="Courier New"/>
                <a:ea typeface="Courier New"/>
                <a:cs typeface="Courier New"/>
              </a:rPr>
              <a:t>12.4</a:t>
            </a:r>
            <a:r>
              <a:rPr sz="2200">
                <a:solidFill>
                  <a:srgbClr val="24323E"/>
                </a:solidFill>
                <a:latin typeface="Courier New"/>
                <a:ea typeface="Courier New"/>
                <a:cs typeface="Courier New"/>
              </a:rPr>
              <a:t>, </a:t>
            </a:r>
            <a:r>
              <a:rPr sz="2200">
                <a:solidFill>
                  <a:srgbClr val="21688D"/>
                </a:solidFill>
                <a:latin typeface="Courier New"/>
                <a:ea typeface="Courier New"/>
                <a:cs typeface="Courier New"/>
              </a:rPr>
              <a:t>10.8</a:t>
            </a:r>
            <a:r>
              <a:rPr sz="2200">
                <a:solidFill>
                  <a:srgbClr val="24323E"/>
                </a:solidFill>
                <a:latin typeface="Courier New"/>
                <a:ea typeface="Courier New"/>
                <a:cs typeface="Courier New"/>
              </a:rPr>
              <a:t>]</a:t>
            </a:r>
          </a:p>
        </p:txBody>
      </p:sp>
      <p:sp>
        <p:nvSpPr>
          <p:cNvPr id="8" name="For a station-level analysis, retai">
            <a:extLst>
              <a:ext uri="{FF2B5EF4-FFF2-40B4-BE49-F238E27FC236}">
                <a16:creationId xmlns:a16="http://schemas.microsoft.com/office/drawing/2014/main" id="{39CF1916-5F0A-4D20-8945-2807A38A6300}"/>
              </a:ext>
            </a:extLst>
          </p:cNvPr>
          <p:cNvSpPr>
            <a:spLocks noGrp="1"/>
          </p:cNvSpPr>
          <p:nvPr/>
        </p:nvSpPr>
        <p:spPr>
          <a:xfrm>
            <a:off x="600075" y="567690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For a station-level analysis, retain the station ID with every measurement.</a:t>
            </a:r>
          </a:p>
        </p:txBody>
      </p:sp>
    </p:spTree>
    <p:extLst>
      <p:ext uri="{BB962C8B-B14F-4D97-AF65-F5344CB8AC3E}">
        <p14:creationId xmlns:p14="http://schemas.microsoft.com/office/powerpoint/2010/main" val="3723650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Getting JSON from a web API</a:t>
            </a:r>
          </a:p>
        </p:txBody>
      </p:sp>
      <p:sp>
        <p:nvSpPr>
          <p:cNvPr id="3" name="23">
            <a:extLst>
              <a:ext uri="{FF2B5EF4-FFF2-40B4-BE49-F238E27FC236}">
                <a16:creationId xmlns:a16="http://schemas.microsoft.com/office/drawing/2014/main" id="{3B63176D-B5F1-494C-9549-0A61038CE2FA}"/>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23</a:t>
            </a:r>
          </a:p>
        </p:txBody>
      </p:sp>
      <p:sp>
        <p:nvSpPr>
          <p:cNvPr id="4" name="Editable code example">
            <a:extLst>
              <a:ext uri="{FF2B5EF4-FFF2-40B4-BE49-F238E27FC236}">
                <a16:creationId xmlns:a16="http://schemas.microsoft.com/office/drawing/2014/main" id="{57C892D7-9D13-4E6B-BEB0-F4662FB8BEDE}"/>
              </a:ext>
            </a:extLst>
          </p:cNvPr>
          <p:cNvSpPr>
            <a:spLocks noGrp="1"/>
          </p:cNvSpPr>
          <p:nvPr/>
        </p:nvSpPr>
        <p:spPr>
          <a:xfrm>
            <a:off x="600075" y="1362075"/>
            <a:ext cx="8382000" cy="2735275"/>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import requests</a:t>
            </a:r>
          </a:p>
          <a:p>
            <a:pPr algn="l">
              <a:spcBef>
                <a:spcPts val="0"/>
              </a:spcBef>
              <a:spcAft>
                <a:spcPts val="0"/>
              </a:spcAft>
              <a:buNone/>
              <a:defRPr sz="1900" b="0">
                <a:solidFill>
                  <a:srgbClr val="24323E"/>
                </a:solidFill>
                <a:latin typeface="Courier New"/>
                <a:ea typeface="Courier New"/>
                <a:cs typeface="Courier New"/>
              </a:defRPr>
            </a:pPr>
            <a:endParaRPr sz="1900">
              <a:solidFill>
                <a:srgbClr val="24323E"/>
              </a:solidFill>
              <a:latin typeface="Courier New"/>
              <a:ea typeface="Courier New"/>
              <a:cs typeface="Courier New"/>
            </a:endParaRP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url = </a:t>
            </a:r>
            <a:r>
              <a:rPr sz="1900">
                <a:solidFill>
                  <a:srgbClr val="A94B23"/>
                </a:solidFill>
                <a:latin typeface="Courier New"/>
                <a:ea typeface="Courier New"/>
                <a:cs typeface="Courier New"/>
              </a:rPr>
              <a:t>"https://api.github.com/repos/python/cpython"</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response = requests.get(url, timeout=</a:t>
            </a:r>
            <a:r>
              <a:rPr sz="1900">
                <a:solidFill>
                  <a:srgbClr val="21688D"/>
                </a:solidFill>
                <a:latin typeface="Courier New"/>
                <a:ea typeface="Courier New"/>
                <a:cs typeface="Courier New"/>
              </a:rPr>
              <a:t>10</a:t>
            </a:r>
            <a:r>
              <a:rPr sz="1900">
                <a:solidFill>
                  <a:srgbClr val="24323E"/>
                </a:solidFill>
                <a:latin typeface="Courier New"/>
                <a:ea typeface="Courier New"/>
                <a:cs typeface="Courier New"/>
              </a:rPr>
              <a:t>)</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response.raise_for_status()</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repo = response.json()</a:t>
            </a:r>
          </a:p>
          <a:p>
            <a:pPr algn="l">
              <a:spcBef>
                <a:spcPts val="0"/>
              </a:spcBef>
              <a:spcAft>
                <a:spcPts val="0"/>
              </a:spcAft>
              <a:buNone/>
              <a:defRPr sz="1900" b="0">
                <a:solidFill>
                  <a:srgbClr val="24323E"/>
                </a:solidFill>
                <a:latin typeface="Courier New"/>
                <a:ea typeface="Courier New"/>
                <a:cs typeface="Courier New"/>
              </a:defRPr>
            </a:pPr>
            <a:endParaRPr sz="1900">
              <a:solidFill>
                <a:srgbClr val="24323E"/>
              </a:solidFill>
              <a:latin typeface="Courier New"/>
              <a:ea typeface="Courier New"/>
              <a:cs typeface="Courier New"/>
            </a:endParaRP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print(repo[</a:t>
            </a:r>
            <a:r>
              <a:rPr sz="1900">
                <a:solidFill>
                  <a:srgbClr val="A94B23"/>
                </a:solidFill>
                <a:latin typeface="Courier New"/>
                <a:ea typeface="Courier New"/>
                <a:cs typeface="Courier New"/>
              </a:rPr>
              <a:t>"full_name"</a:t>
            </a:r>
            <a:r>
              <a:rPr sz="1900">
                <a:solidFill>
                  <a:srgbClr val="24323E"/>
                </a:solidFill>
                <a:latin typeface="Courier New"/>
                <a:ea typeface="Courier New"/>
                <a:cs typeface="Courier New"/>
              </a:rPr>
              <a:t>])</a:t>
            </a:r>
          </a:p>
        </p:txBody>
      </p:sp>
      <p:sp>
        <p:nvSpPr>
          <p:cNvPr id="5" name="HTTP check">
            <a:extLst>
              <a:ext uri="{FF2B5EF4-FFF2-40B4-BE49-F238E27FC236}">
                <a16:creationId xmlns:a16="http://schemas.microsoft.com/office/drawing/2014/main" id="{EEF0D391-6CB2-4E2E-889A-00D15B1C805A}"/>
              </a:ext>
            </a:extLst>
          </p:cNvPr>
          <p:cNvSpPr>
            <a:spLocks noGrp="1"/>
          </p:cNvSpPr>
          <p:nvPr/>
        </p:nvSpPr>
        <p:spPr>
          <a:xfrm>
            <a:off x="9439275" y="1447800"/>
            <a:ext cx="2143125"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HTTP check</a:t>
            </a:r>
          </a:p>
        </p:txBody>
      </p:sp>
      <p:sp>
        <p:nvSpPr>
          <p:cNvPr id="6" name="Did the request succeed?">
            <a:extLst>
              <a:ext uri="{FF2B5EF4-FFF2-40B4-BE49-F238E27FC236}">
                <a16:creationId xmlns:a16="http://schemas.microsoft.com/office/drawing/2014/main" id="{FECF99C6-281D-4E4B-842E-2038B67461D6}"/>
              </a:ext>
            </a:extLst>
          </p:cNvPr>
          <p:cNvSpPr>
            <a:spLocks noGrp="1"/>
          </p:cNvSpPr>
          <p:nvPr/>
        </p:nvSpPr>
        <p:spPr>
          <a:xfrm>
            <a:off x="9439275" y="1895475"/>
            <a:ext cx="2143125" cy="904875"/>
          </a:xfrm>
          <a:prstGeom prst="rect">
            <a:avLst/>
          </a:prstGeom>
          <a:noFill/>
          <a:ln w="0">
            <a:noFill/>
          </a:ln>
        </p:spPr>
        <p:txBody>
          <a:bodyPr wrap="square" lIns="0" tIns="0" rIns="0" bIns="0" anchor="t">
            <a:noAutofit/>
          </a:bodyPr>
          <a:lstStyle/>
          <a:p>
            <a:pPr algn="l">
              <a:lnSpc>
                <a:spcPct val="105000"/>
              </a:lnSpc>
              <a:buNone/>
              <a:defRPr sz="2025" b="0">
                <a:solidFill>
                  <a:srgbClr val="24323E"/>
                </a:solidFill>
                <a:latin typeface="Times New Roman"/>
                <a:ea typeface="Times New Roman"/>
                <a:cs typeface="Times New Roman"/>
              </a:defRPr>
            </a:pPr>
            <a:r>
              <a:rPr sz="2025" b="0">
                <a:solidFill>
                  <a:srgbClr val="24323E"/>
                </a:solidFill>
                <a:latin typeface="Times New Roman"/>
                <a:ea typeface="Times New Roman"/>
                <a:cs typeface="Times New Roman"/>
              </a:rPr>
              <a:t>Did the request succeed?</a:t>
            </a:r>
          </a:p>
        </p:txBody>
      </p:sp>
      <p:sp>
        <p:nvSpPr>
          <p:cNvPr id="7" name="JSON check">
            <a:extLst>
              <a:ext uri="{FF2B5EF4-FFF2-40B4-BE49-F238E27FC236}">
                <a16:creationId xmlns:a16="http://schemas.microsoft.com/office/drawing/2014/main" id="{6BC1B80E-1F1A-4B24-B79E-DCC2046FCCE0}"/>
              </a:ext>
            </a:extLst>
          </p:cNvPr>
          <p:cNvSpPr>
            <a:spLocks noGrp="1"/>
          </p:cNvSpPr>
          <p:nvPr/>
        </p:nvSpPr>
        <p:spPr>
          <a:xfrm>
            <a:off x="9439275" y="2914650"/>
            <a:ext cx="2143125"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JSON check</a:t>
            </a:r>
          </a:p>
        </p:txBody>
      </p:sp>
      <p:sp>
        <p:nvSpPr>
          <p:cNvPr id="8" name="Can the body be decoded?">
            <a:extLst>
              <a:ext uri="{FF2B5EF4-FFF2-40B4-BE49-F238E27FC236}">
                <a16:creationId xmlns:a16="http://schemas.microsoft.com/office/drawing/2014/main" id="{32392437-3FBA-46F0-95AE-6EA461356A88}"/>
              </a:ext>
            </a:extLst>
          </p:cNvPr>
          <p:cNvSpPr>
            <a:spLocks noGrp="1"/>
          </p:cNvSpPr>
          <p:nvPr/>
        </p:nvSpPr>
        <p:spPr>
          <a:xfrm>
            <a:off x="9439275" y="3362325"/>
            <a:ext cx="2143125" cy="952500"/>
          </a:xfrm>
          <a:prstGeom prst="rect">
            <a:avLst/>
          </a:prstGeom>
          <a:noFill/>
          <a:ln w="0">
            <a:noFill/>
          </a:ln>
        </p:spPr>
        <p:txBody>
          <a:bodyPr wrap="square" lIns="0" tIns="0" rIns="0" bIns="0" anchor="t">
            <a:noAutofit/>
          </a:bodyPr>
          <a:lstStyle/>
          <a:p>
            <a:pPr algn="l">
              <a:lnSpc>
                <a:spcPct val="105000"/>
              </a:lnSpc>
              <a:buNone/>
              <a:defRPr sz="2025" b="0">
                <a:solidFill>
                  <a:srgbClr val="24323E"/>
                </a:solidFill>
                <a:latin typeface="Times New Roman"/>
                <a:ea typeface="Times New Roman"/>
                <a:cs typeface="Times New Roman"/>
              </a:defRPr>
            </a:pPr>
            <a:r>
              <a:rPr sz="2025" b="0">
                <a:solidFill>
                  <a:srgbClr val="24323E"/>
                </a:solidFill>
                <a:latin typeface="Times New Roman"/>
                <a:ea typeface="Times New Roman"/>
                <a:cs typeface="Times New Roman"/>
              </a:rPr>
              <a:t>Can the body be decoded?</a:t>
            </a:r>
          </a:p>
        </p:txBody>
      </p:sp>
      <p:sp>
        <p:nvSpPr>
          <p:cNvPr id="9" name="Schema and meaning still need check">
            <a:extLst>
              <a:ext uri="{FF2B5EF4-FFF2-40B4-BE49-F238E27FC236}">
                <a16:creationId xmlns:a16="http://schemas.microsoft.com/office/drawing/2014/main" id="{B8890735-B526-4A65-85FC-BAAC3EA5241D}"/>
              </a:ext>
            </a:extLst>
          </p:cNvPr>
          <p:cNvSpPr>
            <a:spLocks noGrp="1"/>
          </p:cNvSpPr>
          <p:nvPr/>
        </p:nvSpPr>
        <p:spPr>
          <a:xfrm>
            <a:off x="9439275" y="4552950"/>
            <a:ext cx="2143125" cy="1143000"/>
          </a:xfrm>
          <a:prstGeom prst="rect">
            <a:avLst/>
          </a:prstGeom>
          <a:noFill/>
          <a:ln w="0">
            <a:noFill/>
          </a:ln>
        </p:spPr>
        <p:txBody>
          <a:bodyPr wrap="square" lIns="0" tIns="0" rIns="0" bIns="0" anchor="t">
            <a:noAutofit/>
          </a:bodyPr>
          <a:lstStyle/>
          <a:p>
            <a:pPr algn="l">
              <a:lnSpc>
                <a:spcPct val="105000"/>
              </a:lnSpc>
              <a:buNone/>
              <a:defRPr sz="2025" b="0">
                <a:solidFill>
                  <a:srgbClr val="24323E"/>
                </a:solidFill>
                <a:latin typeface="Times New Roman"/>
                <a:ea typeface="Times New Roman"/>
                <a:cs typeface="Times New Roman"/>
              </a:defRPr>
            </a:pPr>
            <a:r>
              <a:rPr sz="2025" b="0">
                <a:solidFill>
                  <a:srgbClr val="24323E"/>
                </a:solidFill>
                <a:latin typeface="Times New Roman"/>
                <a:ea typeface="Times New Roman"/>
                <a:cs typeface="Times New Roman"/>
              </a:rPr>
              <a:t>Schema and meaning still need checking.</a:t>
            </a:r>
          </a:p>
        </p:txBody>
      </p:sp>
      <p:sp>
        <p:nvSpPr>
          <p:cNvPr id="10" name="A successful JSON decode does not e">
            <a:extLst>
              <a:ext uri="{FF2B5EF4-FFF2-40B4-BE49-F238E27FC236}">
                <a16:creationId xmlns:a16="http://schemas.microsoft.com/office/drawing/2014/main" id="{5E315BAE-735A-4AD9-82FA-8127A50AE655}"/>
              </a:ext>
            </a:extLst>
          </p:cNvPr>
          <p:cNvSpPr>
            <a:spLocks noGrp="1"/>
          </p:cNvSpPr>
          <p:nvPr/>
        </p:nvSpPr>
        <p:spPr>
          <a:xfrm>
            <a:off x="600075" y="571500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A successful JSON decode does not establish a successful API request.</a:t>
            </a:r>
          </a:p>
        </p:txBody>
      </p:sp>
    </p:spTree>
    <p:extLst>
      <p:ext uri="{BB962C8B-B14F-4D97-AF65-F5344CB8AC3E}">
        <p14:creationId xmlns:p14="http://schemas.microsoft.com/office/powerpoint/2010/main" val="3723650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Flattening with pandas</a:t>
            </a:r>
          </a:p>
        </p:txBody>
      </p:sp>
      <p:sp>
        <p:nvSpPr>
          <p:cNvPr id="3" name="24">
            <a:extLst>
              <a:ext uri="{FF2B5EF4-FFF2-40B4-BE49-F238E27FC236}">
                <a16:creationId xmlns:a16="http://schemas.microsoft.com/office/drawing/2014/main" id="{8F5A4F94-15E4-46F1-B398-E365708819E0}"/>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24</a:t>
            </a:r>
          </a:p>
        </p:txBody>
      </p:sp>
      <p:sp>
        <p:nvSpPr>
          <p:cNvPr id="4" name="Editable code example">
            <a:extLst>
              <a:ext uri="{FF2B5EF4-FFF2-40B4-BE49-F238E27FC236}">
                <a16:creationId xmlns:a16="http://schemas.microsoft.com/office/drawing/2014/main" id="{3DF561A5-A709-4034-82BC-4CA86292A1BD}"/>
              </a:ext>
            </a:extLst>
          </p:cNvPr>
          <p:cNvSpPr>
            <a:spLocks noGrp="1"/>
          </p:cNvSpPr>
          <p:nvPr/>
        </p:nvSpPr>
        <p:spPr>
          <a:xfrm>
            <a:off x="600075" y="1171575"/>
            <a:ext cx="10953750" cy="2099310"/>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838" b="0">
                <a:solidFill>
                  <a:srgbClr val="24323E"/>
                </a:solidFill>
                <a:latin typeface="Courier New"/>
                <a:ea typeface="Courier New"/>
                <a:cs typeface="Courier New"/>
              </a:defRPr>
            </a:pPr>
            <a:r>
              <a:rPr sz="1838">
                <a:solidFill>
                  <a:srgbClr val="24323E"/>
                </a:solidFill>
                <a:latin typeface="Courier New"/>
                <a:ea typeface="Courier New"/>
                <a:cs typeface="Courier New"/>
              </a:rPr>
              <a:t>import pandas as pd</a:t>
            </a:r>
          </a:p>
          <a:p>
            <a:pPr algn="l">
              <a:spcBef>
                <a:spcPts val="0"/>
              </a:spcBef>
              <a:spcAft>
                <a:spcPts val="0"/>
              </a:spcAft>
              <a:buNone/>
              <a:defRPr sz="1838" b="0">
                <a:solidFill>
                  <a:srgbClr val="24323E"/>
                </a:solidFill>
                <a:latin typeface="Courier New"/>
                <a:ea typeface="Courier New"/>
                <a:cs typeface="Courier New"/>
              </a:defRPr>
            </a:pPr>
            <a:endParaRPr sz="1838">
              <a:solidFill>
                <a:srgbClr val="24323E"/>
              </a:solidFill>
              <a:latin typeface="Courier New"/>
              <a:ea typeface="Courier New"/>
              <a:cs typeface="Courier New"/>
            </a:endParaRPr>
          </a:p>
          <a:p>
            <a:pPr algn="l">
              <a:spcBef>
                <a:spcPts val="0"/>
              </a:spcBef>
              <a:spcAft>
                <a:spcPts val="0"/>
              </a:spcAft>
              <a:buNone/>
              <a:defRPr sz="1838" b="0">
                <a:solidFill>
                  <a:srgbClr val="24323E"/>
                </a:solidFill>
                <a:latin typeface="Courier New"/>
                <a:ea typeface="Courier New"/>
                <a:cs typeface="Courier New"/>
              </a:defRPr>
            </a:pPr>
            <a:r>
              <a:rPr sz="1838">
                <a:solidFill>
                  <a:srgbClr val="24323E"/>
                </a:solidFill>
                <a:latin typeface="Courier New"/>
                <a:ea typeface="Courier New"/>
                <a:cs typeface="Courier New"/>
              </a:rPr>
              <a:t>df = pd.json_normalize(</a:t>
            </a:r>
          </a:p>
          <a:p>
            <a:pPr algn="l">
              <a:spcBef>
                <a:spcPts val="0"/>
              </a:spcBef>
              <a:spcAft>
                <a:spcPts val="0"/>
              </a:spcAft>
              <a:buNone/>
              <a:defRPr sz="1838" b="0">
                <a:solidFill>
                  <a:srgbClr val="24323E"/>
                </a:solidFill>
                <a:latin typeface="Courier New"/>
                <a:ea typeface="Courier New"/>
                <a:cs typeface="Courier New"/>
              </a:defRPr>
            </a:pPr>
            <a:r>
              <a:rPr sz="1838">
                <a:solidFill>
                  <a:srgbClr val="24323E"/>
                </a:solidFill>
                <a:latin typeface="Courier New"/>
                <a:ea typeface="Courier New"/>
                <a:cs typeface="Courier New"/>
              </a:rPr>
              <a:t>    data[</a:t>
            </a:r>
            <a:r>
              <a:rPr sz="1838">
                <a:solidFill>
                  <a:srgbClr val="A94B23"/>
                </a:solidFill>
                <a:latin typeface="Courier New"/>
                <a:ea typeface="Courier New"/>
                <a:cs typeface="Courier New"/>
              </a:rPr>
              <a:t>"stations"</a:t>
            </a:r>
            <a:r>
              <a:rPr sz="1838">
                <a:solidFill>
                  <a:srgbClr val="24323E"/>
                </a:solidFill>
                <a:latin typeface="Courier New"/>
                <a:ea typeface="Courier New"/>
                <a:cs typeface="Courier New"/>
              </a:rPr>
              <a:t>], record_path=</a:t>
            </a:r>
            <a:r>
              <a:rPr sz="1838">
                <a:solidFill>
                  <a:srgbClr val="A94B23"/>
                </a:solidFill>
                <a:latin typeface="Courier New"/>
                <a:ea typeface="Courier New"/>
                <a:cs typeface="Courier New"/>
              </a:rPr>
              <a:t>"readings"</a:t>
            </a:r>
            <a:r>
              <a:rPr sz="1838">
                <a:solidFill>
                  <a:srgbClr val="24323E"/>
                </a:solidFill>
                <a:latin typeface="Courier New"/>
                <a:ea typeface="Courier New"/>
                <a:cs typeface="Courier New"/>
              </a:rPr>
              <a:t>,</a:t>
            </a:r>
          </a:p>
          <a:p>
            <a:pPr algn="l">
              <a:spcBef>
                <a:spcPts val="0"/>
              </a:spcBef>
              <a:spcAft>
                <a:spcPts val="0"/>
              </a:spcAft>
              <a:buNone/>
              <a:defRPr sz="1838" b="0">
                <a:solidFill>
                  <a:srgbClr val="24323E"/>
                </a:solidFill>
                <a:latin typeface="Courier New"/>
                <a:ea typeface="Courier New"/>
                <a:cs typeface="Courier New"/>
              </a:defRPr>
            </a:pPr>
            <a:r>
              <a:rPr sz="1838">
                <a:solidFill>
                  <a:srgbClr val="24323E"/>
                </a:solidFill>
                <a:latin typeface="Courier New"/>
                <a:ea typeface="Courier New"/>
                <a:cs typeface="Courier New"/>
              </a:rPr>
              <a:t>    meta=[</a:t>
            </a:r>
            <a:r>
              <a:rPr sz="1838">
                <a:solidFill>
                  <a:srgbClr val="A94B23"/>
                </a:solidFill>
                <a:latin typeface="Courier New"/>
                <a:ea typeface="Courier New"/>
                <a:cs typeface="Courier New"/>
              </a:rPr>
              <a:t>"station_id"</a:t>
            </a:r>
            <a:r>
              <a:rPr sz="1838">
                <a:solidFill>
                  <a:srgbClr val="24323E"/>
                </a:solidFill>
                <a:latin typeface="Courier New"/>
                <a:ea typeface="Courier New"/>
                <a:cs typeface="Courier New"/>
              </a:rPr>
              <a:t>, [</a:t>
            </a:r>
            <a:r>
              <a:rPr sz="1838">
                <a:solidFill>
                  <a:srgbClr val="A94B23"/>
                </a:solidFill>
                <a:latin typeface="Courier New"/>
                <a:ea typeface="Courier New"/>
                <a:cs typeface="Courier New"/>
              </a:rPr>
              <a:t>"site"</a:t>
            </a:r>
            <a:r>
              <a:rPr sz="1838">
                <a:solidFill>
                  <a:srgbClr val="24323E"/>
                </a:solidFill>
                <a:latin typeface="Courier New"/>
                <a:ea typeface="Courier New"/>
                <a:cs typeface="Courier New"/>
              </a:rPr>
              <a:t>, </a:t>
            </a:r>
            <a:r>
              <a:rPr sz="1838">
                <a:solidFill>
                  <a:srgbClr val="A94B23"/>
                </a:solidFill>
                <a:latin typeface="Courier New"/>
                <a:ea typeface="Courier New"/>
                <a:cs typeface="Courier New"/>
              </a:rPr>
              <a:t>"name"</a:t>
            </a:r>
            <a:r>
              <a:rPr sz="1838">
                <a:solidFill>
                  <a:srgbClr val="24323E"/>
                </a:solidFill>
                <a:latin typeface="Courier New"/>
                <a:ea typeface="Courier New"/>
                <a:cs typeface="Courier New"/>
              </a:rPr>
              <a:t>]], sep=</a:t>
            </a:r>
            <a:r>
              <a:rPr sz="1838">
                <a:solidFill>
                  <a:srgbClr val="A94B23"/>
                </a:solidFill>
                <a:latin typeface="Courier New"/>
                <a:ea typeface="Courier New"/>
                <a:cs typeface="Courier New"/>
              </a:rPr>
              <a:t>"."</a:t>
            </a:r>
          </a:p>
          <a:p>
            <a:pPr algn="l">
              <a:spcBef>
                <a:spcPts val="0"/>
              </a:spcBef>
              <a:spcAft>
                <a:spcPts val="0"/>
              </a:spcAft>
              <a:buNone/>
              <a:defRPr sz="1838" b="0">
                <a:solidFill>
                  <a:srgbClr val="24323E"/>
                </a:solidFill>
                <a:latin typeface="Courier New"/>
                <a:ea typeface="Courier New"/>
                <a:cs typeface="Courier New"/>
              </a:defRPr>
            </a:pPr>
            <a:r>
              <a:rPr sz="1838">
                <a:solidFill>
                  <a:srgbClr val="24323E"/>
                </a:solidFill>
                <a:latin typeface="Courier New"/>
                <a:ea typeface="Courier New"/>
                <a:cs typeface="Courier New"/>
              </a:rPr>
              <a:t>)</a:t>
            </a:r>
          </a:p>
        </p:txBody>
      </p:sp>
      <p:graphicFrame>
        <p:nvGraphicFramePr>
          <p:cNvPr id="10" name="Table 9"/>
          <p:cNvGraphicFramePr/>
          <p:nvPr/>
        </p:nvGraphicFramePr>
        <p:xfrm>
          <a:off x="600075" y="3409950"/>
          <a:ext cx="10953750" cy="2114550"/>
        </p:xfrm>
        <a:graphic>
          <a:graphicData uri="http://schemas.openxmlformats.org/drawingml/2006/table">
            <a:tbl>
              <a:tblPr/>
              <a:tblGrid>
                <a:gridCol w="2143125">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3000375">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422910">
                <a:tc>
                  <a:txBody>
                    <a:bodyPr/>
                    <a:lstStyle/>
                    <a:p>
                      <a:r>
                        <a:rPr sz="2000" b="1">
                          <a:solidFill>
                            <a:srgbClr val="FFFFFF"/>
                          </a:solidFill>
                          <a:latin typeface="Times New Roman"/>
                          <a:ea typeface="Times New Roman"/>
                          <a:cs typeface="Times New Roman"/>
                        </a:rPr>
                        <a:t>hour</a:t>
                      </a:r>
                    </a:p>
                  </a:txBody>
                  <a:tcPr anchor="ctr">
                    <a:solidFill>
                      <a:srgbClr val="24323E"/>
                    </a:solidFill>
                  </a:tcPr>
                </a:tc>
                <a:tc>
                  <a:txBody>
                    <a:bodyPr/>
                    <a:lstStyle/>
                    <a:p>
                      <a:r>
                        <a:rPr sz="2000" b="1">
                          <a:solidFill>
                            <a:srgbClr val="FFFFFF"/>
                          </a:solidFill>
                          <a:latin typeface="Times New Roman"/>
                          <a:ea typeface="Times New Roman"/>
                          <a:cs typeface="Times New Roman"/>
                        </a:rPr>
                        <a:t>pm25</a:t>
                      </a:r>
                    </a:p>
                  </a:txBody>
                  <a:tcPr anchor="ctr">
                    <a:solidFill>
                      <a:srgbClr val="24323E"/>
                    </a:solidFill>
                  </a:tcPr>
                </a:tc>
                <a:tc>
                  <a:txBody>
                    <a:bodyPr/>
                    <a:lstStyle/>
                    <a:p>
                      <a:r>
                        <a:rPr sz="2000" b="1">
                          <a:solidFill>
                            <a:srgbClr val="FFFFFF"/>
                          </a:solidFill>
                          <a:latin typeface="Times New Roman"/>
                          <a:ea typeface="Times New Roman"/>
                          <a:cs typeface="Times New Roman"/>
                        </a:rPr>
                        <a:t>station_id</a:t>
                      </a:r>
                    </a:p>
                  </a:txBody>
                  <a:tcPr anchor="ctr">
                    <a:solidFill>
                      <a:srgbClr val="24323E"/>
                    </a:solidFill>
                  </a:tcPr>
                </a:tc>
                <a:tc>
                  <a:txBody>
                    <a:bodyPr/>
                    <a:lstStyle/>
                    <a:p>
                      <a:r>
                        <a:rPr sz="2000" b="1">
                          <a:solidFill>
                            <a:srgbClr val="FFFFFF"/>
                          </a:solidFill>
                          <a:latin typeface="Times New Roman"/>
                          <a:ea typeface="Times New Roman"/>
                          <a:cs typeface="Times New Roman"/>
                        </a:rPr>
                        <a:t>site.name</a:t>
                      </a:r>
                    </a:p>
                  </a:txBody>
                  <a:tcPr anchor="ctr">
                    <a:solidFill>
                      <a:srgbClr val="24323E"/>
                    </a:solidFill>
                  </a:tcPr>
                </a:tc>
                <a:extLst>
                  <a:ext uri="{0D108BD9-81ED-4DB2-BD59-A6C34878D82A}">
                    <a16:rowId xmlns:a16="http://schemas.microsoft.com/office/drawing/2014/main" val="10000"/>
                  </a:ext>
                </a:extLst>
              </a:tr>
              <a:tr h="422910">
                <a:tc>
                  <a:txBody>
                    <a:bodyPr/>
                    <a:lstStyle/>
                    <a:p>
                      <a:r>
                        <a:rPr sz="2000" b="0">
                          <a:solidFill>
                            <a:srgbClr val="24323E"/>
                          </a:solidFill>
                          <a:latin typeface="Times New Roman"/>
                          <a:ea typeface="Times New Roman"/>
                          <a:cs typeface="Times New Roman"/>
                        </a:rPr>
                        <a:t>9</a:t>
                      </a:r>
                    </a:p>
                  </a:txBody>
                  <a:tcPr anchor="ctr">
                    <a:solidFill>
                      <a:srgbClr val="FFFFFF"/>
                    </a:solidFill>
                  </a:tcPr>
                </a:tc>
                <a:tc>
                  <a:txBody>
                    <a:bodyPr/>
                    <a:lstStyle/>
                    <a:p>
                      <a:r>
                        <a:rPr sz="2000" b="0">
                          <a:solidFill>
                            <a:srgbClr val="24323E"/>
                          </a:solidFill>
                          <a:latin typeface="Times New Roman"/>
                          <a:ea typeface="Times New Roman"/>
                          <a:cs typeface="Times New Roman"/>
                        </a:rPr>
                        <a:t>8.1</a:t>
                      </a:r>
                    </a:p>
                  </a:txBody>
                  <a:tcPr anchor="ctr">
                    <a:solidFill>
                      <a:srgbClr val="FFFFFF"/>
                    </a:solidFill>
                  </a:tcPr>
                </a:tc>
                <a:tc>
                  <a:txBody>
                    <a:bodyPr/>
                    <a:lstStyle/>
                    <a:p>
                      <a:r>
                        <a:rPr sz="2000" b="0">
                          <a:solidFill>
                            <a:srgbClr val="24323E"/>
                          </a:solidFill>
                          <a:latin typeface="Times New Roman"/>
                          <a:ea typeface="Times New Roman"/>
                          <a:cs typeface="Times New Roman"/>
                        </a:rPr>
                        <a:t>A1</a:t>
                      </a:r>
                    </a:p>
                  </a:txBody>
                  <a:tcPr anchor="ctr">
                    <a:solidFill>
                      <a:srgbClr val="FFFFFF"/>
                    </a:solidFill>
                  </a:tcPr>
                </a:tc>
                <a:tc>
                  <a:txBody>
                    <a:bodyPr/>
                    <a:lstStyle/>
                    <a:p>
                      <a:r>
                        <a:rPr sz="2000" b="0">
                          <a:solidFill>
                            <a:srgbClr val="24323E"/>
                          </a:solidFill>
                          <a:latin typeface="Times New Roman"/>
                          <a:ea typeface="Times New Roman"/>
                          <a:cs typeface="Times New Roman"/>
                        </a:rPr>
                        <a:t>North</a:t>
                      </a:r>
                    </a:p>
                  </a:txBody>
                  <a:tcPr anchor="ctr">
                    <a:solidFill>
                      <a:srgbClr val="FFFFFF"/>
                    </a:solidFill>
                  </a:tcPr>
                </a:tc>
                <a:extLst>
                  <a:ext uri="{0D108BD9-81ED-4DB2-BD59-A6C34878D82A}">
                    <a16:rowId xmlns:a16="http://schemas.microsoft.com/office/drawing/2014/main" val="10001"/>
                  </a:ext>
                </a:extLst>
              </a:tr>
              <a:tr h="422910">
                <a:tc>
                  <a:txBody>
                    <a:bodyPr/>
                    <a:lstStyle/>
                    <a:p>
                      <a:r>
                        <a:rPr sz="2000" b="0">
                          <a:solidFill>
                            <a:srgbClr val="24323E"/>
                          </a:solidFill>
                          <a:latin typeface="Times New Roman"/>
                          <a:ea typeface="Times New Roman"/>
                          <a:cs typeface="Times New Roman"/>
                        </a:rPr>
                        <a:t>10</a:t>
                      </a:r>
                    </a:p>
                  </a:txBody>
                  <a:tcPr anchor="ctr">
                    <a:solidFill>
                      <a:srgbClr val="FFF4EB"/>
                    </a:solidFill>
                  </a:tcPr>
                </a:tc>
                <a:tc>
                  <a:txBody>
                    <a:bodyPr/>
                    <a:lstStyle/>
                    <a:p>
                      <a:r>
                        <a:rPr sz="2000" b="0">
                          <a:solidFill>
                            <a:srgbClr val="24323E"/>
                          </a:solidFill>
                          <a:latin typeface="Times New Roman"/>
                          <a:ea typeface="Times New Roman"/>
                          <a:cs typeface="Times New Roman"/>
                        </a:rPr>
                        <a:t>missing</a:t>
                      </a:r>
                    </a:p>
                  </a:txBody>
                  <a:tcPr anchor="ctr">
                    <a:solidFill>
                      <a:srgbClr val="FFF4EB"/>
                    </a:solidFill>
                  </a:tcPr>
                </a:tc>
                <a:tc>
                  <a:txBody>
                    <a:bodyPr/>
                    <a:lstStyle/>
                    <a:p>
                      <a:r>
                        <a:rPr sz="2000" b="0">
                          <a:solidFill>
                            <a:srgbClr val="24323E"/>
                          </a:solidFill>
                          <a:latin typeface="Times New Roman"/>
                          <a:ea typeface="Times New Roman"/>
                          <a:cs typeface="Times New Roman"/>
                        </a:rPr>
                        <a:t>A1</a:t>
                      </a:r>
                    </a:p>
                  </a:txBody>
                  <a:tcPr anchor="ctr">
                    <a:solidFill>
                      <a:srgbClr val="FFF4EB"/>
                    </a:solidFill>
                  </a:tcPr>
                </a:tc>
                <a:tc>
                  <a:txBody>
                    <a:bodyPr/>
                    <a:lstStyle/>
                    <a:p>
                      <a:r>
                        <a:rPr sz="2000" b="0">
                          <a:solidFill>
                            <a:srgbClr val="24323E"/>
                          </a:solidFill>
                          <a:latin typeface="Times New Roman"/>
                          <a:ea typeface="Times New Roman"/>
                          <a:cs typeface="Times New Roman"/>
                        </a:rPr>
                        <a:t>North</a:t>
                      </a:r>
                    </a:p>
                  </a:txBody>
                  <a:tcPr anchor="ctr">
                    <a:solidFill>
                      <a:srgbClr val="FFF4EB"/>
                    </a:solidFill>
                  </a:tcPr>
                </a:tc>
                <a:extLst>
                  <a:ext uri="{0D108BD9-81ED-4DB2-BD59-A6C34878D82A}">
                    <a16:rowId xmlns:a16="http://schemas.microsoft.com/office/drawing/2014/main" val="10002"/>
                  </a:ext>
                </a:extLst>
              </a:tr>
              <a:tr h="422910">
                <a:tc>
                  <a:txBody>
                    <a:bodyPr/>
                    <a:lstStyle/>
                    <a:p>
                      <a:r>
                        <a:rPr sz="2000" b="0">
                          <a:solidFill>
                            <a:srgbClr val="24323E"/>
                          </a:solidFill>
                          <a:latin typeface="Times New Roman"/>
                          <a:ea typeface="Times New Roman"/>
                          <a:cs typeface="Times New Roman"/>
                        </a:rPr>
                        <a:t>9</a:t>
                      </a:r>
                    </a:p>
                  </a:txBody>
                  <a:tcPr anchor="ctr">
                    <a:solidFill>
                      <a:srgbClr val="FFFFFF"/>
                    </a:solidFill>
                  </a:tcPr>
                </a:tc>
                <a:tc>
                  <a:txBody>
                    <a:bodyPr/>
                    <a:lstStyle/>
                    <a:p>
                      <a:r>
                        <a:rPr sz="2000" b="0">
                          <a:solidFill>
                            <a:srgbClr val="24323E"/>
                          </a:solidFill>
                          <a:latin typeface="Times New Roman"/>
                          <a:ea typeface="Times New Roman"/>
                          <a:cs typeface="Times New Roman"/>
                        </a:rPr>
                        <a:t>12.4</a:t>
                      </a:r>
                    </a:p>
                  </a:txBody>
                  <a:tcPr anchor="ctr">
                    <a:solidFill>
                      <a:srgbClr val="FFFFFF"/>
                    </a:solidFill>
                  </a:tcPr>
                </a:tc>
                <a:tc>
                  <a:txBody>
                    <a:bodyPr/>
                    <a:lstStyle/>
                    <a:p>
                      <a:r>
                        <a:rPr sz="2000" b="0">
                          <a:solidFill>
                            <a:srgbClr val="24323E"/>
                          </a:solidFill>
                          <a:latin typeface="Times New Roman"/>
                          <a:ea typeface="Times New Roman"/>
                          <a:cs typeface="Times New Roman"/>
                        </a:rPr>
                        <a:t>B2</a:t>
                      </a:r>
                    </a:p>
                  </a:txBody>
                  <a:tcPr anchor="ctr">
                    <a:solidFill>
                      <a:srgbClr val="FFFFFF"/>
                    </a:solidFill>
                  </a:tcPr>
                </a:tc>
                <a:tc>
                  <a:txBody>
                    <a:bodyPr/>
                    <a:lstStyle/>
                    <a:p>
                      <a:r>
                        <a:rPr sz="2000" b="0">
                          <a:solidFill>
                            <a:srgbClr val="24323E"/>
                          </a:solidFill>
                          <a:latin typeface="Times New Roman"/>
                          <a:ea typeface="Times New Roman"/>
                          <a:cs typeface="Times New Roman"/>
                        </a:rPr>
                        <a:t>South</a:t>
                      </a:r>
                    </a:p>
                  </a:txBody>
                  <a:tcPr anchor="ctr">
                    <a:solidFill>
                      <a:srgbClr val="FFFFFF"/>
                    </a:solidFill>
                  </a:tcPr>
                </a:tc>
                <a:extLst>
                  <a:ext uri="{0D108BD9-81ED-4DB2-BD59-A6C34878D82A}">
                    <a16:rowId xmlns:a16="http://schemas.microsoft.com/office/drawing/2014/main" val="10003"/>
                  </a:ext>
                </a:extLst>
              </a:tr>
              <a:tr h="422910">
                <a:tc>
                  <a:txBody>
                    <a:bodyPr/>
                    <a:lstStyle/>
                    <a:p>
                      <a:r>
                        <a:rPr sz="2000" b="0">
                          <a:solidFill>
                            <a:srgbClr val="24323E"/>
                          </a:solidFill>
                          <a:latin typeface="Times New Roman"/>
                          <a:ea typeface="Times New Roman"/>
                          <a:cs typeface="Times New Roman"/>
                        </a:rPr>
                        <a:t>10</a:t>
                      </a:r>
                    </a:p>
                  </a:txBody>
                  <a:tcPr anchor="ctr">
                    <a:solidFill>
                      <a:srgbClr val="FFF4EB"/>
                    </a:solidFill>
                  </a:tcPr>
                </a:tc>
                <a:tc>
                  <a:txBody>
                    <a:bodyPr/>
                    <a:lstStyle/>
                    <a:p>
                      <a:r>
                        <a:rPr sz="2000" b="0">
                          <a:solidFill>
                            <a:srgbClr val="24323E"/>
                          </a:solidFill>
                          <a:latin typeface="Times New Roman"/>
                          <a:ea typeface="Times New Roman"/>
                          <a:cs typeface="Times New Roman"/>
                        </a:rPr>
                        <a:t>10.8</a:t>
                      </a:r>
                    </a:p>
                  </a:txBody>
                  <a:tcPr anchor="ctr">
                    <a:solidFill>
                      <a:srgbClr val="FFF4EB"/>
                    </a:solidFill>
                  </a:tcPr>
                </a:tc>
                <a:tc>
                  <a:txBody>
                    <a:bodyPr/>
                    <a:lstStyle/>
                    <a:p>
                      <a:r>
                        <a:rPr sz="2000" b="0">
                          <a:solidFill>
                            <a:srgbClr val="24323E"/>
                          </a:solidFill>
                          <a:latin typeface="Times New Roman"/>
                          <a:ea typeface="Times New Roman"/>
                          <a:cs typeface="Times New Roman"/>
                        </a:rPr>
                        <a:t>B2</a:t>
                      </a:r>
                    </a:p>
                  </a:txBody>
                  <a:tcPr anchor="ctr">
                    <a:solidFill>
                      <a:srgbClr val="FFF4EB"/>
                    </a:solidFill>
                  </a:tcPr>
                </a:tc>
                <a:tc>
                  <a:txBody>
                    <a:bodyPr/>
                    <a:lstStyle/>
                    <a:p>
                      <a:r>
                        <a:rPr sz="2000" b="0">
                          <a:solidFill>
                            <a:srgbClr val="24323E"/>
                          </a:solidFill>
                          <a:latin typeface="Times New Roman"/>
                          <a:ea typeface="Times New Roman"/>
                          <a:cs typeface="Times New Roman"/>
                        </a:rPr>
                        <a:t>South</a:t>
                      </a:r>
                    </a:p>
                  </a:txBody>
                  <a:tcPr anchor="ctr">
                    <a:solidFill>
                      <a:srgbClr val="FFF4EB"/>
                    </a:solidFill>
                  </a:tcPr>
                </a:tc>
                <a:extLst>
                  <a:ext uri="{0D108BD9-81ED-4DB2-BD59-A6C34878D82A}">
                    <a16:rowId xmlns:a16="http://schemas.microsoft.com/office/drawing/2014/main" val="10004"/>
                  </a:ext>
                </a:extLst>
              </a:tr>
            </a:tbl>
          </a:graphicData>
        </a:graphic>
      </p:graphicFrame>
      <p:sp>
        <p:nvSpPr>
          <p:cNvPr id="6" name="Grain: one row per station and hour">
            <a:extLst>
              <a:ext uri="{FF2B5EF4-FFF2-40B4-BE49-F238E27FC236}">
                <a16:creationId xmlns:a16="http://schemas.microsoft.com/office/drawing/2014/main" id="{8C40692D-A748-4537-9F1F-29A7A7227C9F}"/>
              </a:ext>
            </a:extLst>
          </p:cNvPr>
          <p:cNvSpPr>
            <a:spLocks noGrp="1"/>
          </p:cNvSpPr>
          <p:nvPr/>
        </p:nvSpPr>
        <p:spPr>
          <a:xfrm>
            <a:off x="600075" y="5743575"/>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Grain: one row per station and hour. Expected result: 4 rows.</a:t>
            </a:r>
          </a:p>
        </p:txBody>
      </p:sp>
    </p:spTree>
    <p:extLst>
      <p:ext uri="{BB962C8B-B14F-4D97-AF65-F5344CB8AC3E}">
        <p14:creationId xmlns:p14="http://schemas.microsoft.com/office/powerpoint/2010/main" val="3723650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Answering the investigation question</a:t>
            </a:r>
          </a:p>
        </p:txBody>
      </p:sp>
      <p:sp>
        <p:nvSpPr>
          <p:cNvPr id="3" name="25">
            <a:extLst>
              <a:ext uri="{FF2B5EF4-FFF2-40B4-BE49-F238E27FC236}">
                <a16:creationId xmlns:a16="http://schemas.microsoft.com/office/drawing/2014/main" id="{0C85BEFC-63DC-49AB-B1BB-76923E13331B}"/>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25</a:t>
            </a:r>
          </a:p>
        </p:txBody>
      </p:sp>
      <p:sp>
        <p:nvSpPr>
          <p:cNvPr id="4" name="Editable code example">
            <a:extLst>
              <a:ext uri="{FF2B5EF4-FFF2-40B4-BE49-F238E27FC236}">
                <a16:creationId xmlns:a16="http://schemas.microsoft.com/office/drawing/2014/main" id="{39B711AD-EE34-4F81-B3FF-DB68B721BFAD}"/>
              </a:ext>
            </a:extLst>
          </p:cNvPr>
          <p:cNvSpPr>
            <a:spLocks noGrp="1"/>
          </p:cNvSpPr>
          <p:nvPr/>
        </p:nvSpPr>
        <p:spPr>
          <a:xfrm>
            <a:off x="600075" y="1190625"/>
            <a:ext cx="10953750" cy="1577188"/>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summary = df.groupby(</a:t>
            </a:r>
            <a:r>
              <a:rPr sz="1900">
                <a:solidFill>
                  <a:srgbClr val="A94B23"/>
                </a:solidFill>
                <a:latin typeface="Courier New"/>
                <a:ea typeface="Courier New"/>
                <a:cs typeface="Courier New"/>
              </a:rPr>
              <a:t>"station_id"</a:t>
            </a:r>
            <a:r>
              <a:rPr sz="1900">
                <a:solidFill>
                  <a:srgbClr val="24323E"/>
                </a:solidFill>
                <a:latin typeface="Courier New"/>
                <a:ea typeface="Courier New"/>
                <a:cs typeface="Courier New"/>
              </a:rPr>
              <a:t>)[</a:t>
            </a:r>
            <a:r>
              <a:rPr sz="1900">
                <a:solidFill>
                  <a:srgbClr val="A94B23"/>
                </a:solidFill>
                <a:latin typeface="Courier New"/>
                <a:ea typeface="Courier New"/>
                <a:cs typeface="Courier New"/>
              </a:rPr>
              <a:t>"pm25"</a:t>
            </a:r>
            <a:r>
              <a:rPr sz="1900">
                <a:solidFill>
                  <a:srgbClr val="24323E"/>
                </a:solidFill>
                <a:latin typeface="Courier New"/>
                <a:ea typeface="Courier New"/>
                <a:cs typeface="Courier New"/>
              </a:rPr>
              <a:t>].agg(</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    mean_pm25=</a:t>
            </a:r>
            <a:r>
              <a:rPr sz="1900">
                <a:solidFill>
                  <a:srgbClr val="A94B23"/>
                </a:solidFill>
                <a:latin typeface="Courier New"/>
                <a:ea typeface="Courier New"/>
                <a:cs typeface="Courier New"/>
              </a:rPr>
              <a:t>"mean"</a:t>
            </a:r>
            <a:r>
              <a:rPr sz="1900">
                <a:solidFill>
                  <a:srgbClr val="24323E"/>
                </a:solidFill>
                <a:latin typeface="Courier New"/>
                <a:ea typeface="Courier New"/>
                <a:cs typeface="Courier New"/>
              </a:rPr>
              <a:t>, n_observed=</a:t>
            </a:r>
            <a:r>
              <a:rPr sz="1900">
                <a:solidFill>
                  <a:srgbClr val="A94B23"/>
                </a:solidFill>
                <a:latin typeface="Courier New"/>
                <a:ea typeface="Courier New"/>
                <a:cs typeface="Courier New"/>
              </a:rPr>
              <a:t>"count"</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print(summary.round(</a:t>
            </a:r>
            <a:r>
              <a:rPr sz="1900">
                <a:solidFill>
                  <a:srgbClr val="21688D"/>
                </a:solidFill>
                <a:latin typeface="Courier New"/>
                <a:ea typeface="Courier New"/>
                <a:cs typeface="Courier New"/>
              </a:rPr>
              <a:t>1</a:t>
            </a:r>
            <a:r>
              <a:rPr sz="1900">
                <a:solidFill>
                  <a:srgbClr val="24323E"/>
                </a:solidFill>
                <a:latin typeface="Courier New"/>
                <a:ea typeface="Courier New"/>
                <a:cs typeface="Courier New"/>
              </a:rPr>
              <a:t>))</a:t>
            </a:r>
          </a:p>
        </p:txBody>
      </p:sp>
      <p:graphicFrame>
        <p:nvGraphicFramePr>
          <p:cNvPr id="10" name="Table 9"/>
          <p:cNvGraphicFramePr/>
          <p:nvPr/>
        </p:nvGraphicFramePr>
        <p:xfrm>
          <a:off x="600075" y="3019425"/>
          <a:ext cx="10953750" cy="1828800"/>
        </p:xfrm>
        <a:graphic>
          <a:graphicData uri="http://schemas.openxmlformats.org/drawingml/2006/table">
            <a:tbl>
              <a:tblPr/>
              <a:tblGrid>
                <a:gridCol w="2667000">
                  <a:extLst>
                    <a:ext uri="{9D8B030D-6E8A-4147-A177-3AD203B41FA5}">
                      <a16:colId xmlns:a16="http://schemas.microsoft.com/office/drawing/2014/main" val="20000"/>
                    </a:ext>
                  </a:extLst>
                </a:gridCol>
                <a:gridCol w="476250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609600">
                <a:tc>
                  <a:txBody>
                    <a:bodyPr/>
                    <a:lstStyle/>
                    <a:p>
                      <a:r>
                        <a:rPr sz="2200" b="1">
                          <a:solidFill>
                            <a:srgbClr val="FFFFFF"/>
                          </a:solidFill>
                          <a:latin typeface="Times New Roman"/>
                          <a:ea typeface="Times New Roman"/>
                          <a:cs typeface="Times New Roman"/>
                        </a:rPr>
                        <a:t>station_id</a:t>
                      </a:r>
                    </a:p>
                  </a:txBody>
                  <a:tcPr anchor="ctr">
                    <a:solidFill>
                      <a:srgbClr val="24323E"/>
                    </a:solidFill>
                  </a:tcPr>
                </a:tc>
                <a:tc>
                  <a:txBody>
                    <a:bodyPr/>
                    <a:lstStyle/>
                    <a:p>
                      <a:r>
                        <a:rPr sz="2200" b="1">
                          <a:solidFill>
                            <a:srgbClr val="FFFFFF"/>
                          </a:solidFill>
                          <a:latin typeface="Times New Roman"/>
                          <a:ea typeface="Times New Roman"/>
                          <a:cs typeface="Times New Roman"/>
                        </a:rPr>
                        <a:t>Mean PM2.5 (µg/m³)</a:t>
                      </a:r>
                    </a:p>
                  </a:txBody>
                  <a:tcPr anchor="ctr">
                    <a:solidFill>
                      <a:srgbClr val="24323E"/>
                    </a:solidFill>
                  </a:tcPr>
                </a:tc>
                <a:tc>
                  <a:txBody>
                    <a:bodyPr/>
                    <a:lstStyle/>
                    <a:p>
                      <a:r>
                        <a:rPr sz="2200" b="1">
                          <a:solidFill>
                            <a:srgbClr val="FFFFFF"/>
                          </a:solidFill>
                          <a:latin typeface="Times New Roman"/>
                          <a:ea typeface="Times New Roman"/>
                          <a:cs typeface="Times New Roman"/>
                        </a:rPr>
                        <a:t>Observed readings</a:t>
                      </a:r>
                    </a:p>
                  </a:txBody>
                  <a:tcPr anchor="ctr">
                    <a:solidFill>
                      <a:srgbClr val="24323E"/>
                    </a:solidFill>
                  </a:tcPr>
                </a:tc>
                <a:extLst>
                  <a:ext uri="{0D108BD9-81ED-4DB2-BD59-A6C34878D82A}">
                    <a16:rowId xmlns:a16="http://schemas.microsoft.com/office/drawing/2014/main" val="10000"/>
                  </a:ext>
                </a:extLst>
              </a:tr>
              <a:tr h="609600">
                <a:tc>
                  <a:txBody>
                    <a:bodyPr/>
                    <a:lstStyle/>
                    <a:p>
                      <a:r>
                        <a:rPr sz="2200" b="0">
                          <a:solidFill>
                            <a:srgbClr val="24323E"/>
                          </a:solidFill>
                          <a:latin typeface="Times New Roman"/>
                          <a:ea typeface="Times New Roman"/>
                          <a:cs typeface="Times New Roman"/>
                        </a:rPr>
                        <a:t>A1</a:t>
                      </a:r>
                    </a:p>
                  </a:txBody>
                  <a:tcPr anchor="ctr">
                    <a:solidFill>
                      <a:srgbClr val="FFFFFF"/>
                    </a:solidFill>
                  </a:tcPr>
                </a:tc>
                <a:tc>
                  <a:txBody>
                    <a:bodyPr/>
                    <a:lstStyle/>
                    <a:p>
                      <a:r>
                        <a:rPr sz="2200" b="0">
                          <a:solidFill>
                            <a:srgbClr val="24323E"/>
                          </a:solidFill>
                          <a:latin typeface="Times New Roman"/>
                          <a:ea typeface="Times New Roman"/>
                          <a:cs typeface="Times New Roman"/>
                        </a:rPr>
                        <a:t>8.1</a:t>
                      </a:r>
                    </a:p>
                  </a:txBody>
                  <a:tcPr anchor="ctr">
                    <a:solidFill>
                      <a:srgbClr val="FFFFFF"/>
                    </a:solidFill>
                  </a:tcPr>
                </a:tc>
                <a:tc>
                  <a:txBody>
                    <a:bodyPr/>
                    <a:lstStyle/>
                    <a:p>
                      <a:r>
                        <a:rPr sz="2200" b="0">
                          <a:solidFill>
                            <a:srgbClr val="24323E"/>
                          </a:solidFill>
                          <a:latin typeface="Times New Roman"/>
                          <a:ea typeface="Times New Roman"/>
                          <a:cs typeface="Times New Roman"/>
                        </a:rPr>
                        <a:t>1</a:t>
                      </a:r>
                    </a:p>
                  </a:txBody>
                  <a:tcPr anchor="ctr">
                    <a:solidFill>
                      <a:srgbClr val="FFFFFF"/>
                    </a:solidFill>
                  </a:tcPr>
                </a:tc>
                <a:extLst>
                  <a:ext uri="{0D108BD9-81ED-4DB2-BD59-A6C34878D82A}">
                    <a16:rowId xmlns:a16="http://schemas.microsoft.com/office/drawing/2014/main" val="10001"/>
                  </a:ext>
                </a:extLst>
              </a:tr>
              <a:tr h="609600">
                <a:tc>
                  <a:txBody>
                    <a:bodyPr/>
                    <a:lstStyle/>
                    <a:p>
                      <a:r>
                        <a:rPr sz="2200" b="0">
                          <a:solidFill>
                            <a:srgbClr val="24323E"/>
                          </a:solidFill>
                          <a:latin typeface="Times New Roman"/>
                          <a:ea typeface="Times New Roman"/>
                          <a:cs typeface="Times New Roman"/>
                        </a:rPr>
                        <a:t>B2</a:t>
                      </a:r>
                    </a:p>
                  </a:txBody>
                  <a:tcPr anchor="ctr">
                    <a:solidFill>
                      <a:srgbClr val="FFF4EB"/>
                    </a:solidFill>
                  </a:tcPr>
                </a:tc>
                <a:tc>
                  <a:txBody>
                    <a:bodyPr/>
                    <a:lstStyle/>
                    <a:p>
                      <a:r>
                        <a:rPr sz="2200" b="0">
                          <a:solidFill>
                            <a:srgbClr val="24323E"/>
                          </a:solidFill>
                          <a:latin typeface="Times New Roman"/>
                          <a:ea typeface="Times New Roman"/>
                          <a:cs typeface="Times New Roman"/>
                        </a:rPr>
                        <a:t>11.6</a:t>
                      </a:r>
                    </a:p>
                  </a:txBody>
                  <a:tcPr anchor="ctr">
                    <a:solidFill>
                      <a:srgbClr val="FFF4EB"/>
                    </a:solidFill>
                  </a:tcPr>
                </a:tc>
                <a:tc>
                  <a:txBody>
                    <a:bodyPr/>
                    <a:lstStyle/>
                    <a:p>
                      <a:r>
                        <a:rPr sz="2200" b="0">
                          <a:solidFill>
                            <a:srgbClr val="24323E"/>
                          </a:solidFill>
                          <a:latin typeface="Times New Roman"/>
                          <a:ea typeface="Times New Roman"/>
                          <a:cs typeface="Times New Roman"/>
                        </a:rPr>
                        <a:t>2</a:t>
                      </a:r>
                    </a:p>
                  </a:txBody>
                  <a:tcPr anchor="ctr">
                    <a:solidFill>
                      <a:srgbClr val="FFF4EB"/>
                    </a:solidFill>
                  </a:tcPr>
                </a:tc>
                <a:extLst>
                  <a:ext uri="{0D108BD9-81ED-4DB2-BD59-A6C34878D82A}">
                    <a16:rowId xmlns:a16="http://schemas.microsoft.com/office/drawing/2014/main" val="10002"/>
                  </a:ext>
                </a:extLst>
              </a:tr>
            </a:tbl>
          </a:graphicData>
        </a:graphic>
      </p:graphicFrame>
      <p:sp>
        <p:nvSpPr>
          <p:cNvPr id="6" name="B2 has the higher observed mean. Th">
            <a:extLst>
              <a:ext uri="{FF2B5EF4-FFF2-40B4-BE49-F238E27FC236}">
                <a16:creationId xmlns:a16="http://schemas.microsoft.com/office/drawing/2014/main" id="{D74940E9-27BC-4CC8-9DF1-7FF3B1F99F0E}"/>
              </a:ext>
            </a:extLst>
          </p:cNvPr>
          <p:cNvSpPr>
            <a:spLocks noGrp="1"/>
          </p:cNvSpPr>
          <p:nvPr/>
        </p:nvSpPr>
        <p:spPr>
          <a:xfrm>
            <a:off x="600075" y="5219700"/>
            <a:ext cx="10629900" cy="619125"/>
          </a:xfrm>
          <a:prstGeom prst="rect">
            <a:avLst/>
          </a:prstGeom>
          <a:noFill/>
          <a:ln w="0">
            <a:noFill/>
          </a:ln>
        </p:spPr>
        <p:txBody>
          <a:bodyPr wrap="square" lIns="0" tIns="0" rIns="0" bIns="0" anchor="t">
            <a:noAutofit/>
          </a:bodyPr>
          <a:lstStyle/>
          <a:p>
            <a:pPr algn="l">
              <a:lnSpc>
                <a:spcPct val="105000"/>
              </a:lnSpc>
              <a:buNone/>
              <a:defRPr sz="2325" b="1">
                <a:solidFill>
                  <a:srgbClr val="24323E"/>
                </a:solidFill>
                <a:latin typeface="Times New Roman"/>
                <a:ea typeface="Times New Roman"/>
                <a:cs typeface="Times New Roman"/>
              </a:defRPr>
            </a:pPr>
            <a:r>
              <a:rPr sz="2325" b="1">
                <a:solidFill>
                  <a:srgbClr val="24323E"/>
                </a:solidFill>
                <a:latin typeface="Times New Roman"/>
                <a:ea typeface="Times New Roman"/>
                <a:cs typeface="Times New Roman"/>
              </a:rPr>
              <a:t>B2 has the higher observed mean. The evidence is only two readings.</a:t>
            </a:r>
          </a:p>
        </p:txBody>
      </p:sp>
    </p:spTree>
    <p:extLst>
      <p:ext uri="{BB962C8B-B14F-4D97-AF65-F5344CB8AC3E}">
        <p14:creationId xmlns:p14="http://schemas.microsoft.com/office/powerpoint/2010/main" val="3723650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Writing interoperable JSON</a:t>
            </a:r>
          </a:p>
        </p:txBody>
      </p:sp>
      <p:sp>
        <p:nvSpPr>
          <p:cNvPr id="3" name="26">
            <a:extLst>
              <a:ext uri="{FF2B5EF4-FFF2-40B4-BE49-F238E27FC236}">
                <a16:creationId xmlns:a16="http://schemas.microsoft.com/office/drawing/2014/main" id="{C31287D4-4345-4EFD-BB45-6FE3C65ED0EF}"/>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26</a:t>
            </a:r>
          </a:p>
        </p:txBody>
      </p:sp>
      <p:sp>
        <p:nvSpPr>
          <p:cNvPr id="4" name="Editable code example">
            <a:extLst>
              <a:ext uri="{FF2B5EF4-FFF2-40B4-BE49-F238E27FC236}">
                <a16:creationId xmlns:a16="http://schemas.microsoft.com/office/drawing/2014/main" id="{AEC23F85-FDF7-4CAB-BD23-070E29953DD3}"/>
              </a:ext>
            </a:extLst>
          </p:cNvPr>
          <p:cNvSpPr>
            <a:spLocks noGrp="1"/>
          </p:cNvSpPr>
          <p:nvPr/>
        </p:nvSpPr>
        <p:spPr>
          <a:xfrm>
            <a:off x="600075" y="1304925"/>
            <a:ext cx="10953750" cy="2677668"/>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852" b="0">
                <a:solidFill>
                  <a:srgbClr val="24323E"/>
                </a:solidFill>
                <a:latin typeface="Courier New"/>
                <a:ea typeface="Courier New"/>
                <a:cs typeface="Courier New"/>
              </a:defRPr>
            </a:pPr>
            <a:r>
              <a:rPr sz="1852">
                <a:solidFill>
                  <a:srgbClr val="24323E"/>
                </a:solidFill>
                <a:latin typeface="Courier New"/>
                <a:ea typeface="Courier New"/>
                <a:cs typeface="Courier New"/>
              </a:rPr>
              <a:t>result = {</a:t>
            </a:r>
          </a:p>
          <a:p>
            <a:pPr algn="l">
              <a:spcBef>
                <a:spcPts val="0"/>
              </a:spcBef>
              <a:spcAft>
                <a:spcPts val="0"/>
              </a:spcAft>
              <a:buNone/>
              <a:defRPr sz="1852" b="0">
                <a:solidFill>
                  <a:srgbClr val="24323E"/>
                </a:solidFill>
                <a:latin typeface="Courier New"/>
                <a:ea typeface="Courier New"/>
                <a:cs typeface="Courier New"/>
              </a:defRPr>
            </a:pPr>
            <a:r>
              <a:rPr sz="1852">
                <a:solidFill>
                  <a:srgbClr val="24323E"/>
                </a:solidFill>
                <a:latin typeface="Courier New"/>
                <a:ea typeface="Courier New"/>
                <a:cs typeface="Courier New"/>
              </a:rPr>
              <a:t>    </a:t>
            </a:r>
            <a:r>
              <a:rPr sz="1852">
                <a:solidFill>
                  <a:srgbClr val="A94B23"/>
                </a:solidFill>
                <a:latin typeface="Courier New"/>
                <a:ea typeface="Courier New"/>
                <a:cs typeface="Courier New"/>
              </a:rPr>
              <a:t>"campaign"</a:t>
            </a:r>
            <a:r>
              <a:rPr sz="1852">
                <a:solidFill>
                  <a:srgbClr val="24323E"/>
                </a:solidFill>
                <a:latin typeface="Courier New"/>
                <a:ea typeface="Courier New"/>
                <a:cs typeface="Courier New"/>
              </a:rPr>
              <a:t>: data[</a:t>
            </a:r>
            <a:r>
              <a:rPr sz="1852">
                <a:solidFill>
                  <a:srgbClr val="A94B23"/>
                </a:solidFill>
                <a:latin typeface="Courier New"/>
                <a:ea typeface="Courier New"/>
                <a:cs typeface="Courier New"/>
              </a:rPr>
              <a:t>"campaign"</a:t>
            </a:r>
            <a:r>
              <a:rPr sz="1852">
                <a:solidFill>
                  <a:srgbClr val="24323E"/>
                </a:solidFill>
                <a:latin typeface="Courier New"/>
                <a:ea typeface="Courier New"/>
                <a:cs typeface="Courier New"/>
              </a:rPr>
              <a:t>],</a:t>
            </a:r>
          </a:p>
          <a:p>
            <a:pPr algn="l">
              <a:spcBef>
                <a:spcPts val="0"/>
              </a:spcBef>
              <a:spcAft>
                <a:spcPts val="0"/>
              </a:spcAft>
              <a:buNone/>
              <a:defRPr sz="1852" b="0">
                <a:solidFill>
                  <a:srgbClr val="24323E"/>
                </a:solidFill>
                <a:latin typeface="Courier New"/>
                <a:ea typeface="Courier New"/>
                <a:cs typeface="Courier New"/>
              </a:defRPr>
            </a:pPr>
            <a:r>
              <a:rPr sz="1852">
                <a:solidFill>
                  <a:srgbClr val="24323E"/>
                </a:solidFill>
                <a:latin typeface="Courier New"/>
                <a:ea typeface="Courier New"/>
                <a:cs typeface="Courier New"/>
              </a:rPr>
              <a:t>    </a:t>
            </a:r>
            <a:r>
              <a:rPr sz="1852">
                <a:solidFill>
                  <a:srgbClr val="A94B23"/>
                </a:solidFill>
                <a:latin typeface="Courier New"/>
                <a:ea typeface="Courier New"/>
                <a:cs typeface="Courier New"/>
              </a:rPr>
              <a:t>"units"</a:t>
            </a:r>
            <a:r>
              <a:rPr sz="1852">
                <a:solidFill>
                  <a:srgbClr val="24323E"/>
                </a:solidFill>
                <a:latin typeface="Courier New"/>
                <a:ea typeface="Courier New"/>
                <a:cs typeface="Courier New"/>
              </a:rPr>
              <a:t>: data[</a:t>
            </a:r>
            <a:r>
              <a:rPr sz="1852">
                <a:solidFill>
                  <a:srgbClr val="A94B23"/>
                </a:solidFill>
                <a:latin typeface="Courier New"/>
                <a:ea typeface="Courier New"/>
                <a:cs typeface="Courier New"/>
              </a:rPr>
              <a:t>"units"</a:t>
            </a:r>
            <a:r>
              <a:rPr sz="1852">
                <a:solidFill>
                  <a:srgbClr val="24323E"/>
                </a:solidFill>
                <a:latin typeface="Courier New"/>
                <a:ea typeface="Courier New"/>
                <a:cs typeface="Courier New"/>
              </a:rPr>
              <a:t>],</a:t>
            </a:r>
          </a:p>
          <a:p>
            <a:pPr algn="l">
              <a:spcBef>
                <a:spcPts val="0"/>
              </a:spcBef>
              <a:spcAft>
                <a:spcPts val="0"/>
              </a:spcAft>
              <a:buNone/>
              <a:defRPr sz="1852" b="0">
                <a:solidFill>
                  <a:srgbClr val="24323E"/>
                </a:solidFill>
                <a:latin typeface="Courier New"/>
                <a:ea typeface="Courier New"/>
                <a:cs typeface="Courier New"/>
              </a:defRPr>
            </a:pPr>
            <a:r>
              <a:rPr sz="1852">
                <a:solidFill>
                  <a:srgbClr val="24323E"/>
                </a:solidFill>
                <a:latin typeface="Courier New"/>
                <a:ea typeface="Courier New"/>
                <a:cs typeface="Courier New"/>
              </a:rPr>
              <a:t>    </a:t>
            </a:r>
            <a:r>
              <a:rPr sz="1852">
                <a:solidFill>
                  <a:srgbClr val="A94B23"/>
                </a:solidFill>
                <a:latin typeface="Courier New"/>
                <a:ea typeface="Courier New"/>
                <a:cs typeface="Courier New"/>
              </a:rPr>
              <a:t>"summary"</a:t>
            </a:r>
            <a:r>
              <a:rPr sz="1852">
                <a:solidFill>
                  <a:srgbClr val="24323E"/>
                </a:solidFill>
                <a:latin typeface="Courier New"/>
                <a:ea typeface="Courier New"/>
                <a:cs typeface="Courier New"/>
              </a:rPr>
              <a:t>: summary.reset_index().to_dict(</a:t>
            </a:r>
            <a:r>
              <a:rPr sz="1852">
                <a:solidFill>
                  <a:srgbClr val="A94B23"/>
                </a:solidFill>
                <a:latin typeface="Courier New"/>
                <a:ea typeface="Courier New"/>
                <a:cs typeface="Courier New"/>
              </a:rPr>
              <a:t>"records"</a:t>
            </a:r>
            <a:r>
              <a:rPr sz="1852">
                <a:solidFill>
                  <a:srgbClr val="24323E"/>
                </a:solidFill>
                <a:latin typeface="Courier New"/>
                <a:ea typeface="Courier New"/>
                <a:cs typeface="Courier New"/>
              </a:rPr>
              <a:t>)</a:t>
            </a:r>
          </a:p>
          <a:p>
            <a:pPr algn="l">
              <a:spcBef>
                <a:spcPts val="0"/>
              </a:spcBef>
              <a:spcAft>
                <a:spcPts val="0"/>
              </a:spcAft>
              <a:buNone/>
              <a:defRPr sz="1852" b="0">
                <a:solidFill>
                  <a:srgbClr val="24323E"/>
                </a:solidFill>
                <a:latin typeface="Courier New"/>
                <a:ea typeface="Courier New"/>
                <a:cs typeface="Courier New"/>
              </a:defRPr>
            </a:pPr>
            <a:r>
              <a:rPr sz="1852">
                <a:solidFill>
                  <a:srgbClr val="24323E"/>
                </a:solidFill>
                <a:latin typeface="Courier New"/>
                <a:ea typeface="Courier New"/>
                <a:cs typeface="Courier New"/>
              </a:rPr>
              <a:t>}</a:t>
            </a:r>
          </a:p>
          <a:p>
            <a:pPr algn="l">
              <a:spcBef>
                <a:spcPts val="0"/>
              </a:spcBef>
              <a:spcAft>
                <a:spcPts val="0"/>
              </a:spcAft>
              <a:buNone/>
              <a:defRPr sz="1852" b="0">
                <a:solidFill>
                  <a:srgbClr val="24323E"/>
                </a:solidFill>
                <a:latin typeface="Courier New"/>
                <a:ea typeface="Courier New"/>
                <a:cs typeface="Courier New"/>
              </a:defRPr>
            </a:pPr>
            <a:r>
              <a:rPr sz="1852">
                <a:solidFill>
                  <a:srgbClr val="24323E"/>
                </a:solidFill>
                <a:latin typeface="Courier New"/>
                <a:ea typeface="Courier New"/>
                <a:cs typeface="Courier New"/>
              </a:rPr>
              <a:t>with open(</a:t>
            </a:r>
            <a:r>
              <a:rPr sz="1852">
                <a:solidFill>
                  <a:srgbClr val="A94B23"/>
                </a:solidFill>
                <a:latin typeface="Courier New"/>
                <a:ea typeface="Courier New"/>
                <a:cs typeface="Courier New"/>
              </a:rPr>
              <a:t>"summary.json"</a:t>
            </a:r>
            <a:r>
              <a:rPr sz="1852">
                <a:solidFill>
                  <a:srgbClr val="24323E"/>
                </a:solidFill>
                <a:latin typeface="Courier New"/>
                <a:ea typeface="Courier New"/>
                <a:cs typeface="Courier New"/>
              </a:rPr>
              <a:t>, </a:t>
            </a:r>
            <a:r>
              <a:rPr sz="1852">
                <a:solidFill>
                  <a:srgbClr val="A94B23"/>
                </a:solidFill>
                <a:latin typeface="Courier New"/>
                <a:ea typeface="Courier New"/>
                <a:cs typeface="Courier New"/>
              </a:rPr>
              <a:t>"w"</a:t>
            </a:r>
            <a:r>
              <a:rPr sz="1852">
                <a:solidFill>
                  <a:srgbClr val="24323E"/>
                </a:solidFill>
                <a:latin typeface="Courier New"/>
                <a:ea typeface="Courier New"/>
                <a:cs typeface="Courier New"/>
              </a:rPr>
              <a:t>, encoding=</a:t>
            </a:r>
            <a:r>
              <a:rPr sz="1852">
                <a:solidFill>
                  <a:srgbClr val="A94B23"/>
                </a:solidFill>
                <a:latin typeface="Courier New"/>
                <a:ea typeface="Courier New"/>
                <a:cs typeface="Courier New"/>
              </a:rPr>
              <a:t>"utf-8"</a:t>
            </a:r>
            <a:r>
              <a:rPr sz="1852">
                <a:solidFill>
                  <a:srgbClr val="24323E"/>
                </a:solidFill>
                <a:latin typeface="Courier New"/>
                <a:ea typeface="Courier New"/>
                <a:cs typeface="Courier New"/>
              </a:rPr>
              <a:t>) as f:</a:t>
            </a:r>
          </a:p>
          <a:p>
            <a:pPr algn="l">
              <a:spcBef>
                <a:spcPts val="0"/>
              </a:spcBef>
              <a:spcAft>
                <a:spcPts val="0"/>
              </a:spcAft>
              <a:buNone/>
              <a:defRPr sz="1852" b="0">
                <a:solidFill>
                  <a:srgbClr val="24323E"/>
                </a:solidFill>
                <a:latin typeface="Courier New"/>
                <a:ea typeface="Courier New"/>
                <a:cs typeface="Courier New"/>
              </a:defRPr>
            </a:pPr>
            <a:r>
              <a:rPr sz="1852">
                <a:solidFill>
                  <a:srgbClr val="24323E"/>
                </a:solidFill>
                <a:latin typeface="Courier New"/>
                <a:ea typeface="Courier New"/>
                <a:cs typeface="Courier New"/>
              </a:rPr>
              <a:t>    json.dump(result, f, indent=</a:t>
            </a:r>
            <a:r>
              <a:rPr sz="1852">
                <a:solidFill>
                  <a:srgbClr val="21688D"/>
                </a:solidFill>
                <a:latin typeface="Courier New"/>
                <a:ea typeface="Courier New"/>
                <a:cs typeface="Courier New"/>
              </a:rPr>
              <a:t>2</a:t>
            </a:r>
            <a:r>
              <a:rPr sz="1852">
                <a:solidFill>
                  <a:srgbClr val="24323E"/>
                </a:solidFill>
                <a:latin typeface="Courier New"/>
                <a:ea typeface="Courier New"/>
                <a:cs typeface="Courier New"/>
              </a:rPr>
              <a:t>,</a:t>
            </a:r>
          </a:p>
          <a:p>
            <a:pPr algn="l">
              <a:spcBef>
                <a:spcPts val="0"/>
              </a:spcBef>
              <a:spcAft>
                <a:spcPts val="0"/>
              </a:spcAft>
              <a:buNone/>
              <a:defRPr sz="1852" b="0">
                <a:solidFill>
                  <a:srgbClr val="24323E"/>
                </a:solidFill>
                <a:latin typeface="Courier New"/>
                <a:ea typeface="Courier New"/>
                <a:cs typeface="Courier New"/>
              </a:defRPr>
            </a:pPr>
            <a:r>
              <a:rPr sz="1852">
                <a:solidFill>
                  <a:srgbClr val="24323E"/>
                </a:solidFill>
                <a:latin typeface="Courier New"/>
                <a:ea typeface="Courier New"/>
                <a:cs typeface="Courier New"/>
              </a:rPr>
              <a:t>              ensure_ascii=</a:t>
            </a:r>
            <a:r>
              <a:rPr sz="1852">
                <a:solidFill>
                  <a:srgbClr val="21688D"/>
                </a:solidFill>
                <a:latin typeface="Courier New"/>
                <a:ea typeface="Courier New"/>
                <a:cs typeface="Courier New"/>
              </a:rPr>
              <a:t>False</a:t>
            </a:r>
            <a:r>
              <a:rPr sz="1852">
                <a:solidFill>
                  <a:srgbClr val="24323E"/>
                </a:solidFill>
                <a:latin typeface="Courier New"/>
                <a:ea typeface="Courier New"/>
                <a:cs typeface="Courier New"/>
              </a:rPr>
              <a:t>, allow_nan=</a:t>
            </a:r>
            <a:r>
              <a:rPr sz="1852">
                <a:solidFill>
                  <a:srgbClr val="21688D"/>
                </a:solidFill>
                <a:latin typeface="Courier New"/>
                <a:ea typeface="Courier New"/>
                <a:cs typeface="Courier New"/>
              </a:rPr>
              <a:t>False</a:t>
            </a:r>
            <a:r>
              <a:rPr sz="1852">
                <a:solidFill>
                  <a:srgbClr val="24323E"/>
                </a:solidFill>
                <a:latin typeface="Courier New"/>
                <a:ea typeface="Courier New"/>
                <a:cs typeface="Courier New"/>
              </a:rPr>
              <a:t>)</a:t>
            </a:r>
          </a:p>
        </p:txBody>
      </p:sp>
      <p:sp>
        <p:nvSpPr>
          <p:cNvPr id="5" name="allow_nan=False rejects non-finite ">
            <a:extLst>
              <a:ext uri="{FF2B5EF4-FFF2-40B4-BE49-F238E27FC236}">
                <a16:creationId xmlns:a16="http://schemas.microsoft.com/office/drawing/2014/main" id="{A4EB4842-A3F6-4C14-B4D4-C3D50904BD23}"/>
              </a:ext>
            </a:extLst>
          </p:cNvPr>
          <p:cNvSpPr>
            <a:spLocks noGrp="1"/>
          </p:cNvSpPr>
          <p:nvPr/>
        </p:nvSpPr>
        <p:spPr>
          <a:xfrm>
            <a:off x="600075" y="4238625"/>
            <a:ext cx="10668000" cy="476250"/>
          </a:xfrm>
          <a:prstGeom prst="rect">
            <a:avLst/>
          </a:prstGeom>
          <a:noFill/>
          <a:ln w="0">
            <a:noFill/>
          </a:ln>
        </p:spPr>
        <p:txBody>
          <a:bodyPr wrap="square" lIns="0" tIns="0" rIns="0" bIns="0" anchor="t">
            <a:noAutofit/>
          </a:bodyPr>
          <a:lstStyle/>
          <a:p>
            <a:pPr algn="l">
              <a:lnSpc>
                <a:spcPct val="105000"/>
              </a:lnSpc>
              <a:buNone/>
              <a:defRPr sz="2475" b="1">
                <a:solidFill>
                  <a:srgbClr val="24323E"/>
                </a:solidFill>
                <a:latin typeface="Times New Roman"/>
                <a:ea typeface="Times New Roman"/>
                <a:cs typeface="Times New Roman"/>
              </a:defRPr>
            </a:pPr>
            <a:r>
              <a:rPr sz="2475" b="1">
                <a:solidFill>
                  <a:srgbClr val="24323E"/>
                </a:solidFill>
                <a:latin typeface="Times New Roman"/>
                <a:ea typeface="Times New Roman"/>
                <a:cs typeface="Times New Roman"/>
              </a:rPr>
              <a:t>allow_nan=False rejects non-finite output values.</a:t>
            </a:r>
          </a:p>
        </p:txBody>
      </p:sp>
      <p:sp>
        <p:nvSpPr>
          <p:cNvPr id="6" name="Retain units and identifiers. Conve">
            <a:extLst>
              <a:ext uri="{FF2B5EF4-FFF2-40B4-BE49-F238E27FC236}">
                <a16:creationId xmlns:a16="http://schemas.microsoft.com/office/drawing/2014/main" id="{563A3D25-E088-437F-ACF4-5A80B244EA2F}"/>
              </a:ext>
            </a:extLst>
          </p:cNvPr>
          <p:cNvSpPr>
            <a:spLocks noGrp="1"/>
          </p:cNvSpPr>
          <p:nvPr/>
        </p:nvSpPr>
        <p:spPr>
          <a:xfrm>
            <a:off x="600075" y="4943475"/>
            <a:ext cx="10620375" cy="866775"/>
          </a:xfrm>
          <a:prstGeom prst="rect">
            <a:avLst/>
          </a:prstGeom>
          <a:noFill/>
          <a:ln w="0">
            <a:noFill/>
          </a:ln>
        </p:spPr>
        <p:txBody>
          <a:bodyPr wrap="square" lIns="0" tIns="0" rIns="0" bIns="0" anchor="t">
            <a:noAutofit/>
          </a:bodyPr>
          <a:lstStyle/>
          <a:p>
            <a:pPr algn="l">
              <a:lnSpc>
                <a:spcPct val="105000"/>
              </a:lnSpc>
              <a:buNone/>
              <a:defRPr sz="2200" b="0">
                <a:solidFill>
                  <a:srgbClr val="24323E"/>
                </a:solidFill>
                <a:latin typeface="Times New Roman"/>
                <a:ea typeface="Times New Roman"/>
                <a:cs typeface="Times New Roman"/>
              </a:defRPr>
            </a:pPr>
            <a:r>
              <a:rPr sz="2200" b="0">
                <a:solidFill>
                  <a:srgbClr val="24323E"/>
                </a:solidFill>
                <a:latin typeface="Times New Roman"/>
                <a:ea typeface="Times New Roman"/>
                <a:cs typeface="Times New Roman"/>
              </a:rPr>
              <a:t>Retain units and identifiers. Convert missing values deliberately before exporting.</a:t>
            </a:r>
          </a:p>
        </p:txBody>
      </p:sp>
    </p:spTree>
    <p:extLst>
      <p:ext uri="{BB962C8B-B14F-4D97-AF65-F5344CB8AC3E}">
        <p14:creationId xmlns:p14="http://schemas.microsoft.com/office/powerpoint/2010/main" val="3723650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Failures that can hide in valid-looking data</a:t>
            </a:r>
          </a:p>
        </p:txBody>
      </p:sp>
      <p:sp>
        <p:nvSpPr>
          <p:cNvPr id="3" name="27">
            <a:extLst>
              <a:ext uri="{FF2B5EF4-FFF2-40B4-BE49-F238E27FC236}">
                <a16:creationId xmlns:a16="http://schemas.microsoft.com/office/drawing/2014/main" id="{5F2D3A43-43B4-48CF-94BC-60439FE9F1A8}"/>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27</a:t>
            </a:r>
          </a:p>
        </p:txBody>
      </p:sp>
      <p:graphicFrame>
        <p:nvGraphicFramePr>
          <p:cNvPr id="8" name="Table 7"/>
          <p:cNvGraphicFramePr/>
          <p:nvPr/>
        </p:nvGraphicFramePr>
        <p:xfrm>
          <a:off x="600075" y="1285875"/>
          <a:ext cx="10953750" cy="3552825"/>
        </p:xfrm>
        <a:graphic>
          <a:graphicData uri="http://schemas.openxmlformats.org/drawingml/2006/table">
            <a:tbl>
              <a:tblPr/>
              <a:tblGrid>
                <a:gridCol w="2381250">
                  <a:extLst>
                    <a:ext uri="{9D8B030D-6E8A-4147-A177-3AD203B41FA5}">
                      <a16:colId xmlns:a16="http://schemas.microsoft.com/office/drawing/2014/main" val="20000"/>
                    </a:ext>
                  </a:extLst>
                </a:gridCol>
                <a:gridCol w="4562475">
                  <a:extLst>
                    <a:ext uri="{9D8B030D-6E8A-4147-A177-3AD203B41FA5}">
                      <a16:colId xmlns:a16="http://schemas.microsoft.com/office/drawing/2014/main" val="20001"/>
                    </a:ext>
                  </a:extLst>
                </a:gridCol>
                <a:gridCol w="4010025">
                  <a:extLst>
                    <a:ext uri="{9D8B030D-6E8A-4147-A177-3AD203B41FA5}">
                      <a16:colId xmlns:a16="http://schemas.microsoft.com/office/drawing/2014/main" val="20002"/>
                    </a:ext>
                  </a:extLst>
                </a:gridCol>
              </a:tblGrid>
              <a:tr h="710565">
                <a:tc>
                  <a:txBody>
                    <a:bodyPr/>
                    <a:lstStyle/>
                    <a:p>
                      <a:r>
                        <a:rPr sz="2000" b="1">
                          <a:solidFill>
                            <a:srgbClr val="FFFFFF"/>
                          </a:solidFill>
                          <a:latin typeface="Times New Roman"/>
                          <a:ea typeface="Times New Roman"/>
                          <a:cs typeface="Times New Roman"/>
                        </a:rPr>
                        <a:t>Risk</a:t>
                      </a:r>
                    </a:p>
                  </a:txBody>
                  <a:tcPr anchor="ctr">
                    <a:solidFill>
                      <a:srgbClr val="24323E"/>
                    </a:solidFill>
                  </a:tcPr>
                </a:tc>
                <a:tc>
                  <a:txBody>
                    <a:bodyPr/>
                    <a:lstStyle/>
                    <a:p>
                      <a:r>
                        <a:rPr sz="2000" b="1">
                          <a:solidFill>
                            <a:srgbClr val="FFFFFF"/>
                          </a:solidFill>
                          <a:latin typeface="Times New Roman"/>
                          <a:ea typeface="Times New Roman"/>
                          <a:cs typeface="Times New Roman"/>
                        </a:rPr>
                        <a:t>Example</a:t>
                      </a:r>
                    </a:p>
                  </a:txBody>
                  <a:tcPr anchor="ctr">
                    <a:solidFill>
                      <a:srgbClr val="24323E"/>
                    </a:solidFill>
                  </a:tcPr>
                </a:tc>
                <a:tc>
                  <a:txBody>
                    <a:bodyPr/>
                    <a:lstStyle/>
                    <a:p>
                      <a:r>
                        <a:rPr sz="2000" b="1">
                          <a:solidFill>
                            <a:srgbClr val="FFFFFF"/>
                          </a:solidFill>
                          <a:latin typeface="Times New Roman"/>
                          <a:ea typeface="Times New Roman"/>
                          <a:cs typeface="Times New Roman"/>
                        </a:rPr>
                        <a:t>Consequence</a:t>
                      </a:r>
                    </a:p>
                  </a:txBody>
                  <a:tcPr anchor="ctr">
                    <a:solidFill>
                      <a:srgbClr val="24323E"/>
                    </a:solidFill>
                  </a:tcPr>
                </a:tc>
                <a:extLst>
                  <a:ext uri="{0D108BD9-81ED-4DB2-BD59-A6C34878D82A}">
                    <a16:rowId xmlns:a16="http://schemas.microsoft.com/office/drawing/2014/main" val="10000"/>
                  </a:ext>
                </a:extLst>
              </a:tr>
              <a:tr h="710565">
                <a:tc>
                  <a:txBody>
                    <a:bodyPr/>
                    <a:lstStyle/>
                    <a:p>
                      <a:r>
                        <a:rPr sz="2000" b="0">
                          <a:solidFill>
                            <a:srgbClr val="24323E"/>
                          </a:solidFill>
                          <a:latin typeface="Times New Roman"/>
                          <a:ea typeface="Times New Roman"/>
                          <a:cs typeface="Times New Roman"/>
                        </a:rPr>
                        <a:t>Repeated names</a:t>
                      </a:r>
                    </a:p>
                  </a:txBody>
                  <a:tcPr anchor="ctr">
                    <a:solidFill>
                      <a:srgbClr val="FFFFFF"/>
                    </a:solidFill>
                  </a:tcPr>
                </a:tc>
                <a:tc>
                  <a:txBody>
                    <a:bodyPr/>
                    <a:lstStyle/>
                    <a:p>
                      <a:r>
                        <a:rPr sz="2000" b="0">
                          <a:solidFill>
                            <a:srgbClr val="24323E"/>
                          </a:solidFill>
                          <a:latin typeface="Courier New"/>
                          <a:ea typeface="Courier New"/>
                          <a:cs typeface="Courier New"/>
                        </a:rPr>
                        <a:t>{"pm25": 8.1, "pm25": 12.4}</a:t>
                      </a:r>
                    </a:p>
                  </a:txBody>
                  <a:tcPr anchor="ctr">
                    <a:solidFill>
                      <a:srgbClr val="FFFFFF"/>
                    </a:solidFill>
                  </a:tcPr>
                </a:tc>
                <a:tc>
                  <a:txBody>
                    <a:bodyPr/>
                    <a:lstStyle/>
                    <a:p>
                      <a:r>
                        <a:rPr sz="2000" b="0">
                          <a:solidFill>
                            <a:srgbClr val="24323E"/>
                          </a:solidFill>
                          <a:latin typeface="Times New Roman"/>
                          <a:ea typeface="Times New Roman"/>
                          <a:cs typeface="Times New Roman"/>
                        </a:rPr>
                        <a:t>Python keeps the last value by default</a:t>
                      </a:r>
                    </a:p>
                  </a:txBody>
                  <a:tcPr anchor="ctr">
                    <a:solidFill>
                      <a:srgbClr val="FFFFFF"/>
                    </a:solidFill>
                  </a:tcPr>
                </a:tc>
                <a:extLst>
                  <a:ext uri="{0D108BD9-81ED-4DB2-BD59-A6C34878D82A}">
                    <a16:rowId xmlns:a16="http://schemas.microsoft.com/office/drawing/2014/main" val="10001"/>
                  </a:ext>
                </a:extLst>
              </a:tr>
              <a:tr h="710565">
                <a:tc>
                  <a:txBody>
                    <a:bodyPr/>
                    <a:lstStyle/>
                    <a:p>
                      <a:r>
                        <a:rPr sz="2000" b="0">
                          <a:solidFill>
                            <a:srgbClr val="24323E"/>
                          </a:solidFill>
                          <a:latin typeface="Times New Roman"/>
                          <a:ea typeface="Times New Roman"/>
                          <a:cs typeface="Times New Roman"/>
                        </a:rPr>
                        <a:t>Non-finite numbers</a:t>
                      </a:r>
                    </a:p>
                  </a:txBody>
                  <a:tcPr anchor="ctr">
                    <a:solidFill>
                      <a:srgbClr val="FFF4EB"/>
                    </a:solidFill>
                  </a:tcPr>
                </a:tc>
                <a:tc>
                  <a:txBody>
                    <a:bodyPr/>
                    <a:lstStyle/>
                    <a:p>
                      <a:r>
                        <a:rPr sz="2000" b="0">
                          <a:solidFill>
                            <a:srgbClr val="24323E"/>
                          </a:solidFill>
                          <a:latin typeface="Courier New"/>
                          <a:ea typeface="Courier New"/>
                          <a:cs typeface="Courier New"/>
                        </a:rPr>
                        <a:t>NaN or Infinity</a:t>
                      </a:r>
                    </a:p>
                  </a:txBody>
                  <a:tcPr anchor="ctr">
                    <a:solidFill>
                      <a:srgbClr val="FFF4EB"/>
                    </a:solidFill>
                  </a:tcPr>
                </a:tc>
                <a:tc>
                  <a:txBody>
                    <a:bodyPr/>
                    <a:lstStyle/>
                    <a:p>
                      <a:r>
                        <a:rPr sz="2000" b="0">
                          <a:solidFill>
                            <a:srgbClr val="24323E"/>
                          </a:solidFill>
                          <a:latin typeface="Times New Roman"/>
                          <a:ea typeface="Times New Roman"/>
                          <a:cs typeface="Times New Roman"/>
                        </a:rPr>
                        <a:t>Python may accept data outside JSON syntax</a:t>
                      </a:r>
                    </a:p>
                  </a:txBody>
                  <a:tcPr anchor="ctr">
                    <a:solidFill>
                      <a:srgbClr val="FFF4EB"/>
                    </a:solidFill>
                  </a:tcPr>
                </a:tc>
                <a:extLst>
                  <a:ext uri="{0D108BD9-81ED-4DB2-BD59-A6C34878D82A}">
                    <a16:rowId xmlns:a16="http://schemas.microsoft.com/office/drawing/2014/main" val="10002"/>
                  </a:ext>
                </a:extLst>
              </a:tr>
              <a:tr h="710565">
                <a:tc>
                  <a:txBody>
                    <a:bodyPr/>
                    <a:lstStyle/>
                    <a:p>
                      <a:r>
                        <a:rPr sz="2000" b="0">
                          <a:solidFill>
                            <a:srgbClr val="24323E"/>
                          </a:solidFill>
                          <a:latin typeface="Times New Roman"/>
                          <a:ea typeface="Times New Roman"/>
                          <a:cs typeface="Times New Roman"/>
                        </a:rPr>
                        <a:t>Type drift</a:t>
                      </a:r>
                    </a:p>
                  </a:txBody>
                  <a:tcPr anchor="ctr">
                    <a:solidFill>
                      <a:srgbClr val="FFFFFF"/>
                    </a:solidFill>
                  </a:tcPr>
                </a:tc>
                <a:tc>
                  <a:txBody>
                    <a:bodyPr/>
                    <a:lstStyle/>
                    <a:p>
                      <a:r>
                        <a:rPr sz="2000" b="0">
                          <a:solidFill>
                            <a:srgbClr val="24323E"/>
                          </a:solidFill>
                          <a:latin typeface="Courier New"/>
                          <a:ea typeface="Courier New"/>
                          <a:cs typeface="Courier New"/>
                        </a:rPr>
                        <a:t>8.1 versus "8.1"</a:t>
                      </a:r>
                    </a:p>
                  </a:txBody>
                  <a:tcPr anchor="ctr">
                    <a:solidFill>
                      <a:srgbClr val="FFFFFF"/>
                    </a:solidFill>
                  </a:tcPr>
                </a:tc>
                <a:tc>
                  <a:txBody>
                    <a:bodyPr/>
                    <a:lstStyle/>
                    <a:p>
                      <a:r>
                        <a:rPr sz="2000" b="0">
                          <a:solidFill>
                            <a:srgbClr val="24323E"/>
                          </a:solidFill>
                          <a:latin typeface="Times New Roman"/>
                          <a:ea typeface="Times New Roman"/>
                          <a:cs typeface="Times New Roman"/>
                        </a:rPr>
                        <a:t>A numeric operation can fail or misbehave</a:t>
                      </a:r>
                    </a:p>
                  </a:txBody>
                  <a:tcPr anchor="ctr">
                    <a:solidFill>
                      <a:srgbClr val="FFFFFF"/>
                    </a:solidFill>
                  </a:tcPr>
                </a:tc>
                <a:extLst>
                  <a:ext uri="{0D108BD9-81ED-4DB2-BD59-A6C34878D82A}">
                    <a16:rowId xmlns:a16="http://schemas.microsoft.com/office/drawing/2014/main" val="10003"/>
                  </a:ext>
                </a:extLst>
              </a:tr>
              <a:tr h="710565">
                <a:tc>
                  <a:txBody>
                    <a:bodyPr/>
                    <a:lstStyle/>
                    <a:p>
                      <a:r>
                        <a:rPr sz="2000" b="0">
                          <a:solidFill>
                            <a:srgbClr val="24323E"/>
                          </a:solidFill>
                          <a:latin typeface="Times New Roman"/>
                          <a:ea typeface="Times New Roman"/>
                          <a:cs typeface="Times New Roman"/>
                        </a:rPr>
                        <a:t>Large numeric IDs</a:t>
                      </a:r>
                    </a:p>
                  </a:txBody>
                  <a:tcPr anchor="ctr">
                    <a:solidFill>
                      <a:srgbClr val="FFF4EB"/>
                    </a:solidFill>
                  </a:tcPr>
                </a:tc>
                <a:tc>
                  <a:txBody>
                    <a:bodyPr/>
                    <a:lstStyle/>
                    <a:p>
                      <a:r>
                        <a:rPr sz="2000" b="0">
                          <a:solidFill>
                            <a:srgbClr val="24323E"/>
                          </a:solidFill>
                          <a:latin typeface="Courier New"/>
                          <a:ea typeface="Courier New"/>
                          <a:cs typeface="Courier New"/>
                        </a:rPr>
                        <a:t>9007199254740993</a:t>
                      </a:r>
                    </a:p>
                  </a:txBody>
                  <a:tcPr anchor="ctr">
                    <a:solidFill>
                      <a:srgbClr val="FFF4EB"/>
                    </a:solidFill>
                  </a:tcPr>
                </a:tc>
                <a:tc>
                  <a:txBody>
                    <a:bodyPr/>
                    <a:lstStyle/>
                    <a:p>
                      <a:r>
                        <a:rPr sz="2000" b="0">
                          <a:solidFill>
                            <a:srgbClr val="24323E"/>
                          </a:solidFill>
                          <a:latin typeface="Times New Roman"/>
                          <a:ea typeface="Times New Roman"/>
                          <a:cs typeface="Times New Roman"/>
                        </a:rPr>
                        <a:t>Some consumers cannot preserve every digit</a:t>
                      </a:r>
                    </a:p>
                  </a:txBody>
                  <a:tcPr anchor="ctr">
                    <a:solidFill>
                      <a:srgbClr val="FFF4EB"/>
                    </a:solidFill>
                  </a:tcPr>
                </a:tc>
                <a:extLst>
                  <a:ext uri="{0D108BD9-81ED-4DB2-BD59-A6C34878D82A}">
                    <a16:rowId xmlns:a16="http://schemas.microsoft.com/office/drawing/2014/main" val="10004"/>
                  </a:ext>
                </a:extLst>
              </a:tr>
            </a:tbl>
          </a:graphicData>
        </a:graphic>
      </p:graphicFrame>
      <p:sp>
        <p:nvSpPr>
          <p:cNvPr id="5" name="Use unique names, explicit types, a">
            <a:extLst>
              <a:ext uri="{FF2B5EF4-FFF2-40B4-BE49-F238E27FC236}">
                <a16:creationId xmlns:a16="http://schemas.microsoft.com/office/drawing/2014/main" id="{6FD603F2-3FD6-441A-AA6A-B4B9C01E2813}"/>
              </a:ext>
            </a:extLst>
          </p:cNvPr>
          <p:cNvSpPr>
            <a:spLocks noGrp="1"/>
          </p:cNvSpPr>
          <p:nvPr/>
        </p:nvSpPr>
        <p:spPr>
          <a:xfrm>
            <a:off x="600075" y="552450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Use unique names, explicit types, and a documented policy for identifiers.</a:t>
            </a:r>
          </a:p>
        </p:txBody>
      </p:sp>
    </p:spTree>
    <p:extLst>
      <p:ext uri="{BB962C8B-B14F-4D97-AF65-F5344CB8AC3E}">
        <p14:creationId xmlns:p14="http://schemas.microsoft.com/office/powerpoint/2010/main" val="3723650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Applied exercise: </a:t>
            </a:r>
            <a:r>
              <a:rPr sz="3788">
                <a:solidFill>
                  <a:srgbClr val="F67132"/>
                </a:solidFill>
                <a:latin typeface="Times New Roman"/>
                <a:ea typeface="Times New Roman"/>
                <a:cs typeface="Times New Roman"/>
              </a:rPr>
              <a:t>a third station</a:t>
            </a:r>
          </a:p>
        </p:txBody>
      </p:sp>
      <p:sp>
        <p:nvSpPr>
          <p:cNvPr id="3" name="28">
            <a:extLst>
              <a:ext uri="{FF2B5EF4-FFF2-40B4-BE49-F238E27FC236}">
                <a16:creationId xmlns:a16="http://schemas.microsoft.com/office/drawing/2014/main" id="{72F4A974-14BD-429D-A65E-210A001FEA06}"/>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28</a:t>
            </a:r>
          </a:p>
        </p:txBody>
      </p:sp>
      <p:sp>
        <p:nvSpPr>
          <p:cNvPr id="4" name="Editable code example">
            <a:extLst>
              <a:ext uri="{FF2B5EF4-FFF2-40B4-BE49-F238E27FC236}">
                <a16:creationId xmlns:a16="http://schemas.microsoft.com/office/drawing/2014/main" id="{995DFD68-1ED2-4643-B61C-21116602C944}"/>
              </a:ext>
            </a:extLst>
          </p:cNvPr>
          <p:cNvSpPr>
            <a:spLocks noGrp="1"/>
          </p:cNvSpPr>
          <p:nvPr/>
        </p:nvSpPr>
        <p:spPr>
          <a:xfrm>
            <a:off x="600075" y="1295400"/>
            <a:ext cx="10953750" cy="1866710"/>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a:t>
            </a:r>
            <a:r>
              <a:rPr sz="1900">
                <a:solidFill>
                  <a:srgbClr val="A94B23"/>
                </a:solidFill>
                <a:latin typeface="Courier New"/>
                <a:ea typeface="Courier New"/>
                <a:cs typeface="Courier New"/>
              </a:rPr>
              <a:t>"station_id"</a:t>
            </a:r>
            <a:r>
              <a:rPr sz="1900">
                <a:solidFill>
                  <a:srgbClr val="24323E"/>
                </a:solidFill>
                <a:latin typeface="Courier New"/>
                <a:ea typeface="Courier New"/>
                <a:cs typeface="Courier New"/>
              </a:rPr>
              <a:t>: </a:t>
            </a:r>
            <a:r>
              <a:rPr sz="1900">
                <a:solidFill>
                  <a:srgbClr val="A94B23"/>
                </a:solidFill>
                <a:latin typeface="Courier New"/>
                <a:ea typeface="Courier New"/>
                <a:cs typeface="Courier New"/>
              </a:rPr>
              <a:t>"C3"</a:t>
            </a:r>
            <a:r>
              <a:rPr sz="1900">
                <a:solidFill>
                  <a:srgbClr val="24323E"/>
                </a:solidFill>
                <a:latin typeface="Courier New"/>
                <a:ea typeface="Courier New"/>
                <a:cs typeface="Courier New"/>
              </a:rPr>
              <a:t>, </a:t>
            </a:r>
            <a:r>
              <a:rPr sz="1900">
                <a:solidFill>
                  <a:srgbClr val="A94B23"/>
                </a:solidFill>
                <a:latin typeface="Courier New"/>
                <a:ea typeface="Courier New"/>
                <a:cs typeface="Courier New"/>
              </a:rPr>
              <a:t>"site"</a:t>
            </a:r>
            <a:r>
              <a:rPr sz="1900">
                <a:solidFill>
                  <a:srgbClr val="24323E"/>
                </a:solidFill>
                <a:latin typeface="Courier New"/>
                <a:ea typeface="Courier New"/>
                <a:cs typeface="Courier New"/>
              </a:rPr>
              <a:t>: {</a:t>
            </a:r>
            <a:r>
              <a:rPr sz="1900">
                <a:solidFill>
                  <a:srgbClr val="A94B23"/>
                </a:solidFill>
                <a:latin typeface="Courier New"/>
                <a:ea typeface="Courier New"/>
                <a:cs typeface="Courier New"/>
              </a:rPr>
              <a:t>"name"</a:t>
            </a:r>
            <a:r>
              <a:rPr sz="1900">
                <a:solidFill>
                  <a:srgbClr val="24323E"/>
                </a:solidFill>
                <a:latin typeface="Courier New"/>
                <a:ea typeface="Courier New"/>
                <a:cs typeface="Courier New"/>
              </a:rPr>
              <a:t>: </a:t>
            </a:r>
            <a:r>
              <a:rPr sz="1900">
                <a:solidFill>
                  <a:srgbClr val="A94B23"/>
                </a:solidFill>
                <a:latin typeface="Courier New"/>
                <a:ea typeface="Courier New"/>
                <a:cs typeface="Courier New"/>
              </a:rPr>
              <a:t>"Garden"</a:t>
            </a:r>
            <a:r>
              <a:rPr sz="1900">
                <a:solidFill>
                  <a:srgbClr val="24323E"/>
                </a:solidFill>
                <a:latin typeface="Courier New"/>
                <a:ea typeface="Courier New"/>
                <a:cs typeface="Courier New"/>
              </a:rPr>
              <a:t>},</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 </a:t>
            </a:r>
            <a:r>
              <a:rPr sz="1900">
                <a:solidFill>
                  <a:srgbClr val="A94B23"/>
                </a:solidFill>
                <a:latin typeface="Courier New"/>
                <a:ea typeface="Courier New"/>
                <a:cs typeface="Courier New"/>
              </a:rPr>
              <a:t>"readings"</a:t>
            </a:r>
            <a:r>
              <a:rPr sz="1900">
                <a:solidFill>
                  <a:srgbClr val="24323E"/>
                </a:solidFill>
                <a:latin typeface="Courier New"/>
                <a:ea typeface="Courier New"/>
                <a:cs typeface="Courier New"/>
              </a:rPr>
              <a:t>: [</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   {</a:t>
            </a:r>
            <a:r>
              <a:rPr sz="1900">
                <a:solidFill>
                  <a:srgbClr val="A94B23"/>
                </a:solidFill>
                <a:latin typeface="Courier New"/>
                <a:ea typeface="Courier New"/>
                <a:cs typeface="Courier New"/>
              </a:rPr>
              <a:t>"hour"</a:t>
            </a:r>
            <a:r>
              <a:rPr sz="1900">
                <a:solidFill>
                  <a:srgbClr val="24323E"/>
                </a:solidFill>
                <a:latin typeface="Courier New"/>
                <a:ea typeface="Courier New"/>
                <a:cs typeface="Courier New"/>
              </a:rPr>
              <a:t>: </a:t>
            </a:r>
            <a:r>
              <a:rPr sz="1900">
                <a:solidFill>
                  <a:srgbClr val="21688D"/>
                </a:solidFill>
                <a:latin typeface="Courier New"/>
                <a:ea typeface="Courier New"/>
                <a:cs typeface="Courier New"/>
              </a:rPr>
              <a:t>9</a:t>
            </a:r>
            <a:r>
              <a:rPr sz="1900">
                <a:solidFill>
                  <a:srgbClr val="24323E"/>
                </a:solidFill>
                <a:latin typeface="Courier New"/>
                <a:ea typeface="Courier New"/>
                <a:cs typeface="Courier New"/>
              </a:rPr>
              <a:t>, </a:t>
            </a:r>
            <a:r>
              <a:rPr sz="1900">
                <a:solidFill>
                  <a:srgbClr val="A94B23"/>
                </a:solidFill>
                <a:latin typeface="Courier New"/>
                <a:ea typeface="Courier New"/>
                <a:cs typeface="Courier New"/>
              </a:rPr>
              <a:t>"pm25"</a:t>
            </a:r>
            <a:r>
              <a:rPr sz="1900">
                <a:solidFill>
                  <a:srgbClr val="24323E"/>
                </a:solidFill>
                <a:latin typeface="Courier New"/>
                <a:ea typeface="Courier New"/>
                <a:cs typeface="Courier New"/>
              </a:rPr>
              <a:t>: </a:t>
            </a:r>
            <a:r>
              <a:rPr sz="1900">
                <a:solidFill>
                  <a:srgbClr val="21688D"/>
                </a:solidFill>
                <a:latin typeface="Courier New"/>
                <a:ea typeface="Courier New"/>
                <a:cs typeface="Courier New"/>
              </a:rPr>
              <a:t>0.0</a:t>
            </a:r>
            <a:r>
              <a:rPr sz="1900">
                <a:solidFill>
                  <a:srgbClr val="24323E"/>
                </a:solidFill>
                <a:latin typeface="Courier New"/>
                <a:ea typeface="Courier New"/>
                <a:cs typeface="Courier New"/>
              </a:rPr>
              <a:t>},</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   {</a:t>
            </a:r>
            <a:r>
              <a:rPr sz="1900">
                <a:solidFill>
                  <a:srgbClr val="A94B23"/>
                </a:solidFill>
                <a:latin typeface="Courier New"/>
                <a:ea typeface="Courier New"/>
                <a:cs typeface="Courier New"/>
              </a:rPr>
              <a:t>"hour"</a:t>
            </a:r>
            <a:r>
              <a:rPr sz="1900">
                <a:solidFill>
                  <a:srgbClr val="24323E"/>
                </a:solidFill>
                <a:latin typeface="Courier New"/>
                <a:ea typeface="Courier New"/>
                <a:cs typeface="Courier New"/>
              </a:rPr>
              <a:t>: </a:t>
            </a:r>
            <a:r>
              <a:rPr sz="1900">
                <a:solidFill>
                  <a:srgbClr val="21688D"/>
                </a:solidFill>
                <a:latin typeface="Courier New"/>
                <a:ea typeface="Courier New"/>
                <a:cs typeface="Courier New"/>
              </a:rPr>
              <a:t>10</a:t>
            </a:r>
            <a:r>
              <a:rPr sz="1900">
                <a:solidFill>
                  <a:srgbClr val="24323E"/>
                </a:solidFill>
                <a:latin typeface="Courier New"/>
                <a:ea typeface="Courier New"/>
                <a:cs typeface="Courier New"/>
              </a:rPr>
              <a:t>, </a:t>
            </a:r>
            <a:r>
              <a:rPr sz="1900">
                <a:solidFill>
                  <a:srgbClr val="A94B23"/>
                </a:solidFill>
                <a:latin typeface="Courier New"/>
                <a:ea typeface="Courier New"/>
                <a:cs typeface="Courier New"/>
              </a:rPr>
              <a:t>"pm25"</a:t>
            </a:r>
            <a:r>
              <a:rPr sz="1900">
                <a:solidFill>
                  <a:srgbClr val="24323E"/>
                </a:solidFill>
                <a:latin typeface="Courier New"/>
                <a:ea typeface="Courier New"/>
                <a:cs typeface="Courier New"/>
              </a:rPr>
              <a:t>: </a:t>
            </a:r>
            <a:r>
              <a:rPr sz="1900">
                <a:solidFill>
                  <a:srgbClr val="21688D"/>
                </a:solidFill>
                <a:latin typeface="Courier New"/>
                <a:ea typeface="Courier New"/>
                <a:cs typeface="Courier New"/>
              </a:rPr>
              <a:t>null</a:t>
            </a:r>
            <a:r>
              <a:rPr sz="1900">
                <a:solidFill>
                  <a:srgbClr val="24323E"/>
                </a:solidFill>
                <a:latin typeface="Courier New"/>
                <a:ea typeface="Courier New"/>
                <a:cs typeface="Courier New"/>
              </a:rPr>
              <a:t>}</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 ]}</a:t>
            </a:r>
          </a:p>
        </p:txBody>
      </p:sp>
      <p:sp>
        <p:nvSpPr>
          <p:cNvPr id="5" name="1. Predict the row count and C3’s m">
            <a:extLst>
              <a:ext uri="{FF2B5EF4-FFF2-40B4-BE49-F238E27FC236}">
                <a16:creationId xmlns:a16="http://schemas.microsoft.com/office/drawing/2014/main" id="{1CEF2D92-E242-4E21-98AE-239997C081B0}"/>
              </a:ext>
            </a:extLst>
          </p:cNvPr>
          <p:cNvSpPr>
            <a:spLocks noGrp="1"/>
          </p:cNvSpPr>
          <p:nvPr/>
        </p:nvSpPr>
        <p:spPr>
          <a:xfrm>
            <a:off x="600075" y="3476625"/>
            <a:ext cx="10668000" cy="457200"/>
          </a:xfrm>
          <a:prstGeom prst="rect">
            <a:avLst/>
          </a:prstGeom>
          <a:noFill/>
          <a:ln w="0">
            <a:noFill/>
          </a:ln>
        </p:spPr>
        <p:txBody>
          <a:bodyPr wrap="square" lIns="0" tIns="0" rIns="0" bIns="0" anchor="t">
            <a:noAutofit/>
          </a:bodyPr>
          <a:lstStyle/>
          <a:p>
            <a:pPr algn="l">
              <a:lnSpc>
                <a:spcPct val="105000"/>
              </a:lnSpc>
              <a:buNone/>
              <a:defRPr sz="2250" b="0">
                <a:solidFill>
                  <a:srgbClr val="24323E"/>
                </a:solidFill>
                <a:latin typeface="Times New Roman"/>
                <a:ea typeface="Times New Roman"/>
                <a:cs typeface="Times New Roman"/>
              </a:defRPr>
            </a:pPr>
            <a:r>
              <a:rPr sz="2250" b="0">
                <a:solidFill>
                  <a:srgbClr val="24323E"/>
                </a:solidFill>
                <a:latin typeface="Times New Roman"/>
                <a:ea typeface="Times New Roman"/>
                <a:cs typeface="Times New Roman"/>
              </a:rPr>
              <a:t>1. Predict the row count and C3’s mean before running code.</a:t>
            </a:r>
          </a:p>
        </p:txBody>
      </p:sp>
      <p:sp>
        <p:nvSpPr>
          <p:cNvPr id="6" name="2. Validate the records, flatten th">
            <a:extLst>
              <a:ext uri="{FF2B5EF4-FFF2-40B4-BE49-F238E27FC236}">
                <a16:creationId xmlns:a16="http://schemas.microsoft.com/office/drawing/2014/main" id="{31806766-71B5-4CB9-BC1F-FA512A834EDE}"/>
              </a:ext>
            </a:extLst>
          </p:cNvPr>
          <p:cNvSpPr>
            <a:spLocks noGrp="1"/>
          </p:cNvSpPr>
          <p:nvPr/>
        </p:nvSpPr>
        <p:spPr>
          <a:xfrm>
            <a:off x="600075" y="4114800"/>
            <a:ext cx="10668000" cy="457200"/>
          </a:xfrm>
          <a:prstGeom prst="rect">
            <a:avLst/>
          </a:prstGeom>
          <a:noFill/>
          <a:ln w="0">
            <a:noFill/>
          </a:ln>
        </p:spPr>
        <p:txBody>
          <a:bodyPr wrap="square" lIns="0" tIns="0" rIns="0" bIns="0" anchor="t">
            <a:noAutofit/>
          </a:bodyPr>
          <a:lstStyle/>
          <a:p>
            <a:pPr algn="l">
              <a:lnSpc>
                <a:spcPct val="105000"/>
              </a:lnSpc>
              <a:buNone/>
              <a:defRPr sz="2250" b="0">
                <a:solidFill>
                  <a:srgbClr val="24323E"/>
                </a:solidFill>
                <a:latin typeface="Times New Roman"/>
                <a:ea typeface="Times New Roman"/>
                <a:cs typeface="Times New Roman"/>
              </a:defRPr>
            </a:pPr>
            <a:r>
              <a:rPr sz="2250" b="0">
                <a:solidFill>
                  <a:srgbClr val="24323E"/>
                </a:solidFill>
                <a:latin typeface="Times New Roman"/>
                <a:ea typeface="Times New Roman"/>
                <a:cs typeface="Times New Roman"/>
              </a:rPr>
              <a:t>2. Validate the records, flatten them, and count observed values.</a:t>
            </a:r>
          </a:p>
        </p:txBody>
      </p:sp>
      <p:sp>
        <p:nvSpPr>
          <p:cNvPr id="7" name="3. Export the summary while keeping">
            <a:extLst>
              <a:ext uri="{FF2B5EF4-FFF2-40B4-BE49-F238E27FC236}">
                <a16:creationId xmlns:a16="http://schemas.microsoft.com/office/drawing/2014/main" id="{62CBFB7F-86EF-4EAF-97DB-698C2E8F8229}"/>
              </a:ext>
            </a:extLst>
          </p:cNvPr>
          <p:cNvSpPr>
            <a:spLocks noGrp="1"/>
          </p:cNvSpPr>
          <p:nvPr/>
        </p:nvSpPr>
        <p:spPr>
          <a:xfrm>
            <a:off x="600075" y="4752975"/>
            <a:ext cx="10668000" cy="457200"/>
          </a:xfrm>
          <a:prstGeom prst="rect">
            <a:avLst/>
          </a:prstGeom>
          <a:noFill/>
          <a:ln w="0">
            <a:noFill/>
          </a:ln>
        </p:spPr>
        <p:txBody>
          <a:bodyPr wrap="square" lIns="0" tIns="0" rIns="0" bIns="0" anchor="t">
            <a:noAutofit/>
          </a:bodyPr>
          <a:lstStyle/>
          <a:p>
            <a:pPr algn="l">
              <a:lnSpc>
                <a:spcPct val="105000"/>
              </a:lnSpc>
              <a:buNone/>
              <a:defRPr sz="2250" b="0">
                <a:solidFill>
                  <a:srgbClr val="24323E"/>
                </a:solidFill>
                <a:latin typeface="Times New Roman"/>
                <a:ea typeface="Times New Roman"/>
                <a:cs typeface="Times New Roman"/>
              </a:defRPr>
            </a:pPr>
            <a:r>
              <a:rPr sz="2250" b="0">
                <a:solidFill>
                  <a:srgbClr val="24323E"/>
                </a:solidFill>
                <a:latin typeface="Times New Roman"/>
                <a:ea typeface="Times New Roman"/>
                <a:cs typeface="Times New Roman"/>
              </a:rPr>
              <a:t>3. Export the summary while keeping 0.0 and null distinct.</a:t>
            </a:r>
          </a:p>
        </p:txBody>
      </p:sp>
      <p:sp>
        <p:nvSpPr>
          <p:cNvPr id="8" name="Extension: change 0.0 to &quot;0.0&quot;. Whi">
            <a:extLst>
              <a:ext uri="{FF2B5EF4-FFF2-40B4-BE49-F238E27FC236}">
                <a16:creationId xmlns:a16="http://schemas.microsoft.com/office/drawing/2014/main" id="{B28F4D7A-42CB-4628-8ACB-045A4558F812}"/>
              </a:ext>
            </a:extLst>
          </p:cNvPr>
          <p:cNvSpPr>
            <a:spLocks noGrp="1"/>
          </p:cNvSpPr>
          <p:nvPr/>
        </p:nvSpPr>
        <p:spPr>
          <a:xfrm>
            <a:off x="600075" y="561975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Extension: change 0.0 to "0.0". Which check should fail?</a:t>
            </a:r>
          </a:p>
        </p:txBody>
      </p:sp>
    </p:spTree>
    <p:extLst>
      <p:ext uri="{BB962C8B-B14F-4D97-AF65-F5344CB8AC3E}">
        <p14:creationId xmlns:p14="http://schemas.microsoft.com/office/powerpoint/2010/main" val="37236501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JSON makes data portable">
            <a:extLst>
              <a:ext uri="{FF2B5EF4-FFF2-40B4-BE49-F238E27FC236}">
                <a16:creationId xmlns:a16="http://schemas.microsoft.com/office/drawing/2014/main" id="{E551CA78-177B-411E-849A-992B0AD3B3D6}"/>
              </a:ext>
            </a:extLst>
          </p:cNvPr>
          <p:cNvSpPr>
            <a:spLocks noGrp="1"/>
          </p:cNvSpPr>
          <p:nvPr/>
        </p:nvSpPr>
        <p:spPr>
          <a:xfrm>
            <a:off x="762000" y="1038225"/>
            <a:ext cx="10572750" cy="838200"/>
          </a:xfrm>
          <a:prstGeom prst="rect">
            <a:avLst/>
          </a:prstGeom>
          <a:noFill/>
          <a:ln w="0">
            <a:noFill/>
          </a:ln>
        </p:spPr>
        <p:txBody>
          <a:bodyPr wrap="square" lIns="0" tIns="0" rIns="0" bIns="0" anchor="t">
            <a:noAutofit/>
          </a:bodyPr>
          <a:lstStyle/>
          <a:p>
            <a:pPr algn="l">
              <a:lnSpc>
                <a:spcPct val="105000"/>
              </a:lnSpc>
              <a:buNone/>
              <a:defRPr sz="4800" b="0">
                <a:solidFill>
                  <a:srgbClr val="F67132"/>
                </a:solidFill>
                <a:latin typeface="Times New Roman"/>
                <a:ea typeface="Times New Roman"/>
                <a:cs typeface="Times New Roman"/>
              </a:defRPr>
            </a:pPr>
            <a:r>
              <a:rPr sz="4800" b="0">
                <a:solidFill>
                  <a:srgbClr val="F67132"/>
                </a:solidFill>
                <a:latin typeface="Times New Roman"/>
                <a:ea typeface="Times New Roman"/>
                <a:cs typeface="Times New Roman"/>
              </a:rPr>
              <a:t>JSON makes data portable</a:t>
            </a:r>
          </a:p>
        </p:txBody>
      </p:sp>
      <p:sp>
        <p:nvSpPr>
          <p:cNvPr id="2" name="An analysis still needs an explicit">
            <a:extLst>
              <a:ext uri="{FF2B5EF4-FFF2-40B4-BE49-F238E27FC236}">
                <a16:creationId xmlns:a16="http://schemas.microsoft.com/office/drawing/2014/main" id="{69725751-4B3A-4DEB-822D-7F92427448D3}"/>
              </a:ext>
            </a:extLst>
          </p:cNvPr>
          <p:cNvSpPr>
            <a:spLocks noGrp="1"/>
          </p:cNvSpPr>
          <p:nvPr/>
        </p:nvSpPr>
        <p:spPr>
          <a:xfrm>
            <a:off x="781050" y="2286000"/>
            <a:ext cx="10477500" cy="952500"/>
          </a:xfrm>
          <a:prstGeom prst="rect">
            <a:avLst/>
          </a:prstGeom>
          <a:noFill/>
          <a:ln w="0">
            <a:noFill/>
          </a:ln>
        </p:spPr>
        <p:txBody>
          <a:bodyPr wrap="square" lIns="0" tIns="0" rIns="0" bIns="0" anchor="t">
            <a:noAutofit/>
          </a:bodyPr>
          <a:lstStyle/>
          <a:p>
            <a:pPr algn="l">
              <a:lnSpc>
                <a:spcPct val="105000"/>
              </a:lnSpc>
              <a:buNone/>
              <a:defRPr sz="3200" b="0">
                <a:solidFill>
                  <a:srgbClr val="FFFFFF"/>
                </a:solidFill>
                <a:latin typeface="Times New Roman"/>
                <a:ea typeface="Times New Roman"/>
                <a:cs typeface="Times New Roman"/>
              </a:defRPr>
            </a:pPr>
            <a:r>
              <a:rPr sz="3200" b="0">
                <a:solidFill>
                  <a:srgbClr val="FFFFFF"/>
                </a:solidFill>
                <a:latin typeface="Times New Roman"/>
                <a:ea typeface="Times New Roman"/>
                <a:cs typeface="Times New Roman"/>
              </a:rPr>
              <a:t>An analysis still needs an explicit data contract.</a:t>
            </a:r>
          </a:p>
        </p:txBody>
      </p:sp>
      <p:sp>
        <p:nvSpPr>
          <p:cNvPr id="3" name="Exit question">
            <a:extLst>
              <a:ext uri="{FF2B5EF4-FFF2-40B4-BE49-F238E27FC236}">
                <a16:creationId xmlns:a16="http://schemas.microsoft.com/office/drawing/2014/main" id="{2EAAA620-36D1-4C05-9250-6A62637F843F}"/>
              </a:ext>
            </a:extLst>
          </p:cNvPr>
          <p:cNvSpPr>
            <a:spLocks noGrp="1"/>
          </p:cNvSpPr>
          <p:nvPr/>
        </p:nvSpPr>
        <p:spPr>
          <a:xfrm>
            <a:off x="800100" y="4010025"/>
            <a:ext cx="10001250" cy="447675"/>
          </a:xfrm>
          <a:prstGeom prst="rect">
            <a:avLst/>
          </a:prstGeom>
          <a:noFill/>
          <a:ln w="0">
            <a:noFill/>
          </a:ln>
        </p:spPr>
        <p:txBody>
          <a:bodyPr wrap="square" lIns="0" tIns="0" rIns="0" bIns="0" anchor="t">
            <a:noAutofit/>
          </a:bodyPr>
          <a:lstStyle/>
          <a:p>
            <a:pPr algn="l">
              <a:lnSpc>
                <a:spcPct val="105000"/>
              </a:lnSpc>
              <a:buNone/>
              <a:defRPr sz="2325" b="1">
                <a:solidFill>
                  <a:srgbClr val="F67132"/>
                </a:solidFill>
                <a:latin typeface="Times New Roman"/>
                <a:ea typeface="Times New Roman"/>
                <a:cs typeface="Times New Roman"/>
              </a:defRPr>
            </a:pPr>
            <a:r>
              <a:rPr sz="2325" b="1">
                <a:solidFill>
                  <a:srgbClr val="F67132"/>
                </a:solidFill>
                <a:latin typeface="Times New Roman"/>
                <a:ea typeface="Times New Roman"/>
                <a:cs typeface="Times New Roman"/>
              </a:rPr>
              <a:t>Exit question</a:t>
            </a:r>
          </a:p>
        </p:txBody>
      </p:sp>
      <p:sp>
        <p:nvSpPr>
          <p:cNvPr id="4" name="A document parses and passes its sc">
            <a:extLst>
              <a:ext uri="{FF2B5EF4-FFF2-40B4-BE49-F238E27FC236}">
                <a16:creationId xmlns:a16="http://schemas.microsoft.com/office/drawing/2014/main" id="{278C74C7-47E9-4B4F-9BC0-BBA91597C564}"/>
              </a:ext>
            </a:extLst>
          </p:cNvPr>
          <p:cNvSpPr>
            <a:spLocks noGrp="1"/>
          </p:cNvSpPr>
          <p:nvPr/>
        </p:nvSpPr>
        <p:spPr>
          <a:xfrm>
            <a:off x="800100" y="4600575"/>
            <a:ext cx="10325100" cy="1209675"/>
          </a:xfrm>
          <a:prstGeom prst="rect">
            <a:avLst/>
          </a:prstGeom>
          <a:noFill/>
          <a:ln w="0">
            <a:noFill/>
          </a:ln>
        </p:spPr>
        <p:txBody>
          <a:bodyPr wrap="square" lIns="0" tIns="0" rIns="0" bIns="0" anchor="t">
            <a:noAutofit/>
          </a:bodyPr>
          <a:lstStyle/>
          <a:p>
            <a:pPr algn="l">
              <a:lnSpc>
                <a:spcPct val="105000"/>
              </a:lnSpc>
              <a:buNone/>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A document parses and passes its schema.</a:t>
            </a:r>
          </a:p>
          <a:p>
            <a:pPr algn="l">
              <a:lnSpc>
                <a:spcPct val="105000"/>
              </a:lnSpc>
              <a:buNone/>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What could still make its reported mean wrong?</a:t>
            </a:r>
          </a:p>
        </p:txBody>
      </p:sp>
    </p:spTree>
    <p:extLst>
      <p:ext uri="{BB962C8B-B14F-4D97-AF65-F5344CB8AC3E}">
        <p14:creationId xmlns:p14="http://schemas.microsoft.com/office/powerpoint/2010/main" val="2058990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References and further reading</a:t>
            </a:r>
          </a:p>
        </p:txBody>
      </p:sp>
      <p:sp>
        <p:nvSpPr>
          <p:cNvPr id="3" name="30">
            <a:extLst>
              <a:ext uri="{FF2B5EF4-FFF2-40B4-BE49-F238E27FC236}">
                <a16:creationId xmlns:a16="http://schemas.microsoft.com/office/drawing/2014/main" id="{41776AE1-79F2-48D6-BEE4-FE8C4A80B259}"/>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30</a:t>
            </a:r>
          </a:p>
        </p:txBody>
      </p:sp>
      <p:sp>
        <p:nvSpPr>
          <p:cNvPr id="4" name="JSON syntax and standards">
            <a:extLst>
              <a:ext uri="{FF2B5EF4-FFF2-40B4-BE49-F238E27FC236}">
                <a16:creationId xmlns:a16="http://schemas.microsoft.com/office/drawing/2014/main" id="{43308FE6-1424-4772-BB1B-1C922A43A982}"/>
              </a:ext>
            </a:extLst>
          </p:cNvPr>
          <p:cNvSpPr>
            <a:spLocks noGrp="1"/>
          </p:cNvSpPr>
          <p:nvPr/>
        </p:nvSpPr>
        <p:spPr>
          <a:xfrm>
            <a:off x="600075" y="1200150"/>
            <a:ext cx="4543425" cy="381000"/>
          </a:xfrm>
          <a:prstGeom prst="rect">
            <a:avLst/>
          </a:prstGeom>
          <a:noFill/>
          <a:ln w="0">
            <a:noFill/>
          </a:ln>
        </p:spPr>
        <p:txBody>
          <a:bodyPr wrap="square" lIns="0" tIns="0" rIns="0" bIns="0" anchor="t">
            <a:noAutofit/>
          </a:bodyPr>
          <a:lstStyle/>
          <a:p>
            <a:pPr algn="l">
              <a:lnSpc>
                <a:spcPct val="105000"/>
              </a:lnSpc>
              <a:buNone/>
              <a:defRPr sz="2250" b="1">
                <a:solidFill>
                  <a:srgbClr val="24323E"/>
                </a:solidFill>
                <a:latin typeface="Times New Roman"/>
                <a:ea typeface="Times New Roman"/>
                <a:cs typeface="Times New Roman"/>
              </a:defRPr>
            </a:pPr>
            <a:r>
              <a:rPr sz="2250" b="1">
                <a:solidFill>
                  <a:srgbClr val="24323E"/>
                </a:solidFill>
                <a:latin typeface="Times New Roman"/>
                <a:ea typeface="Times New Roman"/>
                <a:cs typeface="Times New Roman"/>
              </a:rPr>
              <a:t>JSON syntax and standards</a:t>
            </a:r>
          </a:p>
        </p:txBody>
      </p:sp>
      <p:sp>
        <p:nvSpPr>
          <p:cNvPr id="5" name="JSON.org · RFC 8259 · ECMA-404">
            <a:extLst>
              <a:ext uri="{FF2B5EF4-FFF2-40B4-BE49-F238E27FC236}">
                <a16:creationId xmlns:a16="http://schemas.microsoft.com/office/drawing/2014/main" id="{2903F734-BBD7-4415-92D3-9B25CFD3CFF0}"/>
              </a:ext>
            </a:extLst>
          </p:cNvPr>
          <p:cNvSpPr>
            <a:spLocks noGrp="1"/>
          </p:cNvSpPr>
          <p:nvPr/>
        </p:nvSpPr>
        <p:spPr>
          <a:xfrm>
            <a:off x="5295900" y="1200150"/>
            <a:ext cx="6172200" cy="514350"/>
          </a:xfrm>
          <a:prstGeom prst="rect">
            <a:avLst/>
          </a:prstGeom>
          <a:noFill/>
          <a:ln w="0">
            <a:noFill/>
          </a:ln>
        </p:spPr>
        <p:txBody>
          <a:bodyPr wrap="square" lIns="0" tIns="0" rIns="0" bIns="0" anchor="t">
            <a:noAutofit/>
          </a:bodyPr>
          <a:lstStyle/>
          <a:p>
            <a:pPr algn="l">
              <a:lnSpc>
                <a:spcPct val="105000"/>
              </a:lnSpc>
              <a:buNone/>
              <a:defRPr sz="2025" b="0">
                <a:solidFill>
                  <a:srgbClr val="21688D"/>
                </a:solidFill>
                <a:latin typeface="Times New Roman"/>
                <a:ea typeface="Times New Roman"/>
                <a:cs typeface="Times New Roman"/>
              </a:defRPr>
            </a:pPr>
            <a:r>
              <a:rPr sz="2025" b="0">
                <a:solidFill>
                  <a:srgbClr val="21688D"/>
                </a:solidFill>
                <a:latin typeface="Times New Roman"/>
                <a:ea typeface="Times New Roman"/>
                <a:cs typeface="Times New Roman"/>
                <a:hlinkClick r:id="rId3"/>
              </a:rPr>
              <a:t>JSON.org</a:t>
            </a:r>
            <a:r>
              <a:rPr sz="2025" b="0">
                <a:solidFill>
                  <a:srgbClr val="21688D"/>
                </a:solidFill>
                <a:latin typeface="Times New Roman"/>
                <a:ea typeface="Times New Roman"/>
                <a:cs typeface="Times New Roman"/>
              </a:rPr>
              <a:t> · </a:t>
            </a:r>
            <a:r>
              <a:rPr sz="2025" b="0">
                <a:solidFill>
                  <a:srgbClr val="21688D"/>
                </a:solidFill>
                <a:latin typeface="Times New Roman"/>
                <a:ea typeface="Times New Roman"/>
                <a:cs typeface="Times New Roman"/>
                <a:hlinkClick r:id="rId4"/>
              </a:rPr>
              <a:t>RFC 8259</a:t>
            </a:r>
            <a:r>
              <a:rPr sz="2025" b="0">
                <a:solidFill>
                  <a:srgbClr val="21688D"/>
                </a:solidFill>
                <a:latin typeface="Times New Roman"/>
                <a:ea typeface="Times New Roman"/>
                <a:cs typeface="Times New Roman"/>
              </a:rPr>
              <a:t> · </a:t>
            </a:r>
            <a:r>
              <a:rPr sz="2025" b="0">
                <a:solidFill>
                  <a:srgbClr val="21688D"/>
                </a:solidFill>
                <a:latin typeface="Times New Roman"/>
                <a:ea typeface="Times New Roman"/>
                <a:cs typeface="Times New Roman"/>
                <a:hlinkClick r:id="rId5"/>
              </a:rPr>
              <a:t>ECMA-404</a:t>
            </a:r>
          </a:p>
        </p:txBody>
      </p:sp>
      <p:sp>
        <p:nvSpPr>
          <p:cNvPr id="6" name="Python encoding and decoding">
            <a:extLst>
              <a:ext uri="{FF2B5EF4-FFF2-40B4-BE49-F238E27FC236}">
                <a16:creationId xmlns:a16="http://schemas.microsoft.com/office/drawing/2014/main" id="{EF02976E-5F25-4DC6-8CD8-72D7564D12B1}"/>
              </a:ext>
            </a:extLst>
          </p:cNvPr>
          <p:cNvSpPr>
            <a:spLocks noGrp="1"/>
          </p:cNvSpPr>
          <p:nvPr/>
        </p:nvSpPr>
        <p:spPr>
          <a:xfrm>
            <a:off x="600075" y="2133600"/>
            <a:ext cx="4543425" cy="381000"/>
          </a:xfrm>
          <a:prstGeom prst="rect">
            <a:avLst/>
          </a:prstGeom>
          <a:noFill/>
          <a:ln w="0">
            <a:noFill/>
          </a:ln>
        </p:spPr>
        <p:txBody>
          <a:bodyPr wrap="square" lIns="0" tIns="0" rIns="0" bIns="0" anchor="t">
            <a:noAutofit/>
          </a:bodyPr>
          <a:lstStyle/>
          <a:p>
            <a:pPr algn="l">
              <a:lnSpc>
                <a:spcPct val="105000"/>
              </a:lnSpc>
              <a:buNone/>
              <a:defRPr sz="2250" b="1">
                <a:solidFill>
                  <a:srgbClr val="24323E"/>
                </a:solidFill>
                <a:latin typeface="Times New Roman"/>
                <a:ea typeface="Times New Roman"/>
                <a:cs typeface="Times New Roman"/>
              </a:defRPr>
            </a:pPr>
            <a:r>
              <a:rPr sz="2250" b="1">
                <a:solidFill>
                  <a:srgbClr val="24323E"/>
                </a:solidFill>
                <a:latin typeface="Times New Roman"/>
                <a:ea typeface="Times New Roman"/>
                <a:cs typeface="Times New Roman"/>
              </a:rPr>
              <a:t>Python encoding and decoding</a:t>
            </a:r>
          </a:p>
        </p:txBody>
      </p:sp>
      <p:sp>
        <p:nvSpPr>
          <p:cNvPr id="7" name="Python json module">
            <a:extLst>
              <a:ext uri="{FF2B5EF4-FFF2-40B4-BE49-F238E27FC236}">
                <a16:creationId xmlns:a16="http://schemas.microsoft.com/office/drawing/2014/main" id="{E7E50B8A-75E2-45AB-BAA3-981457E977A6}"/>
              </a:ext>
            </a:extLst>
          </p:cNvPr>
          <p:cNvSpPr>
            <a:spLocks noGrp="1"/>
          </p:cNvSpPr>
          <p:nvPr/>
        </p:nvSpPr>
        <p:spPr>
          <a:xfrm>
            <a:off x="5295900" y="2133600"/>
            <a:ext cx="6172200" cy="514350"/>
          </a:xfrm>
          <a:prstGeom prst="rect">
            <a:avLst/>
          </a:prstGeom>
          <a:noFill/>
          <a:ln w="0">
            <a:noFill/>
          </a:ln>
        </p:spPr>
        <p:txBody>
          <a:bodyPr wrap="square" lIns="0" tIns="0" rIns="0" bIns="0" anchor="t">
            <a:noAutofit/>
          </a:bodyPr>
          <a:lstStyle/>
          <a:p>
            <a:pPr algn="l">
              <a:lnSpc>
                <a:spcPct val="105000"/>
              </a:lnSpc>
              <a:buNone/>
              <a:defRPr sz="2025" b="0">
                <a:solidFill>
                  <a:srgbClr val="21688D"/>
                </a:solidFill>
                <a:latin typeface="Times New Roman"/>
                <a:ea typeface="Times New Roman"/>
                <a:cs typeface="Times New Roman"/>
              </a:defRPr>
            </a:pPr>
            <a:r>
              <a:rPr sz="2025" b="0">
                <a:solidFill>
                  <a:srgbClr val="21688D"/>
                </a:solidFill>
                <a:latin typeface="Times New Roman"/>
                <a:ea typeface="Times New Roman"/>
                <a:cs typeface="Times New Roman"/>
                <a:hlinkClick r:id="rId6"/>
              </a:rPr>
              <a:t>Python json module</a:t>
            </a:r>
          </a:p>
        </p:txBody>
      </p:sp>
      <p:sp>
        <p:nvSpPr>
          <p:cNvPr id="8" name="Data contracts">
            <a:extLst>
              <a:ext uri="{FF2B5EF4-FFF2-40B4-BE49-F238E27FC236}">
                <a16:creationId xmlns:a16="http://schemas.microsoft.com/office/drawing/2014/main" id="{C036953D-3551-42BC-B108-AE07DD29E5B8}"/>
              </a:ext>
            </a:extLst>
          </p:cNvPr>
          <p:cNvSpPr>
            <a:spLocks noGrp="1"/>
          </p:cNvSpPr>
          <p:nvPr/>
        </p:nvSpPr>
        <p:spPr>
          <a:xfrm>
            <a:off x="600075" y="3067050"/>
            <a:ext cx="4543425" cy="381000"/>
          </a:xfrm>
          <a:prstGeom prst="rect">
            <a:avLst/>
          </a:prstGeom>
          <a:noFill/>
          <a:ln w="0">
            <a:noFill/>
          </a:ln>
        </p:spPr>
        <p:txBody>
          <a:bodyPr wrap="square" lIns="0" tIns="0" rIns="0" bIns="0" anchor="t">
            <a:noAutofit/>
          </a:bodyPr>
          <a:lstStyle/>
          <a:p>
            <a:pPr algn="l">
              <a:lnSpc>
                <a:spcPct val="105000"/>
              </a:lnSpc>
              <a:buNone/>
              <a:defRPr sz="2250" b="1">
                <a:solidFill>
                  <a:srgbClr val="24323E"/>
                </a:solidFill>
                <a:latin typeface="Times New Roman"/>
                <a:ea typeface="Times New Roman"/>
                <a:cs typeface="Times New Roman"/>
              </a:defRPr>
            </a:pPr>
            <a:r>
              <a:rPr sz="2250" b="1">
                <a:solidFill>
                  <a:srgbClr val="24323E"/>
                </a:solidFill>
                <a:latin typeface="Times New Roman"/>
                <a:ea typeface="Times New Roman"/>
                <a:cs typeface="Times New Roman"/>
              </a:rPr>
              <a:t>Data contracts</a:t>
            </a:r>
          </a:p>
        </p:txBody>
      </p:sp>
      <p:sp>
        <p:nvSpPr>
          <p:cNvPr id="9" name="Understanding JSON Schema · python-">
            <a:extLst>
              <a:ext uri="{FF2B5EF4-FFF2-40B4-BE49-F238E27FC236}">
                <a16:creationId xmlns:a16="http://schemas.microsoft.com/office/drawing/2014/main" id="{0F9861F9-5555-4CAF-9EA4-3C65A68B9005}"/>
              </a:ext>
            </a:extLst>
          </p:cNvPr>
          <p:cNvSpPr>
            <a:spLocks noGrp="1"/>
          </p:cNvSpPr>
          <p:nvPr/>
        </p:nvSpPr>
        <p:spPr>
          <a:xfrm>
            <a:off x="5295900" y="3067050"/>
            <a:ext cx="6172200" cy="514350"/>
          </a:xfrm>
          <a:prstGeom prst="rect">
            <a:avLst/>
          </a:prstGeom>
          <a:noFill/>
          <a:ln w="0">
            <a:noFill/>
          </a:ln>
        </p:spPr>
        <p:txBody>
          <a:bodyPr wrap="square" lIns="0" tIns="0" rIns="0" bIns="0" anchor="t">
            <a:noAutofit/>
          </a:bodyPr>
          <a:lstStyle/>
          <a:p>
            <a:pPr algn="l">
              <a:lnSpc>
                <a:spcPct val="105000"/>
              </a:lnSpc>
              <a:buNone/>
              <a:defRPr sz="2025" b="0">
                <a:solidFill>
                  <a:srgbClr val="21688D"/>
                </a:solidFill>
                <a:latin typeface="Times New Roman"/>
                <a:ea typeface="Times New Roman"/>
                <a:cs typeface="Times New Roman"/>
              </a:defRPr>
            </a:pPr>
            <a:r>
              <a:rPr sz="2025" b="0">
                <a:solidFill>
                  <a:srgbClr val="21688D"/>
                </a:solidFill>
                <a:latin typeface="Times New Roman"/>
                <a:ea typeface="Times New Roman"/>
                <a:cs typeface="Times New Roman"/>
                <a:hlinkClick r:id="rId7"/>
              </a:rPr>
              <a:t>Understanding JSON Schema</a:t>
            </a:r>
            <a:r>
              <a:rPr sz="2025" b="0">
                <a:solidFill>
                  <a:srgbClr val="21688D"/>
                </a:solidFill>
                <a:latin typeface="Times New Roman"/>
                <a:ea typeface="Times New Roman"/>
                <a:cs typeface="Times New Roman"/>
              </a:rPr>
              <a:t> · </a:t>
            </a:r>
            <a:r>
              <a:rPr sz="2025" b="0">
                <a:solidFill>
                  <a:srgbClr val="21688D"/>
                </a:solidFill>
                <a:latin typeface="Times New Roman"/>
                <a:ea typeface="Times New Roman"/>
                <a:cs typeface="Times New Roman"/>
                <a:hlinkClick r:id="rId8"/>
              </a:rPr>
              <a:t>python-jsonschema</a:t>
            </a:r>
          </a:p>
        </p:txBody>
      </p:sp>
      <p:sp>
        <p:nvSpPr>
          <p:cNvPr id="10" name="Nested records and web requests">
            <a:extLst>
              <a:ext uri="{FF2B5EF4-FFF2-40B4-BE49-F238E27FC236}">
                <a16:creationId xmlns:a16="http://schemas.microsoft.com/office/drawing/2014/main" id="{C385C4FF-BDB2-4876-8F8C-0EB6082E4B54}"/>
              </a:ext>
            </a:extLst>
          </p:cNvPr>
          <p:cNvSpPr>
            <a:spLocks noGrp="1"/>
          </p:cNvSpPr>
          <p:nvPr/>
        </p:nvSpPr>
        <p:spPr>
          <a:xfrm>
            <a:off x="600075" y="4000500"/>
            <a:ext cx="4543425" cy="381000"/>
          </a:xfrm>
          <a:prstGeom prst="rect">
            <a:avLst/>
          </a:prstGeom>
          <a:noFill/>
          <a:ln w="0">
            <a:noFill/>
          </a:ln>
        </p:spPr>
        <p:txBody>
          <a:bodyPr wrap="square" lIns="0" tIns="0" rIns="0" bIns="0" anchor="t">
            <a:noAutofit/>
          </a:bodyPr>
          <a:lstStyle/>
          <a:p>
            <a:pPr algn="l">
              <a:lnSpc>
                <a:spcPct val="105000"/>
              </a:lnSpc>
              <a:buNone/>
              <a:defRPr sz="2250" b="1">
                <a:solidFill>
                  <a:srgbClr val="24323E"/>
                </a:solidFill>
                <a:latin typeface="Times New Roman"/>
                <a:ea typeface="Times New Roman"/>
                <a:cs typeface="Times New Roman"/>
              </a:defRPr>
            </a:pPr>
            <a:r>
              <a:rPr sz="2250" b="1">
                <a:solidFill>
                  <a:srgbClr val="24323E"/>
                </a:solidFill>
                <a:latin typeface="Times New Roman"/>
                <a:ea typeface="Times New Roman"/>
                <a:cs typeface="Times New Roman"/>
              </a:rPr>
              <a:t>Nested records and web requests</a:t>
            </a:r>
          </a:p>
        </p:txBody>
      </p:sp>
      <p:sp>
        <p:nvSpPr>
          <p:cNvPr id="11" name="pandas.json_normalize · Requests Qu">
            <a:extLst>
              <a:ext uri="{FF2B5EF4-FFF2-40B4-BE49-F238E27FC236}">
                <a16:creationId xmlns:a16="http://schemas.microsoft.com/office/drawing/2014/main" id="{A5ADB369-F753-4606-AEE7-87CCF827791E}"/>
              </a:ext>
            </a:extLst>
          </p:cNvPr>
          <p:cNvSpPr>
            <a:spLocks noGrp="1"/>
          </p:cNvSpPr>
          <p:nvPr/>
        </p:nvSpPr>
        <p:spPr>
          <a:xfrm>
            <a:off x="5295900" y="4000500"/>
            <a:ext cx="6172200" cy="514350"/>
          </a:xfrm>
          <a:prstGeom prst="rect">
            <a:avLst/>
          </a:prstGeom>
          <a:noFill/>
          <a:ln w="0">
            <a:noFill/>
          </a:ln>
        </p:spPr>
        <p:txBody>
          <a:bodyPr wrap="square" lIns="0" tIns="0" rIns="0" bIns="0" anchor="t">
            <a:noAutofit/>
          </a:bodyPr>
          <a:lstStyle/>
          <a:p>
            <a:pPr algn="l">
              <a:lnSpc>
                <a:spcPct val="105000"/>
              </a:lnSpc>
              <a:buNone/>
              <a:defRPr sz="2025" b="0">
                <a:solidFill>
                  <a:srgbClr val="21688D"/>
                </a:solidFill>
                <a:latin typeface="Times New Roman"/>
                <a:ea typeface="Times New Roman"/>
                <a:cs typeface="Times New Roman"/>
              </a:defRPr>
            </a:pPr>
            <a:r>
              <a:rPr sz="2025" b="0">
                <a:solidFill>
                  <a:srgbClr val="21688D"/>
                </a:solidFill>
                <a:latin typeface="Times New Roman"/>
                <a:ea typeface="Times New Roman"/>
                <a:cs typeface="Times New Roman"/>
                <a:hlinkClick r:id="rId9"/>
              </a:rPr>
              <a:t>pandas.json_normalize</a:t>
            </a:r>
            <a:r>
              <a:rPr sz="2025" b="0">
                <a:solidFill>
                  <a:srgbClr val="21688D"/>
                </a:solidFill>
                <a:latin typeface="Times New Roman"/>
                <a:ea typeface="Times New Roman"/>
                <a:cs typeface="Times New Roman"/>
              </a:rPr>
              <a:t> · </a:t>
            </a:r>
            <a:r>
              <a:rPr sz="2025" b="0">
                <a:solidFill>
                  <a:srgbClr val="21688D"/>
                </a:solidFill>
                <a:latin typeface="Times New Roman"/>
                <a:ea typeface="Times New Roman"/>
                <a:cs typeface="Times New Roman"/>
                <a:hlinkClick r:id="rId10"/>
              </a:rPr>
              <a:t>Requests Quickstart</a:t>
            </a:r>
          </a:p>
        </p:txBody>
      </p:sp>
      <p:sp>
        <p:nvSpPr>
          <p:cNvPr id="12" name="Optional reading">
            <a:extLst>
              <a:ext uri="{FF2B5EF4-FFF2-40B4-BE49-F238E27FC236}">
                <a16:creationId xmlns:a16="http://schemas.microsoft.com/office/drawing/2014/main" id="{687E51E6-13AF-4582-8B80-83E19196FF0D}"/>
              </a:ext>
            </a:extLst>
          </p:cNvPr>
          <p:cNvSpPr>
            <a:spLocks noGrp="1"/>
          </p:cNvSpPr>
          <p:nvPr/>
        </p:nvSpPr>
        <p:spPr>
          <a:xfrm>
            <a:off x="600075" y="4933950"/>
            <a:ext cx="4543425" cy="381000"/>
          </a:xfrm>
          <a:prstGeom prst="rect">
            <a:avLst/>
          </a:prstGeom>
          <a:noFill/>
          <a:ln w="0">
            <a:noFill/>
          </a:ln>
        </p:spPr>
        <p:txBody>
          <a:bodyPr wrap="square" lIns="0" tIns="0" rIns="0" bIns="0" anchor="t">
            <a:noAutofit/>
          </a:bodyPr>
          <a:lstStyle/>
          <a:p>
            <a:pPr algn="l">
              <a:lnSpc>
                <a:spcPct val="105000"/>
              </a:lnSpc>
              <a:buNone/>
              <a:defRPr sz="2250" b="1">
                <a:solidFill>
                  <a:srgbClr val="24323E"/>
                </a:solidFill>
                <a:latin typeface="Times New Roman"/>
                <a:ea typeface="Times New Roman"/>
                <a:cs typeface="Times New Roman"/>
              </a:defRPr>
            </a:pPr>
            <a:r>
              <a:rPr sz="2250" b="1">
                <a:solidFill>
                  <a:srgbClr val="24323E"/>
                </a:solidFill>
                <a:latin typeface="Times New Roman"/>
                <a:ea typeface="Times New Roman"/>
                <a:cs typeface="Times New Roman"/>
              </a:rPr>
              <a:t>Optional reading</a:t>
            </a:r>
          </a:p>
        </p:txBody>
      </p:sp>
      <p:sp>
        <p:nvSpPr>
          <p:cNvPr id="13" name="RFC 4627 (history) · JSON Lines">
            <a:extLst>
              <a:ext uri="{FF2B5EF4-FFF2-40B4-BE49-F238E27FC236}">
                <a16:creationId xmlns:a16="http://schemas.microsoft.com/office/drawing/2014/main" id="{1E6B7DBD-A7BA-40E9-AFDD-55A0E8F53F0B}"/>
              </a:ext>
            </a:extLst>
          </p:cNvPr>
          <p:cNvSpPr>
            <a:spLocks noGrp="1"/>
          </p:cNvSpPr>
          <p:nvPr/>
        </p:nvSpPr>
        <p:spPr>
          <a:xfrm>
            <a:off x="5295900" y="4933950"/>
            <a:ext cx="6172200" cy="514350"/>
          </a:xfrm>
          <a:prstGeom prst="rect">
            <a:avLst/>
          </a:prstGeom>
          <a:noFill/>
          <a:ln w="0">
            <a:noFill/>
          </a:ln>
        </p:spPr>
        <p:txBody>
          <a:bodyPr wrap="square" lIns="0" tIns="0" rIns="0" bIns="0" anchor="t">
            <a:noAutofit/>
          </a:bodyPr>
          <a:lstStyle/>
          <a:p>
            <a:pPr algn="l">
              <a:lnSpc>
                <a:spcPct val="105000"/>
              </a:lnSpc>
              <a:buNone/>
              <a:defRPr sz="2025" b="0">
                <a:solidFill>
                  <a:srgbClr val="21688D"/>
                </a:solidFill>
                <a:latin typeface="Times New Roman"/>
                <a:ea typeface="Times New Roman"/>
                <a:cs typeface="Times New Roman"/>
              </a:defRPr>
            </a:pPr>
            <a:r>
              <a:rPr sz="2025" b="0">
                <a:solidFill>
                  <a:srgbClr val="21688D"/>
                </a:solidFill>
                <a:latin typeface="Times New Roman"/>
                <a:ea typeface="Times New Roman"/>
                <a:cs typeface="Times New Roman"/>
                <a:hlinkClick r:id="rId11"/>
              </a:rPr>
              <a:t>RFC 4627</a:t>
            </a:r>
            <a:r>
              <a:rPr sz="2025" b="0">
                <a:solidFill>
                  <a:srgbClr val="21688D"/>
                </a:solidFill>
                <a:latin typeface="Times New Roman"/>
                <a:ea typeface="Times New Roman"/>
                <a:cs typeface="Times New Roman"/>
              </a:rPr>
              <a:t> (history) · </a:t>
            </a:r>
            <a:r>
              <a:rPr sz="2025" b="0">
                <a:solidFill>
                  <a:srgbClr val="21688D"/>
                </a:solidFill>
                <a:latin typeface="Times New Roman"/>
                <a:ea typeface="Times New Roman"/>
                <a:cs typeface="Times New Roman"/>
                <a:hlinkClick r:id="rId12"/>
              </a:rPr>
              <a:t>JSON Lines</a:t>
            </a:r>
          </a:p>
        </p:txBody>
      </p:sp>
    </p:spTree>
    <p:extLst>
      <p:ext uri="{BB962C8B-B14F-4D97-AF65-F5344CB8AC3E}">
        <p14:creationId xmlns:p14="http://schemas.microsoft.com/office/powerpoint/2010/main" val="37236501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Appendix A: </a:t>
            </a:r>
            <a:r>
              <a:rPr sz="3788">
                <a:solidFill>
                  <a:srgbClr val="F67132"/>
                </a:solidFill>
                <a:latin typeface="Times New Roman"/>
                <a:ea typeface="Times New Roman"/>
                <a:cs typeface="Times New Roman"/>
              </a:rPr>
              <a:t>syntax exercise solution</a:t>
            </a:r>
          </a:p>
        </p:txBody>
      </p:sp>
      <p:sp>
        <p:nvSpPr>
          <p:cNvPr id="3" name="31">
            <a:extLst>
              <a:ext uri="{FF2B5EF4-FFF2-40B4-BE49-F238E27FC236}">
                <a16:creationId xmlns:a16="http://schemas.microsoft.com/office/drawing/2014/main" id="{B148685F-0C00-4BF2-99CD-BF3AC893198D}"/>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31</a:t>
            </a:r>
          </a:p>
        </p:txBody>
      </p:sp>
      <p:sp>
        <p:nvSpPr>
          <p:cNvPr id="4" name="Editable code example">
            <a:extLst>
              <a:ext uri="{FF2B5EF4-FFF2-40B4-BE49-F238E27FC236}">
                <a16:creationId xmlns:a16="http://schemas.microsoft.com/office/drawing/2014/main" id="{3171E0D9-DA64-4E92-962B-FB7EFA67F1BA}"/>
              </a:ext>
            </a:extLst>
          </p:cNvPr>
          <p:cNvSpPr>
            <a:spLocks noGrp="1"/>
          </p:cNvSpPr>
          <p:nvPr/>
        </p:nvSpPr>
        <p:spPr>
          <a:xfrm>
            <a:off x="600075" y="1352550"/>
            <a:ext cx="6753225" cy="2765793"/>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2200" b="0">
                <a:solidFill>
                  <a:srgbClr val="24323E"/>
                </a:solidFill>
                <a:latin typeface="Courier New"/>
                <a:ea typeface="Courier New"/>
                <a:cs typeface="Courier New"/>
              </a:defRPr>
            </a:pPr>
            <a:r>
              <a:rPr sz="2200">
                <a:solidFill>
                  <a:srgbClr val="24323E"/>
                </a:solidFill>
                <a:latin typeface="Courier New"/>
                <a:ea typeface="Courier New"/>
                <a:cs typeface="Courier New"/>
              </a:rPr>
              <a:t>{</a:t>
            </a:r>
          </a:p>
          <a:p>
            <a:pPr algn="l">
              <a:spcBef>
                <a:spcPts val="0"/>
              </a:spcBef>
              <a:spcAft>
                <a:spcPts val="0"/>
              </a:spcAft>
              <a:buNone/>
              <a:defRPr sz="2200" b="0">
                <a:solidFill>
                  <a:srgbClr val="24323E"/>
                </a:solidFill>
                <a:latin typeface="Courier New"/>
                <a:ea typeface="Courier New"/>
                <a:cs typeface="Courier New"/>
              </a:defRPr>
            </a:pPr>
            <a:r>
              <a:rPr sz="2200">
                <a:solidFill>
                  <a:srgbClr val="24323E"/>
                </a:solidFill>
                <a:latin typeface="Courier New"/>
                <a:ea typeface="Courier New"/>
                <a:cs typeface="Courier New"/>
              </a:rPr>
              <a:t>  </a:t>
            </a:r>
            <a:r>
              <a:rPr sz="2200">
                <a:solidFill>
                  <a:srgbClr val="A94B23"/>
                </a:solidFill>
                <a:latin typeface="Courier New"/>
                <a:ea typeface="Courier New"/>
                <a:cs typeface="Courier New"/>
              </a:rPr>
              <a:t>"station_id"</a:t>
            </a:r>
            <a:r>
              <a:rPr sz="2200">
                <a:solidFill>
                  <a:srgbClr val="24323E"/>
                </a:solidFill>
                <a:latin typeface="Courier New"/>
                <a:ea typeface="Courier New"/>
                <a:cs typeface="Courier New"/>
              </a:rPr>
              <a:t>: </a:t>
            </a:r>
            <a:r>
              <a:rPr sz="2200">
                <a:solidFill>
                  <a:srgbClr val="A94B23"/>
                </a:solidFill>
                <a:latin typeface="Courier New"/>
                <a:ea typeface="Courier New"/>
                <a:cs typeface="Courier New"/>
              </a:rPr>
              <a:t>"A1"</a:t>
            </a:r>
            <a:r>
              <a:rPr sz="2200">
                <a:solidFill>
                  <a:srgbClr val="24323E"/>
                </a:solidFill>
                <a:latin typeface="Courier New"/>
                <a:ea typeface="Courier New"/>
                <a:cs typeface="Courier New"/>
              </a:rPr>
              <a:t>,</a:t>
            </a:r>
          </a:p>
          <a:p>
            <a:pPr algn="l">
              <a:spcBef>
                <a:spcPts val="0"/>
              </a:spcBef>
              <a:spcAft>
                <a:spcPts val="0"/>
              </a:spcAft>
              <a:buNone/>
              <a:defRPr sz="2200" b="0">
                <a:solidFill>
                  <a:srgbClr val="24323E"/>
                </a:solidFill>
                <a:latin typeface="Courier New"/>
                <a:ea typeface="Courier New"/>
                <a:cs typeface="Courier New"/>
              </a:defRPr>
            </a:pPr>
            <a:r>
              <a:rPr sz="2200">
                <a:solidFill>
                  <a:srgbClr val="24323E"/>
                </a:solidFill>
                <a:latin typeface="Courier New"/>
                <a:ea typeface="Courier New"/>
                <a:cs typeface="Courier New"/>
              </a:rPr>
              <a:t>  </a:t>
            </a:r>
            <a:r>
              <a:rPr sz="2200">
                <a:solidFill>
                  <a:srgbClr val="A94B23"/>
                </a:solidFill>
                <a:latin typeface="Courier New"/>
                <a:ea typeface="Courier New"/>
                <a:cs typeface="Courier New"/>
              </a:rPr>
              <a:t>"active"</a:t>
            </a:r>
            <a:r>
              <a:rPr sz="2200">
                <a:solidFill>
                  <a:srgbClr val="24323E"/>
                </a:solidFill>
                <a:latin typeface="Courier New"/>
                <a:ea typeface="Courier New"/>
                <a:cs typeface="Courier New"/>
              </a:rPr>
              <a:t>: </a:t>
            </a:r>
            <a:r>
              <a:rPr sz="2200">
                <a:solidFill>
                  <a:srgbClr val="21688D"/>
                </a:solidFill>
                <a:latin typeface="Courier New"/>
                <a:ea typeface="Courier New"/>
                <a:cs typeface="Courier New"/>
              </a:rPr>
              <a:t>true</a:t>
            </a:r>
            <a:r>
              <a:rPr sz="2200">
                <a:solidFill>
                  <a:srgbClr val="24323E"/>
                </a:solidFill>
                <a:latin typeface="Courier New"/>
                <a:ea typeface="Courier New"/>
                <a:cs typeface="Courier New"/>
              </a:rPr>
              <a:t>,</a:t>
            </a:r>
          </a:p>
          <a:p>
            <a:pPr algn="l">
              <a:spcBef>
                <a:spcPts val="0"/>
              </a:spcBef>
              <a:spcAft>
                <a:spcPts val="0"/>
              </a:spcAft>
              <a:buNone/>
              <a:defRPr sz="2200" b="0">
                <a:solidFill>
                  <a:srgbClr val="24323E"/>
                </a:solidFill>
                <a:latin typeface="Courier New"/>
                <a:ea typeface="Courier New"/>
                <a:cs typeface="Courier New"/>
              </a:defRPr>
            </a:pPr>
            <a:r>
              <a:rPr sz="2200">
                <a:solidFill>
                  <a:srgbClr val="24323E"/>
                </a:solidFill>
                <a:latin typeface="Courier New"/>
                <a:ea typeface="Courier New"/>
                <a:cs typeface="Courier New"/>
              </a:rPr>
              <a:t>  </a:t>
            </a:r>
            <a:r>
              <a:rPr sz="2200">
                <a:solidFill>
                  <a:srgbClr val="A94B23"/>
                </a:solidFill>
                <a:latin typeface="Courier New"/>
                <a:ea typeface="Courier New"/>
                <a:cs typeface="Courier New"/>
              </a:rPr>
              <a:t>"readings"</a:t>
            </a:r>
            <a:r>
              <a:rPr sz="2200">
                <a:solidFill>
                  <a:srgbClr val="24323E"/>
                </a:solidFill>
                <a:latin typeface="Courier New"/>
                <a:ea typeface="Courier New"/>
                <a:cs typeface="Courier New"/>
              </a:rPr>
              <a:t>: [</a:t>
            </a:r>
          </a:p>
          <a:p>
            <a:pPr algn="l">
              <a:spcBef>
                <a:spcPts val="0"/>
              </a:spcBef>
              <a:spcAft>
                <a:spcPts val="0"/>
              </a:spcAft>
              <a:buNone/>
              <a:defRPr sz="2200" b="0">
                <a:solidFill>
                  <a:srgbClr val="24323E"/>
                </a:solidFill>
                <a:latin typeface="Courier New"/>
                <a:ea typeface="Courier New"/>
                <a:cs typeface="Courier New"/>
              </a:defRPr>
            </a:pPr>
            <a:r>
              <a:rPr sz="2200">
                <a:solidFill>
                  <a:srgbClr val="24323E"/>
                </a:solidFill>
                <a:latin typeface="Courier New"/>
                <a:ea typeface="Courier New"/>
                <a:cs typeface="Courier New"/>
              </a:rPr>
              <a:t>    {</a:t>
            </a:r>
            <a:r>
              <a:rPr sz="2200">
                <a:solidFill>
                  <a:srgbClr val="A94B23"/>
                </a:solidFill>
                <a:latin typeface="Courier New"/>
                <a:ea typeface="Courier New"/>
                <a:cs typeface="Courier New"/>
              </a:rPr>
              <a:t>"hour"</a:t>
            </a:r>
            <a:r>
              <a:rPr sz="2200">
                <a:solidFill>
                  <a:srgbClr val="24323E"/>
                </a:solidFill>
                <a:latin typeface="Courier New"/>
                <a:ea typeface="Courier New"/>
                <a:cs typeface="Courier New"/>
              </a:rPr>
              <a:t>: </a:t>
            </a:r>
            <a:r>
              <a:rPr sz="2200">
                <a:solidFill>
                  <a:srgbClr val="21688D"/>
                </a:solidFill>
                <a:latin typeface="Courier New"/>
                <a:ea typeface="Courier New"/>
                <a:cs typeface="Courier New"/>
              </a:rPr>
              <a:t>9</a:t>
            </a:r>
            <a:r>
              <a:rPr sz="2200">
                <a:solidFill>
                  <a:srgbClr val="24323E"/>
                </a:solidFill>
                <a:latin typeface="Courier New"/>
                <a:ea typeface="Courier New"/>
                <a:cs typeface="Courier New"/>
              </a:rPr>
              <a:t>, </a:t>
            </a:r>
            <a:r>
              <a:rPr sz="2200">
                <a:solidFill>
                  <a:srgbClr val="A94B23"/>
                </a:solidFill>
                <a:latin typeface="Courier New"/>
                <a:ea typeface="Courier New"/>
                <a:cs typeface="Courier New"/>
              </a:rPr>
              <a:t>"pm25"</a:t>
            </a:r>
            <a:r>
              <a:rPr sz="2200">
                <a:solidFill>
                  <a:srgbClr val="24323E"/>
                </a:solidFill>
                <a:latin typeface="Courier New"/>
                <a:ea typeface="Courier New"/>
                <a:cs typeface="Courier New"/>
              </a:rPr>
              <a:t>: </a:t>
            </a:r>
            <a:r>
              <a:rPr sz="2200">
                <a:solidFill>
                  <a:srgbClr val="21688D"/>
                </a:solidFill>
                <a:latin typeface="Courier New"/>
                <a:ea typeface="Courier New"/>
                <a:cs typeface="Courier New"/>
              </a:rPr>
              <a:t>0.8</a:t>
            </a:r>
            <a:r>
              <a:rPr sz="2200">
                <a:solidFill>
                  <a:srgbClr val="24323E"/>
                </a:solidFill>
                <a:latin typeface="Courier New"/>
                <a:ea typeface="Courier New"/>
                <a:cs typeface="Courier New"/>
              </a:rPr>
              <a:t>}</a:t>
            </a:r>
          </a:p>
          <a:p>
            <a:pPr algn="l">
              <a:spcBef>
                <a:spcPts val="0"/>
              </a:spcBef>
              <a:spcAft>
                <a:spcPts val="0"/>
              </a:spcAft>
              <a:buNone/>
              <a:defRPr sz="2200" b="0">
                <a:solidFill>
                  <a:srgbClr val="24323E"/>
                </a:solidFill>
                <a:latin typeface="Courier New"/>
                <a:ea typeface="Courier New"/>
                <a:cs typeface="Courier New"/>
              </a:defRPr>
            </a:pPr>
            <a:r>
              <a:rPr sz="2200">
                <a:solidFill>
                  <a:srgbClr val="24323E"/>
                </a:solidFill>
                <a:latin typeface="Courier New"/>
                <a:ea typeface="Courier New"/>
                <a:cs typeface="Courier New"/>
              </a:rPr>
              <a:t>  ]</a:t>
            </a:r>
          </a:p>
          <a:p>
            <a:pPr algn="l">
              <a:spcBef>
                <a:spcPts val="0"/>
              </a:spcBef>
              <a:spcAft>
                <a:spcPts val="0"/>
              </a:spcAft>
              <a:buNone/>
              <a:defRPr sz="2200" b="0">
                <a:solidFill>
                  <a:srgbClr val="24323E"/>
                </a:solidFill>
                <a:latin typeface="Courier New"/>
                <a:ea typeface="Courier New"/>
                <a:cs typeface="Courier New"/>
              </a:defRPr>
            </a:pPr>
            <a:r>
              <a:rPr sz="2200">
                <a:solidFill>
                  <a:srgbClr val="24323E"/>
                </a:solidFill>
                <a:latin typeface="Courier New"/>
                <a:ea typeface="Courier New"/>
                <a:cs typeface="Courier New"/>
              </a:rPr>
              <a:t>}</a:t>
            </a:r>
          </a:p>
        </p:txBody>
      </p:sp>
      <p:sp>
        <p:nvSpPr>
          <p:cNvPr id="5" name="Four repairs">
            <a:extLst>
              <a:ext uri="{FF2B5EF4-FFF2-40B4-BE49-F238E27FC236}">
                <a16:creationId xmlns:a16="http://schemas.microsoft.com/office/drawing/2014/main" id="{BC888C37-966A-40ED-A531-F1C8ED1B8E13}"/>
              </a:ext>
            </a:extLst>
          </p:cNvPr>
          <p:cNvSpPr>
            <a:spLocks noGrp="1"/>
          </p:cNvSpPr>
          <p:nvPr/>
        </p:nvSpPr>
        <p:spPr>
          <a:xfrm>
            <a:off x="7991475" y="1466850"/>
            <a:ext cx="3419475"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Four repairs</a:t>
            </a:r>
          </a:p>
        </p:txBody>
      </p:sp>
      <p:sp>
        <p:nvSpPr>
          <p:cNvPr id="6" name="Double-quoted key&#10;Lowercase true&#10;0.">
            <a:extLst>
              <a:ext uri="{FF2B5EF4-FFF2-40B4-BE49-F238E27FC236}">
                <a16:creationId xmlns:a16="http://schemas.microsoft.com/office/drawing/2014/main" id="{AAEEB06B-7CF0-429B-83B5-3F762C4D2AF3}"/>
              </a:ext>
            </a:extLst>
          </p:cNvPr>
          <p:cNvSpPr>
            <a:spLocks noGrp="1"/>
          </p:cNvSpPr>
          <p:nvPr/>
        </p:nvSpPr>
        <p:spPr>
          <a:xfrm>
            <a:off x="7991475" y="1914525"/>
            <a:ext cx="3419475" cy="2286000"/>
          </a:xfrm>
          <a:prstGeom prst="rect">
            <a:avLst/>
          </a:prstGeom>
          <a:noFill/>
          <a:ln w="0">
            <a:noFill/>
          </a:ln>
        </p:spPr>
        <p:txBody>
          <a:bodyPr wrap="square" lIns="0" tIns="0" rIns="0" bIns="0" anchor="t">
            <a:noAutofit/>
          </a:bodyPr>
          <a:lstStyle/>
          <a:p>
            <a:pPr algn="l">
              <a:lnSpc>
                <a:spcPct val="105000"/>
              </a:lnSpc>
              <a:buNone/>
              <a:defRPr sz="2250" b="0">
                <a:solidFill>
                  <a:srgbClr val="24323E"/>
                </a:solidFill>
                <a:latin typeface="Times New Roman"/>
                <a:ea typeface="Times New Roman"/>
                <a:cs typeface="Times New Roman"/>
              </a:defRPr>
            </a:pPr>
            <a:r>
              <a:rPr sz="2250" b="0">
                <a:solidFill>
                  <a:srgbClr val="24323E"/>
                </a:solidFill>
                <a:latin typeface="Times New Roman"/>
                <a:ea typeface="Times New Roman"/>
                <a:cs typeface="Times New Roman"/>
              </a:rPr>
              <a:t>Double-quoted key</a:t>
            </a:r>
          </a:p>
          <a:p>
            <a:pPr algn="l">
              <a:lnSpc>
                <a:spcPct val="105000"/>
              </a:lnSpc>
              <a:buNone/>
              <a:defRPr sz="2250" b="0">
                <a:solidFill>
                  <a:srgbClr val="24323E"/>
                </a:solidFill>
                <a:latin typeface="Times New Roman"/>
                <a:ea typeface="Times New Roman"/>
                <a:cs typeface="Times New Roman"/>
              </a:defRPr>
            </a:pPr>
            <a:r>
              <a:rPr sz="2250" b="0">
                <a:solidFill>
                  <a:srgbClr val="24323E"/>
                </a:solidFill>
                <a:latin typeface="Times New Roman"/>
                <a:ea typeface="Times New Roman"/>
                <a:cs typeface="Times New Roman"/>
              </a:rPr>
              <a:t>Lowercase true</a:t>
            </a:r>
          </a:p>
          <a:p>
            <a:pPr algn="l">
              <a:lnSpc>
                <a:spcPct val="105000"/>
              </a:lnSpc>
              <a:buNone/>
              <a:defRPr sz="2250" b="0">
                <a:solidFill>
                  <a:srgbClr val="24323E"/>
                </a:solidFill>
                <a:latin typeface="Times New Roman"/>
                <a:ea typeface="Times New Roman"/>
                <a:cs typeface="Times New Roman"/>
              </a:defRPr>
            </a:pPr>
            <a:r>
              <a:rPr sz="2250" b="0">
                <a:solidFill>
                  <a:srgbClr val="24323E"/>
                </a:solidFill>
                <a:latin typeface="Times New Roman"/>
                <a:ea typeface="Times New Roman"/>
                <a:cs typeface="Times New Roman"/>
              </a:rPr>
              <a:t>0.8 instead of .8</a:t>
            </a:r>
          </a:p>
          <a:p>
            <a:pPr algn="l">
              <a:lnSpc>
                <a:spcPct val="105000"/>
              </a:lnSpc>
              <a:buNone/>
              <a:defRPr sz="2250" b="0">
                <a:solidFill>
                  <a:srgbClr val="24323E"/>
                </a:solidFill>
                <a:latin typeface="Times New Roman"/>
                <a:ea typeface="Times New Roman"/>
                <a:cs typeface="Times New Roman"/>
              </a:defRPr>
            </a:pPr>
            <a:r>
              <a:rPr sz="2250" b="0">
                <a:solidFill>
                  <a:srgbClr val="24323E"/>
                </a:solidFill>
                <a:latin typeface="Times New Roman"/>
                <a:ea typeface="Times New Roman"/>
                <a:cs typeface="Times New Roman"/>
              </a:rPr>
              <a:t>No trailing comma</a:t>
            </a:r>
          </a:p>
        </p:txBody>
      </p:sp>
      <p:sp>
        <p:nvSpPr>
          <p:cNvPr id="7" name="Valid syntax establishes a readable">
            <a:extLst>
              <a:ext uri="{FF2B5EF4-FFF2-40B4-BE49-F238E27FC236}">
                <a16:creationId xmlns:a16="http://schemas.microsoft.com/office/drawing/2014/main" id="{93B4B628-CC59-4DEA-9B72-4462C05A1FAD}"/>
              </a:ext>
            </a:extLst>
          </p:cNvPr>
          <p:cNvSpPr>
            <a:spLocks noGrp="1"/>
          </p:cNvSpPr>
          <p:nvPr/>
        </p:nvSpPr>
        <p:spPr>
          <a:xfrm>
            <a:off x="600075" y="5524500"/>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Valid syntax establishes a readable representation. Meaning requires more evidence.</a:t>
            </a:r>
          </a:p>
        </p:txBody>
      </p:sp>
    </p:spTree>
    <p:extLst>
      <p:ext uri="{BB962C8B-B14F-4D97-AF65-F5344CB8AC3E}">
        <p14:creationId xmlns:p14="http://schemas.microsoft.com/office/powerpoint/2010/main" val="37236501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Appendix B: </a:t>
            </a:r>
            <a:r>
              <a:rPr sz="3788">
                <a:solidFill>
                  <a:srgbClr val="F67132"/>
                </a:solidFill>
                <a:latin typeface="Times New Roman"/>
                <a:ea typeface="Times New Roman"/>
                <a:cs typeface="Times New Roman"/>
              </a:rPr>
              <a:t>stricter decoding</a:t>
            </a:r>
          </a:p>
        </p:txBody>
      </p:sp>
      <p:sp>
        <p:nvSpPr>
          <p:cNvPr id="3" name="32">
            <a:extLst>
              <a:ext uri="{FF2B5EF4-FFF2-40B4-BE49-F238E27FC236}">
                <a16:creationId xmlns:a16="http://schemas.microsoft.com/office/drawing/2014/main" id="{D082A94A-9A74-4F62-98E3-638309F3126F}"/>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32</a:t>
            </a:r>
          </a:p>
        </p:txBody>
      </p:sp>
      <p:sp>
        <p:nvSpPr>
          <p:cNvPr id="4" name="Editable code example">
            <a:extLst>
              <a:ext uri="{FF2B5EF4-FFF2-40B4-BE49-F238E27FC236}">
                <a16:creationId xmlns:a16="http://schemas.microsoft.com/office/drawing/2014/main" id="{91A11A97-750F-4C44-9F93-4BF7E7189659}"/>
              </a:ext>
            </a:extLst>
          </p:cNvPr>
          <p:cNvSpPr>
            <a:spLocks noGrp="1"/>
          </p:cNvSpPr>
          <p:nvPr/>
        </p:nvSpPr>
        <p:spPr>
          <a:xfrm>
            <a:off x="600075" y="1133475"/>
            <a:ext cx="8743950" cy="4131564"/>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def reject_constant(token):</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raise ValueError(f</a:t>
            </a:r>
            <a:r>
              <a:rPr sz="1740">
                <a:solidFill>
                  <a:srgbClr val="A94B23"/>
                </a:solidFill>
                <a:latin typeface="Courier New"/>
                <a:ea typeface="Courier New"/>
                <a:cs typeface="Courier New"/>
              </a:rPr>
              <a:t>"Non-JSON token: {token}"</a:t>
            </a: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endParaRPr sz="1740">
              <a:solidFill>
                <a:srgbClr val="24323E"/>
              </a:solidFill>
              <a:latin typeface="Courier New"/>
              <a:ea typeface="Courier New"/>
              <a:cs typeface="Courier New"/>
            </a:endParaRP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def unique_names(pairs):</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result = {}</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for key, value in pairs:</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if key in result: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raise ValueError(f</a:t>
            </a:r>
            <a:r>
              <a:rPr sz="1740">
                <a:solidFill>
                  <a:srgbClr val="A94B23"/>
                </a:solidFill>
                <a:latin typeface="Courier New"/>
                <a:ea typeface="Courier New"/>
                <a:cs typeface="Courier New"/>
              </a:rPr>
              <a:t>"Repeated name: {key}"</a:t>
            </a: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result[key] = value</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return result</a:t>
            </a:r>
          </a:p>
          <a:p>
            <a:pPr algn="l">
              <a:spcBef>
                <a:spcPts val="0"/>
              </a:spcBef>
              <a:spcAft>
                <a:spcPts val="0"/>
              </a:spcAft>
              <a:buNone/>
              <a:defRPr sz="1740" b="0">
                <a:solidFill>
                  <a:srgbClr val="24323E"/>
                </a:solidFill>
                <a:latin typeface="Courier New"/>
                <a:ea typeface="Courier New"/>
                <a:cs typeface="Courier New"/>
              </a:defRPr>
            </a:pPr>
            <a:endParaRPr sz="1740">
              <a:solidFill>
                <a:srgbClr val="24323E"/>
              </a:solidFill>
              <a:latin typeface="Courier New"/>
              <a:ea typeface="Courier New"/>
              <a:cs typeface="Courier New"/>
            </a:endParaRP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data = json.loads(raw_text,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parse_constant=reject_constant,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object_pairs_hook=unique_names)</a:t>
            </a:r>
          </a:p>
        </p:txBody>
      </p:sp>
      <p:sp>
        <p:nvSpPr>
          <p:cNvPr id="5" name="Constants">
            <a:extLst>
              <a:ext uri="{FF2B5EF4-FFF2-40B4-BE49-F238E27FC236}">
                <a16:creationId xmlns:a16="http://schemas.microsoft.com/office/drawing/2014/main" id="{CDC8EAA7-A180-4031-A24C-BD8C638ED755}"/>
              </a:ext>
            </a:extLst>
          </p:cNvPr>
          <p:cNvSpPr>
            <a:spLocks noGrp="1"/>
          </p:cNvSpPr>
          <p:nvPr/>
        </p:nvSpPr>
        <p:spPr>
          <a:xfrm>
            <a:off x="9677400" y="1381125"/>
            <a:ext cx="1857375"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Constants</a:t>
            </a:r>
          </a:p>
        </p:txBody>
      </p:sp>
      <p:sp>
        <p:nvSpPr>
          <p:cNvPr id="6" name="Reject NaN and infinity constants.">
            <a:extLst>
              <a:ext uri="{FF2B5EF4-FFF2-40B4-BE49-F238E27FC236}">
                <a16:creationId xmlns:a16="http://schemas.microsoft.com/office/drawing/2014/main" id="{DD617BFC-2B45-4AE8-93EB-8DE7D25489E9}"/>
              </a:ext>
            </a:extLst>
          </p:cNvPr>
          <p:cNvSpPr>
            <a:spLocks noGrp="1"/>
          </p:cNvSpPr>
          <p:nvPr/>
        </p:nvSpPr>
        <p:spPr>
          <a:xfrm>
            <a:off x="9677400" y="1828800"/>
            <a:ext cx="1857375" cy="1409700"/>
          </a:xfrm>
          <a:prstGeom prst="rect">
            <a:avLst/>
          </a:prstGeom>
          <a:noFill/>
          <a:ln w="0">
            <a:noFill/>
          </a:ln>
        </p:spPr>
        <p:txBody>
          <a:bodyPr wrap="square" lIns="0" tIns="0" rIns="0" bIns="0" anchor="t">
            <a:noAutofit/>
          </a:bodyPr>
          <a:lstStyle/>
          <a:p>
            <a:pPr algn="l">
              <a:lnSpc>
                <a:spcPct val="105000"/>
              </a:lnSpc>
              <a:buNone/>
              <a:defRPr sz="1900" b="0">
                <a:solidFill>
                  <a:srgbClr val="24323E"/>
                </a:solidFill>
                <a:latin typeface="Times New Roman"/>
                <a:ea typeface="Times New Roman"/>
                <a:cs typeface="Times New Roman"/>
              </a:defRPr>
            </a:pPr>
            <a:r>
              <a:rPr sz="1900" b="0">
                <a:solidFill>
                  <a:srgbClr val="24323E"/>
                </a:solidFill>
                <a:latin typeface="Times New Roman"/>
                <a:ea typeface="Times New Roman"/>
                <a:cs typeface="Times New Roman"/>
              </a:rPr>
              <a:t>Reject NaN and infinity constants.</a:t>
            </a:r>
          </a:p>
        </p:txBody>
      </p:sp>
      <p:sp>
        <p:nvSpPr>
          <p:cNvPr id="7" name="Duplicates">
            <a:extLst>
              <a:ext uri="{FF2B5EF4-FFF2-40B4-BE49-F238E27FC236}">
                <a16:creationId xmlns:a16="http://schemas.microsoft.com/office/drawing/2014/main" id="{91ACEB7E-E553-4CF6-AA8E-443ED018E5DB}"/>
              </a:ext>
            </a:extLst>
          </p:cNvPr>
          <p:cNvSpPr>
            <a:spLocks noGrp="1"/>
          </p:cNvSpPr>
          <p:nvPr/>
        </p:nvSpPr>
        <p:spPr>
          <a:xfrm>
            <a:off x="9677400" y="3514725"/>
            <a:ext cx="1857375" cy="390525"/>
          </a:xfrm>
          <a:prstGeom prst="rect">
            <a:avLst/>
          </a:prstGeom>
          <a:noFill/>
          <a:ln w="0">
            <a:noFill/>
          </a:ln>
        </p:spPr>
        <p:txBody>
          <a:bodyPr wrap="square" lIns="0" tIns="0" rIns="0" bIns="0" anchor="t">
            <a:noAutofit/>
          </a:bodyPr>
          <a:lstStyle/>
          <a:p>
            <a:pPr algn="l">
              <a:lnSpc>
                <a:spcPct val="105000"/>
              </a:lnSpc>
              <a:buNone/>
              <a:defRPr sz="2400" b="1">
                <a:solidFill>
                  <a:srgbClr val="F67132"/>
                </a:solidFill>
                <a:latin typeface="Times New Roman"/>
                <a:ea typeface="Times New Roman"/>
                <a:cs typeface="Times New Roman"/>
              </a:defRPr>
            </a:pPr>
            <a:r>
              <a:rPr sz="2400" b="1">
                <a:solidFill>
                  <a:srgbClr val="F67132"/>
                </a:solidFill>
                <a:latin typeface="Times New Roman"/>
                <a:ea typeface="Times New Roman"/>
                <a:cs typeface="Times New Roman"/>
              </a:rPr>
              <a:t>Duplicates</a:t>
            </a:r>
          </a:p>
        </p:txBody>
      </p:sp>
      <p:sp>
        <p:nvSpPr>
          <p:cNvPr id="8" name="Reject duplicates before a dict dis">
            <a:extLst>
              <a:ext uri="{FF2B5EF4-FFF2-40B4-BE49-F238E27FC236}">
                <a16:creationId xmlns:a16="http://schemas.microsoft.com/office/drawing/2014/main" id="{0EFCA4F6-9D29-4393-BC16-0B0983D99347}"/>
              </a:ext>
            </a:extLst>
          </p:cNvPr>
          <p:cNvSpPr>
            <a:spLocks noGrp="1"/>
          </p:cNvSpPr>
          <p:nvPr/>
        </p:nvSpPr>
        <p:spPr>
          <a:xfrm>
            <a:off x="9677400" y="3962400"/>
            <a:ext cx="1857375" cy="1552575"/>
          </a:xfrm>
          <a:prstGeom prst="rect">
            <a:avLst/>
          </a:prstGeom>
          <a:noFill/>
          <a:ln w="0">
            <a:noFill/>
          </a:ln>
        </p:spPr>
        <p:txBody>
          <a:bodyPr wrap="square" lIns="0" tIns="0" rIns="0" bIns="0" anchor="t">
            <a:noAutofit/>
          </a:bodyPr>
          <a:lstStyle/>
          <a:p>
            <a:pPr algn="l">
              <a:lnSpc>
                <a:spcPct val="105000"/>
              </a:lnSpc>
              <a:buNone/>
              <a:defRPr sz="1900" b="0">
                <a:solidFill>
                  <a:srgbClr val="24323E"/>
                </a:solidFill>
                <a:latin typeface="Times New Roman"/>
                <a:ea typeface="Times New Roman"/>
                <a:cs typeface="Times New Roman"/>
              </a:defRPr>
            </a:pPr>
            <a:r>
              <a:rPr sz="1900" b="0">
                <a:solidFill>
                  <a:srgbClr val="24323E"/>
                </a:solidFill>
                <a:latin typeface="Times New Roman"/>
                <a:ea typeface="Times New Roman"/>
                <a:cs typeface="Times New Roman"/>
              </a:rPr>
              <a:t>Reject duplicates before a dict discards them.</a:t>
            </a:r>
          </a:p>
        </p:txBody>
      </p:sp>
    </p:spTree>
    <p:extLst>
      <p:ext uri="{BB962C8B-B14F-4D97-AF65-F5344CB8AC3E}">
        <p14:creationId xmlns:p14="http://schemas.microsoft.com/office/powerpoint/2010/main" val="3723650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Appendix C: </a:t>
            </a:r>
            <a:r>
              <a:rPr sz="3788">
                <a:solidFill>
                  <a:srgbClr val="F67132"/>
                </a:solidFill>
                <a:latin typeface="Times New Roman"/>
                <a:ea typeface="Times New Roman"/>
                <a:cs typeface="Times New Roman"/>
              </a:rPr>
              <a:t>the document schema</a:t>
            </a:r>
          </a:p>
        </p:txBody>
      </p:sp>
      <p:sp>
        <p:nvSpPr>
          <p:cNvPr id="3" name="33">
            <a:extLst>
              <a:ext uri="{FF2B5EF4-FFF2-40B4-BE49-F238E27FC236}">
                <a16:creationId xmlns:a16="http://schemas.microsoft.com/office/drawing/2014/main" id="{0C4CEAFD-9633-422F-B747-6D7A9212F79D}"/>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33</a:t>
            </a:r>
          </a:p>
        </p:txBody>
      </p:sp>
      <p:sp>
        <p:nvSpPr>
          <p:cNvPr id="4" name="Editable code example">
            <a:extLst>
              <a:ext uri="{FF2B5EF4-FFF2-40B4-BE49-F238E27FC236}">
                <a16:creationId xmlns:a16="http://schemas.microsoft.com/office/drawing/2014/main" id="{BF3B0743-2F38-4497-8A8E-459C17FC6DC1}"/>
              </a:ext>
            </a:extLst>
          </p:cNvPr>
          <p:cNvSpPr>
            <a:spLocks noGrp="1"/>
          </p:cNvSpPr>
          <p:nvPr/>
        </p:nvSpPr>
        <p:spPr>
          <a:xfrm>
            <a:off x="600075" y="1104900"/>
            <a:ext cx="10953750" cy="4927092"/>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def obj(properties):</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return {</a:t>
            </a:r>
            <a:r>
              <a:rPr sz="1740">
                <a:solidFill>
                  <a:srgbClr val="A94B23"/>
                </a:solidFill>
                <a:latin typeface="Courier New"/>
                <a:ea typeface="Courier New"/>
                <a:cs typeface="Courier New"/>
              </a:rPr>
              <a:t>"type"</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"object"</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"properties"</a:t>
            </a:r>
            <a:r>
              <a:rPr sz="1740">
                <a:solidFill>
                  <a:srgbClr val="24323E"/>
                </a:solidFill>
                <a:latin typeface="Courier New"/>
                <a:ea typeface="Courier New"/>
                <a:cs typeface="Courier New"/>
              </a:rPr>
              <a:t>: properties,</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"required"</a:t>
            </a:r>
            <a:r>
              <a:rPr sz="1740">
                <a:solidFill>
                  <a:srgbClr val="24323E"/>
                </a:solidFill>
                <a:latin typeface="Courier New"/>
                <a:ea typeface="Courier New"/>
                <a:cs typeface="Courier New"/>
              </a:rPr>
              <a:t>: list(properties),</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"additionalProperties"</a:t>
            </a:r>
            <a:r>
              <a:rPr sz="1740">
                <a:solidFill>
                  <a:srgbClr val="24323E"/>
                </a:solidFill>
                <a:latin typeface="Courier New"/>
                <a:ea typeface="Courier New"/>
                <a:cs typeface="Courier New"/>
              </a:rPr>
              <a:t>: </a:t>
            </a:r>
            <a:r>
              <a:rPr sz="1740">
                <a:solidFill>
                  <a:srgbClr val="21688D"/>
                </a:solidFill>
                <a:latin typeface="Courier New"/>
                <a:ea typeface="Courier New"/>
                <a:cs typeface="Courier New"/>
              </a:rPr>
              <a:t>False</a:t>
            </a: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endParaRPr sz="1740">
              <a:solidFill>
                <a:srgbClr val="24323E"/>
              </a:solidFill>
              <a:latin typeface="Courier New"/>
              <a:ea typeface="Courier New"/>
              <a:cs typeface="Courier New"/>
            </a:endParaRP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station_schema = obj({</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"station_id"</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"type"</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"string"</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"minLength"</a:t>
            </a:r>
            <a:r>
              <a:rPr sz="1740">
                <a:solidFill>
                  <a:srgbClr val="24323E"/>
                </a:solidFill>
                <a:latin typeface="Courier New"/>
                <a:ea typeface="Courier New"/>
                <a:cs typeface="Courier New"/>
              </a:rPr>
              <a:t>: </a:t>
            </a:r>
            <a:r>
              <a:rPr sz="1740">
                <a:solidFill>
                  <a:srgbClr val="21688D"/>
                </a:solidFill>
                <a:latin typeface="Courier New"/>
                <a:ea typeface="Courier New"/>
                <a:cs typeface="Courier New"/>
              </a:rPr>
              <a:t>1</a:t>
            </a: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"site"</a:t>
            </a:r>
            <a:r>
              <a:rPr sz="1740">
                <a:solidFill>
                  <a:srgbClr val="24323E"/>
                </a:solidFill>
                <a:latin typeface="Courier New"/>
                <a:ea typeface="Courier New"/>
                <a:cs typeface="Courier New"/>
              </a:rPr>
              <a:t>: obj({</a:t>
            </a:r>
            <a:r>
              <a:rPr sz="1740">
                <a:solidFill>
                  <a:srgbClr val="A94B23"/>
                </a:solidFill>
                <a:latin typeface="Courier New"/>
                <a:ea typeface="Courier New"/>
                <a:cs typeface="Courier New"/>
              </a:rPr>
              <a:t>"name"</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"type"</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"string"</a:t>
            </a: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"readings"</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"type"</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"array"</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"items"</a:t>
            </a:r>
            <a:r>
              <a:rPr sz="1740">
                <a:solidFill>
                  <a:srgbClr val="24323E"/>
                </a:solidFill>
                <a:latin typeface="Courier New"/>
                <a:ea typeface="Courier New"/>
                <a:cs typeface="Courier New"/>
              </a:rPr>
              <a:t>: reading_schema}</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campaign_schema = obj({</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"campaign"</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"type"</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"string"</a:t>
            </a: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"units"</a:t>
            </a:r>
            <a:r>
              <a:rPr sz="1740">
                <a:solidFill>
                  <a:srgbClr val="24323E"/>
                </a:solidFill>
                <a:latin typeface="Courier New"/>
                <a:ea typeface="Courier New"/>
                <a:cs typeface="Courier New"/>
              </a:rPr>
              <a:t>: obj({</a:t>
            </a:r>
            <a:r>
              <a:rPr sz="1740">
                <a:solidFill>
                  <a:srgbClr val="A94B23"/>
                </a:solidFill>
                <a:latin typeface="Courier New"/>
                <a:ea typeface="Courier New"/>
                <a:cs typeface="Courier New"/>
              </a:rPr>
              <a:t>"pm25"</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"const"</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"µg/m³"</a:t>
            </a: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"stations"</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"type"</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"array"</a:t>
            </a:r>
            <a:r>
              <a:rPr sz="1740">
                <a:solidFill>
                  <a:srgbClr val="24323E"/>
                </a:solidFill>
                <a:latin typeface="Courier New"/>
                <a:ea typeface="Courier New"/>
                <a:cs typeface="Courier New"/>
              </a:rPr>
              <a:t>, </a:t>
            </a:r>
            <a:r>
              <a:rPr sz="1740">
                <a:solidFill>
                  <a:srgbClr val="A94B23"/>
                </a:solidFill>
                <a:latin typeface="Courier New"/>
                <a:ea typeface="Courier New"/>
                <a:cs typeface="Courier New"/>
              </a:rPr>
              <a:t>"items"</a:t>
            </a:r>
            <a:r>
              <a:rPr sz="1740">
                <a:solidFill>
                  <a:srgbClr val="24323E"/>
                </a:solidFill>
                <a:latin typeface="Courier New"/>
                <a:ea typeface="Courier New"/>
                <a:cs typeface="Courier New"/>
              </a:rPr>
              <a:t>: station_schema}</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Draft202012Validator.check_schema(campaign_schema)</a:t>
            </a:r>
          </a:p>
          <a:p>
            <a:pPr algn="l">
              <a:spcBef>
                <a:spcPts val="0"/>
              </a:spcBef>
              <a:spcAft>
                <a:spcPts val="0"/>
              </a:spcAft>
              <a:buNone/>
              <a:defRPr sz="1740" b="0">
                <a:solidFill>
                  <a:srgbClr val="24323E"/>
                </a:solidFill>
                <a:latin typeface="Courier New"/>
                <a:ea typeface="Courier New"/>
                <a:cs typeface="Courier New"/>
              </a:defRPr>
            </a:pPr>
            <a:r>
              <a:rPr sz="1740">
                <a:solidFill>
                  <a:srgbClr val="24323E"/>
                </a:solidFill>
                <a:latin typeface="Courier New"/>
                <a:ea typeface="Courier New"/>
                <a:cs typeface="Courier New"/>
              </a:rPr>
              <a:t>Draft202012Validator(campaign_schema).validate(data)</a:t>
            </a:r>
          </a:p>
        </p:txBody>
      </p:sp>
    </p:spTree>
    <p:extLst>
      <p:ext uri="{BB962C8B-B14F-4D97-AF65-F5344CB8AC3E}">
        <p14:creationId xmlns:p14="http://schemas.microsoft.com/office/powerpoint/2010/main" val="37236501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Appendix D: </a:t>
            </a:r>
            <a:r>
              <a:rPr sz="3788">
                <a:solidFill>
                  <a:srgbClr val="F67132"/>
                </a:solidFill>
                <a:latin typeface="Times New Roman"/>
                <a:ea typeface="Times New Roman"/>
                <a:cs typeface="Times New Roman"/>
              </a:rPr>
              <a:t>JSON Lines</a:t>
            </a:r>
          </a:p>
        </p:txBody>
      </p:sp>
      <p:sp>
        <p:nvSpPr>
          <p:cNvPr id="3" name="34">
            <a:extLst>
              <a:ext uri="{FF2B5EF4-FFF2-40B4-BE49-F238E27FC236}">
                <a16:creationId xmlns:a16="http://schemas.microsoft.com/office/drawing/2014/main" id="{A8DFCFB1-1014-4506-B9DD-3EB594E40AAA}"/>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34</a:t>
            </a:r>
          </a:p>
        </p:txBody>
      </p:sp>
      <p:sp>
        <p:nvSpPr>
          <p:cNvPr id="4" name="Editable code example">
            <a:extLst>
              <a:ext uri="{FF2B5EF4-FFF2-40B4-BE49-F238E27FC236}">
                <a16:creationId xmlns:a16="http://schemas.microsoft.com/office/drawing/2014/main" id="{D71F0539-91D0-4D56-9921-FA1B7127F8B0}"/>
              </a:ext>
            </a:extLst>
          </p:cNvPr>
          <p:cNvSpPr>
            <a:spLocks noGrp="1"/>
          </p:cNvSpPr>
          <p:nvPr/>
        </p:nvSpPr>
        <p:spPr>
          <a:xfrm>
            <a:off x="600075" y="1276350"/>
            <a:ext cx="10953750" cy="1028776"/>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2000" b="0">
                <a:solidFill>
                  <a:srgbClr val="24323E"/>
                </a:solidFill>
                <a:latin typeface="Courier New"/>
                <a:ea typeface="Courier New"/>
                <a:cs typeface="Courier New"/>
              </a:defRPr>
            </a:pPr>
            <a:r>
              <a:rPr sz="2000">
                <a:solidFill>
                  <a:srgbClr val="24323E"/>
                </a:solidFill>
                <a:latin typeface="Courier New"/>
                <a:ea typeface="Courier New"/>
                <a:cs typeface="Courier New"/>
              </a:rPr>
              <a:t>{</a:t>
            </a:r>
            <a:r>
              <a:rPr sz="2000">
                <a:solidFill>
                  <a:srgbClr val="A94B23"/>
                </a:solidFill>
                <a:latin typeface="Courier New"/>
                <a:ea typeface="Courier New"/>
                <a:cs typeface="Courier New"/>
              </a:rPr>
              <a:t>"station_id"</a:t>
            </a:r>
            <a:r>
              <a:rPr sz="2000">
                <a:solidFill>
                  <a:srgbClr val="24323E"/>
                </a:solidFill>
                <a:latin typeface="Courier New"/>
                <a:ea typeface="Courier New"/>
                <a:cs typeface="Courier New"/>
              </a:rPr>
              <a:t>:</a:t>
            </a:r>
            <a:r>
              <a:rPr sz="2000">
                <a:solidFill>
                  <a:srgbClr val="A94B23"/>
                </a:solidFill>
                <a:latin typeface="Courier New"/>
                <a:ea typeface="Courier New"/>
                <a:cs typeface="Courier New"/>
              </a:rPr>
              <a:t>"A1"</a:t>
            </a:r>
            <a:r>
              <a:rPr sz="2000">
                <a:solidFill>
                  <a:srgbClr val="24323E"/>
                </a:solidFill>
                <a:latin typeface="Courier New"/>
                <a:ea typeface="Courier New"/>
                <a:cs typeface="Courier New"/>
              </a:rPr>
              <a:t>,</a:t>
            </a:r>
            <a:r>
              <a:rPr sz="2000">
                <a:solidFill>
                  <a:srgbClr val="A94B23"/>
                </a:solidFill>
                <a:latin typeface="Courier New"/>
                <a:ea typeface="Courier New"/>
                <a:cs typeface="Courier New"/>
              </a:rPr>
              <a:t>"hour"</a:t>
            </a:r>
            <a:r>
              <a:rPr sz="2000">
                <a:solidFill>
                  <a:srgbClr val="24323E"/>
                </a:solidFill>
                <a:latin typeface="Courier New"/>
                <a:ea typeface="Courier New"/>
                <a:cs typeface="Courier New"/>
              </a:rPr>
              <a:t>:</a:t>
            </a:r>
            <a:r>
              <a:rPr sz="2000">
                <a:solidFill>
                  <a:srgbClr val="21688D"/>
                </a:solidFill>
                <a:latin typeface="Courier New"/>
                <a:ea typeface="Courier New"/>
                <a:cs typeface="Courier New"/>
              </a:rPr>
              <a:t>9</a:t>
            </a:r>
            <a:r>
              <a:rPr sz="2000">
                <a:solidFill>
                  <a:srgbClr val="24323E"/>
                </a:solidFill>
                <a:latin typeface="Courier New"/>
                <a:ea typeface="Courier New"/>
                <a:cs typeface="Courier New"/>
              </a:rPr>
              <a:t>,</a:t>
            </a:r>
            <a:r>
              <a:rPr sz="2000">
                <a:solidFill>
                  <a:srgbClr val="A94B23"/>
                </a:solidFill>
                <a:latin typeface="Courier New"/>
                <a:ea typeface="Courier New"/>
                <a:cs typeface="Courier New"/>
              </a:rPr>
              <a:t>"pm25"</a:t>
            </a:r>
            <a:r>
              <a:rPr sz="2000">
                <a:solidFill>
                  <a:srgbClr val="24323E"/>
                </a:solidFill>
                <a:latin typeface="Courier New"/>
                <a:ea typeface="Courier New"/>
                <a:cs typeface="Courier New"/>
              </a:rPr>
              <a:t>:</a:t>
            </a:r>
            <a:r>
              <a:rPr sz="2000">
                <a:solidFill>
                  <a:srgbClr val="21688D"/>
                </a:solidFill>
                <a:latin typeface="Courier New"/>
                <a:ea typeface="Courier New"/>
                <a:cs typeface="Courier New"/>
              </a:rPr>
              <a:t>8.1</a:t>
            </a:r>
            <a:r>
              <a:rPr sz="2000">
                <a:solidFill>
                  <a:srgbClr val="24323E"/>
                </a:solidFill>
                <a:latin typeface="Courier New"/>
                <a:ea typeface="Courier New"/>
                <a:cs typeface="Courier New"/>
              </a:rPr>
              <a:t>}</a:t>
            </a:r>
          </a:p>
          <a:p>
            <a:pPr algn="l">
              <a:spcBef>
                <a:spcPts val="0"/>
              </a:spcBef>
              <a:spcAft>
                <a:spcPts val="0"/>
              </a:spcAft>
              <a:buNone/>
              <a:defRPr sz="2000" b="0">
                <a:solidFill>
                  <a:srgbClr val="24323E"/>
                </a:solidFill>
                <a:latin typeface="Courier New"/>
                <a:ea typeface="Courier New"/>
                <a:cs typeface="Courier New"/>
              </a:defRPr>
            </a:pPr>
            <a:r>
              <a:rPr sz="2000">
                <a:solidFill>
                  <a:srgbClr val="24323E"/>
                </a:solidFill>
                <a:latin typeface="Courier New"/>
                <a:ea typeface="Courier New"/>
                <a:cs typeface="Courier New"/>
              </a:rPr>
              <a:t>{</a:t>
            </a:r>
            <a:r>
              <a:rPr sz="2000">
                <a:solidFill>
                  <a:srgbClr val="A94B23"/>
                </a:solidFill>
                <a:latin typeface="Courier New"/>
                <a:ea typeface="Courier New"/>
                <a:cs typeface="Courier New"/>
              </a:rPr>
              <a:t>"station_id"</a:t>
            </a:r>
            <a:r>
              <a:rPr sz="2000">
                <a:solidFill>
                  <a:srgbClr val="24323E"/>
                </a:solidFill>
                <a:latin typeface="Courier New"/>
                <a:ea typeface="Courier New"/>
                <a:cs typeface="Courier New"/>
              </a:rPr>
              <a:t>:</a:t>
            </a:r>
            <a:r>
              <a:rPr sz="2000">
                <a:solidFill>
                  <a:srgbClr val="A94B23"/>
                </a:solidFill>
                <a:latin typeface="Courier New"/>
                <a:ea typeface="Courier New"/>
                <a:cs typeface="Courier New"/>
              </a:rPr>
              <a:t>"B2"</a:t>
            </a:r>
            <a:r>
              <a:rPr sz="2000">
                <a:solidFill>
                  <a:srgbClr val="24323E"/>
                </a:solidFill>
                <a:latin typeface="Courier New"/>
                <a:ea typeface="Courier New"/>
                <a:cs typeface="Courier New"/>
              </a:rPr>
              <a:t>,</a:t>
            </a:r>
            <a:r>
              <a:rPr sz="2000">
                <a:solidFill>
                  <a:srgbClr val="A94B23"/>
                </a:solidFill>
                <a:latin typeface="Courier New"/>
                <a:ea typeface="Courier New"/>
                <a:cs typeface="Courier New"/>
              </a:rPr>
              <a:t>"hour"</a:t>
            </a:r>
            <a:r>
              <a:rPr sz="2000">
                <a:solidFill>
                  <a:srgbClr val="24323E"/>
                </a:solidFill>
                <a:latin typeface="Courier New"/>
                <a:ea typeface="Courier New"/>
                <a:cs typeface="Courier New"/>
              </a:rPr>
              <a:t>:</a:t>
            </a:r>
            <a:r>
              <a:rPr sz="2000">
                <a:solidFill>
                  <a:srgbClr val="21688D"/>
                </a:solidFill>
                <a:latin typeface="Courier New"/>
                <a:ea typeface="Courier New"/>
                <a:cs typeface="Courier New"/>
              </a:rPr>
              <a:t>9</a:t>
            </a:r>
            <a:r>
              <a:rPr sz="2000">
                <a:solidFill>
                  <a:srgbClr val="24323E"/>
                </a:solidFill>
                <a:latin typeface="Courier New"/>
                <a:ea typeface="Courier New"/>
                <a:cs typeface="Courier New"/>
              </a:rPr>
              <a:t>,</a:t>
            </a:r>
            <a:r>
              <a:rPr sz="2000">
                <a:solidFill>
                  <a:srgbClr val="A94B23"/>
                </a:solidFill>
                <a:latin typeface="Courier New"/>
                <a:ea typeface="Courier New"/>
                <a:cs typeface="Courier New"/>
              </a:rPr>
              <a:t>"pm25"</a:t>
            </a:r>
            <a:r>
              <a:rPr sz="2000">
                <a:solidFill>
                  <a:srgbClr val="24323E"/>
                </a:solidFill>
                <a:latin typeface="Courier New"/>
                <a:ea typeface="Courier New"/>
                <a:cs typeface="Courier New"/>
              </a:rPr>
              <a:t>:</a:t>
            </a:r>
            <a:r>
              <a:rPr sz="2000">
                <a:solidFill>
                  <a:srgbClr val="21688D"/>
                </a:solidFill>
                <a:latin typeface="Courier New"/>
                <a:ea typeface="Courier New"/>
                <a:cs typeface="Courier New"/>
              </a:rPr>
              <a:t>12.4</a:t>
            </a:r>
            <a:r>
              <a:rPr sz="2000">
                <a:solidFill>
                  <a:srgbClr val="24323E"/>
                </a:solidFill>
                <a:latin typeface="Courier New"/>
                <a:ea typeface="Courier New"/>
                <a:cs typeface="Courier New"/>
              </a:rPr>
              <a:t>}</a:t>
            </a:r>
          </a:p>
        </p:txBody>
      </p:sp>
      <p:sp>
        <p:nvSpPr>
          <p:cNvPr id="5" name="One complete JSON value per line, w">
            <a:extLst>
              <a:ext uri="{FF2B5EF4-FFF2-40B4-BE49-F238E27FC236}">
                <a16:creationId xmlns:a16="http://schemas.microsoft.com/office/drawing/2014/main" id="{AA17D243-B102-4512-B7AF-14F271148972}"/>
              </a:ext>
            </a:extLst>
          </p:cNvPr>
          <p:cNvSpPr>
            <a:spLocks noGrp="1"/>
          </p:cNvSpPr>
          <p:nvPr/>
        </p:nvSpPr>
        <p:spPr>
          <a:xfrm>
            <a:off x="600075" y="2495550"/>
            <a:ext cx="10763250" cy="571500"/>
          </a:xfrm>
          <a:prstGeom prst="rect">
            <a:avLst/>
          </a:prstGeom>
          <a:noFill/>
          <a:ln w="0">
            <a:noFill/>
          </a:ln>
        </p:spPr>
        <p:txBody>
          <a:bodyPr wrap="square" lIns="0" tIns="0" rIns="0" bIns="0" anchor="t">
            <a:noAutofit/>
          </a:bodyPr>
          <a:lstStyle/>
          <a:p>
            <a:pPr algn="l">
              <a:lnSpc>
                <a:spcPct val="105000"/>
              </a:lnSpc>
              <a:buNone/>
              <a:defRPr sz="2250" b="1">
                <a:solidFill>
                  <a:srgbClr val="24323E"/>
                </a:solidFill>
                <a:latin typeface="Times New Roman"/>
                <a:ea typeface="Times New Roman"/>
                <a:cs typeface="Times New Roman"/>
              </a:defRPr>
            </a:pPr>
            <a:r>
              <a:rPr sz="2250" b="1">
                <a:solidFill>
                  <a:srgbClr val="24323E"/>
                </a:solidFill>
                <a:latin typeface="Times New Roman"/>
                <a:ea typeface="Times New Roman"/>
                <a:cs typeface="Times New Roman"/>
              </a:rPr>
              <a:t>One complete JSON value per line, with no surrounding array.</a:t>
            </a:r>
          </a:p>
        </p:txBody>
      </p:sp>
      <p:sp>
        <p:nvSpPr>
          <p:cNvPr id="6" name="Editable code example">
            <a:extLst>
              <a:ext uri="{FF2B5EF4-FFF2-40B4-BE49-F238E27FC236}">
                <a16:creationId xmlns:a16="http://schemas.microsoft.com/office/drawing/2014/main" id="{D9093FA6-DEDB-4B72-A2A7-4C211291DBA0}"/>
              </a:ext>
            </a:extLst>
          </p:cNvPr>
          <p:cNvSpPr>
            <a:spLocks noGrp="1"/>
          </p:cNvSpPr>
          <p:nvPr/>
        </p:nvSpPr>
        <p:spPr>
          <a:xfrm>
            <a:off x="600075" y="3352800"/>
            <a:ext cx="10953750" cy="1577188"/>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with open(</a:t>
            </a:r>
            <a:r>
              <a:rPr sz="1900">
                <a:solidFill>
                  <a:srgbClr val="A94B23"/>
                </a:solidFill>
                <a:latin typeface="Courier New"/>
                <a:ea typeface="Courier New"/>
                <a:cs typeface="Courier New"/>
              </a:rPr>
              <a:t>"readings.jsonl"</a:t>
            </a:r>
            <a:r>
              <a:rPr sz="1900">
                <a:solidFill>
                  <a:srgbClr val="24323E"/>
                </a:solidFill>
                <a:latin typeface="Courier New"/>
                <a:ea typeface="Courier New"/>
                <a:cs typeface="Courier New"/>
              </a:rPr>
              <a:t>, encoding=</a:t>
            </a:r>
            <a:r>
              <a:rPr sz="1900">
                <a:solidFill>
                  <a:srgbClr val="A94B23"/>
                </a:solidFill>
                <a:latin typeface="Courier New"/>
                <a:ea typeface="Courier New"/>
                <a:cs typeface="Courier New"/>
              </a:rPr>
              <a:t>"utf-8"</a:t>
            </a:r>
            <a:r>
              <a:rPr sz="1900">
                <a:solidFill>
                  <a:srgbClr val="24323E"/>
                </a:solidFill>
                <a:latin typeface="Courier New"/>
                <a:ea typeface="Courier New"/>
                <a:cs typeface="Courier New"/>
              </a:rPr>
              <a:t>) as f:</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    for line_number, line in enumerate(f, start=</a:t>
            </a:r>
            <a:r>
              <a:rPr sz="1900">
                <a:solidFill>
                  <a:srgbClr val="21688D"/>
                </a:solidFill>
                <a:latin typeface="Courier New"/>
                <a:ea typeface="Courier New"/>
                <a:cs typeface="Courier New"/>
              </a:rPr>
              <a:t>1</a:t>
            </a:r>
            <a:r>
              <a:rPr sz="1900">
                <a:solidFill>
                  <a:srgbClr val="24323E"/>
                </a:solidFill>
                <a:latin typeface="Courier New"/>
                <a:ea typeface="Courier New"/>
                <a:cs typeface="Courier New"/>
              </a:rPr>
              <a:t>):</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        record = json.loads(line)</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        print(line_number, record[</a:t>
            </a:r>
            <a:r>
              <a:rPr sz="1900">
                <a:solidFill>
                  <a:srgbClr val="A94B23"/>
                </a:solidFill>
                <a:latin typeface="Courier New"/>
                <a:ea typeface="Courier New"/>
                <a:cs typeface="Courier New"/>
              </a:rPr>
              <a:t>"pm25"</a:t>
            </a:r>
            <a:r>
              <a:rPr sz="1900">
                <a:solidFill>
                  <a:srgbClr val="24323E"/>
                </a:solidFill>
                <a:latin typeface="Courier New"/>
                <a:ea typeface="Courier New"/>
                <a:cs typeface="Courier New"/>
              </a:rPr>
              <a:t>])</a:t>
            </a:r>
          </a:p>
        </p:txBody>
      </p:sp>
      <p:sp>
        <p:nvSpPr>
          <p:cNvPr id="7" name="JSONL is a file convention. Each li">
            <a:extLst>
              <a:ext uri="{FF2B5EF4-FFF2-40B4-BE49-F238E27FC236}">
                <a16:creationId xmlns:a16="http://schemas.microsoft.com/office/drawing/2014/main" id="{DE4ADFA0-DF1B-4764-8F2F-B72BC65367C7}"/>
              </a:ext>
            </a:extLst>
          </p:cNvPr>
          <p:cNvSpPr>
            <a:spLocks noGrp="1"/>
          </p:cNvSpPr>
          <p:nvPr/>
        </p:nvSpPr>
        <p:spPr>
          <a:xfrm>
            <a:off x="600075" y="5534025"/>
            <a:ext cx="10906125" cy="514350"/>
          </a:xfrm>
          <a:prstGeom prst="rect">
            <a:avLst/>
          </a:prstGeom>
          <a:noFill/>
          <a:ln w="0">
            <a:noFill/>
          </a:ln>
        </p:spPr>
        <p:txBody>
          <a:bodyPr wrap="square" lIns="0" tIns="0" rIns="0" bIns="0" anchor="t">
            <a:noAutofit/>
          </a:bodyPr>
          <a:lstStyle/>
          <a:p>
            <a:pPr algn="l">
              <a:lnSpc>
                <a:spcPct val="105000"/>
              </a:lnSpc>
              <a:buNone/>
              <a:defRPr sz="2000" b="0">
                <a:solidFill>
                  <a:srgbClr val="24323E"/>
                </a:solidFill>
                <a:latin typeface="Times New Roman"/>
                <a:ea typeface="Times New Roman"/>
                <a:cs typeface="Times New Roman"/>
              </a:defRPr>
            </a:pPr>
            <a:r>
              <a:rPr sz="2000" b="0">
                <a:solidFill>
                  <a:srgbClr val="24323E"/>
                </a:solidFill>
                <a:latin typeface="Times New Roman"/>
                <a:ea typeface="Times New Roman"/>
                <a:cs typeface="Times New Roman"/>
              </a:rPr>
              <a:t>JSONL is a file convention. Each line follows JSON syntax.</a:t>
            </a:r>
          </a:p>
        </p:txBody>
      </p:sp>
    </p:spTree>
    <p:extLst>
      <p:ext uri="{BB962C8B-B14F-4D97-AF65-F5344CB8AC3E}">
        <p14:creationId xmlns:p14="http://schemas.microsoft.com/office/powerpoint/2010/main" val="37236501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a:xfrm>
            <a:off x="485775" y="323850"/>
            <a:ext cx="10401300" cy="638175"/>
          </a:xfrm>
        </p:spPr>
        <p:txBody>
          <a:bodyPr wrap="none" lIns="0" tIns="0" rIns="0" bIns="0">
            <a:noAutofit/>
          </a:bodyPr>
          <a:lstStyle/>
          <a:p>
            <a:pPr algn="l">
              <a:defRPr sz="3788">
                <a:solidFill>
                  <a:srgbClr val="24323E"/>
                </a:solidFill>
                <a:latin typeface="Times New Roman"/>
                <a:ea typeface="Times New Roman"/>
                <a:cs typeface="Times New Roman"/>
              </a:defRPr>
            </a:pPr>
            <a:r>
              <a:rPr sz="3788">
                <a:solidFill>
                  <a:srgbClr val="24323E"/>
                </a:solidFill>
                <a:latin typeface="Times New Roman"/>
                <a:ea typeface="Times New Roman"/>
                <a:cs typeface="Times New Roman"/>
              </a:rPr>
              <a:t>Appendix E: </a:t>
            </a:r>
            <a:r>
              <a:rPr sz="3788">
                <a:solidFill>
                  <a:srgbClr val="F67132"/>
                </a:solidFill>
                <a:latin typeface="Times New Roman"/>
                <a:ea typeface="Times New Roman"/>
                <a:cs typeface="Times New Roman"/>
              </a:rPr>
              <a:t>applied exercise result</a:t>
            </a:r>
          </a:p>
        </p:txBody>
      </p:sp>
      <p:sp>
        <p:nvSpPr>
          <p:cNvPr id="3" name="35">
            <a:extLst>
              <a:ext uri="{FF2B5EF4-FFF2-40B4-BE49-F238E27FC236}">
                <a16:creationId xmlns:a16="http://schemas.microsoft.com/office/drawing/2014/main" id="{0CA1CF2A-E4F4-4887-A9E3-63BDF18DD714}"/>
              </a:ext>
            </a:extLst>
          </p:cNvPr>
          <p:cNvSpPr>
            <a:spLocks noGrp="1"/>
          </p:cNvSpPr>
          <p:nvPr/>
        </p:nvSpPr>
        <p:spPr>
          <a:xfrm>
            <a:off x="5753100" y="6486525"/>
            <a:ext cx="666750" cy="219075"/>
          </a:xfrm>
          <a:prstGeom prst="rect">
            <a:avLst/>
          </a:prstGeom>
          <a:noFill/>
          <a:ln w="0">
            <a:noFill/>
          </a:ln>
        </p:spPr>
        <p:txBody>
          <a:bodyPr wrap="square" lIns="0" tIns="0" rIns="0" bIns="0" anchor="t">
            <a:noAutofit/>
          </a:bodyPr>
          <a:lstStyle/>
          <a:p>
            <a:pPr algn="ctr">
              <a:lnSpc>
                <a:spcPct val="105000"/>
              </a:lnSpc>
              <a:buNone/>
              <a:defRPr sz="1300" b="0">
                <a:solidFill>
                  <a:srgbClr val="FFFFFF"/>
                </a:solidFill>
                <a:latin typeface="Times New Roman"/>
                <a:ea typeface="Times New Roman"/>
                <a:cs typeface="Times New Roman"/>
              </a:defRPr>
            </a:pPr>
            <a:r>
              <a:rPr sz="1300" b="0">
                <a:solidFill>
                  <a:srgbClr val="FFFFFF"/>
                </a:solidFill>
                <a:latin typeface="Times New Roman"/>
                <a:ea typeface="Times New Roman"/>
                <a:cs typeface="Times New Roman"/>
              </a:rPr>
              <a:t>35</a:t>
            </a:r>
          </a:p>
        </p:txBody>
      </p:sp>
      <p:graphicFrame>
        <p:nvGraphicFramePr>
          <p:cNvPr id="8" name="Table 7"/>
          <p:cNvGraphicFramePr/>
          <p:nvPr/>
        </p:nvGraphicFramePr>
        <p:xfrm>
          <a:off x="600075" y="1304925"/>
          <a:ext cx="10953750" cy="2657475"/>
        </p:xfrm>
        <a:graphic>
          <a:graphicData uri="http://schemas.openxmlformats.org/drawingml/2006/table">
            <a:tbl>
              <a:tblPr/>
              <a:tblGrid>
                <a:gridCol w="2667000">
                  <a:extLst>
                    <a:ext uri="{9D8B030D-6E8A-4147-A177-3AD203B41FA5}">
                      <a16:colId xmlns:a16="http://schemas.microsoft.com/office/drawing/2014/main" val="20000"/>
                    </a:ext>
                  </a:extLst>
                </a:gridCol>
                <a:gridCol w="476250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664369">
                <a:tc>
                  <a:txBody>
                    <a:bodyPr/>
                    <a:lstStyle/>
                    <a:p>
                      <a:r>
                        <a:rPr sz="2200" b="1">
                          <a:solidFill>
                            <a:srgbClr val="FFFFFF"/>
                          </a:solidFill>
                          <a:latin typeface="Times New Roman"/>
                          <a:ea typeface="Times New Roman"/>
                          <a:cs typeface="Times New Roman"/>
                        </a:rPr>
                        <a:t>station_id</a:t>
                      </a:r>
                    </a:p>
                  </a:txBody>
                  <a:tcPr anchor="ctr">
                    <a:solidFill>
                      <a:srgbClr val="24323E"/>
                    </a:solidFill>
                  </a:tcPr>
                </a:tc>
                <a:tc>
                  <a:txBody>
                    <a:bodyPr/>
                    <a:lstStyle/>
                    <a:p>
                      <a:r>
                        <a:rPr sz="2200" b="1">
                          <a:solidFill>
                            <a:srgbClr val="FFFFFF"/>
                          </a:solidFill>
                          <a:latin typeface="Times New Roman"/>
                          <a:ea typeface="Times New Roman"/>
                          <a:cs typeface="Times New Roman"/>
                        </a:rPr>
                        <a:t>Mean PM2.5 (µg/m³)</a:t>
                      </a:r>
                    </a:p>
                  </a:txBody>
                  <a:tcPr anchor="ctr">
                    <a:solidFill>
                      <a:srgbClr val="24323E"/>
                    </a:solidFill>
                  </a:tcPr>
                </a:tc>
                <a:tc>
                  <a:txBody>
                    <a:bodyPr/>
                    <a:lstStyle/>
                    <a:p>
                      <a:r>
                        <a:rPr sz="2200" b="1">
                          <a:solidFill>
                            <a:srgbClr val="FFFFFF"/>
                          </a:solidFill>
                          <a:latin typeface="Times New Roman"/>
                          <a:ea typeface="Times New Roman"/>
                          <a:cs typeface="Times New Roman"/>
                        </a:rPr>
                        <a:t>Observed readings</a:t>
                      </a:r>
                    </a:p>
                  </a:txBody>
                  <a:tcPr anchor="ctr">
                    <a:solidFill>
                      <a:srgbClr val="24323E"/>
                    </a:solidFill>
                  </a:tcPr>
                </a:tc>
                <a:extLst>
                  <a:ext uri="{0D108BD9-81ED-4DB2-BD59-A6C34878D82A}">
                    <a16:rowId xmlns:a16="http://schemas.microsoft.com/office/drawing/2014/main" val="10000"/>
                  </a:ext>
                </a:extLst>
              </a:tr>
              <a:tr h="664369">
                <a:tc>
                  <a:txBody>
                    <a:bodyPr/>
                    <a:lstStyle/>
                    <a:p>
                      <a:r>
                        <a:rPr sz="2200" b="0">
                          <a:solidFill>
                            <a:srgbClr val="24323E"/>
                          </a:solidFill>
                          <a:latin typeface="Times New Roman"/>
                          <a:ea typeface="Times New Roman"/>
                          <a:cs typeface="Times New Roman"/>
                        </a:rPr>
                        <a:t>A1</a:t>
                      </a:r>
                    </a:p>
                  </a:txBody>
                  <a:tcPr anchor="ctr">
                    <a:solidFill>
                      <a:srgbClr val="FFFFFF"/>
                    </a:solidFill>
                  </a:tcPr>
                </a:tc>
                <a:tc>
                  <a:txBody>
                    <a:bodyPr/>
                    <a:lstStyle/>
                    <a:p>
                      <a:r>
                        <a:rPr sz="2200" b="0">
                          <a:solidFill>
                            <a:srgbClr val="24323E"/>
                          </a:solidFill>
                          <a:latin typeface="Times New Roman"/>
                          <a:ea typeface="Times New Roman"/>
                          <a:cs typeface="Times New Roman"/>
                        </a:rPr>
                        <a:t>8.1</a:t>
                      </a:r>
                    </a:p>
                  </a:txBody>
                  <a:tcPr anchor="ctr">
                    <a:solidFill>
                      <a:srgbClr val="FFFFFF"/>
                    </a:solidFill>
                  </a:tcPr>
                </a:tc>
                <a:tc>
                  <a:txBody>
                    <a:bodyPr/>
                    <a:lstStyle/>
                    <a:p>
                      <a:r>
                        <a:rPr sz="2200" b="0">
                          <a:solidFill>
                            <a:srgbClr val="24323E"/>
                          </a:solidFill>
                          <a:latin typeface="Times New Roman"/>
                          <a:ea typeface="Times New Roman"/>
                          <a:cs typeface="Times New Roman"/>
                        </a:rPr>
                        <a:t>1</a:t>
                      </a:r>
                    </a:p>
                  </a:txBody>
                  <a:tcPr anchor="ctr">
                    <a:solidFill>
                      <a:srgbClr val="FFFFFF"/>
                    </a:solidFill>
                  </a:tcPr>
                </a:tc>
                <a:extLst>
                  <a:ext uri="{0D108BD9-81ED-4DB2-BD59-A6C34878D82A}">
                    <a16:rowId xmlns:a16="http://schemas.microsoft.com/office/drawing/2014/main" val="10001"/>
                  </a:ext>
                </a:extLst>
              </a:tr>
              <a:tr h="664369">
                <a:tc>
                  <a:txBody>
                    <a:bodyPr/>
                    <a:lstStyle/>
                    <a:p>
                      <a:r>
                        <a:rPr sz="2200" b="0">
                          <a:solidFill>
                            <a:srgbClr val="24323E"/>
                          </a:solidFill>
                          <a:latin typeface="Times New Roman"/>
                          <a:ea typeface="Times New Roman"/>
                          <a:cs typeface="Times New Roman"/>
                        </a:rPr>
                        <a:t>B2</a:t>
                      </a:r>
                    </a:p>
                  </a:txBody>
                  <a:tcPr anchor="ctr">
                    <a:solidFill>
                      <a:srgbClr val="FFF4EB"/>
                    </a:solidFill>
                  </a:tcPr>
                </a:tc>
                <a:tc>
                  <a:txBody>
                    <a:bodyPr/>
                    <a:lstStyle/>
                    <a:p>
                      <a:r>
                        <a:rPr sz="2200" b="0">
                          <a:solidFill>
                            <a:srgbClr val="24323E"/>
                          </a:solidFill>
                          <a:latin typeface="Times New Roman"/>
                          <a:ea typeface="Times New Roman"/>
                          <a:cs typeface="Times New Roman"/>
                        </a:rPr>
                        <a:t>11.6</a:t>
                      </a:r>
                    </a:p>
                  </a:txBody>
                  <a:tcPr anchor="ctr">
                    <a:solidFill>
                      <a:srgbClr val="FFF4EB"/>
                    </a:solidFill>
                  </a:tcPr>
                </a:tc>
                <a:tc>
                  <a:txBody>
                    <a:bodyPr/>
                    <a:lstStyle/>
                    <a:p>
                      <a:r>
                        <a:rPr sz="2200" b="0">
                          <a:solidFill>
                            <a:srgbClr val="24323E"/>
                          </a:solidFill>
                          <a:latin typeface="Times New Roman"/>
                          <a:ea typeface="Times New Roman"/>
                          <a:cs typeface="Times New Roman"/>
                        </a:rPr>
                        <a:t>2</a:t>
                      </a:r>
                    </a:p>
                  </a:txBody>
                  <a:tcPr anchor="ctr">
                    <a:solidFill>
                      <a:srgbClr val="FFF4EB"/>
                    </a:solidFill>
                  </a:tcPr>
                </a:tc>
                <a:extLst>
                  <a:ext uri="{0D108BD9-81ED-4DB2-BD59-A6C34878D82A}">
                    <a16:rowId xmlns:a16="http://schemas.microsoft.com/office/drawing/2014/main" val="10002"/>
                  </a:ext>
                </a:extLst>
              </a:tr>
              <a:tr h="664369">
                <a:tc>
                  <a:txBody>
                    <a:bodyPr/>
                    <a:lstStyle/>
                    <a:p>
                      <a:r>
                        <a:rPr sz="2200" b="0">
                          <a:solidFill>
                            <a:srgbClr val="24323E"/>
                          </a:solidFill>
                          <a:latin typeface="Times New Roman"/>
                          <a:ea typeface="Times New Roman"/>
                          <a:cs typeface="Times New Roman"/>
                        </a:rPr>
                        <a:t>C3</a:t>
                      </a:r>
                    </a:p>
                  </a:txBody>
                  <a:tcPr anchor="ctr">
                    <a:solidFill>
                      <a:srgbClr val="FFFFFF"/>
                    </a:solidFill>
                  </a:tcPr>
                </a:tc>
                <a:tc>
                  <a:txBody>
                    <a:bodyPr/>
                    <a:lstStyle/>
                    <a:p>
                      <a:r>
                        <a:rPr sz="2200" b="0">
                          <a:solidFill>
                            <a:srgbClr val="24323E"/>
                          </a:solidFill>
                          <a:latin typeface="Times New Roman"/>
                          <a:ea typeface="Times New Roman"/>
                          <a:cs typeface="Times New Roman"/>
                        </a:rPr>
                        <a:t>0.0</a:t>
                      </a:r>
                    </a:p>
                  </a:txBody>
                  <a:tcPr anchor="ctr">
                    <a:solidFill>
                      <a:srgbClr val="FFFFFF"/>
                    </a:solidFill>
                  </a:tcPr>
                </a:tc>
                <a:tc>
                  <a:txBody>
                    <a:bodyPr/>
                    <a:lstStyle/>
                    <a:p>
                      <a:r>
                        <a:rPr sz="2200" b="0">
                          <a:solidFill>
                            <a:srgbClr val="24323E"/>
                          </a:solidFill>
                          <a:latin typeface="Times New Roman"/>
                          <a:ea typeface="Times New Roman"/>
                          <a:cs typeface="Times New Roman"/>
                        </a:rPr>
                        <a:t>1</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Editable code example">
            <a:extLst>
              <a:ext uri="{FF2B5EF4-FFF2-40B4-BE49-F238E27FC236}">
                <a16:creationId xmlns:a16="http://schemas.microsoft.com/office/drawing/2014/main" id="{9995576B-2956-4F97-B015-7C9714EB8D4B}"/>
              </a:ext>
            </a:extLst>
          </p:cNvPr>
          <p:cNvSpPr>
            <a:spLocks noGrp="1"/>
          </p:cNvSpPr>
          <p:nvPr/>
        </p:nvSpPr>
        <p:spPr>
          <a:xfrm>
            <a:off x="600075" y="4448175"/>
            <a:ext cx="10953750" cy="1287666"/>
          </a:xfrm>
          <a:prstGeom prst="rect">
            <a:avLst/>
          </a:prstGeom>
          <a:solidFill>
            <a:srgbClr val="FFF7F1"/>
          </a:solidFill>
          <a:ln w="7620">
            <a:solidFill>
              <a:srgbClr val="E6D5CA"/>
            </a:solidFill>
          </a:ln>
        </p:spPr>
        <p:txBody>
          <a:bodyPr wrap="none" lIns="133350" tIns="114300" rIns="133350" bIns="114300" anchor="t">
            <a:noAutofit/>
          </a:bodyPr>
          <a:lstStyle/>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assert len(df) == </a:t>
            </a:r>
            <a:r>
              <a:rPr sz="1900">
                <a:solidFill>
                  <a:srgbClr val="21688D"/>
                </a:solidFill>
                <a:latin typeface="Courier New"/>
                <a:ea typeface="Courier New"/>
                <a:cs typeface="Courier New"/>
              </a:rPr>
              <a:t>6</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assert summary.loc[</a:t>
            </a:r>
            <a:r>
              <a:rPr sz="1900">
                <a:solidFill>
                  <a:srgbClr val="A94B23"/>
                </a:solidFill>
                <a:latin typeface="Courier New"/>
                <a:ea typeface="Courier New"/>
                <a:cs typeface="Courier New"/>
              </a:rPr>
              <a:t>"C3"</a:t>
            </a:r>
            <a:r>
              <a:rPr sz="1900">
                <a:solidFill>
                  <a:srgbClr val="24323E"/>
                </a:solidFill>
                <a:latin typeface="Courier New"/>
                <a:ea typeface="Courier New"/>
                <a:cs typeface="Courier New"/>
              </a:rPr>
              <a:t>, </a:t>
            </a:r>
            <a:r>
              <a:rPr sz="1900">
                <a:solidFill>
                  <a:srgbClr val="A94B23"/>
                </a:solidFill>
                <a:latin typeface="Courier New"/>
                <a:ea typeface="Courier New"/>
                <a:cs typeface="Courier New"/>
              </a:rPr>
              <a:t>"n_observed"</a:t>
            </a:r>
            <a:r>
              <a:rPr sz="1900">
                <a:solidFill>
                  <a:srgbClr val="24323E"/>
                </a:solidFill>
                <a:latin typeface="Courier New"/>
                <a:ea typeface="Courier New"/>
                <a:cs typeface="Courier New"/>
              </a:rPr>
              <a:t>] == </a:t>
            </a:r>
            <a:r>
              <a:rPr sz="1900">
                <a:solidFill>
                  <a:srgbClr val="21688D"/>
                </a:solidFill>
                <a:latin typeface="Courier New"/>
                <a:ea typeface="Courier New"/>
                <a:cs typeface="Courier New"/>
              </a:rPr>
              <a:t>1</a:t>
            </a:r>
          </a:p>
          <a:p>
            <a:pPr algn="l">
              <a:spcBef>
                <a:spcPts val="0"/>
              </a:spcBef>
              <a:spcAft>
                <a:spcPts val="0"/>
              </a:spcAft>
              <a:buNone/>
              <a:defRPr sz="1900" b="0">
                <a:solidFill>
                  <a:srgbClr val="24323E"/>
                </a:solidFill>
                <a:latin typeface="Courier New"/>
                <a:ea typeface="Courier New"/>
                <a:cs typeface="Courier New"/>
              </a:defRPr>
            </a:pPr>
            <a:r>
              <a:rPr sz="1900">
                <a:solidFill>
                  <a:srgbClr val="24323E"/>
                </a:solidFill>
                <a:latin typeface="Courier New"/>
                <a:ea typeface="Courier New"/>
                <a:cs typeface="Courier New"/>
              </a:rPr>
              <a:t>assert summary.loc[</a:t>
            </a:r>
            <a:r>
              <a:rPr sz="1900">
                <a:solidFill>
                  <a:srgbClr val="A94B23"/>
                </a:solidFill>
                <a:latin typeface="Courier New"/>
                <a:ea typeface="Courier New"/>
                <a:cs typeface="Courier New"/>
              </a:rPr>
              <a:t>"C3"</a:t>
            </a:r>
            <a:r>
              <a:rPr sz="1900">
                <a:solidFill>
                  <a:srgbClr val="24323E"/>
                </a:solidFill>
                <a:latin typeface="Courier New"/>
                <a:ea typeface="Courier New"/>
                <a:cs typeface="Courier New"/>
              </a:rPr>
              <a:t>, </a:t>
            </a:r>
            <a:r>
              <a:rPr sz="1900">
                <a:solidFill>
                  <a:srgbClr val="A94B23"/>
                </a:solidFill>
                <a:latin typeface="Courier New"/>
                <a:ea typeface="Courier New"/>
                <a:cs typeface="Courier New"/>
              </a:rPr>
              <a:t>"mean_pm25"</a:t>
            </a:r>
            <a:r>
              <a:rPr sz="1900">
                <a:solidFill>
                  <a:srgbClr val="24323E"/>
                </a:solidFill>
                <a:latin typeface="Courier New"/>
                <a:ea typeface="Courier New"/>
                <a:cs typeface="Courier New"/>
              </a:rPr>
              <a:t>] == </a:t>
            </a:r>
            <a:r>
              <a:rPr sz="1900">
                <a:solidFill>
                  <a:srgbClr val="21688D"/>
                </a:solidFill>
                <a:latin typeface="Courier New"/>
                <a:ea typeface="Courier New"/>
                <a:cs typeface="Courier New"/>
              </a:rPr>
              <a:t>0.0</a:t>
            </a:r>
          </a:p>
        </p:txBody>
      </p:sp>
    </p:spTree>
    <p:extLst>
      <p:ext uri="{BB962C8B-B14F-4D97-AF65-F5344CB8AC3E}">
        <p14:creationId xmlns:p14="http://schemas.microsoft.com/office/powerpoint/2010/main" val="3723650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9256</Words>
  <Application>Microsoft Macintosh PowerPoint</Application>
  <DocSecurity>0</DocSecurity>
  <PresentationFormat>Widescreen</PresentationFormat>
  <Paragraphs>937</Paragraphs>
  <Slides>35</Slides>
  <Notes>35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Calibri Light</vt:lpstr>
      <vt:lpstr>Courier New</vt:lpstr>
      <vt:lpstr>Times New Roman</vt:lpstr>
      <vt:lpstr>Wingdings</vt:lpstr>
      <vt:lpstr>Office Theme</vt:lpstr>
      <vt:lpstr>JSON</vt:lpstr>
      <vt:lpstr>Today’s investigation: air readings on grounds</vt:lpstr>
      <vt:lpstr>Learning outcomes</vt:lpstr>
      <vt:lpstr>JSON: a representation of structured data</vt:lpstr>
      <vt:lpstr>Where JSON came from</vt:lpstr>
      <vt:lpstr>Why call it the “language of the internet”?</vt:lpstr>
      <vt:lpstr>JSON in a data scientist’s workflow</vt:lpstr>
      <vt:lpstr>The six JSON value types</vt:lpstr>
      <vt:lpstr>Objects and arrays: names versus positions</vt:lpstr>
      <vt:lpstr>The syntax rules</vt:lpstr>
      <vt:lpstr>Strings and numbers: common edge cases</vt:lpstr>
      <vt:lpstr>Our nested dataset</vt:lpstr>
      <vt:lpstr>Reading a path through nested data</vt:lpstr>
      <vt:lpstr>Missing, null, empty, and zero</vt:lpstr>
      <vt:lpstr>Four checks before analysis</vt:lpstr>
      <vt:lpstr>Discussion: repair this JSON</vt:lpstr>
      <vt:lpstr>Checking well-formed JSON in Python</vt:lpstr>
      <vt:lpstr>JSON Schema: an explicit contract</vt:lpstr>
      <vt:lpstr>Locating errors inside nested records</vt:lpstr>
      <vt:lpstr>Python’s four JSON operations</vt:lpstr>
      <vt:lpstr>Loading the dataset</vt:lpstr>
      <vt:lpstr>Traversing nested arrays</vt:lpstr>
      <vt:lpstr>Getting JSON from a web API</vt:lpstr>
      <vt:lpstr>Flattening with pandas</vt:lpstr>
      <vt:lpstr>Answering the investigation question</vt:lpstr>
      <vt:lpstr>Writing interoperable JSON</vt:lpstr>
      <vt:lpstr>Failures that can hide in valid-looking data</vt:lpstr>
      <vt:lpstr>Applied exercise: a third station</vt:lpstr>
      <vt:lpstr>PowerPoint Presentation</vt:lpstr>
      <vt:lpstr>References and further reading</vt:lpstr>
      <vt:lpstr>Appendix A: syntax exercise solution</vt:lpstr>
      <vt:lpstr>Appendix B: stricter decoding</vt:lpstr>
      <vt:lpstr>Appendix C: the document schema</vt:lpstr>
      <vt:lpstr>Appendix D: JSON Lines</vt:lpstr>
      <vt:lpstr>Appendix E: applied exercise 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Jason Williamson</cp:lastModifiedBy>
  <cp:revision>1</cp:revision>
  <dcterms:created xsi:type="dcterms:W3CDTF">2026-09-28T02:32:09Z</dcterms:created>
  <dcterms:modified xsi:type="dcterms:W3CDTF">2026-09-28T02:37:46Z</dcterms:modified>
</cp:coreProperties>
</file>